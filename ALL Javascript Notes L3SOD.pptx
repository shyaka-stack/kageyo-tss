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sldIdLst>
    <p:sldId id="256" r:id="rId2"/>
    <p:sldId id="257" r:id="rId3"/>
    <p:sldId id="276" r:id="rId4"/>
    <p:sldId id="258" r:id="rId5"/>
    <p:sldId id="277" r:id="rId6"/>
    <p:sldId id="259" r:id="rId7"/>
    <p:sldId id="278" r:id="rId8"/>
    <p:sldId id="260" r:id="rId9"/>
    <p:sldId id="279" r:id="rId10"/>
    <p:sldId id="261" r:id="rId11"/>
    <p:sldId id="280" r:id="rId12"/>
    <p:sldId id="262" r:id="rId13"/>
    <p:sldId id="281" r:id="rId14"/>
    <p:sldId id="263" r:id="rId15"/>
    <p:sldId id="282" r:id="rId16"/>
    <p:sldId id="264" r:id="rId17"/>
    <p:sldId id="265" r:id="rId18"/>
    <p:sldId id="266" r:id="rId19"/>
    <p:sldId id="267" r:id="rId20"/>
    <p:sldId id="268" r:id="rId21"/>
    <p:sldId id="269" r:id="rId22"/>
    <p:sldId id="270" r:id="rId23"/>
    <p:sldId id="283" r:id="rId24"/>
    <p:sldId id="271" r:id="rId25"/>
    <p:sldId id="272" r:id="rId26"/>
    <p:sldId id="284" r:id="rId27"/>
    <p:sldId id="273" r:id="rId28"/>
    <p:sldId id="285" r:id="rId29"/>
    <p:sldId id="274" r:id="rId30"/>
    <p:sldId id="27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16135A-7834-4BDA-BA78-947BAE9B14D6}"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613B5-B781-4E72-90A7-32686A01CEC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56087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16135A-7834-4BDA-BA78-947BAE9B14D6}"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613B5-B781-4E72-90A7-32686A01CEC7}" type="slidenum">
              <a:rPr lang="en-US" smtClean="0"/>
              <a:t>‹#›</a:t>
            </a:fld>
            <a:endParaRPr lang="en-US"/>
          </a:p>
        </p:txBody>
      </p:sp>
    </p:spTree>
    <p:extLst>
      <p:ext uri="{BB962C8B-B14F-4D97-AF65-F5344CB8AC3E}">
        <p14:creationId xmlns:p14="http://schemas.microsoft.com/office/powerpoint/2010/main" val="30474491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16135A-7834-4BDA-BA78-947BAE9B14D6}"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613B5-B781-4E72-90A7-32686A01CEC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3272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16135A-7834-4BDA-BA78-947BAE9B14D6}"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613B5-B781-4E72-90A7-32686A01CEC7}" type="slidenum">
              <a:rPr lang="en-US" smtClean="0"/>
              <a:t>‹#›</a:t>
            </a:fld>
            <a:endParaRPr lang="en-US"/>
          </a:p>
        </p:txBody>
      </p:sp>
    </p:spTree>
    <p:extLst>
      <p:ext uri="{BB962C8B-B14F-4D97-AF65-F5344CB8AC3E}">
        <p14:creationId xmlns:p14="http://schemas.microsoft.com/office/powerpoint/2010/main" val="8873832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16135A-7834-4BDA-BA78-947BAE9B14D6}" type="datetimeFigureOut">
              <a:rPr lang="en-US" smtClean="0"/>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7613B5-B781-4E72-90A7-32686A01CEC7}" type="slidenum">
              <a:rPr lang="en-US" smtClean="0"/>
              <a:t>‹#›</a:t>
            </a:fld>
            <a:endParaRPr lang="en-US"/>
          </a:p>
        </p:txBody>
      </p:sp>
    </p:spTree>
    <p:extLst>
      <p:ext uri="{BB962C8B-B14F-4D97-AF65-F5344CB8AC3E}">
        <p14:creationId xmlns:p14="http://schemas.microsoft.com/office/powerpoint/2010/main" val="13460806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16135A-7834-4BDA-BA78-947BAE9B14D6}"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7613B5-B781-4E72-90A7-32686A01CEC7}" type="slidenum">
              <a:rPr lang="en-US" smtClean="0"/>
              <a:t>‹#›</a:t>
            </a:fld>
            <a:endParaRPr lang="en-US"/>
          </a:p>
        </p:txBody>
      </p:sp>
    </p:spTree>
    <p:extLst>
      <p:ext uri="{BB962C8B-B14F-4D97-AF65-F5344CB8AC3E}">
        <p14:creationId xmlns:p14="http://schemas.microsoft.com/office/powerpoint/2010/main" val="37763316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316135A-7834-4BDA-BA78-947BAE9B14D6}" type="datetimeFigureOut">
              <a:rPr lang="en-US" smtClean="0"/>
              <a:t>2/11/2025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667613B5-B781-4E72-90A7-32686A01CEC7}" type="slidenum">
              <a:rPr lang="en-US" smtClean="0"/>
              <a:t>‹#›</a:t>
            </a:fld>
            <a:endParaRPr lang="en-US"/>
          </a:p>
        </p:txBody>
      </p:sp>
    </p:spTree>
    <p:extLst>
      <p:ext uri="{BB962C8B-B14F-4D97-AF65-F5344CB8AC3E}">
        <p14:creationId xmlns:p14="http://schemas.microsoft.com/office/powerpoint/2010/main" val="29705169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316135A-7834-4BDA-BA78-947BAE9B14D6}" type="datetimeFigureOut">
              <a:rPr lang="en-US" smtClean="0"/>
              <a:t>2/11/2025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67613B5-B781-4E72-90A7-32686A01CEC7}" type="slidenum">
              <a:rPr lang="en-US" smtClean="0"/>
              <a:t>‹#›</a:t>
            </a:fld>
            <a:endParaRPr lang="en-US"/>
          </a:p>
        </p:txBody>
      </p:sp>
    </p:spTree>
    <p:extLst>
      <p:ext uri="{BB962C8B-B14F-4D97-AF65-F5344CB8AC3E}">
        <p14:creationId xmlns:p14="http://schemas.microsoft.com/office/powerpoint/2010/main" val="7148051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16135A-7834-4BDA-BA78-947BAE9B14D6}"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613B5-B781-4E72-90A7-32686A01CEC7}" type="slidenum">
              <a:rPr lang="en-US" smtClean="0"/>
              <a:t>‹#›</a:t>
            </a:fld>
            <a:endParaRPr lang="en-US"/>
          </a:p>
        </p:txBody>
      </p:sp>
    </p:spTree>
    <p:extLst>
      <p:ext uri="{BB962C8B-B14F-4D97-AF65-F5344CB8AC3E}">
        <p14:creationId xmlns:p14="http://schemas.microsoft.com/office/powerpoint/2010/main" val="30070051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16135A-7834-4BDA-BA78-947BAE9B14D6}"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613B5-B781-4E72-90A7-32686A01CEC7}" type="slidenum">
              <a:rPr lang="en-US" smtClean="0"/>
              <a:t>‹#›</a:t>
            </a:fld>
            <a:endParaRPr lang="en-US"/>
          </a:p>
        </p:txBody>
      </p:sp>
    </p:spTree>
    <p:extLst>
      <p:ext uri="{BB962C8B-B14F-4D97-AF65-F5344CB8AC3E}">
        <p14:creationId xmlns:p14="http://schemas.microsoft.com/office/powerpoint/2010/main" val="13704773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16135A-7834-4BDA-BA78-947BAE9B14D6}"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613B5-B781-4E72-90A7-32686A01CEC7}" type="slidenum">
              <a:rPr lang="en-US" smtClean="0"/>
              <a:t>‹#›</a:t>
            </a:fld>
            <a:endParaRPr lang="en-US"/>
          </a:p>
        </p:txBody>
      </p:sp>
    </p:spTree>
    <p:extLst>
      <p:ext uri="{BB962C8B-B14F-4D97-AF65-F5344CB8AC3E}">
        <p14:creationId xmlns:p14="http://schemas.microsoft.com/office/powerpoint/2010/main" val="31247415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316135A-7834-4BDA-BA78-947BAE9B14D6}" type="datetimeFigureOut">
              <a:rPr lang="en-US" smtClean="0"/>
              <a:t>2/11/2025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67613B5-B781-4E72-90A7-32686A01CEC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5868130"/>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simplilearn.com/tutorials/html-tutorial/html-vs-html5"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javatpoint.com/javascript-function"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2A9DD-CFB3-A902-F612-03A9CAF4855B}"/>
              </a:ext>
            </a:extLst>
          </p:cNvPr>
          <p:cNvSpPr>
            <a:spLocks noGrp="1"/>
          </p:cNvSpPr>
          <p:nvPr>
            <p:ph type="ctrTitle"/>
          </p:nvPr>
        </p:nvSpPr>
        <p:spPr>
          <a:xfrm>
            <a:off x="901430" y="2427891"/>
            <a:ext cx="9009825" cy="1182692"/>
          </a:xfrm>
        </p:spPr>
        <p:txBody>
          <a:bodyPr>
            <a:normAutofit fontScale="90000"/>
          </a:bodyPr>
          <a:lstStyle/>
          <a:p>
            <a:pPr algn="l">
              <a:lnSpc>
                <a:spcPct val="150000"/>
              </a:lnSpc>
            </a:pPr>
            <a:r>
              <a:rPr lang="en-US" sz="2800" b="1" dirty="0">
                <a:latin typeface="Times New Roman" panose="02020603050405020304" pitchFamily="18" charset="0"/>
                <a:cs typeface="Times New Roman" panose="02020603050405020304" pitchFamily="18" charset="0"/>
              </a:rPr>
              <a:t>MODULRE: SWDJF301</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MODULE: </a:t>
            </a:r>
            <a:r>
              <a:rPr lang="en-US" sz="2800" b="1" i="1" dirty="0">
                <a:latin typeface="Times New Roman" panose="02020603050405020304" pitchFamily="18" charset="0"/>
                <a:cs typeface="Times New Roman" panose="02020603050405020304" pitchFamily="18" charset="0"/>
              </a:rPr>
              <a:t>JAVASCRIPT FUNDAMENTALS</a:t>
            </a:r>
          </a:p>
        </p:txBody>
      </p:sp>
    </p:spTree>
    <p:extLst>
      <p:ext uri="{BB962C8B-B14F-4D97-AF65-F5344CB8AC3E}">
        <p14:creationId xmlns:p14="http://schemas.microsoft.com/office/powerpoint/2010/main" val="9205986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AC640-29C4-21DD-10E5-D416484E5943}"/>
              </a:ext>
            </a:extLst>
          </p:cNvPr>
          <p:cNvSpPr>
            <a:spLocks noGrp="1"/>
          </p:cNvSpPr>
          <p:nvPr>
            <p:ph type="title"/>
          </p:nvPr>
        </p:nvSpPr>
        <p:spPr>
          <a:xfrm>
            <a:off x="819807" y="741681"/>
            <a:ext cx="10836165" cy="1177908"/>
          </a:xfrm>
        </p:spPr>
        <p:txBody>
          <a:bodyPr>
            <a:noAutofit/>
          </a:bodyPr>
          <a:lstStyle/>
          <a:p>
            <a:br>
              <a:rPr lang="en-GB" sz="2400" b="1" dirty="0">
                <a:latin typeface="Times New Roman" panose="02020603050405020304" pitchFamily="18" charset="0"/>
                <a:ea typeface="Calibri" panose="020F0502020204030204" pitchFamily="34" charset="0"/>
                <a:cs typeface="Times New Roman" panose="02020603050405020304" pitchFamily="18" charset="0"/>
              </a:rPr>
            </a:br>
            <a:r>
              <a:rPr lang="en-GB" sz="2400" b="1" dirty="0">
                <a:latin typeface="Times New Roman" panose="02020603050405020304" pitchFamily="18" charset="0"/>
                <a:ea typeface="Calibri" panose="020F0502020204030204" pitchFamily="34" charset="0"/>
                <a:cs typeface="Times New Roman" panose="02020603050405020304" pitchFamily="18" charset="0"/>
              </a:rPr>
              <a:t>Learning Outcome 1: Apply JavaScript Basic Concepts  </a:t>
            </a:r>
            <a:br>
              <a:rPr lang="en-GB" sz="2400" b="1" dirty="0">
                <a:latin typeface="Times New Roman" panose="02020603050405020304" pitchFamily="18" charset="0"/>
                <a:ea typeface="Calibri" panose="020F0502020204030204" pitchFamily="34" charset="0"/>
                <a:cs typeface="Times New Roman" panose="02020603050405020304" pitchFamily="18" charset="0"/>
              </a:rPr>
            </a:br>
            <a:r>
              <a:rPr lang="en-GB" sz="2400" b="1" dirty="0">
                <a:latin typeface="Times New Roman" panose="02020603050405020304" pitchFamily="18" charset="0"/>
                <a:ea typeface="Calibri" panose="020F0502020204030204" pitchFamily="34" charset="0"/>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Indicative content 1.1:  Introduction to JavaScript</a:t>
            </a:r>
            <a:br>
              <a:rPr lang="en-US" sz="2400" dirty="0">
                <a:latin typeface="Times New Roman" panose="02020603050405020304" pitchFamily="18" charset="0"/>
                <a:ea typeface="Calibri" panose="020F0502020204030204" pitchFamily="34" charset="0"/>
                <a:cs typeface="Times New Roman" panose="02020603050405020304" pitchFamily="18" charset="0"/>
              </a:rPr>
            </a:br>
            <a:endParaRPr lang="en-US" sz="5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41E8C2-1F43-49A0-16E7-C652BFFFDF01}"/>
              </a:ext>
            </a:extLst>
          </p:cNvPr>
          <p:cNvSpPr>
            <a:spLocks noGrp="1"/>
          </p:cNvSpPr>
          <p:nvPr>
            <p:ph idx="1"/>
          </p:nvPr>
        </p:nvSpPr>
        <p:spPr>
          <a:xfrm>
            <a:off x="259080" y="1919589"/>
            <a:ext cx="11673840" cy="5415931"/>
          </a:xfrm>
        </p:spPr>
        <p:txBody>
          <a:bodyPr>
            <a:normAutofit/>
          </a:bodyPr>
          <a:lstStyle/>
          <a:p>
            <a:pPr marL="742950" lvl="1" indent="-285750" fontAlgn="base">
              <a:lnSpc>
                <a:spcPct val="150000"/>
              </a:lnSpc>
              <a:spcBef>
                <a:spcPts val="0"/>
              </a:spcBef>
              <a:spcAft>
                <a:spcPts val="690"/>
              </a:spcAft>
              <a:buClr>
                <a:srgbClr val="000000"/>
              </a:buClr>
              <a:buSzPts val="1200"/>
              <a:buFont typeface="Arial" panose="020B0604020202020204" pitchFamily="34" charset="0"/>
              <a:buChar char="✔"/>
            </a:pPr>
            <a:r>
              <a:rPr lang="en-GB" sz="2400" b="1" dirty="0">
                <a:solidFill>
                  <a:srgbClr val="000000"/>
                </a:solidFill>
                <a:latin typeface="Times New Roman" panose="02020603050405020304" pitchFamily="18" charset="0"/>
                <a:cs typeface="Times New Roman" panose="02020603050405020304" pitchFamily="18" charset="0"/>
              </a:rPr>
              <a:t>Definition of JAVASCRIPT </a:t>
            </a:r>
            <a:endParaRPr lang="en-US" sz="2400" b="1" dirty="0">
              <a:solidFill>
                <a:srgbClr val="000000"/>
              </a:solidFill>
              <a:latin typeface="Times New Roman" panose="02020603050405020304" pitchFamily="18" charset="0"/>
              <a:cs typeface="Times New Roman" panose="02020603050405020304" pitchFamily="18" charset="0"/>
            </a:endParaRPr>
          </a:p>
          <a:p>
            <a:pPr marL="0" lvl="1" indent="0" fontAlgn="base">
              <a:lnSpc>
                <a:spcPct val="150000"/>
              </a:lnSpc>
              <a:spcBef>
                <a:spcPts val="0"/>
              </a:spcBef>
              <a:spcAft>
                <a:spcPts val="690"/>
              </a:spcAft>
              <a:buClr>
                <a:srgbClr val="000000"/>
              </a:buClr>
              <a:buSzPts val="1200"/>
              <a:buNone/>
              <a:tabLst>
                <a:tab pos="0" algn="l"/>
              </a:tabLst>
            </a:pPr>
            <a:r>
              <a:rPr lang="en-GB" sz="2400" dirty="0">
                <a:solidFill>
                  <a:srgbClr val="000000"/>
                </a:solidFill>
                <a:latin typeface="Times New Roman" panose="02020603050405020304" pitchFamily="18" charset="0"/>
                <a:cs typeface="Times New Roman" panose="02020603050405020304" pitchFamily="18" charset="0"/>
              </a:rPr>
              <a:t>JavaScript is a lightweight programming language that web developers commonly use to create more dynamic interactions when developing web pages, applications, servers, and or even games. </a:t>
            </a:r>
            <a:endParaRPr lang="en-US" sz="2400" dirty="0">
              <a:solidFill>
                <a:srgbClr val="000000"/>
              </a:solidFill>
              <a:latin typeface="Times New Roman" panose="02020603050405020304" pitchFamily="18" charset="0"/>
              <a:cs typeface="Times New Roman" panose="02020603050405020304" pitchFamily="18" charset="0"/>
            </a:endParaRPr>
          </a:p>
          <a:p>
            <a:pPr marL="742950" lvl="1" indent="-285750" fontAlgn="base">
              <a:lnSpc>
                <a:spcPct val="150000"/>
              </a:lnSpc>
              <a:spcBef>
                <a:spcPts val="0"/>
              </a:spcBef>
              <a:spcAft>
                <a:spcPts val="690"/>
              </a:spcAft>
              <a:buClr>
                <a:srgbClr val="000000"/>
              </a:buClr>
              <a:buSzPts val="1200"/>
              <a:buFont typeface="Arial" panose="020B0604020202020204" pitchFamily="34" charset="0"/>
              <a:buChar char="✔"/>
            </a:pPr>
            <a:r>
              <a:rPr lang="en-GB" sz="2400" b="1" dirty="0">
                <a:solidFill>
                  <a:srgbClr val="000000"/>
                </a:solidFill>
                <a:latin typeface="Times New Roman" panose="02020603050405020304" pitchFamily="18" charset="0"/>
                <a:cs typeface="Times New Roman" panose="02020603050405020304" pitchFamily="18" charset="0"/>
              </a:rPr>
              <a:t>Application of </a:t>
            </a:r>
            <a:r>
              <a:rPr lang="en-GB" sz="2400" b="1" dirty="0" err="1">
                <a:solidFill>
                  <a:srgbClr val="000000"/>
                </a:solidFill>
                <a:latin typeface="Times New Roman" panose="02020603050405020304" pitchFamily="18" charset="0"/>
                <a:cs typeface="Times New Roman" panose="02020603050405020304" pitchFamily="18" charset="0"/>
              </a:rPr>
              <a:t>Javascript</a:t>
            </a:r>
            <a:r>
              <a:rPr lang="en-GB" sz="2400" b="1" dirty="0">
                <a:solidFill>
                  <a:srgbClr val="000000"/>
                </a:solidFill>
                <a:latin typeface="Times New Roman" panose="02020603050405020304" pitchFamily="18" charset="0"/>
                <a:cs typeface="Times New Roman" panose="02020603050405020304" pitchFamily="18" charset="0"/>
              </a:rPr>
              <a:t> </a:t>
            </a:r>
            <a:endParaRPr lang="en-US" sz="2400" b="1" dirty="0">
              <a:solidFill>
                <a:srgbClr val="000000"/>
              </a:solidFill>
              <a:latin typeface="Times New Roman" panose="02020603050405020304" pitchFamily="18" charset="0"/>
              <a:cs typeface="Times New Roman" panose="02020603050405020304" pitchFamily="18" charset="0"/>
            </a:endParaRPr>
          </a:p>
          <a:p>
            <a:pPr marL="241300" indent="0">
              <a:lnSpc>
                <a:spcPct val="150000"/>
              </a:lnSpc>
              <a:spcBef>
                <a:spcPts val="0"/>
              </a:spcBef>
              <a:spcAft>
                <a:spcPts val="1950"/>
              </a:spcAft>
              <a:buNone/>
            </a:pPr>
            <a:r>
              <a:rPr lang="en-GB" sz="24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JavaScript is widely used for building websites and web applications. Let’s discuss some practical applications of JavaScript in various segments.</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3200" b="1" dirty="0"/>
          </a:p>
        </p:txBody>
      </p:sp>
    </p:spTree>
    <p:extLst>
      <p:ext uri="{BB962C8B-B14F-4D97-AF65-F5344CB8AC3E}">
        <p14:creationId xmlns:p14="http://schemas.microsoft.com/office/powerpoint/2010/main" val="39443732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0E48FD-D024-7986-78D1-F0180B9EF8A1}"/>
              </a:ext>
            </a:extLst>
          </p:cNvPr>
          <p:cNvSpPr>
            <a:spLocks noGrp="1"/>
          </p:cNvSpPr>
          <p:nvPr>
            <p:ph idx="1"/>
          </p:nvPr>
        </p:nvSpPr>
        <p:spPr>
          <a:xfrm>
            <a:off x="378372" y="522342"/>
            <a:ext cx="10628587" cy="5573657"/>
          </a:xfrm>
        </p:spPr>
        <p:txBody>
          <a:bodyPr/>
          <a:lstStyle/>
          <a:p>
            <a:pPr marL="0" indent="0">
              <a:buNone/>
            </a:pPr>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p>
          <a:p>
            <a:pPr marL="0" indent="0">
              <a:buNone/>
            </a:pPr>
            <a:endParaRPr lang="en-US" b="1" dirty="0"/>
          </a:p>
          <a:p>
            <a:pPr marL="0" indent="0">
              <a:lnSpc>
                <a:spcPct val="150000"/>
              </a:lnSpc>
              <a:spcBef>
                <a:spcPts val="0"/>
              </a:spcBef>
              <a:buNone/>
            </a:pPr>
            <a:r>
              <a:rPr lang="en-GB" sz="2800" b="1" dirty="0">
                <a:latin typeface="Times New Roman" panose="02020603050405020304" pitchFamily="18" charset="0"/>
                <a:ea typeface="Arial" panose="020B0604020202020204" pitchFamily="34" charset="0"/>
                <a:cs typeface="Times New Roman" panose="02020603050405020304" pitchFamily="18" charset="0"/>
              </a:rPr>
              <a:t>1. Web Development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JavaScript is a scripting language used to develop web </a:t>
            </a:r>
            <a:r>
              <a:rPr lang="en-GB" sz="2800" b="1" dirty="0">
                <a:latin typeface="Times New Roman" panose="02020603050405020304" pitchFamily="18" charset="0"/>
                <a:cs typeface="Times New Roman" panose="02020603050405020304" pitchFamily="18" charset="0"/>
              </a:rPr>
              <a:t>pages</a:t>
            </a:r>
            <a:r>
              <a:rPr lang="en-GB" sz="2800" dirty="0">
                <a:latin typeface="Times New Roman" panose="02020603050405020304" pitchFamily="18" charset="0"/>
                <a:ea typeface="Arial" panose="020B0604020202020204" pitchFamily="34" charset="0"/>
                <a:cs typeface="Times New Roman" panose="02020603050405020304" pitchFamily="18" charset="0"/>
              </a:rPr>
              <a:t>.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Some famous websites built by the use of JavaScript are Google, YouTube, Facebook, Wikipedia, Yahoo, Amazon, eBay, Twitter, and LinkedIn, to name a few.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6914018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276A2-DE4D-2CF9-52D7-8FA7C9F3581D}"/>
              </a:ext>
            </a:extLst>
          </p:cNvPr>
          <p:cNvSpPr>
            <a:spLocks noGrp="1"/>
          </p:cNvSpPr>
          <p:nvPr>
            <p:ph type="title"/>
          </p:nvPr>
        </p:nvSpPr>
        <p:spPr>
          <a:xfrm>
            <a:off x="451945" y="58368"/>
            <a:ext cx="10901856" cy="959794"/>
          </a:xfrm>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3FF96729-FBD6-0D99-CA36-24144F33FA5E}"/>
              </a:ext>
            </a:extLst>
          </p:cNvPr>
          <p:cNvSpPr>
            <a:spLocks noGrp="1"/>
          </p:cNvSpPr>
          <p:nvPr>
            <p:ph idx="1"/>
          </p:nvPr>
        </p:nvSpPr>
        <p:spPr>
          <a:xfrm>
            <a:off x="149156" y="1018161"/>
            <a:ext cx="11664472" cy="5267025"/>
          </a:xfrm>
        </p:spPr>
        <p:txBody>
          <a:bodyPr>
            <a:noAutofit/>
          </a:bodyPr>
          <a:lstStyle/>
          <a:p>
            <a:pPr marL="0" indent="0">
              <a:lnSpc>
                <a:spcPct val="170000"/>
              </a:lnSpc>
              <a:spcBef>
                <a:spcPts val="0"/>
              </a:spcBef>
              <a:buNone/>
            </a:pPr>
            <a:r>
              <a:rPr lang="en-GB" b="1" dirty="0">
                <a:latin typeface="Times New Roman" panose="02020603050405020304" pitchFamily="18" charset="0"/>
                <a:ea typeface="Arial" panose="020B0604020202020204" pitchFamily="34" charset="0"/>
                <a:cs typeface="Times New Roman" panose="02020603050405020304" pitchFamily="18" charset="0"/>
              </a:rPr>
              <a:t>2. </a:t>
            </a:r>
            <a:r>
              <a:rPr lang="en-GB" sz="2800" b="1" dirty="0">
                <a:latin typeface="Times New Roman" panose="02020603050405020304" pitchFamily="18" charset="0"/>
                <a:ea typeface="Arial" panose="020B0604020202020204" pitchFamily="34" charset="0"/>
                <a:cs typeface="Times New Roman" panose="02020603050405020304" pitchFamily="18" charset="0"/>
              </a:rPr>
              <a:t>Presentations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70000"/>
              </a:lnSpc>
              <a:spcBef>
                <a:spcPts val="0"/>
              </a:spcBef>
              <a:buNone/>
            </a:pPr>
            <a:r>
              <a:rPr lang="en-GB" sz="2600" dirty="0">
                <a:latin typeface="Times New Roman" panose="02020603050405020304" pitchFamily="18" charset="0"/>
                <a:ea typeface="Arial" panose="020B0604020202020204" pitchFamily="34" charset="0"/>
                <a:cs typeface="Times New Roman" panose="02020603050405020304" pitchFamily="18" charset="0"/>
              </a:rPr>
              <a:t>A very popular application of JavaScript is to create interactive presentations as websites. The </a:t>
            </a:r>
            <a:r>
              <a:rPr lang="en-GB" sz="2600" dirty="0" err="1">
                <a:latin typeface="Times New Roman" panose="02020603050405020304" pitchFamily="18" charset="0"/>
                <a:ea typeface="Arial" panose="020B0604020202020204" pitchFamily="34" charset="0"/>
                <a:cs typeface="Times New Roman" panose="02020603050405020304" pitchFamily="18" charset="0"/>
              </a:rPr>
              <a:t>RevealJs</a:t>
            </a:r>
            <a:r>
              <a:rPr lang="en-GB" sz="2600" dirty="0">
                <a:latin typeface="Times New Roman" panose="02020603050405020304" pitchFamily="18" charset="0"/>
                <a:ea typeface="Arial" panose="020B0604020202020204" pitchFamily="34" charset="0"/>
                <a:cs typeface="Times New Roman" panose="02020603050405020304" pitchFamily="18" charset="0"/>
              </a:rPr>
              <a:t> and </a:t>
            </a:r>
            <a:r>
              <a:rPr lang="en-GB" sz="2600" dirty="0" err="1">
                <a:latin typeface="Times New Roman" panose="02020603050405020304" pitchFamily="18" charset="0"/>
                <a:ea typeface="Arial" panose="020B0604020202020204" pitchFamily="34" charset="0"/>
                <a:cs typeface="Times New Roman" panose="02020603050405020304" pitchFamily="18" charset="0"/>
              </a:rPr>
              <a:t>BespokeJs</a:t>
            </a:r>
            <a:r>
              <a:rPr lang="en-GB" sz="2600" dirty="0">
                <a:latin typeface="Times New Roman" panose="02020603050405020304" pitchFamily="18" charset="0"/>
                <a:ea typeface="Arial" panose="020B0604020202020204" pitchFamily="34" charset="0"/>
                <a:cs typeface="Times New Roman" panose="02020603050405020304" pitchFamily="18" charset="0"/>
              </a:rPr>
              <a:t> libraries can be used to generate web-based slide decks using HTML. </a:t>
            </a:r>
            <a:endParaRPr lang="en-US" sz="26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70000"/>
              </a:lnSpc>
              <a:spcBef>
                <a:spcPts val="0"/>
              </a:spcBef>
              <a:buNone/>
            </a:pPr>
            <a:r>
              <a:rPr lang="en-GB" sz="2600" b="1" dirty="0">
                <a:latin typeface="Times New Roman" panose="02020603050405020304" pitchFamily="18" charset="0"/>
                <a:ea typeface="Arial" panose="020B0604020202020204" pitchFamily="34" charset="0"/>
                <a:cs typeface="Times New Roman" panose="02020603050405020304" pitchFamily="18" charset="0"/>
              </a:rPr>
              <a:t>3. Server Applications </a:t>
            </a:r>
            <a:endParaRPr lang="en-US" sz="26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buNone/>
            </a:pPr>
            <a:r>
              <a:rPr lang="en-GB" sz="2600" dirty="0">
                <a:latin typeface="Times New Roman" panose="02020603050405020304" pitchFamily="18" charset="0"/>
                <a:ea typeface="Arial" panose="020B0604020202020204" pitchFamily="34" charset="0"/>
                <a:cs typeface="Times New Roman" panose="02020603050405020304" pitchFamily="18" charset="0"/>
              </a:rPr>
              <a:t>JavaScript is also used to write server-side software through Node.js open-source runtime environment. Developers can write, test and debug code for fast and scalable network applications. </a:t>
            </a:r>
            <a:endParaRPr lang="en-US" sz="2600" dirty="0">
              <a:latin typeface="Times New Roman" panose="02020603050405020304" pitchFamily="18" charset="0"/>
              <a:ea typeface="Calibri" panose="020F0502020204030204" pitchFamily="34" charset="0"/>
              <a:cs typeface="Times New Roman" panose="02020603050405020304" pitchFamily="18" charset="0"/>
            </a:endParaRPr>
          </a:p>
          <a:p>
            <a:pPr marL="0" indent="0">
              <a:spcBef>
                <a:spcPts val="0"/>
              </a:spcBef>
              <a:buNone/>
            </a:pPr>
            <a:endParaRPr lang="en-US" sz="1800" dirty="0">
              <a:latin typeface="Calibri" panose="020F0502020204030204" pitchFamily="34" charset="0"/>
              <a:ea typeface="Calibri" panose="020F0502020204030204" pitchFamily="34" charset="0"/>
            </a:endParaRPr>
          </a:p>
          <a:p>
            <a:pPr marL="0" indent="0">
              <a:buNone/>
            </a:pPr>
            <a:endParaRPr lang="en-US" sz="1800" dirty="0"/>
          </a:p>
        </p:txBody>
      </p:sp>
    </p:spTree>
    <p:extLst>
      <p:ext uri="{BB962C8B-B14F-4D97-AF65-F5344CB8AC3E}">
        <p14:creationId xmlns:p14="http://schemas.microsoft.com/office/powerpoint/2010/main" val="1843158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E488AB-3A71-113F-528C-14E495CDEEB6}"/>
              </a:ext>
            </a:extLst>
          </p:cNvPr>
          <p:cNvSpPr>
            <a:spLocks noGrp="1"/>
          </p:cNvSpPr>
          <p:nvPr>
            <p:ph idx="1"/>
          </p:nvPr>
        </p:nvSpPr>
        <p:spPr>
          <a:xfrm>
            <a:off x="578069" y="483476"/>
            <a:ext cx="10775731" cy="5693487"/>
          </a:xfrm>
        </p:spPr>
        <p:txBody>
          <a:bodyPr/>
          <a:lstStyle/>
          <a:p>
            <a:pPr marL="0" indent="0">
              <a:lnSpc>
                <a:spcPct val="150000"/>
              </a:lnSpc>
              <a:spcBef>
                <a:spcPts val="0"/>
              </a:spcBef>
              <a:buNone/>
            </a:pPr>
            <a:r>
              <a:rPr lang="en-GB" sz="2800" b="1" dirty="0">
                <a:latin typeface="Times New Roman" panose="02020603050405020304" pitchFamily="18" charset="0"/>
                <a:ea typeface="Arial" panose="020B0604020202020204" pitchFamily="34" charset="0"/>
                <a:cs typeface="Times New Roman" panose="02020603050405020304" pitchFamily="18" charset="0"/>
              </a:rPr>
              <a:t>4. Web Servers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7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Node.js allows developers to use JavaScript to create a web server.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70000"/>
              </a:lnSpc>
              <a:spcBef>
                <a:spcPts val="0"/>
              </a:spcBef>
              <a:buFont typeface="+mj-lt"/>
              <a:buAutoNum type="arabicPeriod"/>
            </a:pPr>
            <a:r>
              <a:rPr lang="en-GB" sz="2800" b="1"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Games</a:t>
            </a:r>
          </a:p>
          <a:p>
            <a:pPr marL="0" indent="0">
              <a:lnSpc>
                <a:spcPct val="170000"/>
              </a:lnSpc>
              <a:spcBef>
                <a:spcPts val="0"/>
              </a:spcBef>
              <a:buNone/>
            </a:pPr>
            <a:r>
              <a:rPr lang="en-GB" sz="2800" b="1" dirty="0">
                <a:latin typeface="Times New Roman" panose="02020603050405020304" pitchFamily="18" charset="0"/>
                <a:ea typeface="Arial" panose="020B0604020202020204" pitchFamily="34" charset="0"/>
                <a:cs typeface="Times New Roman" panose="02020603050405020304" pitchFamily="18" charset="0"/>
              </a:rPr>
              <a:t> </a:t>
            </a:r>
            <a:r>
              <a:rPr lang="en-GB" sz="2800" dirty="0">
                <a:latin typeface="Times New Roman" panose="02020603050405020304" pitchFamily="18" charset="0"/>
                <a:ea typeface="Arial" panose="020B0604020202020204" pitchFamily="34" charset="0"/>
                <a:cs typeface="Times New Roman" panose="02020603050405020304" pitchFamily="18" charset="0"/>
              </a:rPr>
              <a:t>Creating games on the web is another important one among applications of JavaScript. The combination of JavaScript and </a:t>
            </a:r>
            <a:r>
              <a:rPr lang="en-GB" sz="2800" dirty="0">
                <a:solidFill>
                  <a:srgbClr val="0563C1"/>
                </a:solidFill>
                <a:latin typeface="Times New Roman" panose="02020603050405020304" pitchFamily="18" charset="0"/>
                <a:ea typeface="Arial" panose="020B0604020202020204" pitchFamily="34" charset="0"/>
                <a:cs typeface="Times New Roman" panose="02020603050405020304" pitchFamily="18" charset="0"/>
                <a:hlinkClick r:id="rId2"/>
              </a:rPr>
              <a:t>HTML5</a:t>
            </a:r>
            <a:r>
              <a:rPr lang="en-GB" sz="2800" dirty="0">
                <a:latin typeface="Times New Roman" panose="02020603050405020304" pitchFamily="18" charset="0"/>
                <a:ea typeface="Arial" panose="020B0604020202020204" pitchFamily="34" charset="0"/>
                <a:cs typeface="Times New Roman" panose="02020603050405020304" pitchFamily="18" charset="0"/>
              </a:rPr>
              <a:t> plays a major role in games development using JS. The </a:t>
            </a:r>
            <a:r>
              <a:rPr lang="en-GB" sz="2800" dirty="0" err="1">
                <a:latin typeface="Times New Roman" panose="02020603050405020304" pitchFamily="18" charset="0"/>
                <a:ea typeface="Arial" panose="020B0604020202020204" pitchFamily="34" charset="0"/>
                <a:cs typeface="Times New Roman" panose="02020603050405020304" pitchFamily="18" charset="0"/>
              </a:rPr>
              <a:t>EaselJS</a:t>
            </a:r>
            <a:r>
              <a:rPr lang="en-GB" sz="2800" dirty="0">
                <a:latin typeface="Times New Roman" panose="02020603050405020304" pitchFamily="18" charset="0"/>
                <a:ea typeface="Arial" panose="020B0604020202020204" pitchFamily="34" charset="0"/>
                <a:cs typeface="Times New Roman" panose="02020603050405020304" pitchFamily="18" charset="0"/>
              </a:rPr>
              <a:t> library provides rich graphics for games.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4352537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ED70A-7155-09C7-A6F4-CD4B94BA354A}"/>
              </a:ext>
            </a:extLst>
          </p:cNvPr>
          <p:cNvSpPr>
            <a:spLocks noGrp="1"/>
          </p:cNvSpPr>
          <p:nvPr>
            <p:ph type="title"/>
          </p:nvPr>
        </p:nvSpPr>
        <p:spPr>
          <a:xfrm>
            <a:off x="356680" y="110246"/>
            <a:ext cx="9687128" cy="496211"/>
          </a:xfrm>
        </p:spPr>
        <p:txBody>
          <a:bodyPr>
            <a:normAutofit fontScale="90000"/>
          </a:bodyPr>
          <a:lstStyle/>
          <a:p>
            <a:r>
              <a:rPr lang="en-US" b="1" dirty="0" err="1"/>
              <a:t>Con</a:t>
            </a:r>
            <a:r>
              <a:rPr lang="en-US" dirty="0" err="1"/>
              <a:t>t</a:t>
            </a:r>
            <a:r>
              <a:rPr lang="en-US" dirty="0"/>
              <a:t>’</a:t>
            </a:r>
          </a:p>
        </p:txBody>
      </p:sp>
      <p:sp>
        <p:nvSpPr>
          <p:cNvPr id="3" name="Content Placeholder 2">
            <a:extLst>
              <a:ext uri="{FF2B5EF4-FFF2-40B4-BE49-F238E27FC236}">
                <a16:creationId xmlns:a16="http://schemas.microsoft.com/office/drawing/2014/main" id="{3C4D8445-774A-FBE8-A442-9D57BC5EDF49}"/>
              </a:ext>
            </a:extLst>
          </p:cNvPr>
          <p:cNvSpPr>
            <a:spLocks noGrp="1"/>
          </p:cNvSpPr>
          <p:nvPr>
            <p:ph idx="1"/>
          </p:nvPr>
        </p:nvSpPr>
        <p:spPr>
          <a:xfrm>
            <a:off x="207524" y="606457"/>
            <a:ext cx="9687128" cy="5567363"/>
          </a:xfrm>
        </p:spPr>
        <p:txBody>
          <a:bodyPr>
            <a:normAutofit/>
          </a:bodyPr>
          <a:lstStyle/>
          <a:p>
            <a:pPr marL="0" indent="0">
              <a:lnSpc>
                <a:spcPct val="160000"/>
              </a:lnSpc>
              <a:spcBef>
                <a:spcPts val="0"/>
              </a:spcBef>
              <a:buNone/>
            </a:pPr>
            <a:r>
              <a:rPr lang="en-GB" sz="2800" b="1"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2. Art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6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A recent feature of HTML5 in JavaScript is the canvas element, which allows drawing 2D and 3D graphics easily on a web page. </a:t>
            </a:r>
            <a:endParaRPr lang="en-US" sz="2800" dirty="0">
              <a:latin typeface="Times New Roman" panose="02020603050405020304" pitchFamily="18" charset="0"/>
              <a:ea typeface="Arial" panose="020B0604020202020204" pitchFamily="34" charset="0"/>
              <a:cs typeface="Times New Roman" panose="02020603050405020304" pitchFamily="18" charset="0"/>
            </a:endParaRPr>
          </a:p>
          <a:p>
            <a:pPr marL="0" indent="0">
              <a:lnSpc>
                <a:spcPct val="160000"/>
              </a:lnSpc>
              <a:spcBef>
                <a:spcPts val="0"/>
              </a:spcBef>
              <a:buNone/>
            </a:pPr>
            <a:r>
              <a:rPr lang="en-US" sz="2800" b="1"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3. </a:t>
            </a:r>
            <a:r>
              <a:rPr lang="en-GB" sz="2800" b="1"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Smartwatch Apps </a:t>
            </a:r>
            <a:endParaRPr lang="en-GB" sz="2800" dirty="0">
              <a:latin typeface="Times New Roman" panose="02020603050405020304" pitchFamily="18" charset="0"/>
              <a:ea typeface="Arial" panose="020B0604020202020204" pitchFamily="34" charset="0"/>
              <a:cs typeface="Times New Roman" panose="02020603050405020304" pitchFamily="18" charset="0"/>
            </a:endParaRPr>
          </a:p>
          <a:p>
            <a:pPr marL="0" indent="0">
              <a:lnSpc>
                <a:spcPct val="16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Pebble.js is a JavaScript framework by Pebble, allowing developers to create applications for Pebble watches using JavaScript. Create a smartwatch app with simple JavaScript code.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8100" indent="0">
              <a:lnSpc>
                <a:spcPct val="160000"/>
              </a:lnSpc>
              <a:spcBef>
                <a:spcPts val="0"/>
              </a:spcBef>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2383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BF6C44-AF27-93BF-B919-5C9F858AADDA}"/>
              </a:ext>
            </a:extLst>
          </p:cNvPr>
          <p:cNvSpPr>
            <a:spLocks noGrp="1"/>
          </p:cNvSpPr>
          <p:nvPr>
            <p:ph idx="1"/>
          </p:nvPr>
        </p:nvSpPr>
        <p:spPr>
          <a:xfrm>
            <a:off x="641131" y="620110"/>
            <a:ext cx="10712669" cy="5556853"/>
          </a:xfrm>
        </p:spPr>
        <p:txBody>
          <a:bodyPr>
            <a:normAutofit lnSpcReduction="10000"/>
          </a:bodyPr>
          <a:lstStyle/>
          <a:p>
            <a:pPr marL="0" indent="0">
              <a:lnSpc>
                <a:spcPct val="160000"/>
              </a:lnSpc>
              <a:spcBef>
                <a:spcPts val="0"/>
              </a:spcBef>
              <a:buNone/>
            </a:pPr>
            <a:r>
              <a:rPr lang="en-GB" sz="2800" b="1"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4. Mobile Apps</a:t>
            </a:r>
          </a:p>
          <a:p>
            <a:pPr marL="38100" indent="0">
              <a:lnSpc>
                <a:spcPct val="16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One of the most powerful applications of JavaScript is to create apps for non-web contexts, meaning for things, not on the Internet.</a:t>
            </a:r>
            <a:r>
              <a:rPr lang="en-GB" sz="2800" dirty="0">
                <a:latin typeface="Arial" panose="020B0604020202020204" pitchFamily="34" charset="0"/>
                <a:ea typeface="Arial" panose="020B0604020202020204" pitchFamily="34" charset="0"/>
              </a:rPr>
              <a:t> </a:t>
            </a:r>
            <a:r>
              <a:rPr lang="en-GB" sz="2800" dirty="0">
                <a:latin typeface="Times New Roman" panose="02020603050405020304" pitchFamily="18" charset="0"/>
                <a:cs typeface="Times New Roman" panose="02020603050405020304" pitchFamily="18" charset="0"/>
              </a:rPr>
              <a:t>With the use of mobile devices at an all-time high, JavaScript frameworks have been designed to facilitate mobile app development across various platforms like IOS, Android, and Windows.</a:t>
            </a:r>
            <a:r>
              <a:rPr lang="en-GB" sz="2800" dirty="0">
                <a:latin typeface="Arial" panose="020B0604020202020204" pitchFamily="34" charset="0"/>
                <a:ea typeface="Arial" panose="020B0604020202020204" pitchFamily="34" charset="0"/>
              </a:rPr>
              <a:t> </a:t>
            </a:r>
            <a:r>
              <a:rPr lang="en-GB" sz="2800" dirty="0">
                <a:latin typeface="Times New Roman" panose="02020603050405020304" pitchFamily="18" charset="0"/>
                <a:cs typeface="Times New Roman" panose="02020603050405020304" pitchFamily="18" charset="0"/>
              </a:rPr>
              <a:t>React Native framework allows cross-platform mobile app building, where developers can use a universal front end for Android and IOS platforms.</a:t>
            </a:r>
            <a:endParaRPr lang="en-US" sz="28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2403250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621C-7FC6-0E49-5921-E4B54D230509}"/>
              </a:ext>
            </a:extLst>
          </p:cNvPr>
          <p:cNvSpPr>
            <a:spLocks noGrp="1"/>
          </p:cNvSpPr>
          <p:nvPr>
            <p:ph type="title"/>
          </p:nvPr>
        </p:nvSpPr>
        <p:spPr>
          <a:xfrm>
            <a:off x="291830" y="233464"/>
            <a:ext cx="9447178" cy="654996"/>
          </a:xfrm>
        </p:spPr>
        <p:txBody>
          <a:bodyPr>
            <a:normAutofit fontScale="90000"/>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7BC4B833-C04C-312B-19DE-B50F9A40DC38}"/>
              </a:ext>
            </a:extLst>
          </p:cNvPr>
          <p:cNvSpPr>
            <a:spLocks noGrp="1"/>
          </p:cNvSpPr>
          <p:nvPr>
            <p:ph idx="1"/>
          </p:nvPr>
        </p:nvSpPr>
        <p:spPr>
          <a:xfrm>
            <a:off x="343710" y="946826"/>
            <a:ext cx="9447178" cy="5551250"/>
          </a:xfrm>
        </p:spPr>
        <p:txBody>
          <a:bodyPr/>
          <a:lstStyle/>
          <a:p>
            <a:pPr marL="342900" indent="-342900">
              <a:lnSpc>
                <a:spcPct val="150000"/>
              </a:lnSpc>
              <a:spcBef>
                <a:spcPts val="0"/>
              </a:spcBef>
              <a:buFont typeface="+mj-lt"/>
              <a:buAutoNum type="arabicPeriod"/>
            </a:pPr>
            <a:r>
              <a:rPr lang="en-GB" sz="2800" b="1"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Flying Robots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Last but not least, you can use JavaScript to program a flying robot. With the Node.js ecosystem, users can control numerous small robots, creative maker projects, and IoT devices. Step into the exciting world of drones, flying robots, and quadcopters with JavaScript.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fontAlgn="base">
              <a:lnSpc>
                <a:spcPct val="150000"/>
              </a:lnSpc>
              <a:spcBef>
                <a:spcPts val="0"/>
              </a:spcBef>
              <a:spcAft>
                <a:spcPts val="690"/>
              </a:spcAft>
              <a:buClr>
                <a:srgbClr val="000000"/>
              </a:buClr>
              <a:buSzPts val="1200"/>
              <a:buFont typeface="Arial" panose="020B0604020202020204" pitchFamily="34" charset="0"/>
              <a:buChar char="✔"/>
            </a:pPr>
            <a:r>
              <a:rPr lang="en-GB" sz="2800" b="1" dirty="0" err="1">
                <a:latin typeface="Times New Roman" panose="02020603050405020304" pitchFamily="18" charset="0"/>
                <a:ea typeface="Arial" panose="020B0604020202020204" pitchFamily="34" charset="0"/>
                <a:cs typeface="Times New Roman" panose="02020603050405020304" pitchFamily="18" charset="0"/>
              </a:rPr>
              <a:t>VSCode</a:t>
            </a:r>
            <a:r>
              <a:rPr lang="en-GB" sz="2800" b="1" dirty="0">
                <a:latin typeface="Times New Roman" panose="02020603050405020304" pitchFamily="18" charset="0"/>
                <a:ea typeface="Arial" panose="020B0604020202020204" pitchFamily="34" charset="0"/>
                <a:cs typeface="Times New Roman" panose="02020603050405020304" pitchFamily="18" charset="0"/>
              </a:rPr>
              <a:t> &amp; node.js </a:t>
            </a:r>
            <a:endParaRPr lang="en-US" sz="2800" dirty="0">
              <a:latin typeface="Times New Roman" panose="02020603050405020304" pitchFamily="18" charset="0"/>
              <a:ea typeface="Quattrocento Sans" panose="020B0502050000020003" pitchFamily="34" charset="0"/>
              <a:cs typeface="Times New Roman" panose="02020603050405020304" pitchFamily="18" charset="0"/>
            </a:endParaRPr>
          </a:p>
          <a:p>
            <a:pPr marL="0" indent="0">
              <a:lnSpc>
                <a:spcPct val="150000"/>
              </a:lnSpc>
              <a:spcBef>
                <a:spcPts val="0"/>
              </a:spcBef>
              <a:spcAft>
                <a:spcPts val="800"/>
              </a:spcAft>
              <a:buNone/>
            </a:pPr>
            <a:endParaRPr lang="en-US" sz="1800" dirty="0">
              <a:latin typeface="Calibri" panose="020F0502020204030204" pitchFamily="34" charset="0"/>
              <a:ea typeface="Calibri" panose="020F0502020204030204" pitchFamily="34" charset="0"/>
            </a:endParaRPr>
          </a:p>
          <a:p>
            <a:pPr marL="342900" indent="-342900">
              <a:lnSpc>
                <a:spcPct val="150000"/>
              </a:lnSpc>
              <a:spcBef>
                <a:spcPts val="0"/>
              </a:spcBef>
              <a:spcAft>
                <a:spcPts val="800"/>
              </a:spcAft>
              <a:buFont typeface="Arial" panose="020B0604020202020204" pitchFamily="34" charset="0"/>
              <a:buChar char="★"/>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228769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2069BC-0396-68CF-4EC1-0A3595E24BD5}"/>
              </a:ext>
            </a:extLst>
          </p:cNvPr>
          <p:cNvSpPr>
            <a:spLocks noGrp="1"/>
          </p:cNvSpPr>
          <p:nvPr>
            <p:ph idx="1"/>
          </p:nvPr>
        </p:nvSpPr>
        <p:spPr>
          <a:xfrm>
            <a:off x="651641" y="515007"/>
            <a:ext cx="10702159" cy="5661956"/>
          </a:xfrm>
        </p:spPr>
        <p:txBody>
          <a:bodyPr/>
          <a:lstStyle/>
          <a:p>
            <a:pPr marL="342900" indent="-342900">
              <a:lnSpc>
                <a:spcPct val="150000"/>
              </a:lnSpc>
              <a:spcBef>
                <a:spcPts val="0"/>
              </a:spcBef>
              <a:spcAft>
                <a:spcPts val="800"/>
              </a:spcAft>
              <a:buFont typeface="Arial" panose="020B0604020202020204" pitchFamily="34" charset="0"/>
              <a:buChar char="★"/>
            </a:pPr>
            <a:r>
              <a:rPr lang="en-GB" sz="2800"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Visual Studio Code is a free, lightweight but powerful source code editor that runs on your desktop and on the web and is available for Windows, macOS, Linux, and Raspberry Pi OS.</a:t>
            </a:r>
          </a:p>
          <a:p>
            <a:pPr marL="0" indent="0">
              <a:lnSpc>
                <a:spcPct val="150000"/>
              </a:lnSpc>
              <a:spcBef>
                <a:spcPts val="0"/>
              </a:spcBef>
              <a:spcAft>
                <a:spcPts val="800"/>
              </a:spcAft>
              <a:buNone/>
            </a:pPr>
            <a:r>
              <a:rPr lang="en-GB" sz="2800" dirty="0">
                <a:highlight>
                  <a:srgbClr val="FFFFFF"/>
                </a:highlight>
                <a:latin typeface="Times New Roman" panose="02020603050405020304" pitchFamily="18" charset="0"/>
                <a:cs typeface="Times New Roman" panose="02020603050405020304" pitchFamily="18" charset="0"/>
              </a:rPr>
              <a:t>Visual Studio Code(VS Code) has support for many languages, including Python, Java,       C++, JavaScript, and more</a:t>
            </a:r>
          </a:p>
          <a:p>
            <a:pPr marL="342900" indent="-342900">
              <a:lnSpc>
                <a:spcPct val="150000"/>
              </a:lnSpc>
              <a:spcBef>
                <a:spcPts val="0"/>
              </a:spcBef>
              <a:spcAft>
                <a:spcPts val="800"/>
              </a:spcAft>
              <a:buFont typeface="Arial" panose="020B0604020202020204" pitchFamily="34" charset="0"/>
              <a:buChar char="★"/>
            </a:pPr>
            <a:r>
              <a:rPr lang="en-GB" sz="2800" dirty="0">
                <a:highlight>
                  <a:srgbClr val="FFFFFF"/>
                </a:highlight>
                <a:latin typeface="Times New Roman" panose="02020603050405020304" pitchFamily="18" charset="0"/>
                <a:cs typeface="Times New Roman" panose="02020603050405020304" pitchFamily="18" charset="0"/>
              </a:rPr>
              <a:t>Node. </a:t>
            </a:r>
            <a:r>
              <a:rPr lang="en-GB" sz="2800" dirty="0" err="1">
                <a:highlight>
                  <a:srgbClr val="FFFFFF"/>
                </a:highlight>
                <a:latin typeface="Times New Roman" panose="02020603050405020304" pitchFamily="18" charset="0"/>
                <a:cs typeface="Times New Roman" panose="02020603050405020304" pitchFamily="18" charset="0"/>
              </a:rPr>
              <a:t>js</a:t>
            </a:r>
            <a:r>
              <a:rPr lang="en-GB" sz="2800" dirty="0">
                <a:highlight>
                  <a:srgbClr val="FFFFFF"/>
                </a:highlight>
                <a:latin typeface="Times New Roman" panose="02020603050405020304" pitchFamily="18" charset="0"/>
                <a:cs typeface="Times New Roman" panose="02020603050405020304" pitchFamily="18" charset="0"/>
              </a:rPr>
              <a:t> (Node) is an open source, cross-platform runtime environment for executing JavaScript code. </a:t>
            </a:r>
            <a:endParaRPr lang="en-US" sz="2800" dirty="0">
              <a:highlight>
                <a:srgbClr val="FFFFFF"/>
              </a:highlight>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0923144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E46D4-6501-6328-2CC3-26AF4F893F8C}"/>
              </a:ext>
            </a:extLst>
          </p:cNvPr>
          <p:cNvSpPr>
            <a:spLocks noGrp="1"/>
          </p:cNvSpPr>
          <p:nvPr>
            <p:ph type="title"/>
          </p:nvPr>
        </p:nvSpPr>
        <p:spPr>
          <a:xfrm>
            <a:off x="278858" y="162127"/>
            <a:ext cx="9286673" cy="525294"/>
          </a:xfrm>
        </p:spPr>
        <p:txBody>
          <a:bodyPr>
            <a:normAutofit/>
          </a:bodyPr>
          <a:lstStyle/>
          <a:p>
            <a:r>
              <a:rPr lang="en-GB" sz="2800" b="1" dirty="0">
                <a:latin typeface="Times New Roman" panose="02020603050405020304" pitchFamily="18" charset="0"/>
                <a:ea typeface="Arial" panose="020B0604020202020204" pitchFamily="34" charset="0"/>
                <a:cs typeface="Times New Roman" panose="02020603050405020304" pitchFamily="18" charset="0"/>
              </a:rPr>
              <a:t>JAVASCRIPT key concepts</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7CC398-6A53-3C5E-156C-D0F632739AAC}"/>
              </a:ext>
            </a:extLst>
          </p:cNvPr>
          <p:cNvSpPr>
            <a:spLocks noGrp="1"/>
          </p:cNvSpPr>
          <p:nvPr>
            <p:ph idx="1"/>
          </p:nvPr>
        </p:nvSpPr>
        <p:spPr>
          <a:xfrm>
            <a:off x="199697" y="1072055"/>
            <a:ext cx="11004331" cy="5055476"/>
          </a:xfrm>
        </p:spPr>
        <p:txBody>
          <a:bodyPr>
            <a:normAutofit fontScale="92500" lnSpcReduction="10000"/>
          </a:bodyPr>
          <a:lstStyle/>
          <a:p>
            <a:pPr indent="0">
              <a:spcBef>
                <a:spcPts val="0"/>
              </a:spcBef>
              <a:buNone/>
            </a:pPr>
            <a:r>
              <a:rPr lang="en-GB" sz="1200" dirty="0">
                <a:highlight>
                  <a:srgbClr val="FFFFFF"/>
                </a:highlight>
                <a:latin typeface="Arial" panose="020B0604020202020204" pitchFamily="34" charset="0"/>
                <a:ea typeface="Arial" panose="020B0604020202020204" pitchFamily="34" charset="0"/>
              </a:rPr>
              <a:t> </a:t>
            </a:r>
            <a:endParaRPr lang="en-US" sz="1200" dirty="0">
              <a:latin typeface="Calibri" panose="020F0502020204030204" pitchFamily="34" charset="0"/>
              <a:ea typeface="Calibri" panose="020F0502020204030204" pitchFamily="34" charset="0"/>
            </a:endParaRPr>
          </a:p>
          <a:p>
            <a:pPr marL="342900" indent="-342900" fontAlgn="base">
              <a:lnSpc>
                <a:spcPct val="160000"/>
              </a:lnSpc>
              <a:spcBef>
                <a:spcPts val="0"/>
              </a:spcBef>
              <a:spcAft>
                <a:spcPts val="690"/>
              </a:spcAft>
              <a:buClr>
                <a:srgbClr val="000000"/>
              </a:buClr>
              <a:buSzPts val="1200"/>
              <a:buFont typeface="Arial" panose="020B0604020202020204" pitchFamily="34" charset="0"/>
              <a:buChar char="●"/>
            </a:pPr>
            <a:r>
              <a:rPr lang="en-GB" sz="2800" b="1" dirty="0">
                <a:latin typeface="Times New Roman" panose="02020603050405020304" pitchFamily="18" charset="0"/>
                <a:ea typeface="Arial" panose="020B0604020202020204" pitchFamily="34" charset="0"/>
                <a:cs typeface="Times New Roman" panose="02020603050405020304" pitchFamily="18" charset="0"/>
              </a:rPr>
              <a:t>Variable </a:t>
            </a:r>
            <a:endParaRPr lang="en-US" sz="2800" b="1"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60000"/>
              </a:lnSpc>
              <a:spcBef>
                <a:spcPts val="0"/>
              </a:spcBef>
              <a:spcAft>
                <a:spcPts val="690"/>
              </a:spcAft>
              <a:buNone/>
            </a:pPr>
            <a:r>
              <a:rPr lang="en-GB" sz="2800"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A JavaScript variable is simply a name of a storage location.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6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Four Ways to Declare a JavaScript Variable:</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60000"/>
              </a:lnSpc>
              <a:spcBef>
                <a:spcPts val="0"/>
              </a:spcBef>
              <a:buFont typeface="+mj-lt"/>
              <a:buAutoNum type="romanLcPeriod"/>
            </a:pPr>
            <a:r>
              <a:rPr lang="en-GB"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Using var</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60000"/>
              </a:lnSpc>
              <a:spcBef>
                <a:spcPts val="0"/>
              </a:spcBef>
              <a:buFont typeface="+mj-lt"/>
              <a:buAutoNum type="romanLcPeriod"/>
            </a:pPr>
            <a:r>
              <a:rPr lang="en-GB"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Using let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60000"/>
              </a:lnSpc>
              <a:spcBef>
                <a:spcPts val="0"/>
              </a:spcBef>
              <a:buFont typeface="+mj-lt"/>
              <a:buAutoNum type="romanLcPeriod"/>
            </a:pPr>
            <a:r>
              <a:rPr lang="en-GB"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Using </a:t>
            </a:r>
            <a:r>
              <a:rPr lang="en-GB" sz="2800" dirty="0" err="1">
                <a:solidFill>
                  <a:srgbClr val="000000"/>
                </a:solidFill>
                <a:latin typeface="Times New Roman" panose="02020603050405020304" pitchFamily="18" charset="0"/>
                <a:ea typeface="Arial" panose="020B0604020202020204" pitchFamily="34" charset="0"/>
                <a:cs typeface="Times New Roman" panose="02020603050405020304" pitchFamily="18" charset="0"/>
              </a:rPr>
              <a:t>const</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60000"/>
              </a:lnSpc>
              <a:spcBef>
                <a:spcPts val="0"/>
              </a:spcBef>
              <a:buFont typeface="+mj-lt"/>
              <a:buAutoNum type="romanLcPeriod"/>
            </a:pPr>
            <a:r>
              <a:rPr lang="en-GB"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Using nothing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spcBef>
                <a:spcPts val="0"/>
              </a:spcBef>
              <a:buNone/>
            </a:pPr>
            <a:endParaRPr lang="en-US" sz="1200" dirty="0">
              <a:latin typeface="Calibri" panose="020F0502020204030204" pitchFamily="34" charset="0"/>
              <a:ea typeface="Calibri" panose="020F0502020204030204" pitchFamily="34" charset="0"/>
            </a:endParaRPr>
          </a:p>
          <a:p>
            <a:pPr marL="0" indent="0">
              <a:spcBef>
                <a:spcPts val="0"/>
              </a:spcBef>
              <a:buNone/>
            </a:pPr>
            <a:r>
              <a:rPr lang="en-GB" sz="1200" dirty="0">
                <a:latin typeface="Arial" panose="020B0604020202020204" pitchFamily="34" charset="0"/>
                <a:ea typeface="Arial" panose="020B0604020202020204" pitchFamily="34" charset="0"/>
              </a:rPr>
              <a:t> </a:t>
            </a:r>
            <a:endParaRPr lang="en-US" sz="1200" dirty="0">
              <a:latin typeface="Calibri" panose="020F0502020204030204" pitchFamily="34" charset="0"/>
              <a:ea typeface="Calibri" panose="020F0502020204030204" pitchFamily="34" charset="0"/>
            </a:endParaRPr>
          </a:p>
          <a:p>
            <a:pPr marL="0" indent="0">
              <a:lnSpc>
                <a:spcPct val="150000"/>
              </a:lnSpc>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624921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93FD0-2742-0A75-F052-EA8302F509FB}"/>
              </a:ext>
            </a:extLst>
          </p:cNvPr>
          <p:cNvSpPr>
            <a:spLocks noGrp="1"/>
          </p:cNvSpPr>
          <p:nvPr>
            <p:ph idx="1"/>
          </p:nvPr>
        </p:nvSpPr>
        <p:spPr>
          <a:xfrm>
            <a:off x="683172" y="735724"/>
            <a:ext cx="10670628" cy="5441239"/>
          </a:xfrm>
        </p:spPr>
        <p:txBody>
          <a:bodyPr/>
          <a:lstStyle/>
          <a:p>
            <a:pPr marL="0" indent="0">
              <a:lnSpc>
                <a:spcPct val="160000"/>
              </a:lnSpc>
              <a:spcBef>
                <a:spcPts val="0"/>
              </a:spcBef>
              <a:buNone/>
            </a:pPr>
            <a:r>
              <a:rPr lang="en-GB" sz="2800" b="1"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var:</a:t>
            </a:r>
            <a:r>
              <a:rPr lang="en-GB" sz="2800"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 This keyword is used to declare variable globally.</a:t>
            </a:r>
          </a:p>
          <a:p>
            <a:pPr marL="0" indent="0">
              <a:lnSpc>
                <a:spcPct val="160000"/>
              </a:lnSpc>
              <a:spcBef>
                <a:spcPts val="0"/>
              </a:spcBef>
              <a:buNone/>
            </a:pPr>
            <a:r>
              <a:rPr lang="en-GB" sz="2800" b="1" dirty="0">
                <a:latin typeface="Times New Roman" panose="02020603050405020304" pitchFamily="18" charset="0"/>
                <a:ea typeface="Arial" panose="020B0604020202020204" pitchFamily="34" charset="0"/>
                <a:cs typeface="Times New Roman" panose="02020603050405020304" pitchFamily="18" charset="0"/>
              </a:rPr>
              <a:t>Syntax: </a:t>
            </a:r>
            <a:r>
              <a:rPr lang="en-GB" sz="2800" dirty="0">
                <a:latin typeface="Times New Roman" panose="02020603050405020304" pitchFamily="18" charset="0"/>
                <a:ea typeface="Arial" panose="020B0604020202020204" pitchFamily="34" charset="0"/>
                <a:cs typeface="Times New Roman" panose="02020603050405020304" pitchFamily="18" charset="0"/>
              </a:rPr>
              <a:t>var </a:t>
            </a:r>
            <a:r>
              <a:rPr lang="en-GB" sz="2800" dirty="0" err="1">
                <a:latin typeface="Times New Roman" panose="02020603050405020304" pitchFamily="18" charset="0"/>
                <a:ea typeface="Arial" panose="020B0604020202020204" pitchFamily="34" charset="0"/>
                <a:cs typeface="Times New Roman" panose="02020603050405020304" pitchFamily="18" charset="0"/>
              </a:rPr>
              <a:t>variableName</a:t>
            </a:r>
            <a:r>
              <a:rPr lang="en-GB" sz="2800" dirty="0">
                <a:latin typeface="Times New Roman" panose="02020603050405020304" pitchFamily="18" charset="0"/>
                <a:ea typeface="Arial" panose="020B0604020202020204" pitchFamily="34" charset="0"/>
                <a:cs typeface="Times New Roman" panose="02020603050405020304" pitchFamily="18" charset="0"/>
              </a:rPr>
              <a:t> = "Variable-Value";</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60000"/>
              </a:lnSpc>
              <a:spcBef>
                <a:spcPts val="0"/>
              </a:spcBef>
              <a:buNone/>
            </a:pPr>
            <a:r>
              <a:rPr lang="en-GB" sz="2800" b="1" dirty="0">
                <a:latin typeface="Times New Roman" panose="02020603050405020304" pitchFamily="18" charset="0"/>
                <a:ea typeface="Arial" panose="020B0604020202020204" pitchFamily="34" charset="0"/>
                <a:cs typeface="Times New Roman" panose="02020603050405020304" pitchFamily="18" charset="0"/>
              </a:rPr>
              <a:t>let:</a:t>
            </a:r>
            <a:r>
              <a:rPr lang="en-GB" sz="2800" dirty="0">
                <a:latin typeface="Times New Roman" panose="02020603050405020304" pitchFamily="18" charset="0"/>
                <a:ea typeface="Arial" panose="020B0604020202020204" pitchFamily="34" charset="0"/>
                <a:cs typeface="Times New Roman" panose="02020603050405020304" pitchFamily="18" charset="0"/>
              </a:rPr>
              <a:t> This keyword is used to declare variable locally.</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60000"/>
              </a:lnSpc>
              <a:spcBef>
                <a:spcPts val="0"/>
              </a:spcBef>
              <a:buNone/>
            </a:pPr>
            <a:r>
              <a:rPr lang="en-GB" sz="2800" b="1" dirty="0">
                <a:latin typeface="Times New Roman" panose="02020603050405020304" pitchFamily="18" charset="0"/>
                <a:ea typeface="Arial" panose="020B0604020202020204" pitchFamily="34" charset="0"/>
                <a:cs typeface="Times New Roman" panose="02020603050405020304" pitchFamily="18" charset="0"/>
              </a:rPr>
              <a:t>Syntax: </a:t>
            </a:r>
            <a:r>
              <a:rPr lang="en-GB" sz="2800" dirty="0">
                <a:latin typeface="Times New Roman" panose="02020603050405020304" pitchFamily="18" charset="0"/>
                <a:ea typeface="Arial" panose="020B0604020202020204" pitchFamily="34" charset="0"/>
                <a:cs typeface="Times New Roman" panose="02020603050405020304" pitchFamily="18" charset="0"/>
              </a:rPr>
              <a:t>let </a:t>
            </a:r>
            <a:r>
              <a:rPr lang="en-GB" sz="2800" dirty="0" err="1">
                <a:latin typeface="Times New Roman" panose="02020603050405020304" pitchFamily="18" charset="0"/>
                <a:ea typeface="Arial" panose="020B0604020202020204" pitchFamily="34" charset="0"/>
                <a:cs typeface="Times New Roman" panose="02020603050405020304" pitchFamily="18" charset="0"/>
              </a:rPr>
              <a:t>variableName</a:t>
            </a:r>
            <a:r>
              <a:rPr lang="en-GB" sz="2800" dirty="0">
                <a:latin typeface="Times New Roman" panose="02020603050405020304" pitchFamily="18" charset="0"/>
                <a:ea typeface="Arial" panose="020B0604020202020204" pitchFamily="34" charset="0"/>
                <a:cs typeface="Times New Roman" panose="02020603050405020304" pitchFamily="18" charset="0"/>
              </a:rPr>
              <a:t> = "Variable-Value";</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2992443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0F63-2CB2-2018-9E2E-A428C8AF7D40}"/>
              </a:ext>
            </a:extLst>
          </p:cNvPr>
          <p:cNvSpPr>
            <a:spLocks noGrp="1"/>
          </p:cNvSpPr>
          <p:nvPr>
            <p:ph type="title"/>
          </p:nvPr>
        </p:nvSpPr>
        <p:spPr>
          <a:xfrm>
            <a:off x="188068" y="149157"/>
            <a:ext cx="9421237" cy="680937"/>
          </a:xfrm>
        </p:spPr>
        <p:txBody>
          <a:bodyPr>
            <a:normAutofit fontScale="90000"/>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2DA1701C-0C02-5B1E-FB46-B401C55ACD81}"/>
              </a:ext>
            </a:extLst>
          </p:cNvPr>
          <p:cNvSpPr>
            <a:spLocks noGrp="1"/>
          </p:cNvSpPr>
          <p:nvPr>
            <p:ph idx="1"/>
          </p:nvPr>
        </p:nvSpPr>
        <p:spPr>
          <a:xfrm>
            <a:off x="188068" y="830094"/>
            <a:ext cx="11079022" cy="5434072"/>
          </a:xfrm>
        </p:spPr>
        <p:txBody>
          <a:bodyPr>
            <a:normAutofit/>
          </a:bodyPr>
          <a:lstStyle/>
          <a:p>
            <a:pPr marL="0" indent="0">
              <a:lnSpc>
                <a:spcPct val="150000"/>
              </a:lnSpc>
              <a:spcBef>
                <a:spcPts val="0"/>
              </a:spcBef>
              <a:buNone/>
            </a:pPr>
            <a:r>
              <a:rPr lang="en-GB" sz="2800" b="1" dirty="0" err="1">
                <a:latin typeface="Times New Roman" panose="02020603050405020304" pitchFamily="18" charset="0"/>
                <a:ea typeface="Arial" panose="020B0604020202020204" pitchFamily="34" charset="0"/>
                <a:cs typeface="Times New Roman" panose="02020603050405020304" pitchFamily="18" charset="0"/>
              </a:rPr>
              <a:t>Const</a:t>
            </a:r>
            <a:r>
              <a:rPr lang="en-GB" sz="2800" b="1" dirty="0">
                <a:latin typeface="Times New Roman" panose="02020603050405020304" pitchFamily="18" charset="0"/>
                <a:ea typeface="Arial" panose="020B0604020202020204" pitchFamily="34" charset="0"/>
                <a:cs typeface="Times New Roman" panose="02020603050405020304" pitchFamily="18" charset="0"/>
              </a:rPr>
              <a:t>:</a:t>
            </a:r>
            <a:r>
              <a:rPr lang="en-GB" sz="2800" dirty="0">
                <a:latin typeface="Times New Roman" panose="02020603050405020304" pitchFamily="18" charset="0"/>
                <a:ea typeface="Arial" panose="020B0604020202020204" pitchFamily="34" charset="0"/>
                <a:cs typeface="Times New Roman" panose="02020603050405020304" pitchFamily="18" charset="0"/>
              </a:rPr>
              <a:t> This keyword is used to declare variable locally.</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buNone/>
            </a:pPr>
            <a:r>
              <a:rPr lang="en-GB" sz="2800" b="1" dirty="0">
                <a:latin typeface="Times New Roman" panose="02020603050405020304" pitchFamily="18" charset="0"/>
                <a:ea typeface="Arial" panose="020B0604020202020204" pitchFamily="34" charset="0"/>
                <a:cs typeface="Times New Roman" panose="02020603050405020304" pitchFamily="18" charset="0"/>
              </a:rPr>
              <a:t>Syntax:  </a:t>
            </a:r>
            <a:r>
              <a:rPr lang="en-GB" sz="2800" dirty="0" err="1">
                <a:latin typeface="Times New Roman" panose="02020603050405020304" pitchFamily="18" charset="0"/>
                <a:ea typeface="Arial" panose="020B0604020202020204" pitchFamily="34" charset="0"/>
                <a:cs typeface="Times New Roman" panose="02020603050405020304" pitchFamily="18" charset="0"/>
              </a:rPr>
              <a:t>const</a:t>
            </a:r>
            <a:r>
              <a:rPr lang="en-GB" sz="2800" dirty="0">
                <a:latin typeface="Times New Roman" panose="02020603050405020304" pitchFamily="18" charset="0"/>
                <a:ea typeface="Arial" panose="020B0604020202020204" pitchFamily="34" charset="0"/>
                <a:cs typeface="Times New Roman" panose="02020603050405020304" pitchFamily="18" charset="0"/>
              </a:rPr>
              <a:t> </a:t>
            </a:r>
            <a:r>
              <a:rPr lang="en-GB" sz="2800" dirty="0" err="1">
                <a:latin typeface="Times New Roman" panose="02020603050405020304" pitchFamily="18" charset="0"/>
                <a:ea typeface="Arial" panose="020B0604020202020204" pitchFamily="34" charset="0"/>
                <a:cs typeface="Times New Roman" panose="02020603050405020304" pitchFamily="18" charset="0"/>
              </a:rPr>
              <a:t>variableName</a:t>
            </a:r>
            <a:r>
              <a:rPr lang="en-GB" sz="2800" dirty="0">
                <a:latin typeface="Times New Roman" panose="02020603050405020304" pitchFamily="18" charset="0"/>
                <a:ea typeface="Arial" panose="020B0604020202020204" pitchFamily="34" charset="0"/>
                <a:cs typeface="Times New Roman" panose="02020603050405020304" pitchFamily="18" charset="0"/>
              </a:rPr>
              <a:t> = "Variable-Value";</a:t>
            </a:r>
            <a:r>
              <a:rPr lang="en-GB" sz="2800" b="1" dirty="0">
                <a:latin typeface="Times New Roman" panose="02020603050405020304" pitchFamily="18" charset="0"/>
                <a:ea typeface="Arial" panose="020B0604020202020204" pitchFamily="34" charset="0"/>
                <a:cs typeface="Times New Roman" panose="02020603050405020304" pitchFamily="18" charset="0"/>
              </a:rPr>
              <a:t>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buNone/>
            </a:pPr>
            <a:r>
              <a:rPr lang="en-GB" sz="2800" b="1" dirty="0">
                <a:latin typeface="Times New Roman" panose="02020603050405020304" pitchFamily="18" charset="0"/>
                <a:ea typeface="Arial" panose="020B0604020202020204" pitchFamily="34" charset="0"/>
                <a:cs typeface="Times New Roman" panose="02020603050405020304" pitchFamily="18" charset="0"/>
              </a:rPr>
              <a:t>NOTE:</a:t>
            </a:r>
            <a:r>
              <a:rPr lang="en-GB" sz="2800" dirty="0">
                <a:latin typeface="Times New Roman" panose="02020603050405020304" pitchFamily="18" charset="0"/>
                <a:ea typeface="Arial" panose="020B0604020202020204" pitchFamily="34" charset="0"/>
                <a:cs typeface="Times New Roman" panose="02020603050405020304" pitchFamily="18" charset="0"/>
              </a:rPr>
              <a:t> </a:t>
            </a:r>
            <a:r>
              <a:rPr lang="en-GB" sz="2800"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Variables are classified into Global variables and Local variables based on their scope.</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buNone/>
            </a:pPr>
            <a:r>
              <a:rPr lang="en-GB" sz="2800"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The main difference between Global and local variables is that global variables can be accessed globally in the entire program, whereas local variables can be accessed only within the function or block in which they are defined.</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4856177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D1C89D-80FD-6403-A111-E396E2E47990}"/>
              </a:ext>
            </a:extLst>
          </p:cNvPr>
          <p:cNvSpPr>
            <a:spLocks noGrp="1"/>
          </p:cNvSpPr>
          <p:nvPr>
            <p:ph idx="1"/>
          </p:nvPr>
        </p:nvSpPr>
        <p:spPr>
          <a:xfrm>
            <a:off x="515007" y="620110"/>
            <a:ext cx="10838793" cy="5556853"/>
          </a:xfrm>
        </p:spPr>
        <p:txBody>
          <a:bodyPr/>
          <a:lstStyle/>
          <a:p>
            <a:pPr marL="0" indent="0">
              <a:lnSpc>
                <a:spcPct val="150000"/>
              </a:lnSpc>
              <a:spcBef>
                <a:spcPts val="0"/>
              </a:spcBef>
              <a:buNone/>
            </a:pPr>
            <a:r>
              <a:rPr lang="en-GB" sz="2800" b="1" dirty="0">
                <a:latin typeface="Times New Roman" panose="02020603050405020304" pitchFamily="18" charset="0"/>
                <a:ea typeface="Arial" panose="020B0604020202020204" pitchFamily="34" charset="0"/>
                <a:cs typeface="Times New Roman" panose="02020603050405020304" pitchFamily="18" charset="0"/>
              </a:rPr>
              <a:t>JavaScript Identifiers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buNone/>
            </a:pPr>
            <a:endParaRPr lang="en-GB" sz="2800" dirty="0">
              <a:latin typeface="Times New Roman" panose="02020603050405020304" pitchFamily="18" charset="0"/>
              <a:ea typeface="Arial" panose="020B0604020202020204" pitchFamily="34" charset="0"/>
              <a:cs typeface="Times New Roman" panose="02020603050405020304" pitchFamily="18" charset="0"/>
            </a:endParaRPr>
          </a:p>
          <a:p>
            <a:pPr marL="0" indent="0">
              <a:lnSpc>
                <a:spcPct val="15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All JavaScript variables must be identified with unique </a:t>
            </a:r>
            <a:r>
              <a:rPr lang="en-GB" sz="2800" dirty="0" err="1">
                <a:latin typeface="Times New Roman" panose="02020603050405020304" pitchFamily="18" charset="0"/>
                <a:ea typeface="Arial" panose="020B0604020202020204" pitchFamily="34" charset="0"/>
                <a:cs typeface="Times New Roman" panose="02020603050405020304" pitchFamily="18" charset="0"/>
              </a:rPr>
              <a:t>names.These</a:t>
            </a:r>
            <a:r>
              <a:rPr lang="en-GB" sz="2800" dirty="0">
                <a:latin typeface="Times New Roman" panose="02020603050405020304" pitchFamily="18" charset="0"/>
                <a:ea typeface="Arial" panose="020B0604020202020204" pitchFamily="34" charset="0"/>
                <a:cs typeface="Times New Roman" panose="02020603050405020304" pitchFamily="18" charset="0"/>
              </a:rPr>
              <a:t> unique names are called identifiers.</a:t>
            </a:r>
          </a:p>
          <a:p>
            <a:pPr marL="0" indent="0">
              <a:lnSpc>
                <a:spcPct val="150000"/>
              </a:lnSpc>
              <a:spcBef>
                <a:spcPts val="0"/>
              </a:spcBef>
              <a:buNone/>
            </a:pPr>
            <a:r>
              <a:rPr lang="en-GB" sz="2800" dirty="0">
                <a:latin typeface="Times New Roman" panose="02020603050405020304" pitchFamily="18" charset="0"/>
                <a:cs typeface="Times New Roman" panose="02020603050405020304" pitchFamily="18" charset="0"/>
              </a:rPr>
              <a:t>Identifiers can be short names (like x and y) or more descriptive names (age, sum, </a:t>
            </a:r>
            <a:r>
              <a:rPr lang="en-GB" sz="2800" dirty="0" err="1">
                <a:latin typeface="Times New Roman" panose="02020603050405020304" pitchFamily="18" charset="0"/>
                <a:cs typeface="Times New Roman" panose="02020603050405020304" pitchFamily="18" charset="0"/>
              </a:rPr>
              <a:t>totalVolume</a:t>
            </a:r>
            <a:r>
              <a:rPr lang="en-GB"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5915811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E396-649D-2DF4-53E3-E8233FDCEC1E}"/>
              </a:ext>
            </a:extLst>
          </p:cNvPr>
          <p:cNvSpPr>
            <a:spLocks noGrp="1"/>
          </p:cNvSpPr>
          <p:nvPr>
            <p:ph type="title"/>
          </p:nvPr>
        </p:nvSpPr>
        <p:spPr>
          <a:xfrm>
            <a:off x="207524" y="123217"/>
            <a:ext cx="9064557" cy="620646"/>
          </a:xfrm>
        </p:spPr>
        <p:txBody>
          <a:bodyPr>
            <a:normAutofit fontScale="90000"/>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1E94C574-58AC-23A3-16F2-95F138B293A5}"/>
              </a:ext>
            </a:extLst>
          </p:cNvPr>
          <p:cNvSpPr>
            <a:spLocks noGrp="1"/>
          </p:cNvSpPr>
          <p:nvPr>
            <p:ph idx="1"/>
          </p:nvPr>
        </p:nvSpPr>
        <p:spPr>
          <a:xfrm>
            <a:off x="149156" y="819807"/>
            <a:ext cx="11128444" cy="5507421"/>
          </a:xfrm>
        </p:spPr>
        <p:txBody>
          <a:bodyPr>
            <a:normAutofit/>
          </a:bodyPr>
          <a:lstStyle/>
          <a:p>
            <a:pPr marL="0" indent="0">
              <a:lnSpc>
                <a:spcPct val="150000"/>
              </a:lnSpc>
              <a:spcBef>
                <a:spcPts val="0"/>
              </a:spcBef>
              <a:buNone/>
            </a:pPr>
            <a:endParaRPr lang="en-GB" sz="1800" dirty="0">
              <a:latin typeface="Times New Roman" panose="02020603050405020304" pitchFamily="18" charset="0"/>
              <a:ea typeface="Arial" panose="020B0604020202020204" pitchFamily="34" charset="0"/>
              <a:cs typeface="Times New Roman" panose="02020603050405020304" pitchFamily="18" charset="0"/>
            </a:endParaRPr>
          </a:p>
          <a:p>
            <a:pPr marL="0" indent="0">
              <a:lnSpc>
                <a:spcPct val="150000"/>
              </a:lnSpc>
              <a:spcBef>
                <a:spcPts val="0"/>
              </a:spcBef>
              <a:buNone/>
            </a:pPr>
            <a:r>
              <a:rPr lang="en-GB" sz="2800" dirty="0">
                <a:latin typeface="Times New Roman" panose="02020603050405020304" pitchFamily="18" charset="0"/>
                <a:ea typeface="Arial" panose="020B0604020202020204" pitchFamily="34" charset="0"/>
                <a:cs typeface="Times New Roman" panose="02020603050405020304" pitchFamily="18" charset="0"/>
              </a:rPr>
              <a:t>The general rules for constructing names for variables (unique identifiers) are:</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spcBef>
                <a:spcPts val="0"/>
              </a:spcBef>
              <a:buFont typeface="+mj-lt"/>
              <a:buAutoNum type="alphaLcParenR"/>
            </a:pPr>
            <a:r>
              <a:rPr lang="en-GB"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Names can contain letters, digits, underscores, and dollar signs.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spcBef>
                <a:spcPts val="0"/>
              </a:spcBef>
              <a:buFont typeface="+mj-lt"/>
              <a:buAutoNum type="alphaLcParenR"/>
            </a:pPr>
            <a:r>
              <a:rPr lang="en-GB"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Names must begin with a letter.</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spcBef>
                <a:spcPts val="0"/>
              </a:spcBef>
              <a:buFont typeface="+mj-lt"/>
              <a:buAutoNum type="alphaLcParenR"/>
            </a:pPr>
            <a:r>
              <a:rPr lang="en-GB"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Names can also begin with $ and _ (but we will not use it in this tutorial).</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spcBef>
                <a:spcPts val="0"/>
              </a:spcBef>
              <a:buFont typeface="+mj-lt"/>
              <a:buAutoNum type="alphaLcParenR"/>
            </a:pPr>
            <a:r>
              <a:rPr lang="en-GB"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Names are case sensitive (y and Y are different variables).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spcBef>
                <a:spcPts val="0"/>
              </a:spcBef>
              <a:buFont typeface="+mj-lt"/>
              <a:buAutoNum type="alphaLcParenR"/>
            </a:pPr>
            <a:r>
              <a:rPr lang="en-GB"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Reserved words (like JavaScript keywords) cannot be used as names.</a:t>
            </a:r>
          </a:p>
          <a:p>
            <a:pPr marL="0" indent="0">
              <a:lnSpc>
                <a:spcPct val="150000"/>
              </a:lnSpc>
              <a:spcBef>
                <a:spcPts val="0"/>
              </a:spcBef>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spcBef>
                <a:spcPts val="0"/>
              </a:spcBef>
              <a:buNone/>
            </a:pPr>
            <a:r>
              <a:rPr lang="en-GB" sz="1800" dirty="0">
                <a:latin typeface="Arial" panose="020B0604020202020204" pitchFamily="34" charset="0"/>
                <a:ea typeface="Arial" panose="020B0604020202020204" pitchFamily="34" charset="0"/>
              </a:rPr>
              <a:t> </a:t>
            </a:r>
            <a:endParaRPr lang="en-US" sz="1800" dirty="0">
              <a:latin typeface="Calibri" panose="020F0502020204030204" pitchFamily="34" charset="0"/>
              <a:ea typeface="Calibri" panose="020F0502020204030204" pitchFamily="34" charset="0"/>
            </a:endParaRPr>
          </a:p>
          <a:p>
            <a:pPr marL="0" indent="0">
              <a:lnSpc>
                <a:spcPct val="150000"/>
              </a:lnSpc>
              <a:spcBef>
                <a:spcPts val="0"/>
              </a:spcBef>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357812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593E93-606E-9E25-B7EC-50436137C866}"/>
              </a:ext>
            </a:extLst>
          </p:cNvPr>
          <p:cNvSpPr>
            <a:spLocks noGrp="1"/>
          </p:cNvSpPr>
          <p:nvPr>
            <p:ph idx="1"/>
          </p:nvPr>
        </p:nvSpPr>
        <p:spPr>
          <a:xfrm>
            <a:off x="599090" y="588579"/>
            <a:ext cx="10754710" cy="5588384"/>
          </a:xfrm>
        </p:spPr>
        <p:txBody>
          <a:bodyPr/>
          <a:lstStyle/>
          <a:p>
            <a:pPr>
              <a:lnSpc>
                <a:spcPct val="150000"/>
              </a:lnSpc>
              <a:spcBef>
                <a:spcPts val="0"/>
              </a:spcBef>
            </a:pPr>
            <a:r>
              <a:rPr lang="en-GB" sz="2800" b="1" dirty="0">
                <a:solidFill>
                  <a:srgbClr val="000000"/>
                </a:solidFill>
                <a:latin typeface="Times New Roman" panose="02020603050405020304" pitchFamily="18" charset="0"/>
                <a:cs typeface="Times New Roman" panose="02020603050405020304" pitchFamily="18" charset="0"/>
              </a:rPr>
              <a:t>Data Types</a:t>
            </a:r>
            <a:endParaRPr lang="en-US" sz="28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0"/>
              </a:spcBef>
              <a:buFont typeface="+mj-lt"/>
              <a:buAutoNum type="alphaLcParenR"/>
            </a:pPr>
            <a:r>
              <a:rPr lang="en-GB" sz="2800" dirty="0">
                <a:solidFill>
                  <a:srgbClr val="000000"/>
                </a:solidFill>
                <a:latin typeface="Times New Roman" panose="02020603050405020304" pitchFamily="18" charset="0"/>
                <a:cs typeface="Times New Roman" panose="02020603050405020304" pitchFamily="18" charset="0"/>
              </a:rPr>
              <a:t>Data types describe the different types or kinds of data that we're </a:t>
            </a:r>
            <a:r>
              <a:rPr lang="en-GB" sz="2800" dirty="0" err="1">
                <a:solidFill>
                  <a:srgbClr val="000000"/>
                </a:solidFill>
                <a:latin typeface="Times New Roman" panose="02020603050405020304" pitchFamily="18" charset="0"/>
                <a:cs typeface="Times New Roman" panose="02020603050405020304" pitchFamily="18" charset="0"/>
              </a:rPr>
              <a:t>gonna</a:t>
            </a:r>
            <a:r>
              <a:rPr lang="en-GB" sz="2800" dirty="0">
                <a:solidFill>
                  <a:srgbClr val="000000"/>
                </a:solidFill>
                <a:latin typeface="Times New Roman" panose="02020603050405020304" pitchFamily="18" charset="0"/>
                <a:cs typeface="Times New Roman" panose="02020603050405020304" pitchFamily="18" charset="0"/>
              </a:rPr>
              <a:t> be working with and storing in variables.</a:t>
            </a:r>
            <a:endParaRPr lang="en-US" sz="28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0"/>
              </a:spcBef>
              <a:buFont typeface="+mj-lt"/>
              <a:buAutoNum type="alphaLcParenR"/>
            </a:pPr>
            <a:r>
              <a:rPr lang="en-GB" sz="2800" dirty="0">
                <a:solidFill>
                  <a:srgbClr val="000000"/>
                </a:solidFill>
                <a:latin typeface="Times New Roman" panose="02020603050405020304" pitchFamily="18" charset="0"/>
                <a:cs typeface="Times New Roman" panose="02020603050405020304" pitchFamily="18" charset="0"/>
              </a:rPr>
              <a:t>JavaScript provides different data types to hold different types of values. There are two types of data types in JavaScript.</a:t>
            </a:r>
          </a:p>
          <a:p>
            <a:pPr marL="0" indent="0">
              <a:spcBef>
                <a:spcPts val="0"/>
              </a:spcBef>
              <a:buNone/>
            </a:pPr>
            <a:r>
              <a:rPr lang="en-GB" sz="2800" b="1" dirty="0">
                <a:solidFill>
                  <a:srgbClr val="000000"/>
                </a:solidFill>
                <a:latin typeface="Times New Roman" panose="02020603050405020304" pitchFamily="18" charset="0"/>
                <a:cs typeface="Times New Roman" panose="02020603050405020304" pitchFamily="18" charset="0"/>
              </a:rPr>
              <a:t>Primitive data type</a:t>
            </a:r>
            <a:endParaRPr lang="en-US" sz="2800" b="1" dirty="0">
              <a:solidFill>
                <a:srgbClr val="000000"/>
              </a:solidFill>
              <a:latin typeface="Times New Roman" panose="02020603050405020304" pitchFamily="18" charset="0"/>
              <a:cs typeface="Times New Roman" panose="02020603050405020304" pitchFamily="18" charset="0"/>
            </a:endParaRPr>
          </a:p>
          <a:p>
            <a:pPr marL="0" indent="0">
              <a:spcBef>
                <a:spcPts val="0"/>
              </a:spcBef>
              <a:buNone/>
            </a:pPr>
            <a:r>
              <a:rPr lang="en-GB" sz="2800" b="1" dirty="0">
                <a:solidFill>
                  <a:srgbClr val="000000"/>
                </a:solidFill>
                <a:latin typeface="Times New Roman" panose="02020603050405020304" pitchFamily="18" charset="0"/>
                <a:cs typeface="Times New Roman" panose="02020603050405020304" pitchFamily="18" charset="0"/>
              </a:rPr>
              <a:t> </a:t>
            </a:r>
            <a:endParaRPr lang="en-US" sz="2800" b="1" dirty="0">
              <a:solidFill>
                <a:srgbClr val="000000"/>
              </a:solidFill>
              <a:latin typeface="Times New Roman" panose="02020603050405020304" pitchFamily="18" charset="0"/>
              <a:cs typeface="Times New Roman" panose="02020603050405020304" pitchFamily="18" charset="0"/>
            </a:endParaRPr>
          </a:p>
          <a:p>
            <a:pPr marL="0" indent="0">
              <a:spcBef>
                <a:spcPts val="0"/>
              </a:spcBef>
              <a:buNone/>
            </a:pPr>
            <a:r>
              <a:rPr lang="en-GB" sz="2800" b="1" dirty="0">
                <a:solidFill>
                  <a:srgbClr val="000000"/>
                </a:solidFill>
                <a:latin typeface="Times New Roman" panose="02020603050405020304" pitchFamily="18" charset="0"/>
                <a:cs typeface="Times New Roman" panose="02020603050405020304" pitchFamily="18" charset="0"/>
              </a:rPr>
              <a:t>Non-primitive (reference) data type</a:t>
            </a:r>
            <a:endParaRPr lang="en-US" sz="2800" b="1" dirty="0">
              <a:solidFill>
                <a:srgbClr val="000000"/>
              </a:solidFill>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0991626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AA29F-6A99-780E-B51A-C8EEF9A845B0}"/>
              </a:ext>
            </a:extLst>
          </p:cNvPr>
          <p:cNvSpPr>
            <a:spLocks noGrp="1"/>
          </p:cNvSpPr>
          <p:nvPr>
            <p:ph type="title"/>
          </p:nvPr>
        </p:nvSpPr>
        <p:spPr>
          <a:xfrm>
            <a:off x="401629" y="246434"/>
            <a:ext cx="9047171" cy="662443"/>
          </a:xfrm>
        </p:spPr>
        <p:txBody>
          <a:bodyPr>
            <a:normAutofit fontScale="90000"/>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B5EA389B-96FC-EFDF-A13B-0052F2D35738}"/>
              </a:ext>
            </a:extLst>
          </p:cNvPr>
          <p:cNvSpPr>
            <a:spLocks noGrp="1"/>
          </p:cNvSpPr>
          <p:nvPr>
            <p:ph idx="1"/>
          </p:nvPr>
        </p:nvSpPr>
        <p:spPr>
          <a:xfrm>
            <a:off x="350193" y="1063557"/>
            <a:ext cx="9161835" cy="3667227"/>
          </a:xfrm>
        </p:spPr>
        <p:txBody>
          <a:bodyPr/>
          <a:lstStyle/>
          <a:p>
            <a:pPr marL="0" indent="0">
              <a:buNone/>
            </a:pPr>
            <a:r>
              <a:rPr lang="en-GB" sz="1800" dirty="0">
                <a:solidFill>
                  <a:srgbClr val="000000"/>
                </a:solidFill>
                <a:latin typeface="Arial" panose="020B0604020202020204" pitchFamily="34" charset="0"/>
                <a:ea typeface="Arial" panose="020B0604020202020204" pitchFamily="34" charset="0"/>
              </a:rPr>
              <a:t>There are five types of primitive data types in JavaScript. They are as follows:</a:t>
            </a:r>
          </a:p>
          <a:p>
            <a:pPr marL="0" indent="0">
              <a:buNone/>
            </a:pPr>
            <a:endParaRPr lang="en-US" sz="1800" dirty="0">
              <a:latin typeface="Calibri" panose="020F0502020204030204" pitchFamily="34" charset="0"/>
              <a:ea typeface="Calibri" panose="020F0502020204030204" pitchFamily="34" charset="0"/>
            </a:endParaRPr>
          </a:p>
          <a:p>
            <a:pPr marL="0" indent="0">
              <a:buNone/>
            </a:pPr>
            <a:endParaRPr lang="en-US" dirty="0"/>
          </a:p>
        </p:txBody>
      </p:sp>
      <p:pic>
        <p:nvPicPr>
          <p:cNvPr id="5" name="Picture 4">
            <a:extLst>
              <a:ext uri="{FF2B5EF4-FFF2-40B4-BE49-F238E27FC236}">
                <a16:creationId xmlns:a16="http://schemas.microsoft.com/office/drawing/2014/main" id="{1E151912-BDA5-A271-2F64-2B9020E5A01A}"/>
              </a:ext>
            </a:extLst>
          </p:cNvPr>
          <p:cNvPicPr>
            <a:picLocks noChangeAspect="1"/>
          </p:cNvPicPr>
          <p:nvPr/>
        </p:nvPicPr>
        <p:blipFill>
          <a:blip r:embed="rId2"/>
          <a:stretch>
            <a:fillRect/>
          </a:stretch>
        </p:blipFill>
        <p:spPr>
          <a:xfrm>
            <a:off x="401629" y="1420238"/>
            <a:ext cx="9131316" cy="4257168"/>
          </a:xfrm>
          <a:prstGeom prst="rect">
            <a:avLst/>
          </a:prstGeom>
        </p:spPr>
      </p:pic>
    </p:spTree>
    <p:extLst>
      <p:ext uri="{BB962C8B-B14F-4D97-AF65-F5344CB8AC3E}">
        <p14:creationId xmlns:p14="http://schemas.microsoft.com/office/powerpoint/2010/main" val="19683271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C77DE-E872-3240-0770-FEB53E178CB9}"/>
              </a:ext>
            </a:extLst>
          </p:cNvPr>
          <p:cNvSpPr>
            <a:spLocks noGrp="1"/>
          </p:cNvSpPr>
          <p:nvPr>
            <p:ph type="title"/>
          </p:nvPr>
        </p:nvSpPr>
        <p:spPr>
          <a:xfrm>
            <a:off x="389106" y="137963"/>
            <a:ext cx="9849255" cy="578152"/>
          </a:xfrm>
        </p:spPr>
        <p:txBody>
          <a:bodyPr>
            <a:normAutofit fontScale="90000"/>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AA3F269B-EEE4-873A-44A8-BEE17325DBAB}"/>
              </a:ext>
            </a:extLst>
          </p:cNvPr>
          <p:cNvSpPr>
            <a:spLocks noGrp="1"/>
          </p:cNvSpPr>
          <p:nvPr>
            <p:ph idx="1"/>
          </p:nvPr>
        </p:nvSpPr>
        <p:spPr>
          <a:xfrm>
            <a:off x="124739" y="780965"/>
            <a:ext cx="9596435" cy="5671716"/>
          </a:xfrm>
        </p:spPr>
        <p:txBody>
          <a:bodyPr/>
          <a:lstStyle/>
          <a:p>
            <a:pPr marL="0" indent="0">
              <a:buNone/>
            </a:pPr>
            <a:r>
              <a:rPr lang="en-GB" sz="1800" b="1" dirty="0">
                <a:solidFill>
                  <a:srgbClr val="000000"/>
                </a:solidFill>
                <a:latin typeface="Arial" panose="020B0604020202020204" pitchFamily="34" charset="0"/>
                <a:ea typeface="Arial" panose="020B0604020202020204" pitchFamily="34" charset="0"/>
              </a:rPr>
              <a:t>The non-primitive data types are as follows:</a:t>
            </a:r>
          </a:p>
          <a:p>
            <a:pPr marL="0" indent="0">
              <a:buNone/>
            </a:pPr>
            <a:endParaRPr lang="en-US" sz="1800" dirty="0">
              <a:latin typeface="Calibri" panose="020F0502020204030204" pitchFamily="34" charset="0"/>
              <a:ea typeface="Calibri" panose="020F0502020204030204" pitchFamily="34" charset="0"/>
            </a:endParaRPr>
          </a:p>
          <a:p>
            <a:pPr marL="0" indent="0">
              <a:buNone/>
            </a:pPr>
            <a:endParaRPr lang="en-US" dirty="0"/>
          </a:p>
        </p:txBody>
      </p:sp>
      <p:pic>
        <p:nvPicPr>
          <p:cNvPr id="5" name="Picture 4">
            <a:extLst>
              <a:ext uri="{FF2B5EF4-FFF2-40B4-BE49-F238E27FC236}">
                <a16:creationId xmlns:a16="http://schemas.microsoft.com/office/drawing/2014/main" id="{37373F04-BC86-E12B-D887-4F52EC0AABE1}"/>
              </a:ext>
            </a:extLst>
          </p:cNvPr>
          <p:cNvPicPr>
            <a:picLocks noChangeAspect="1"/>
          </p:cNvPicPr>
          <p:nvPr/>
        </p:nvPicPr>
        <p:blipFill>
          <a:blip r:embed="rId2"/>
          <a:stretch>
            <a:fillRect/>
          </a:stretch>
        </p:blipFill>
        <p:spPr>
          <a:xfrm>
            <a:off x="124739" y="1193260"/>
            <a:ext cx="9414852" cy="3617574"/>
          </a:xfrm>
          <a:prstGeom prst="rect">
            <a:avLst/>
          </a:prstGeom>
        </p:spPr>
      </p:pic>
    </p:spTree>
    <p:extLst>
      <p:ext uri="{BB962C8B-B14F-4D97-AF65-F5344CB8AC3E}">
        <p14:creationId xmlns:p14="http://schemas.microsoft.com/office/powerpoint/2010/main" val="1091166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27B3D-9F0E-77B2-A01E-7DB156A6A99B}"/>
              </a:ext>
            </a:extLst>
          </p:cNvPr>
          <p:cNvSpPr>
            <a:spLocks noGrp="1"/>
          </p:cNvSpPr>
          <p:nvPr>
            <p:ph type="title"/>
          </p:nvPr>
        </p:nvSpPr>
        <p:spPr>
          <a:xfrm>
            <a:off x="568960" y="220718"/>
            <a:ext cx="8705042" cy="782320"/>
          </a:xfrm>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CAF4285B-CE9F-6799-8110-8C677C81DBEF}"/>
              </a:ext>
            </a:extLst>
          </p:cNvPr>
          <p:cNvSpPr>
            <a:spLocks noGrp="1"/>
          </p:cNvSpPr>
          <p:nvPr>
            <p:ph idx="1"/>
          </p:nvPr>
        </p:nvSpPr>
        <p:spPr>
          <a:xfrm>
            <a:off x="409903" y="1133016"/>
            <a:ext cx="11213137" cy="5236253"/>
          </a:xfrm>
        </p:spPr>
        <p:txBody>
          <a:bodyPr>
            <a:normAutofit fontScale="85000" lnSpcReduction="20000"/>
          </a:bodyPr>
          <a:lstStyle/>
          <a:p>
            <a:pPr marL="342900" indent="-342900" fontAlgn="base">
              <a:lnSpc>
                <a:spcPct val="150000"/>
              </a:lnSpc>
              <a:spcBef>
                <a:spcPts val="0"/>
              </a:spcBef>
              <a:spcAft>
                <a:spcPts val="685"/>
              </a:spcAft>
              <a:buClr>
                <a:srgbClr val="000000"/>
              </a:buClr>
              <a:buSzPts val="1200"/>
              <a:buFont typeface="Arial" panose="020B0604020202020204" pitchFamily="34" charset="0"/>
              <a:buChar char="●"/>
            </a:pPr>
            <a:r>
              <a:rPr lang="en-GB" sz="2600" b="1" dirty="0">
                <a:latin typeface="Times New Roman" panose="02020603050405020304" pitchFamily="18" charset="0"/>
                <a:ea typeface="Arial" panose="020B0604020202020204" pitchFamily="34" charset="0"/>
                <a:cs typeface="Times New Roman" panose="02020603050405020304" pitchFamily="18" charset="0"/>
              </a:rPr>
              <a:t>Values </a:t>
            </a:r>
            <a:endParaRPr lang="en-US" sz="26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spcAft>
                <a:spcPts val="685"/>
              </a:spcAft>
              <a:buNone/>
            </a:pPr>
            <a:r>
              <a:rPr lang="en-GB" sz="2600" dirty="0">
                <a:latin typeface="Times New Roman" panose="02020603050405020304" pitchFamily="18" charset="0"/>
                <a:ea typeface="Arial" panose="020B0604020202020204" pitchFamily="34" charset="0"/>
                <a:cs typeface="Times New Roman" panose="02020603050405020304" pitchFamily="18" charset="0"/>
              </a:rPr>
              <a:t> A value is the representation of some entity that can be manipulated by a program. The members of a type are the values of that type. The "value of a variable" is given by the corresponding mapping in the environment.</a:t>
            </a:r>
            <a:endParaRPr lang="en-US" sz="26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spcAft>
                <a:spcPts val="685"/>
              </a:spcAft>
              <a:buNone/>
            </a:pPr>
            <a:r>
              <a:rPr lang="en-GB" sz="2600"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JavaScript values are the values that comprise values like Booleans, Strings, arrays, </a:t>
            </a:r>
            <a:r>
              <a:rPr lang="en-US" sz="2600"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 </a:t>
            </a:r>
            <a:r>
              <a:rPr lang="en-GB" sz="2600"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numbers, etc. </a:t>
            </a:r>
            <a:endParaRPr lang="en-US" sz="26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fontAlgn="base">
              <a:lnSpc>
                <a:spcPct val="150000"/>
              </a:lnSpc>
              <a:spcBef>
                <a:spcPts val="0"/>
              </a:spcBef>
              <a:spcAft>
                <a:spcPts val="700"/>
              </a:spcAft>
              <a:buClr>
                <a:srgbClr val="000000"/>
              </a:buClr>
              <a:buSzPts val="1200"/>
              <a:buFont typeface="Arial" panose="020B0604020202020204" pitchFamily="34" charset="0"/>
              <a:buChar char="●"/>
            </a:pPr>
            <a:r>
              <a:rPr lang="en-GB" sz="2600" b="1" dirty="0">
                <a:latin typeface="Times New Roman" panose="02020603050405020304" pitchFamily="18" charset="0"/>
                <a:ea typeface="Arial" panose="020B0604020202020204" pitchFamily="34" charset="0"/>
                <a:cs typeface="Times New Roman" panose="02020603050405020304" pitchFamily="18" charset="0"/>
              </a:rPr>
              <a:t>Operators  </a:t>
            </a:r>
            <a:endParaRPr lang="en-US" sz="26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Bef>
                <a:spcPts val="0"/>
              </a:spcBef>
              <a:spcAft>
                <a:spcPts val="700"/>
              </a:spcAft>
              <a:buNone/>
            </a:pPr>
            <a:r>
              <a:rPr lang="en-GB" sz="2600" dirty="0">
                <a:highlight>
                  <a:srgbClr val="FFFFFF"/>
                </a:highlight>
                <a:latin typeface="Times New Roman" panose="02020603050405020304" pitchFamily="18" charset="0"/>
                <a:ea typeface="Arial" panose="020B0604020202020204" pitchFamily="34" charset="0"/>
                <a:cs typeface="Times New Roman" panose="02020603050405020304" pitchFamily="18" charset="0"/>
              </a:rPr>
              <a:t>In JavaScript, an operator is a special symbol used to perform operations on operands (values and variables). For example, 2 + 3.</a:t>
            </a:r>
          </a:p>
          <a:p>
            <a:pPr marL="342900" marR="0" lvl="0" indent="-342900" fontAlgn="base">
              <a:spcBef>
                <a:spcPts val="0"/>
              </a:spcBef>
              <a:spcAft>
                <a:spcPts val="690"/>
              </a:spcAft>
              <a:buClr>
                <a:srgbClr val="000000"/>
              </a:buClr>
              <a:buSzPts val="1200"/>
              <a:buFont typeface="Arial" panose="020B0604020202020204" pitchFamily="34" charset="0"/>
              <a:buChar char="●"/>
            </a:pPr>
            <a:r>
              <a:rPr lang="en-GB" sz="2600" b="1" dirty="0">
                <a:highlight>
                  <a:srgbClr val="FFFFFF"/>
                </a:highlight>
                <a:latin typeface="Times New Roman" panose="02020603050405020304" pitchFamily="18" charset="0"/>
                <a:cs typeface="Times New Roman" panose="02020603050405020304" pitchFamily="18" charset="0"/>
              </a:rPr>
              <a:t>Expressions </a:t>
            </a:r>
            <a:endParaRPr lang="en-US" sz="2600" b="1" dirty="0">
              <a:highlight>
                <a:srgbClr val="FFFFFF"/>
              </a:highlight>
              <a:latin typeface="Times New Roman" panose="02020603050405020304" pitchFamily="18" charset="0"/>
              <a:cs typeface="Times New Roman" panose="02020603050405020304" pitchFamily="18" charset="0"/>
            </a:endParaRPr>
          </a:p>
          <a:p>
            <a:pPr marL="0" marR="0" lvl="0" indent="0" fontAlgn="base">
              <a:spcBef>
                <a:spcPts val="0"/>
              </a:spcBef>
              <a:spcAft>
                <a:spcPts val="690"/>
              </a:spcAft>
              <a:buClr>
                <a:srgbClr val="000000"/>
              </a:buClr>
              <a:buSzPts val="1200"/>
              <a:buNone/>
            </a:pPr>
            <a:r>
              <a:rPr lang="en-GB" sz="2600" dirty="0">
                <a:highlight>
                  <a:srgbClr val="FFFFFF"/>
                </a:highlight>
                <a:latin typeface="Times New Roman" panose="02020603050405020304" pitchFamily="18" charset="0"/>
                <a:cs typeface="Times New Roman" panose="02020603050405020304" pitchFamily="18" charset="0"/>
              </a:rPr>
              <a:t>JavaScript's expression is a valid set of literals, variables, operators, and expressions that evaluate to a single value.</a:t>
            </a:r>
            <a:endParaRPr lang="en-US" sz="2600" dirty="0">
              <a:highlight>
                <a:srgbClr val="FFFFFF"/>
              </a:highlight>
              <a:latin typeface="Times New Roman" panose="02020603050405020304" pitchFamily="18" charset="0"/>
              <a:cs typeface="Times New Roman" panose="02020603050405020304" pitchFamily="18" charset="0"/>
            </a:endParaRPr>
          </a:p>
          <a:p>
            <a:pPr marL="0" indent="0">
              <a:lnSpc>
                <a:spcPct val="150000"/>
              </a:lnSpc>
              <a:spcBef>
                <a:spcPts val="0"/>
              </a:spcBef>
              <a:spcAft>
                <a:spcPts val="70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38839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76AB6-5A1C-DF62-8D79-B0445D1EF119}"/>
              </a:ext>
            </a:extLst>
          </p:cNvPr>
          <p:cNvSpPr>
            <a:spLocks noGrp="1"/>
          </p:cNvSpPr>
          <p:nvPr>
            <p:ph type="title"/>
          </p:nvPr>
        </p:nvSpPr>
        <p:spPr>
          <a:xfrm>
            <a:off x="386080" y="182247"/>
            <a:ext cx="10657840" cy="1006473"/>
          </a:xfrm>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F2B2742F-11BF-9312-85CA-C059ED162EC7}"/>
              </a:ext>
            </a:extLst>
          </p:cNvPr>
          <p:cNvSpPr>
            <a:spLocks noGrp="1"/>
          </p:cNvSpPr>
          <p:nvPr>
            <p:ph idx="1"/>
          </p:nvPr>
        </p:nvSpPr>
        <p:spPr>
          <a:xfrm>
            <a:off x="386080" y="1066800"/>
            <a:ext cx="11328400" cy="5090793"/>
          </a:xfrm>
        </p:spPr>
        <p:txBody>
          <a:bodyPr/>
          <a:lstStyle/>
          <a:p>
            <a:pPr marL="342900" marR="0" lvl="0" indent="-342900" fontAlgn="base">
              <a:spcBef>
                <a:spcPts val="0"/>
              </a:spcBef>
              <a:spcAft>
                <a:spcPts val="690"/>
              </a:spcAft>
              <a:buClr>
                <a:srgbClr val="000000"/>
              </a:buClr>
              <a:buSzPts val="1200"/>
              <a:buFont typeface="Arial" panose="020B0604020202020204" pitchFamily="34" charset="0"/>
              <a:buChar char="●"/>
            </a:pPr>
            <a:r>
              <a:rPr lang="en-GB" sz="1800" b="1" u="none" strike="noStrike" dirty="0">
                <a:effectLst/>
                <a:latin typeface="Arial" panose="020B0604020202020204" pitchFamily="34" charset="0"/>
                <a:ea typeface="Arial" panose="020B0604020202020204" pitchFamily="34" charset="0"/>
                <a:cs typeface="Calibri" panose="020F0502020204030204" pitchFamily="34" charset="0"/>
              </a:rPr>
              <a:t>Keywords</a:t>
            </a:r>
            <a:r>
              <a:rPr lang="en-GB" sz="1800" u="none" strike="noStrike" dirty="0">
                <a:effectLst/>
                <a:latin typeface="Arial" panose="020B0604020202020204" pitchFamily="34" charset="0"/>
                <a:ea typeface="Arial" panose="020B0604020202020204" pitchFamily="34" charset="0"/>
                <a:cs typeface="Calibri" panose="020F0502020204030204" pitchFamily="34" charset="0"/>
              </a:rPr>
              <a:t> </a:t>
            </a:r>
            <a:endParaRPr lang="en-US" sz="1800" u="none" strike="noStrike" dirty="0">
              <a:effectLst/>
              <a:latin typeface="Calibri" panose="020F0502020204030204" pitchFamily="34" charset="0"/>
              <a:ea typeface="Calibri" panose="020F0502020204030204" pitchFamily="34" charset="0"/>
              <a:cs typeface="Calibri" panose="020F0502020204030204" pitchFamily="34" charset="0"/>
            </a:endParaRPr>
          </a:p>
          <a:p>
            <a:pPr marL="0" marR="0" indent="0">
              <a:spcBef>
                <a:spcPts val="0"/>
              </a:spcBef>
              <a:spcAft>
                <a:spcPts val="690"/>
              </a:spcAft>
              <a:buNone/>
            </a:pPr>
            <a:r>
              <a:rPr lang="en-GB" sz="1800" dirty="0">
                <a:effectLst/>
                <a:highlight>
                  <a:srgbClr val="FFFFFF"/>
                </a:highlight>
                <a:latin typeface="Arial" panose="020B0604020202020204" pitchFamily="34" charset="0"/>
                <a:ea typeface="Arial" panose="020B0604020202020204" pitchFamily="34" charset="0"/>
              </a:rPr>
              <a:t>In </a:t>
            </a:r>
            <a:r>
              <a:rPr lang="en-GB" sz="1800" dirty="0" err="1">
                <a:effectLst/>
                <a:highlight>
                  <a:srgbClr val="FFFFFF"/>
                </a:highlight>
                <a:latin typeface="Arial" panose="020B0604020202020204" pitchFamily="34" charset="0"/>
                <a:ea typeface="Arial" panose="020B0604020202020204" pitchFamily="34" charset="0"/>
              </a:rPr>
              <a:t>JavaScripts</a:t>
            </a:r>
            <a:r>
              <a:rPr lang="en-GB" sz="1800" dirty="0">
                <a:effectLst/>
                <a:highlight>
                  <a:srgbClr val="FFFFFF"/>
                </a:highlight>
                <a:latin typeface="Arial" panose="020B0604020202020204" pitchFamily="34" charset="0"/>
                <a:ea typeface="Arial" panose="020B0604020202020204" pitchFamily="34" charset="0"/>
              </a:rPr>
              <a:t> keywords are reserved words that have a specific purpose and are already defined in the language. </a:t>
            </a:r>
            <a:endParaRPr lang="en-US" sz="1800" dirty="0">
              <a:effectLst/>
              <a:latin typeface="Calibri" panose="020F0502020204030204" pitchFamily="34" charset="0"/>
              <a:ea typeface="Calibri" panose="020F0502020204030204" pitchFamily="34" charset="0"/>
            </a:endParaRPr>
          </a:p>
          <a:p>
            <a:pPr marL="0" marR="0" indent="0" algn="just">
              <a:spcBef>
                <a:spcPts val="600"/>
              </a:spcBef>
              <a:spcAft>
                <a:spcPts val="720"/>
              </a:spcAft>
              <a:buNone/>
            </a:pPr>
            <a:r>
              <a:rPr lang="en-GB" sz="1800" dirty="0">
                <a:effectLst/>
                <a:latin typeface="Arial" panose="020B0604020202020204" pitchFamily="34" charset="0"/>
                <a:ea typeface="Arial" panose="020B0604020202020204" pitchFamily="34" charset="0"/>
              </a:rPr>
              <a:t>A list of all the reserved words in JavaScript are given in the following table. They cannot be used as JavaScript variables, functions, methods, loop labels, or any object names.</a:t>
            </a:r>
          </a:p>
          <a:p>
            <a:pPr marL="0" marR="0" indent="0" algn="just">
              <a:spcBef>
                <a:spcPts val="600"/>
              </a:spcBef>
              <a:spcAft>
                <a:spcPts val="720"/>
              </a:spcAft>
              <a:buNone/>
            </a:pPr>
            <a:endParaRPr lang="en-US" sz="1800" dirty="0">
              <a:effectLst/>
              <a:latin typeface="Calibri" panose="020F0502020204030204" pitchFamily="34" charset="0"/>
              <a:ea typeface="Calibri" panose="020F0502020204030204" pitchFamily="34" charset="0"/>
            </a:endParaRPr>
          </a:p>
          <a:p>
            <a:pPr marL="0" indent="0">
              <a:buNone/>
            </a:pPr>
            <a:endParaRPr lang="en-US" dirty="0"/>
          </a:p>
        </p:txBody>
      </p:sp>
      <p:pic>
        <p:nvPicPr>
          <p:cNvPr id="5" name="Picture 4">
            <a:extLst>
              <a:ext uri="{FF2B5EF4-FFF2-40B4-BE49-F238E27FC236}">
                <a16:creationId xmlns:a16="http://schemas.microsoft.com/office/drawing/2014/main" id="{89EDC7F9-F603-1576-AF17-E69FCFF38C8C}"/>
              </a:ext>
            </a:extLst>
          </p:cNvPr>
          <p:cNvPicPr>
            <a:picLocks noChangeAspect="1"/>
          </p:cNvPicPr>
          <p:nvPr/>
        </p:nvPicPr>
        <p:blipFill>
          <a:blip r:embed="rId2"/>
          <a:stretch>
            <a:fillRect/>
          </a:stretch>
        </p:blipFill>
        <p:spPr>
          <a:xfrm>
            <a:off x="305117" y="2622232"/>
            <a:ext cx="9305925" cy="3686175"/>
          </a:xfrm>
          <a:prstGeom prst="rect">
            <a:avLst/>
          </a:prstGeom>
        </p:spPr>
      </p:pic>
    </p:spTree>
    <p:extLst>
      <p:ext uri="{BB962C8B-B14F-4D97-AF65-F5344CB8AC3E}">
        <p14:creationId xmlns:p14="http://schemas.microsoft.com/office/powerpoint/2010/main" val="21767868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C95EE-A31A-F64A-B930-90C0E4A0FDE5}"/>
              </a:ext>
            </a:extLst>
          </p:cNvPr>
          <p:cNvSpPr>
            <a:spLocks noGrp="1"/>
          </p:cNvSpPr>
          <p:nvPr>
            <p:ph type="title"/>
          </p:nvPr>
        </p:nvSpPr>
        <p:spPr>
          <a:xfrm>
            <a:off x="348615" y="141607"/>
            <a:ext cx="11109960" cy="1270633"/>
          </a:xfrm>
        </p:spPr>
        <p:txBody>
          <a:bodyPr/>
          <a:lstStyle/>
          <a:p>
            <a:r>
              <a:rPr lang="en-US" b="1" dirty="0" err="1"/>
              <a:t>Cont</a:t>
            </a:r>
            <a:r>
              <a:rPr lang="en-US" b="1" dirty="0"/>
              <a:t>’</a:t>
            </a:r>
          </a:p>
        </p:txBody>
      </p:sp>
      <p:pic>
        <p:nvPicPr>
          <p:cNvPr id="5" name="Content Placeholder 4">
            <a:extLst>
              <a:ext uri="{FF2B5EF4-FFF2-40B4-BE49-F238E27FC236}">
                <a16:creationId xmlns:a16="http://schemas.microsoft.com/office/drawing/2014/main" id="{DB8A8D97-B051-FFF5-E52E-FE27B03B26E6}"/>
              </a:ext>
            </a:extLst>
          </p:cNvPr>
          <p:cNvPicPr>
            <a:picLocks noGrp="1" noChangeAspect="1"/>
          </p:cNvPicPr>
          <p:nvPr>
            <p:ph idx="1"/>
          </p:nvPr>
        </p:nvPicPr>
        <p:blipFill>
          <a:blip r:embed="rId2"/>
          <a:stretch>
            <a:fillRect/>
          </a:stretch>
        </p:blipFill>
        <p:spPr>
          <a:xfrm>
            <a:off x="846455" y="1838960"/>
            <a:ext cx="9305925" cy="4000500"/>
          </a:xfrm>
        </p:spPr>
      </p:pic>
    </p:spTree>
    <p:extLst>
      <p:ext uri="{BB962C8B-B14F-4D97-AF65-F5344CB8AC3E}">
        <p14:creationId xmlns:p14="http://schemas.microsoft.com/office/powerpoint/2010/main" val="28908469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7115B-5A71-5A8A-220D-0DFA1D635CE2}"/>
              </a:ext>
            </a:extLst>
          </p:cNvPr>
          <p:cNvSpPr>
            <a:spLocks noGrp="1"/>
          </p:cNvSpPr>
          <p:nvPr>
            <p:ph type="title"/>
          </p:nvPr>
        </p:nvSpPr>
        <p:spPr>
          <a:xfrm>
            <a:off x="838200" y="365127"/>
            <a:ext cx="9961880" cy="1118233"/>
          </a:xfrm>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4CDE3350-0D72-B054-7D7A-00EA570EFB81}"/>
              </a:ext>
            </a:extLst>
          </p:cNvPr>
          <p:cNvSpPr>
            <a:spLocks noGrp="1"/>
          </p:cNvSpPr>
          <p:nvPr>
            <p:ph idx="1"/>
          </p:nvPr>
        </p:nvSpPr>
        <p:spPr>
          <a:xfrm>
            <a:off x="683172" y="1271752"/>
            <a:ext cx="10773104" cy="5097517"/>
          </a:xfrm>
        </p:spPr>
        <p:txBody>
          <a:bodyPr/>
          <a:lstStyle/>
          <a:p>
            <a:pPr marL="1676400" marR="0">
              <a:lnSpc>
                <a:spcPct val="150000"/>
              </a:lnSpc>
              <a:spcBef>
                <a:spcPts val="0"/>
              </a:spcBef>
              <a:spcAft>
                <a:spcPts val="865"/>
              </a:spcAft>
            </a:pPr>
            <a:r>
              <a:rPr lang="en-GB" sz="2800" b="1" dirty="0">
                <a:effectLst/>
                <a:latin typeface="Times New Roman" panose="02020603050405020304" pitchFamily="18" charset="0"/>
                <a:ea typeface="Arial" panose="020B0604020202020204" pitchFamily="34" charset="0"/>
                <a:cs typeface="Times New Roman" panose="02020603050405020304" pitchFamily="18" charset="0"/>
              </a:rPr>
              <a:t>Comments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0000"/>
              </a:lnSpc>
              <a:spcBef>
                <a:spcPts val="1200"/>
              </a:spcBef>
              <a:spcAft>
                <a:spcPts val="1200"/>
              </a:spcAft>
              <a:buNone/>
            </a:pPr>
            <a:r>
              <a:rPr lang="en-GB"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The JavaScript comments </a:t>
            </a:r>
            <a:r>
              <a:rPr lang="en-GB" sz="2800" dirty="0">
                <a:solidFill>
                  <a:srgbClr val="000000"/>
                </a:solidFill>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can be used to explain JavaScript code, and to make it more readable.</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0000"/>
              </a:lnSpc>
              <a:spcBef>
                <a:spcPts val="1200"/>
              </a:spcBef>
              <a:spcAft>
                <a:spcPts val="1200"/>
              </a:spcAft>
              <a:buNone/>
            </a:pPr>
            <a:r>
              <a:rPr lang="en-GB"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It is used to add information about the code, warnings or suggestions so that end users can easily interpret the code.</a:t>
            </a:r>
            <a:endParaRPr lang="en-US" sz="2800" dirty="0">
              <a:latin typeface="Times New Roman" panose="02020603050405020304" pitchFamily="18" charset="0"/>
              <a:ea typeface="Arial" panose="020B0604020202020204" pitchFamily="34" charset="0"/>
              <a:cs typeface="Times New Roman" panose="02020603050405020304" pitchFamily="18" charset="0"/>
            </a:endParaRPr>
          </a:p>
          <a:p>
            <a:pPr marL="0" marR="0" indent="0">
              <a:lnSpc>
                <a:spcPct val="100000"/>
              </a:lnSpc>
              <a:spcBef>
                <a:spcPts val="1200"/>
              </a:spcBef>
              <a:spcAft>
                <a:spcPts val="1200"/>
              </a:spcAft>
              <a:buNone/>
            </a:pPr>
            <a:r>
              <a:rPr lang="en-GB"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The JavaScript comment is ignored by the JavaScript engine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7150622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F6DB4-1384-C3B8-EA97-B0EB6929BED7}"/>
              </a:ext>
            </a:extLst>
          </p:cNvPr>
          <p:cNvSpPr>
            <a:spLocks noGrp="1"/>
          </p:cNvSpPr>
          <p:nvPr>
            <p:ph idx="1"/>
          </p:nvPr>
        </p:nvSpPr>
        <p:spPr>
          <a:xfrm>
            <a:off x="399393" y="469791"/>
            <a:ext cx="11067393" cy="5857438"/>
          </a:xfrm>
        </p:spPr>
        <p:txBody>
          <a:bodyPr>
            <a:normAutofit lnSpcReduction="10000"/>
          </a:bodyPr>
          <a:lstStyle/>
          <a:p>
            <a:pPr marL="0" marR="0" indent="0" algn="just">
              <a:lnSpc>
                <a:spcPct val="150000"/>
              </a:lnSpc>
              <a:spcBef>
                <a:spcPts val="1200"/>
              </a:spcBef>
              <a:spcAft>
                <a:spcPts val="1200"/>
              </a:spcAft>
              <a:buNone/>
            </a:pPr>
            <a:r>
              <a:rPr lang="en-GB" sz="28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Advantages of JavaScript comments</a:t>
            </a:r>
          </a:p>
          <a:p>
            <a:pPr marL="0" marR="0" indent="0" algn="just">
              <a:lnSpc>
                <a:spcPct val="150000"/>
              </a:lnSpc>
              <a:spcBef>
                <a:spcPts val="1200"/>
              </a:spcBef>
              <a:spcAft>
                <a:spcPts val="1200"/>
              </a:spcAft>
              <a:buNone/>
            </a:pPr>
            <a:r>
              <a:rPr lang="en-GB"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There are mainly two main advantages of JavaScript comments.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1500"/>
              </a:spcBef>
              <a:spcAft>
                <a:spcPts val="0"/>
              </a:spcAft>
              <a:buFont typeface="Arial" panose="020B0604020202020204" pitchFamily="34" charset="0"/>
              <a:buChar char="●"/>
            </a:pPr>
            <a:r>
              <a:rPr lang="en-GB" sz="2800" u="none" strike="noStrik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To make code easy to understand It can be used to elaborate the code so that end users can easily understand the code.</a:t>
            </a:r>
            <a:endParaRPr lang="en-US" sz="28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200"/>
              </a:spcAft>
              <a:buFont typeface="Arial" panose="020B0604020202020204" pitchFamily="34" charset="0"/>
              <a:buChar char="●"/>
            </a:pPr>
            <a:r>
              <a:rPr lang="en-GB" sz="2800" u="none" strike="noStrik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To avoid unnecessary code It can also be used to avoid the code being executed. Sometimes, we add the code to perform some action. But after some time, the code may need to be disabled. In such cases, it is better to use comments.</a:t>
            </a:r>
            <a:endParaRPr lang="en-US" sz="28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spcBef>
                <a:spcPts val="1200"/>
              </a:spcBef>
              <a:spcAft>
                <a:spcPts val="1200"/>
              </a:spcAft>
              <a:buFont typeface="+mj-lt"/>
              <a:buAutoNum type="alphaLcParenR"/>
            </a:pPr>
            <a:endParaRPr lang="en-US" sz="1800" u="none" strike="noStrike" dirty="0">
              <a:solidFill>
                <a:srgbClr val="000000"/>
              </a:solidFill>
              <a:effectLst/>
              <a:latin typeface="Times New Roman" panose="02020603050405020304" pitchFamily="18" charset="0"/>
              <a:ea typeface="Roboto" panose="02000000000000000000" pitchFamily="2"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4396109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9DF1C7-F35D-16A0-7115-A91C1CBF3235}"/>
              </a:ext>
            </a:extLst>
          </p:cNvPr>
          <p:cNvSpPr>
            <a:spLocks noGrp="1"/>
          </p:cNvSpPr>
          <p:nvPr>
            <p:ph idx="1"/>
          </p:nvPr>
        </p:nvSpPr>
        <p:spPr>
          <a:xfrm>
            <a:off x="578069" y="641131"/>
            <a:ext cx="10775731" cy="5535832"/>
          </a:xfrm>
        </p:spPr>
        <p:txBody>
          <a:bodyPr/>
          <a:lstStyle/>
          <a:p>
            <a:pPr marL="0" marR="0" indent="0">
              <a:spcBef>
                <a:spcPts val="0"/>
              </a:spcBef>
              <a:spcAft>
                <a:spcPts val="0"/>
              </a:spcAft>
              <a:buNone/>
            </a:pPr>
            <a:r>
              <a:rPr lang="en-GB" sz="2800" b="1" dirty="0">
                <a:effectLst/>
                <a:latin typeface="Times New Roman" panose="02020603050405020304" pitchFamily="18" charset="0"/>
                <a:ea typeface="Arial" panose="020B0604020202020204" pitchFamily="34" charset="0"/>
                <a:cs typeface="Times New Roman" panose="02020603050405020304" pitchFamily="18" charset="0"/>
              </a:rPr>
              <a:t>Types of JavaScript Comments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1200"/>
              </a:spcBef>
              <a:spcAft>
                <a:spcPts val="1200"/>
              </a:spcAft>
              <a:buNone/>
            </a:pPr>
            <a:r>
              <a:rPr lang="en-GB"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There are two types of comments in JavaScript.</a:t>
            </a:r>
            <a:endParaRPr lang="en-US" sz="2800" dirty="0">
              <a:latin typeface="Times New Roman" panose="02020603050405020304" pitchFamily="18" charset="0"/>
              <a:ea typeface="Arial" panose="020B0604020202020204" pitchFamily="34" charset="0"/>
              <a:cs typeface="Times New Roman" panose="02020603050405020304" pitchFamily="18" charset="0"/>
            </a:endParaRPr>
          </a:p>
          <a:p>
            <a:pPr marL="342900" marR="0" indent="-342900" algn="just">
              <a:spcBef>
                <a:spcPts val="1200"/>
              </a:spcBef>
              <a:spcAft>
                <a:spcPts val="1200"/>
              </a:spcAft>
              <a:buFont typeface="+mj-lt"/>
              <a:buAutoNum type="alphaLcParenR"/>
            </a:pPr>
            <a:r>
              <a:rPr lang="en-GB" sz="2800" u="none" strike="noStrik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Single-line Comment</a:t>
            </a:r>
            <a:endParaRPr lang="en-US" sz="2800" dirty="0">
              <a:solidFill>
                <a:srgbClr val="000000"/>
              </a:solidFill>
              <a:latin typeface="Times New Roman" panose="02020603050405020304" pitchFamily="18" charset="0"/>
              <a:ea typeface="Roboto" panose="02000000000000000000" pitchFamily="2" charset="0"/>
              <a:cs typeface="Times New Roman" panose="02020603050405020304" pitchFamily="18" charset="0"/>
            </a:endParaRPr>
          </a:p>
          <a:p>
            <a:pPr marL="342900" marR="0" indent="-342900" algn="just">
              <a:spcBef>
                <a:spcPts val="1200"/>
              </a:spcBef>
              <a:spcAft>
                <a:spcPts val="1200"/>
              </a:spcAft>
              <a:buFont typeface="+mj-lt"/>
              <a:buAutoNum type="alphaLcParenR"/>
            </a:pPr>
            <a:r>
              <a:rPr lang="en-GB" sz="2800" u="none" strike="noStrik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Multi-line Comment</a:t>
            </a:r>
          </a:p>
          <a:p>
            <a:pPr marL="342900" lvl="3" indent="-342900" algn="just">
              <a:spcBef>
                <a:spcPts val="1200"/>
              </a:spcBef>
              <a:spcAft>
                <a:spcPts val="1200"/>
              </a:spcAft>
              <a:buFont typeface="+mj-lt"/>
              <a:buAutoNum type="alphaLcParenR"/>
            </a:pPr>
            <a:r>
              <a:rPr lang="en-GB" sz="2800" b="1" dirty="0">
                <a:solidFill>
                  <a:srgbClr val="000000"/>
                </a:solidFill>
                <a:latin typeface="Times New Roman" panose="02020603050405020304" pitchFamily="18" charset="0"/>
                <a:cs typeface="Times New Roman" panose="02020603050405020304" pitchFamily="18" charset="0"/>
              </a:rPr>
              <a:t>Single Line Comments</a:t>
            </a:r>
            <a:endParaRPr lang="en-US" sz="2800" b="1" dirty="0">
              <a:solidFill>
                <a:srgbClr val="000000"/>
              </a:solidFill>
              <a:latin typeface="Times New Roman" panose="02020603050405020304" pitchFamily="18" charset="0"/>
              <a:cs typeface="Times New Roman" panose="02020603050405020304" pitchFamily="18" charset="0"/>
            </a:endParaRPr>
          </a:p>
          <a:p>
            <a:pPr marL="0" indent="0" algn="just">
              <a:spcBef>
                <a:spcPts val="1200"/>
              </a:spcBef>
              <a:spcAft>
                <a:spcPts val="1200"/>
              </a:spcAft>
              <a:buNone/>
            </a:pPr>
            <a:r>
              <a:rPr lang="en-GB" sz="2800" dirty="0">
                <a:solidFill>
                  <a:srgbClr val="000000"/>
                </a:solidFill>
                <a:latin typeface="Times New Roman" panose="02020603050405020304" pitchFamily="18" charset="0"/>
                <a:cs typeface="Times New Roman" panose="02020603050405020304" pitchFamily="18" charset="0"/>
              </a:rPr>
              <a:t>Single-line comments start with //.</a:t>
            </a:r>
            <a:endParaRPr lang="en-US" sz="2800" dirty="0">
              <a:solidFill>
                <a:srgbClr val="000000"/>
              </a:solidFill>
              <a:latin typeface="Times New Roman" panose="02020603050405020304" pitchFamily="18" charset="0"/>
              <a:cs typeface="Times New Roman" panose="02020603050405020304" pitchFamily="18" charset="0"/>
            </a:endParaRPr>
          </a:p>
          <a:p>
            <a:pPr marL="0" indent="0" algn="just">
              <a:spcBef>
                <a:spcPts val="1200"/>
              </a:spcBef>
              <a:spcAft>
                <a:spcPts val="1200"/>
              </a:spcAft>
              <a:buNone/>
            </a:pPr>
            <a:r>
              <a:rPr lang="en-GB" sz="2800" dirty="0">
                <a:solidFill>
                  <a:srgbClr val="000000"/>
                </a:solidFill>
                <a:latin typeface="Times New Roman" panose="02020603050405020304" pitchFamily="18" charset="0"/>
                <a:cs typeface="Times New Roman" panose="02020603050405020304" pitchFamily="18" charset="0"/>
              </a:rPr>
              <a:t>Any text between // and the end of the line will be ignored by JavaScript (will not be executed).</a:t>
            </a:r>
            <a:endParaRPr lang="en-US" sz="2800" dirty="0">
              <a:solidFill>
                <a:srgbClr val="000000"/>
              </a:solidFill>
              <a:latin typeface="Times New Roman" panose="02020603050405020304" pitchFamily="18" charset="0"/>
              <a:cs typeface="Times New Roman" panose="02020603050405020304" pitchFamily="18" charset="0"/>
            </a:endParaRPr>
          </a:p>
          <a:p>
            <a:pPr marL="0" marR="0" indent="0" algn="just">
              <a:spcBef>
                <a:spcPts val="1200"/>
              </a:spcBef>
              <a:spcAft>
                <a:spcPts val="1200"/>
              </a:spcAft>
              <a:buNone/>
            </a:pPr>
            <a:endParaRPr lang="en-GB" sz="2800" u="none" strike="noStrike"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3862455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452198-D590-A51A-5171-53BC025A4822}"/>
              </a:ext>
            </a:extLst>
          </p:cNvPr>
          <p:cNvSpPr>
            <a:spLocks noGrp="1"/>
          </p:cNvSpPr>
          <p:nvPr>
            <p:ph idx="1"/>
          </p:nvPr>
        </p:nvSpPr>
        <p:spPr>
          <a:xfrm>
            <a:off x="704192" y="420415"/>
            <a:ext cx="10930759" cy="5917324"/>
          </a:xfrm>
        </p:spPr>
        <p:txBody>
          <a:bodyPr>
            <a:normAutofit lnSpcReduction="10000"/>
          </a:bodyPr>
          <a:lstStyle/>
          <a:p>
            <a:pPr>
              <a:spcBef>
                <a:spcPts val="0"/>
              </a:spcBef>
              <a:spcAft>
                <a:spcPts val="0"/>
              </a:spcAft>
            </a:pPr>
            <a:endParaRPr lang="en-US" dirty="0">
              <a:effectLst/>
            </a:endParaRPr>
          </a:p>
          <a:p>
            <a:pPr marL="0" marR="0" indent="0" algn="just">
              <a:lnSpc>
                <a:spcPct val="100000"/>
              </a:lnSpc>
              <a:spcBef>
                <a:spcPts val="1200"/>
              </a:spcBef>
              <a:spcAft>
                <a:spcPts val="1200"/>
              </a:spcAft>
              <a:buNone/>
            </a:pPr>
            <a:r>
              <a:rPr lang="en-GB" sz="2800" b="1" dirty="0">
                <a:effectLst/>
                <a:latin typeface="Times New Roman" panose="02020603050405020304" pitchFamily="18" charset="0"/>
                <a:ea typeface="Arial" panose="020B0604020202020204" pitchFamily="34" charset="0"/>
                <a:cs typeface="Times New Roman" panose="02020603050405020304" pitchFamily="18" charset="0"/>
              </a:rPr>
              <a:t>Example: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0000"/>
              </a:lnSpc>
              <a:spcBef>
                <a:spcPts val="0"/>
              </a:spcBef>
              <a:spcAft>
                <a:spcPts val="0"/>
              </a:spcAft>
              <a:buNone/>
            </a:pPr>
            <a:r>
              <a:rPr lang="en-GB" sz="2800" dirty="0">
                <a:effectLst/>
                <a:latin typeface="Times New Roman" panose="02020603050405020304" pitchFamily="18" charset="0"/>
                <a:ea typeface="Arial" panose="020B0604020202020204" pitchFamily="34" charset="0"/>
                <a:cs typeface="Times New Roman" panose="02020603050405020304" pitchFamily="18" charset="0"/>
              </a:rPr>
              <a:t>var x;  //Declaration of a variable x</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0000"/>
              </a:lnSpc>
              <a:spcBef>
                <a:spcPts val="0"/>
              </a:spcBef>
              <a:spcAft>
                <a:spcPts val="0"/>
              </a:spcAft>
              <a:buNone/>
            </a:pP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0000"/>
              </a:lnSpc>
              <a:spcBef>
                <a:spcPts val="0"/>
              </a:spcBef>
              <a:spcAft>
                <a:spcPts val="0"/>
              </a:spcAft>
              <a:buNone/>
            </a:pPr>
            <a:r>
              <a:rPr lang="en-GB" sz="2800" b="1" dirty="0">
                <a:effectLst/>
                <a:latin typeface="Times New Roman" panose="02020603050405020304" pitchFamily="18" charset="0"/>
                <a:ea typeface="Arial" panose="020B0604020202020204" pitchFamily="34" charset="0"/>
                <a:cs typeface="Times New Roman" panose="02020603050405020304" pitchFamily="18" charset="0"/>
              </a:rPr>
              <a:t>                      2. Multi-line Comments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lnSpc>
                <a:spcPct val="100000"/>
              </a:lnSpc>
              <a:spcBef>
                <a:spcPts val="1400"/>
              </a:spcBef>
              <a:spcAft>
                <a:spcPts val="1400"/>
              </a:spcAft>
              <a:buNone/>
            </a:pPr>
            <a:r>
              <a:rPr lang="en-GB"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Multi-line comments start with /* and end with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lnSpc>
                <a:spcPct val="100000"/>
              </a:lnSpc>
              <a:spcBef>
                <a:spcPts val="1400"/>
              </a:spcBef>
              <a:spcAft>
                <a:spcPts val="1400"/>
              </a:spcAft>
              <a:buNone/>
            </a:pPr>
            <a:r>
              <a:rPr lang="en-GB"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Any text between /* and */ will be ignored by JavaScript.</a:t>
            </a:r>
          </a:p>
          <a:p>
            <a:pPr marL="0" marR="0" indent="0" algn="just">
              <a:spcBef>
                <a:spcPts val="1400"/>
              </a:spcBef>
              <a:spcAft>
                <a:spcPts val="1400"/>
              </a:spcAft>
              <a:buNone/>
            </a:pPr>
            <a:r>
              <a:rPr lang="en-GB" sz="28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Example:</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1400"/>
              </a:spcBef>
              <a:spcAft>
                <a:spcPts val="1400"/>
              </a:spcAft>
              <a:buNone/>
            </a:pPr>
            <a:r>
              <a:rPr lang="en-GB"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result=6*5; /* multiply two numbers and store the3</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1400"/>
              </a:spcBef>
              <a:spcAft>
                <a:spcPts val="1400"/>
              </a:spcAft>
              <a:buNone/>
            </a:pPr>
            <a:r>
              <a:rPr lang="en-GB"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output in a variable called result*/</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lnSpc>
                <a:spcPct val="100000"/>
              </a:lnSpc>
              <a:spcBef>
                <a:spcPts val="1400"/>
              </a:spcBef>
              <a:spcAft>
                <a:spcPts val="1400"/>
              </a:spcAft>
              <a:buNone/>
            </a:pPr>
            <a:endParaRPr lang="en-US" sz="1800" dirty="0">
              <a:effectLst/>
              <a:latin typeface="Calibri" panose="020F0502020204030204" pitchFamily="34" charset="0"/>
              <a:ea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33374545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0259CE-E97A-F984-FD5E-5A686B44894C}"/>
              </a:ext>
            </a:extLst>
          </p:cNvPr>
          <p:cNvSpPr>
            <a:spLocks noGrp="1"/>
          </p:cNvSpPr>
          <p:nvPr>
            <p:ph idx="1"/>
          </p:nvPr>
        </p:nvSpPr>
        <p:spPr>
          <a:xfrm>
            <a:off x="493986" y="162911"/>
            <a:ext cx="10720553" cy="5880538"/>
          </a:xfrm>
        </p:spPr>
        <p:txBody>
          <a:bodyPr>
            <a:normAutofit/>
          </a:bodyPr>
          <a:lstStyle/>
          <a:p>
            <a:pPr marL="742950" marR="0" lvl="1" indent="-285750" fontAlgn="base">
              <a:lnSpc>
                <a:spcPct val="150000"/>
              </a:lnSpc>
              <a:spcBef>
                <a:spcPts val="0"/>
              </a:spcBef>
              <a:spcAft>
                <a:spcPts val="690"/>
              </a:spcAft>
              <a:buClr>
                <a:srgbClr val="000000"/>
              </a:buClr>
              <a:buSzPts val="1200"/>
              <a:buFont typeface="Arial" panose="020B0604020202020204" pitchFamily="34" charset="0"/>
              <a:buChar char="✔"/>
            </a:pPr>
            <a:r>
              <a:rPr lang="en-GB" sz="2800" b="1" u="none" strike="noStrike"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b="1" u="none" strike="noStrike" dirty="0">
                <a:effectLst/>
                <a:latin typeface="Times New Roman" panose="02020603050405020304" pitchFamily="18" charset="0"/>
                <a:ea typeface="Arial" panose="020B0604020202020204" pitchFamily="34" charset="0"/>
                <a:cs typeface="Times New Roman" panose="02020603050405020304" pitchFamily="18" charset="0"/>
              </a:rPr>
              <a:t> libraries </a:t>
            </a:r>
            <a:endParaRPr lang="en-US" sz="2800" u="none" strike="noStrike" dirty="0">
              <a:effectLst/>
              <a:latin typeface="Times New Roman" panose="02020603050405020304" pitchFamily="18" charset="0"/>
              <a:ea typeface="Quattrocento Sans" panose="020B0502050000020003" pitchFamily="34" charset="0"/>
              <a:cs typeface="Times New Roman" panose="02020603050405020304" pitchFamily="18" charset="0"/>
            </a:endParaRPr>
          </a:p>
          <a:p>
            <a:pPr marL="0" marR="0" indent="0">
              <a:lnSpc>
                <a:spcPct val="150000"/>
              </a:lnSpc>
              <a:spcBef>
                <a:spcPts val="0"/>
              </a:spcBef>
              <a:spcAft>
                <a:spcPts val="0"/>
              </a:spcAft>
              <a:buNone/>
            </a:pPr>
            <a:r>
              <a:rPr lang="en-GB" sz="2800" dirty="0" err="1">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Javascript</a:t>
            </a: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 libraries is a file that contains a set of prewritten functions or codes that you can repeatedly use while executing JavaScript tasks.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fontAlgn="base">
              <a:lnSpc>
                <a:spcPct val="150000"/>
              </a:lnSpc>
              <a:spcBef>
                <a:spcPts val="0"/>
              </a:spcBef>
              <a:spcAft>
                <a:spcPts val="685"/>
              </a:spcAft>
              <a:buClr>
                <a:srgbClr val="000000"/>
              </a:buClr>
              <a:buSzPts val="1200"/>
              <a:buFont typeface="Arial" panose="020B0604020202020204" pitchFamily="34" charset="0"/>
              <a:buChar char="●"/>
            </a:pPr>
            <a:r>
              <a:rPr lang="en-GB" sz="2800" b="1" u="none" strike="noStrike" dirty="0">
                <a:effectLst/>
                <a:latin typeface="Times New Roman" panose="02020603050405020304" pitchFamily="18" charset="0"/>
                <a:ea typeface="Arial" panose="020B0604020202020204" pitchFamily="34" charset="0"/>
                <a:cs typeface="Times New Roman" panose="02020603050405020304" pitchFamily="18" charset="0"/>
              </a:rPr>
              <a:t>React </a:t>
            </a:r>
            <a:r>
              <a:rPr lang="en-GB" sz="2800" b="1" u="none" strike="noStrike"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b="1" u="none" strike="noStrike"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800" b="1" u="none" strike="noStrike" dirty="0">
              <a:latin typeface="Times New Roman" panose="02020603050405020304" pitchFamily="18" charset="0"/>
              <a:ea typeface="Arial" panose="020B0604020202020204" pitchFamily="34" charset="0"/>
              <a:cs typeface="Times New Roman" panose="02020603050405020304" pitchFamily="18" charset="0"/>
            </a:endParaRPr>
          </a:p>
          <a:p>
            <a:pPr marL="457200" marR="0" lvl="1" indent="0" fontAlgn="base">
              <a:lnSpc>
                <a:spcPct val="150000"/>
              </a:lnSpc>
              <a:spcBef>
                <a:spcPts val="0"/>
              </a:spcBef>
              <a:spcAft>
                <a:spcPts val="685"/>
              </a:spcAft>
              <a:buClr>
                <a:srgbClr val="000000"/>
              </a:buClr>
              <a:buSzPts val="1200"/>
              <a:buNone/>
            </a:pP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React (also known as React.js or ReactJS) is a free and open-source front-end JavaScript library for building user interfaces based on UI components.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690"/>
              </a:spcAft>
              <a:buNone/>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9642109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D9E18F-D946-656F-C694-8B651EEABCD0}"/>
              </a:ext>
            </a:extLst>
          </p:cNvPr>
          <p:cNvSpPr>
            <a:spLocks noGrp="1"/>
          </p:cNvSpPr>
          <p:nvPr>
            <p:ph idx="1"/>
          </p:nvPr>
        </p:nvSpPr>
        <p:spPr>
          <a:xfrm>
            <a:off x="557048" y="651641"/>
            <a:ext cx="10796752" cy="5525322"/>
          </a:xfrm>
        </p:spPr>
        <p:txBody>
          <a:bodyPr>
            <a:normAutofit fontScale="92500"/>
          </a:bodyPr>
          <a:lstStyle/>
          <a:p>
            <a:pPr marL="742950" marR="0" lvl="1" indent="-285750" fontAlgn="base">
              <a:lnSpc>
                <a:spcPct val="150000"/>
              </a:lnSpc>
              <a:spcBef>
                <a:spcPts val="0"/>
              </a:spcBef>
              <a:spcAft>
                <a:spcPts val="690"/>
              </a:spcAft>
              <a:buClr>
                <a:srgbClr val="000000"/>
              </a:buClr>
              <a:buSzPts val="1200"/>
              <a:buFont typeface="Arial" panose="020B0604020202020204" pitchFamily="34" charset="0"/>
              <a:buChar char="●"/>
            </a:pPr>
            <a:r>
              <a:rPr lang="en-GB" sz="2800" b="1" u="none" strike="noStrike" dirty="0" err="1">
                <a:effectLst/>
                <a:latin typeface="Times New Roman" panose="02020603050405020304" pitchFamily="18" charset="0"/>
                <a:ea typeface="Arial" panose="020B0604020202020204" pitchFamily="34" charset="0"/>
                <a:cs typeface="Times New Roman" panose="02020603050405020304" pitchFamily="18" charset="0"/>
              </a:rPr>
              <a:t>JQuery</a:t>
            </a:r>
            <a:r>
              <a:rPr lang="en-GB" sz="2800" b="1" u="none" strike="noStrike"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8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690"/>
              </a:spcAft>
              <a:buNone/>
            </a:pP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It's a library of JavaScript functions that make it easy for web page developers to do common tasks-- like manipulating the webpage, responding to user events, getting data from their servers, building effects and animations, and much more.</a:t>
            </a:r>
          </a:p>
          <a:p>
            <a:pPr marL="742950" marR="0" lvl="1" indent="-285750" fontAlgn="base">
              <a:lnSpc>
                <a:spcPct val="150000"/>
              </a:lnSpc>
              <a:spcBef>
                <a:spcPts val="0"/>
              </a:spcBef>
              <a:spcAft>
                <a:spcPts val="865"/>
              </a:spcAft>
              <a:buClr>
                <a:srgbClr val="000000"/>
              </a:buClr>
              <a:buSzPts val="1200"/>
              <a:buFont typeface="Arial" panose="020B0604020202020204" pitchFamily="34" charset="0"/>
              <a:buChar char="●"/>
            </a:pPr>
            <a:r>
              <a:rPr lang="en-GB" sz="2800" b="1" u="none" strike="noStrike" dirty="0">
                <a:effectLst/>
                <a:latin typeface="Times New Roman" panose="02020603050405020304" pitchFamily="18" charset="0"/>
                <a:ea typeface="Arial" panose="020B0604020202020204" pitchFamily="34" charset="0"/>
                <a:cs typeface="Times New Roman" panose="02020603050405020304" pitchFamily="18" charset="0"/>
              </a:rPr>
              <a:t>Three </a:t>
            </a:r>
            <a:r>
              <a:rPr lang="en-GB" sz="2800" b="1" u="none" strike="noStrike"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b="1" u="none" strike="noStrike"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8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65"/>
              </a:spcAft>
              <a:buNone/>
            </a:pP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Three.js is a cross-browser JavaScript library and application programming interface (API) used to create and display animated 3D computer graphics in a web.</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6048831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83D447-4B5C-4D17-57CB-13946F9811CE}"/>
              </a:ext>
            </a:extLst>
          </p:cNvPr>
          <p:cNvSpPr>
            <a:spLocks noGrp="1"/>
          </p:cNvSpPr>
          <p:nvPr>
            <p:ph idx="1"/>
          </p:nvPr>
        </p:nvSpPr>
        <p:spPr>
          <a:xfrm>
            <a:off x="451945" y="212835"/>
            <a:ext cx="10846676" cy="6072352"/>
          </a:xfrm>
        </p:spPr>
        <p:txBody>
          <a:bodyPr/>
          <a:lstStyle/>
          <a:p>
            <a:pPr marR="0" lvl="1" fontAlgn="base">
              <a:spcBef>
                <a:spcPts val="0"/>
              </a:spcBef>
              <a:spcAft>
                <a:spcPts val="690"/>
              </a:spcAft>
              <a:buClr>
                <a:srgbClr val="000000"/>
              </a:buClr>
              <a:buSzPts val="1200"/>
              <a:buFont typeface="Wingdings" panose="05000000000000000000" pitchFamily="2" charset="2"/>
              <a:buChar char="ü"/>
            </a:pPr>
            <a:r>
              <a:rPr lang="en-GB" sz="2800" b="1" u="none" strike="noStrike"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b="1" u="none" strike="noStrike" dirty="0">
                <a:effectLst/>
                <a:latin typeface="Times New Roman" panose="02020603050405020304" pitchFamily="18" charset="0"/>
                <a:ea typeface="Arial" panose="020B0604020202020204" pitchFamily="34" charset="0"/>
                <a:cs typeface="Times New Roman" panose="02020603050405020304" pitchFamily="18" charset="0"/>
              </a:rPr>
              <a:t> frameworks</a:t>
            </a:r>
            <a:r>
              <a:rPr lang="en-GB" sz="2800" u="none" strike="noStrike"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800" u="none" strike="noStrike" dirty="0">
              <a:effectLst/>
              <a:latin typeface="Times New Roman" panose="02020603050405020304" pitchFamily="18" charset="0"/>
              <a:ea typeface="Quattrocento Sans" panose="020B0502050000020003" pitchFamily="34" charset="0"/>
              <a:cs typeface="Times New Roman" panose="02020603050405020304" pitchFamily="18" charset="0"/>
            </a:endParaRPr>
          </a:p>
          <a:p>
            <a:pPr marL="0" marR="0" indent="0">
              <a:lnSpc>
                <a:spcPct val="150000"/>
              </a:lnSpc>
              <a:spcBef>
                <a:spcPts val="0"/>
              </a:spcBef>
              <a:spcAft>
                <a:spcPts val="690"/>
              </a:spcAft>
              <a:buNone/>
            </a:pP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A JavaScript framework is a set of JavaScript code libraries that provide pre-written code for everyday programming tasks to a web developer.</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Arial" panose="020B0604020202020204" pitchFamily="34" charset="0"/>
              <a:buChar char="●"/>
            </a:pPr>
            <a:r>
              <a:rPr lang="en-GB" sz="2800" b="1" dirty="0">
                <a:effectLst/>
                <a:latin typeface="Times New Roman" panose="02020603050405020304" pitchFamily="18" charset="0"/>
                <a:ea typeface="Arial" panose="020B0604020202020204" pitchFamily="34" charset="0"/>
                <a:cs typeface="Times New Roman" panose="02020603050405020304" pitchFamily="18" charset="0"/>
              </a:rPr>
              <a:t>Vue </a:t>
            </a:r>
            <a:r>
              <a:rPr lang="en-GB" sz="2800" b="1"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800" dirty="0">
              <a:effectLst/>
              <a:latin typeface="Times New Roman" panose="02020603050405020304" pitchFamily="18" charset="0"/>
              <a:ea typeface="Noto Sans Symbols"/>
              <a:cs typeface="Times New Roman" panose="02020603050405020304" pitchFamily="18" charset="0"/>
            </a:endParaRPr>
          </a:p>
          <a:p>
            <a:pPr marL="0" marR="0" indent="0">
              <a:lnSpc>
                <a:spcPct val="150000"/>
              </a:lnSpc>
              <a:spcBef>
                <a:spcPts val="0"/>
              </a:spcBef>
              <a:spcAft>
                <a:spcPts val="0"/>
              </a:spcAft>
              <a:buNone/>
            </a:pP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Vue.js is an open-source progressive JavaScript framework used to develop interactive web user interfaces and single-page applications (SPAs).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0"/>
              </a:spcAft>
              <a:buNone/>
            </a:pPr>
            <a:endParaRPr lang="en-US" sz="2400" dirty="0">
              <a:effectLst/>
              <a:latin typeface="Calibri" panose="020F0502020204030204" pitchFamily="34" charset="0"/>
              <a:ea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16905421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E606A9-A740-42C0-584D-427CE5CF3496}"/>
              </a:ext>
            </a:extLst>
          </p:cNvPr>
          <p:cNvSpPr>
            <a:spLocks noGrp="1"/>
          </p:cNvSpPr>
          <p:nvPr>
            <p:ph idx="1"/>
          </p:nvPr>
        </p:nvSpPr>
        <p:spPr>
          <a:xfrm>
            <a:off x="819807" y="777766"/>
            <a:ext cx="10533993" cy="5399197"/>
          </a:xfrm>
        </p:spPr>
        <p:txBody>
          <a:bodyPr/>
          <a:lstStyle/>
          <a:p>
            <a:pPr marL="342900" marR="0" lvl="0" indent="-342900">
              <a:lnSpc>
                <a:spcPct val="150000"/>
              </a:lnSpc>
              <a:spcBef>
                <a:spcPts val="0"/>
              </a:spcBef>
              <a:spcAft>
                <a:spcPts val="0"/>
              </a:spcAft>
              <a:buFont typeface="Arial" panose="020B0604020202020204" pitchFamily="34" charset="0"/>
              <a:buChar char="●"/>
            </a:pPr>
            <a:r>
              <a:rPr lang="en-GB" sz="2800" b="1" dirty="0">
                <a:effectLst/>
                <a:latin typeface="Times New Roman" panose="02020603050405020304" pitchFamily="18" charset="0"/>
                <a:ea typeface="Arial" panose="020B0604020202020204" pitchFamily="34" charset="0"/>
                <a:cs typeface="Times New Roman" panose="02020603050405020304" pitchFamily="18" charset="0"/>
              </a:rPr>
              <a:t>Angular </a:t>
            </a:r>
            <a:r>
              <a:rPr lang="en-GB" sz="2800" b="1"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b="1"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800" dirty="0">
              <a:effectLst/>
              <a:latin typeface="Times New Roman" panose="02020603050405020304" pitchFamily="18" charset="0"/>
              <a:ea typeface="Noto Sans Symbols"/>
              <a:cs typeface="Times New Roman" panose="02020603050405020304" pitchFamily="18" charset="0"/>
            </a:endParaRPr>
          </a:p>
          <a:p>
            <a:pPr marL="0" marR="0" indent="0">
              <a:lnSpc>
                <a:spcPct val="150000"/>
              </a:lnSpc>
              <a:spcBef>
                <a:spcPts val="0"/>
              </a:spcBef>
              <a:spcAft>
                <a:spcPts val="0"/>
              </a:spcAft>
              <a:buNone/>
            </a:pP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AngularJS is a client side JavaScript MVC framework to develop a dynamic web application.</a:t>
            </a:r>
          </a:p>
          <a:p>
            <a:pPr marL="342900" marR="0" lvl="0" indent="-342900">
              <a:spcBef>
                <a:spcPts val="0"/>
              </a:spcBef>
              <a:spcAft>
                <a:spcPts val="0"/>
              </a:spcAft>
              <a:buFont typeface="Arial" panose="020B0604020202020204" pitchFamily="34" charset="0"/>
              <a:buChar char="●"/>
            </a:pPr>
            <a:r>
              <a:rPr lang="en-GB" sz="2800" b="1" dirty="0">
                <a:effectLst/>
                <a:latin typeface="Times New Roman" panose="02020603050405020304" pitchFamily="18" charset="0"/>
                <a:ea typeface="Arial" panose="020B0604020202020204" pitchFamily="34" charset="0"/>
                <a:cs typeface="Times New Roman" panose="02020603050405020304" pitchFamily="18" charset="0"/>
              </a:rPr>
              <a:t>Express </a:t>
            </a:r>
            <a:r>
              <a:rPr lang="en-GB" sz="2800" b="1"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800" dirty="0">
              <a:effectLst/>
              <a:latin typeface="Times New Roman" panose="02020603050405020304" pitchFamily="18" charset="0"/>
              <a:ea typeface="Noto Sans Symbols"/>
              <a:cs typeface="Times New Roman" panose="02020603050405020304" pitchFamily="18" charset="0"/>
            </a:endParaRPr>
          </a:p>
          <a:p>
            <a:pPr marL="0" marR="0" indent="0">
              <a:lnSpc>
                <a:spcPct val="150000"/>
              </a:lnSpc>
              <a:spcBef>
                <a:spcPts val="0"/>
              </a:spcBef>
              <a:spcAft>
                <a:spcPts val="0"/>
              </a:spcAft>
              <a:buNone/>
            </a:pP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Express is a minimal and flexible Node.js web application framework that provides a robust set of features for web and mobile applications.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9812621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1CA77A-A7CB-DECF-CABF-545169A7E543}"/>
              </a:ext>
            </a:extLst>
          </p:cNvPr>
          <p:cNvSpPr>
            <a:spLocks noGrp="1"/>
          </p:cNvSpPr>
          <p:nvPr>
            <p:ph idx="1"/>
          </p:nvPr>
        </p:nvSpPr>
        <p:spPr>
          <a:xfrm>
            <a:off x="662152" y="312135"/>
            <a:ext cx="10618076" cy="5941520"/>
          </a:xfrm>
        </p:spPr>
        <p:txBody>
          <a:bodyPr/>
          <a:lstStyle/>
          <a:p>
            <a:pPr marL="742950" marR="0" lvl="1" indent="-285750" fontAlgn="base">
              <a:lnSpc>
                <a:spcPct val="150000"/>
              </a:lnSpc>
              <a:spcBef>
                <a:spcPts val="0"/>
              </a:spcBef>
              <a:spcAft>
                <a:spcPts val="690"/>
              </a:spcAft>
              <a:buClr>
                <a:srgbClr val="000000"/>
              </a:buClr>
              <a:buSzPts val="1200"/>
              <a:buFont typeface="Arial" panose="020B0604020202020204" pitchFamily="34" charset="0"/>
              <a:buChar char="✔"/>
            </a:pPr>
            <a:r>
              <a:rPr lang="en-GB" sz="2800" b="1" u="none" strike="noStrike"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b="1" u="none" strike="noStrike" dirty="0">
                <a:effectLst/>
                <a:latin typeface="Times New Roman" panose="02020603050405020304" pitchFamily="18" charset="0"/>
                <a:ea typeface="Arial" panose="020B0604020202020204" pitchFamily="34" charset="0"/>
                <a:cs typeface="Times New Roman" panose="02020603050405020304" pitchFamily="18" charset="0"/>
              </a:rPr>
              <a:t> runtime environment  </a:t>
            </a:r>
            <a:endParaRPr lang="en-US" sz="2800" u="none" strike="noStrike" dirty="0">
              <a:effectLst/>
              <a:latin typeface="Times New Roman" panose="02020603050405020304" pitchFamily="18" charset="0"/>
              <a:ea typeface="Quattrocento Sans" panose="020B0502050000020003" pitchFamily="34" charset="0"/>
              <a:cs typeface="Times New Roman" panose="02020603050405020304" pitchFamily="18" charset="0"/>
            </a:endParaRPr>
          </a:p>
          <a:p>
            <a:pPr marL="0" marR="0" indent="0">
              <a:lnSpc>
                <a:spcPct val="150000"/>
              </a:lnSpc>
              <a:spcBef>
                <a:spcPts val="0"/>
              </a:spcBef>
              <a:spcAft>
                <a:spcPts val="0"/>
              </a:spcAft>
              <a:buNone/>
            </a:pP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The JavaScript runtime environment provides access to built-in libraries and objects that are available to a program so that it can interact with the outside world and make the code work.</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690"/>
              </a:spcAft>
              <a:buNone/>
            </a:pPr>
            <a:r>
              <a:rPr lang="en-GB" sz="2800" dirty="0">
                <a:effectLst/>
                <a:highlight>
                  <a:srgbClr val="FFFFFF"/>
                </a:highlight>
                <a:latin typeface="Times New Roman" panose="02020603050405020304" pitchFamily="18" charset="0"/>
                <a:ea typeface="Arial" panose="020B0604020202020204" pitchFamily="34" charset="0"/>
                <a:cs typeface="Times New Roman" panose="02020603050405020304" pitchFamily="18" charset="0"/>
              </a:rPr>
              <a:t>A JavaScript engine is a software component that executes JavaScript code.</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fontAlgn="base">
              <a:lnSpc>
                <a:spcPct val="150000"/>
              </a:lnSpc>
              <a:spcBef>
                <a:spcPts val="0"/>
              </a:spcBef>
              <a:spcAft>
                <a:spcPts val="690"/>
              </a:spcAft>
              <a:buClr>
                <a:srgbClr val="000000"/>
              </a:buClr>
              <a:buSzPts val="1200"/>
              <a:buFont typeface="Arial" panose="020B0604020202020204" pitchFamily="34" charset="0"/>
              <a:buChar char="●"/>
            </a:pPr>
            <a:r>
              <a:rPr lang="en-GB" sz="2800" u="none" strike="noStrike" dirty="0">
                <a:effectLst/>
                <a:latin typeface="Times New Roman" panose="02020603050405020304" pitchFamily="18" charset="0"/>
                <a:ea typeface="Arial" panose="020B0604020202020204" pitchFamily="34" charset="0"/>
                <a:cs typeface="Times New Roman" panose="02020603050405020304" pitchFamily="18" charset="0"/>
              </a:rPr>
              <a:t>Node </a:t>
            </a:r>
            <a:r>
              <a:rPr lang="en-GB" sz="2800" u="none" strike="noStrike"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u="none" strike="noStrike"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8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fontAlgn="base">
              <a:lnSpc>
                <a:spcPct val="150000"/>
              </a:lnSpc>
              <a:spcBef>
                <a:spcPts val="0"/>
              </a:spcBef>
              <a:spcAft>
                <a:spcPts val="865"/>
              </a:spcAft>
              <a:buClr>
                <a:srgbClr val="000000"/>
              </a:buClr>
              <a:buSzPts val="1200"/>
              <a:buFont typeface="Arial" panose="020B0604020202020204" pitchFamily="34" charset="0"/>
              <a:buChar char="●"/>
            </a:pPr>
            <a:r>
              <a:rPr lang="en-GB" sz="2800" u="none" strike="noStrike" dirty="0">
                <a:effectLst/>
                <a:latin typeface="Times New Roman" panose="02020603050405020304" pitchFamily="18" charset="0"/>
                <a:ea typeface="Arial" panose="020B0604020202020204" pitchFamily="34" charset="0"/>
                <a:cs typeface="Times New Roman" panose="02020603050405020304" pitchFamily="18" charset="0"/>
              </a:rPr>
              <a:t>v8 Engine </a:t>
            </a:r>
            <a:endParaRPr lang="en-US" sz="2800"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1570930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1338CF-D5D2-95B0-9DD0-D298671AE3B7}"/>
              </a:ext>
            </a:extLst>
          </p:cNvPr>
          <p:cNvSpPr>
            <a:spLocks noGrp="1"/>
          </p:cNvSpPr>
          <p:nvPr>
            <p:ph idx="1"/>
          </p:nvPr>
        </p:nvSpPr>
        <p:spPr>
          <a:xfrm>
            <a:off x="504497" y="493986"/>
            <a:ext cx="10849303" cy="5682977"/>
          </a:xfrm>
        </p:spPr>
        <p:txBody>
          <a:bodyPr>
            <a:normAutofit/>
          </a:bodyPr>
          <a:lstStyle/>
          <a:p>
            <a:pPr marL="742950" marR="0" lvl="1" indent="-285750" fontAlgn="base">
              <a:spcBef>
                <a:spcPts val="0"/>
              </a:spcBef>
              <a:spcAft>
                <a:spcPts val="690"/>
              </a:spcAft>
              <a:buClr>
                <a:srgbClr val="000000"/>
              </a:buClr>
              <a:buSzPts val="1200"/>
              <a:buFont typeface="Arial" panose="020B0604020202020204" pitchFamily="34" charset="0"/>
              <a:buChar char="✔"/>
            </a:pPr>
            <a:r>
              <a:rPr lang="en-GB" sz="2800" b="1" u="none" strike="noStrike"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GB" sz="2800" b="1" u="none" strike="noStrike" dirty="0">
                <a:effectLst/>
                <a:latin typeface="Times New Roman" panose="02020603050405020304" pitchFamily="18" charset="0"/>
                <a:ea typeface="Arial" panose="020B0604020202020204" pitchFamily="34" charset="0"/>
                <a:cs typeface="Times New Roman" panose="02020603050405020304" pitchFamily="18" charset="0"/>
              </a:rPr>
              <a:t> versions </a:t>
            </a:r>
            <a:endParaRPr lang="en-US" sz="2800" u="none" strike="noStrike" dirty="0">
              <a:effectLst/>
              <a:latin typeface="Times New Roman" panose="02020603050405020304" pitchFamily="18" charset="0"/>
              <a:ea typeface="Quattrocento Sans" panose="020B0502050000020003" pitchFamily="34" charset="0"/>
              <a:cs typeface="Times New Roman" panose="02020603050405020304" pitchFamily="18" charset="0"/>
            </a:endParaRPr>
          </a:p>
          <a:p>
            <a:pPr marL="0" marR="0" indent="0">
              <a:spcBef>
                <a:spcPts val="0"/>
              </a:spcBef>
              <a:spcAft>
                <a:spcPts val="690"/>
              </a:spcAft>
              <a:buNone/>
            </a:pPr>
            <a:r>
              <a:rPr lang="en-GB" sz="2800" dirty="0">
                <a:effectLst/>
                <a:latin typeface="Times New Roman" panose="02020603050405020304" pitchFamily="18" charset="0"/>
                <a:ea typeface="Arial" panose="020B0604020202020204" pitchFamily="34" charset="0"/>
                <a:cs typeface="Times New Roman" panose="02020603050405020304" pitchFamily="18" charset="0"/>
              </a:rPr>
              <a:t>JavaScript was invented by Brendan </a:t>
            </a:r>
            <a:r>
              <a:rPr lang="en-GB" sz="2800" dirty="0" err="1">
                <a:effectLst/>
                <a:latin typeface="Times New Roman" panose="02020603050405020304" pitchFamily="18" charset="0"/>
                <a:ea typeface="Arial" panose="020B0604020202020204" pitchFamily="34" charset="0"/>
                <a:cs typeface="Times New Roman" panose="02020603050405020304" pitchFamily="18" charset="0"/>
              </a:rPr>
              <a:t>Eich</a:t>
            </a:r>
            <a:r>
              <a:rPr lang="en-GB" sz="2800" dirty="0">
                <a:effectLst/>
                <a:latin typeface="Times New Roman" panose="02020603050405020304" pitchFamily="18" charset="0"/>
                <a:ea typeface="Arial" panose="020B0604020202020204" pitchFamily="34" charset="0"/>
                <a:cs typeface="Times New Roman" panose="02020603050405020304" pitchFamily="18" charset="0"/>
              </a:rPr>
              <a:t> in 1995, and became an ECMA standard in 1997.</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1200"/>
              </a:spcBef>
              <a:spcAft>
                <a:spcPts val="1200"/>
              </a:spcAft>
              <a:buNone/>
            </a:pPr>
            <a:r>
              <a:rPr lang="en-GB" sz="2800" dirty="0">
                <a:effectLst/>
                <a:latin typeface="Times New Roman" panose="02020603050405020304" pitchFamily="18" charset="0"/>
                <a:ea typeface="Arial" panose="020B0604020202020204" pitchFamily="34" charset="0"/>
                <a:cs typeface="Times New Roman" panose="02020603050405020304" pitchFamily="18" charset="0"/>
              </a:rPr>
              <a:t>ECMAScript is the official name of the language.</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1200"/>
              </a:spcBef>
              <a:spcAft>
                <a:spcPts val="1200"/>
              </a:spcAft>
              <a:buNone/>
            </a:pPr>
            <a:r>
              <a:rPr lang="en-GB" sz="2800" dirty="0">
                <a:effectLst/>
                <a:latin typeface="Times New Roman" panose="02020603050405020304" pitchFamily="18" charset="0"/>
                <a:ea typeface="Arial" panose="020B0604020202020204" pitchFamily="34" charset="0"/>
                <a:cs typeface="Times New Roman" panose="02020603050405020304" pitchFamily="18" charset="0"/>
              </a:rPr>
              <a:t>ECMAScript versions have been abbreviated to ES1, ES2, ES3, ES5, and ES6.</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GB" sz="2800" dirty="0">
                <a:effectLst/>
                <a:latin typeface="Times New Roman" panose="02020603050405020304" pitchFamily="18" charset="0"/>
                <a:ea typeface="Arial" panose="020B0604020202020204" pitchFamily="34" charset="0"/>
                <a:cs typeface="Times New Roman" panose="02020603050405020304" pitchFamily="18" charset="0"/>
              </a:rPr>
              <a:t>Since 2016, versions are named by year (ECMAScript 2016, 2017, 2018, 2019, 2020).</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16638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AD660A-5D4A-CEC5-EFD0-5522AE818F4D}"/>
              </a:ext>
            </a:extLst>
          </p:cNvPr>
          <p:cNvSpPr>
            <a:spLocks noGrp="1"/>
          </p:cNvSpPr>
          <p:nvPr>
            <p:ph idx="1"/>
          </p:nvPr>
        </p:nvSpPr>
        <p:spPr>
          <a:xfrm>
            <a:off x="1069953" y="462455"/>
            <a:ext cx="10052094" cy="5459191"/>
          </a:xfrm>
        </p:spPr>
        <p:txBody>
          <a:bodyPr/>
          <a:lstStyle/>
          <a:p>
            <a:r>
              <a:rPr lang="fr-FR" sz="2400" b="1" dirty="0">
                <a:highlight>
                  <a:srgbClr val="FFFFFF"/>
                </a:highlight>
                <a:latin typeface="Arial" panose="020B0604020202020204" pitchFamily="34" charset="0"/>
              </a:rPr>
              <a:t>Indicative content 1.2: </a:t>
            </a:r>
            <a:r>
              <a:rPr lang="fr-FR" sz="2400" b="1" dirty="0" err="1">
                <a:highlight>
                  <a:srgbClr val="FFFFFF"/>
                </a:highlight>
                <a:latin typeface="Arial" panose="020B0604020202020204" pitchFamily="34" charset="0"/>
              </a:rPr>
              <a:t>Integration</a:t>
            </a:r>
            <a:r>
              <a:rPr lang="fr-FR" sz="2400" b="1" dirty="0">
                <a:highlight>
                  <a:srgbClr val="FFFFFF"/>
                </a:highlight>
                <a:latin typeface="Arial" panose="020B0604020202020204" pitchFamily="34" charset="0"/>
              </a:rPr>
              <a:t> of Javascript to HTML              </a:t>
            </a:r>
            <a:endParaRPr lang="en-US" sz="2400" b="1" dirty="0">
              <a:highlight>
                <a:srgbClr val="FFFFFF"/>
              </a:highlight>
              <a:latin typeface="Arial" panose="020B0604020202020204" pitchFamily="34" charset="0"/>
            </a:endParaRPr>
          </a:p>
          <a:p>
            <a:r>
              <a:rPr lang="en-GB" sz="2400" b="1" dirty="0">
                <a:highlight>
                  <a:srgbClr val="FFFFFF"/>
                </a:highlight>
                <a:latin typeface="Arial" panose="020B0604020202020204" pitchFamily="34" charset="0"/>
              </a:rPr>
              <a:t>1.2.1: Explain how </a:t>
            </a:r>
            <a:r>
              <a:rPr lang="en-GB" sz="2400" b="1" dirty="0" err="1">
                <a:highlight>
                  <a:srgbClr val="FFFFFF"/>
                </a:highlight>
                <a:latin typeface="Arial" panose="020B0604020202020204" pitchFamily="34" charset="0"/>
              </a:rPr>
              <a:t>Javascript</a:t>
            </a:r>
            <a:r>
              <a:rPr lang="en-GB" sz="2400" b="1" dirty="0">
                <a:highlight>
                  <a:srgbClr val="FFFFFF"/>
                </a:highlight>
                <a:latin typeface="Arial" panose="020B0604020202020204" pitchFamily="34" charset="0"/>
              </a:rPr>
              <a:t> can be integrated to HTML </a:t>
            </a:r>
          </a:p>
          <a:p>
            <a:pPr marL="0" indent="0">
              <a:buNone/>
            </a:pPr>
            <a:endParaRPr lang="en-GB" sz="1800" b="1" dirty="0">
              <a:latin typeface="Arial" panose="020B0604020202020204" pitchFamily="34" charset="0"/>
            </a:endParaRPr>
          </a:p>
          <a:p>
            <a:pPr>
              <a:lnSpc>
                <a:spcPct val="150000"/>
              </a:lnSpc>
            </a:pPr>
            <a:r>
              <a:rPr lang="en-GB" sz="2400" b="1" dirty="0">
                <a:effectLst/>
                <a:highlight>
                  <a:srgbClr val="FFFFFF"/>
                </a:highlight>
                <a:latin typeface="Arial" panose="020B0604020202020204" pitchFamily="34" charset="0"/>
                <a:ea typeface="Arial" panose="020B0604020202020204" pitchFamily="34" charset="0"/>
              </a:rPr>
              <a:t>JavaScript, </a:t>
            </a:r>
            <a:r>
              <a:rPr lang="en-GB" sz="2400" dirty="0">
                <a:effectLst/>
                <a:highlight>
                  <a:srgbClr val="FFFFFF"/>
                </a:highlight>
                <a:latin typeface="Arial" panose="020B0604020202020204" pitchFamily="34" charset="0"/>
                <a:ea typeface="Arial" panose="020B0604020202020204" pitchFamily="34" charset="0"/>
              </a:rPr>
              <a:t>abbreviated to JS, is a programming language used in web development. As one of the core technologies of the web alongside HTML and CSS, JavaScript is used to make webpages interactive and to build web apps. Modern web browsers adhere to common display standards and support JavaScript through built-in engines without additional plugins.</a:t>
            </a:r>
            <a:endParaRPr lang="en-US" sz="2400" dirty="0">
              <a:effectLst/>
              <a:latin typeface="Calibri" panose="020F0502020204030204" pitchFamily="34" charset="0"/>
              <a:ea typeface="Calibri" panose="020F0502020204030204" pitchFamily="34" charset="0"/>
            </a:endParaRPr>
          </a:p>
          <a:p>
            <a:endParaRPr lang="en-US" sz="1800" b="1" dirty="0">
              <a:latin typeface="Arial" panose="020B0604020202020204" pitchFamily="34" charset="0"/>
            </a:endParaRPr>
          </a:p>
        </p:txBody>
      </p:sp>
    </p:spTree>
    <p:extLst>
      <p:ext uri="{BB962C8B-B14F-4D97-AF65-F5344CB8AC3E}">
        <p14:creationId xmlns:p14="http://schemas.microsoft.com/office/powerpoint/2010/main" val="14527499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EC997A-C112-EE5D-3998-6C3E811B5220}"/>
              </a:ext>
            </a:extLst>
          </p:cNvPr>
          <p:cNvSpPr>
            <a:spLocks noGrp="1"/>
          </p:cNvSpPr>
          <p:nvPr>
            <p:ph idx="1"/>
          </p:nvPr>
        </p:nvSpPr>
        <p:spPr>
          <a:xfrm>
            <a:off x="1292772" y="546538"/>
            <a:ext cx="9862908" cy="5322556"/>
          </a:xfrm>
        </p:spPr>
        <p:txBody>
          <a:bodyPr>
            <a:normAutofit lnSpcReduction="10000"/>
          </a:bodyPr>
          <a:lstStyle/>
          <a:p>
            <a:r>
              <a:rPr lang="en-US" b="1" dirty="0" err="1">
                <a:highlight>
                  <a:srgbClr val="FFFF00"/>
                </a:highlight>
              </a:rPr>
              <a:t>Cont</a:t>
            </a:r>
            <a:r>
              <a:rPr lang="en-US" b="1" dirty="0">
                <a:highlight>
                  <a:srgbClr val="FFFF00"/>
                </a:highlight>
              </a:rPr>
              <a:t>’</a:t>
            </a:r>
          </a:p>
          <a:p>
            <a:pPr>
              <a:lnSpc>
                <a:spcPct val="150000"/>
              </a:lnSpc>
            </a:pPr>
            <a:r>
              <a:rPr lang="en-GB" sz="2400" dirty="0">
                <a:effectLst/>
                <a:highlight>
                  <a:srgbClr val="FFFFFF"/>
                </a:highlight>
                <a:latin typeface="Arial" panose="020B0604020202020204" pitchFamily="34" charset="0"/>
                <a:ea typeface="Arial" panose="020B0604020202020204" pitchFamily="34" charset="0"/>
              </a:rPr>
              <a:t>When working with files for the web, JavaScript needs to be loaded and run alongside HTML markup. This can be done either inline within an HTML document or in a separate file that the browser will download alongside the HTML document.</a:t>
            </a:r>
          </a:p>
          <a:p>
            <a:pPr marR="0">
              <a:lnSpc>
                <a:spcPct val="150000"/>
              </a:lnSpc>
            </a:pPr>
            <a:r>
              <a:rPr lang="en-GB" sz="2400" b="1" dirty="0">
                <a:highlight>
                  <a:srgbClr val="FFFFFF"/>
                </a:highlight>
                <a:latin typeface="Arial" panose="020B0604020202020204" pitchFamily="34" charset="0"/>
              </a:rPr>
              <a:t>✔ Referencing HTML to JavaScript</a:t>
            </a:r>
            <a:endParaRPr lang="en-US" sz="2400" b="1" dirty="0">
              <a:highlight>
                <a:srgbClr val="FFFFFF"/>
              </a:highlight>
              <a:latin typeface="Arial" panose="020B0604020202020204" pitchFamily="34" charset="0"/>
            </a:endParaRPr>
          </a:p>
          <a:p>
            <a:pPr marR="0">
              <a:lnSpc>
                <a:spcPct val="150000"/>
              </a:lnSpc>
            </a:pPr>
            <a:r>
              <a:rPr lang="en-GB" sz="2400" dirty="0">
                <a:highlight>
                  <a:srgbClr val="FFFFFF"/>
                </a:highlight>
                <a:latin typeface="Arial" panose="020B0604020202020204" pitchFamily="34" charset="0"/>
              </a:rPr>
              <a:t>To include an external JavaScript file, we can use the </a:t>
            </a:r>
            <a:r>
              <a:rPr lang="en-GB" sz="2400" b="1" dirty="0">
                <a:highlight>
                  <a:srgbClr val="FFFFFF"/>
                </a:highlight>
                <a:latin typeface="Arial" panose="020B0604020202020204" pitchFamily="34" charset="0"/>
              </a:rPr>
              <a:t>script tag </a:t>
            </a:r>
            <a:r>
              <a:rPr lang="en-GB" sz="2400" dirty="0">
                <a:highlight>
                  <a:srgbClr val="FFFFFF"/>
                </a:highlight>
                <a:latin typeface="Arial" panose="020B0604020202020204" pitchFamily="34" charset="0"/>
              </a:rPr>
              <a:t>with the attribute </a:t>
            </a:r>
            <a:r>
              <a:rPr lang="en-GB" sz="2400" dirty="0" err="1">
                <a:highlight>
                  <a:srgbClr val="FFFFFF"/>
                </a:highlight>
                <a:latin typeface="Arial" panose="020B0604020202020204" pitchFamily="34" charset="0"/>
              </a:rPr>
              <a:t>sr</a:t>
            </a:r>
            <a:r>
              <a:rPr lang="en-GB" sz="2400" b="1" dirty="0" err="1">
                <a:highlight>
                  <a:srgbClr val="FFFFFF"/>
                </a:highlight>
                <a:latin typeface="Arial" panose="020B0604020202020204" pitchFamily="34" charset="0"/>
              </a:rPr>
              <a:t>c</a:t>
            </a:r>
            <a:r>
              <a:rPr lang="en-GB" sz="2400" b="1" dirty="0">
                <a:highlight>
                  <a:srgbClr val="FFFFFF"/>
                </a:highlight>
                <a:latin typeface="Arial" panose="020B0604020202020204" pitchFamily="34" charset="0"/>
              </a:rPr>
              <a:t>.</a:t>
            </a:r>
            <a:endParaRPr lang="en-US" sz="2400" b="1" dirty="0">
              <a:highlight>
                <a:srgbClr val="FFFFFF"/>
              </a:highlight>
              <a:latin typeface="Arial" panose="020B0604020202020204" pitchFamily="34" charset="0"/>
            </a:endParaRPr>
          </a:p>
          <a:p>
            <a:pPr marR="0">
              <a:lnSpc>
                <a:spcPct val="150000"/>
              </a:lnSpc>
            </a:pPr>
            <a:r>
              <a:rPr lang="en-GB" sz="2400" dirty="0">
                <a:highlight>
                  <a:srgbClr val="FFFFFF"/>
                </a:highlight>
                <a:latin typeface="Arial" panose="020B0604020202020204" pitchFamily="34" charset="0"/>
              </a:rPr>
              <a:t>The </a:t>
            </a:r>
            <a:r>
              <a:rPr lang="en-GB" sz="2400" dirty="0" err="1">
                <a:highlight>
                  <a:srgbClr val="FFFFFF"/>
                </a:highlight>
                <a:latin typeface="Arial" panose="020B0604020202020204" pitchFamily="34" charset="0"/>
              </a:rPr>
              <a:t>src</a:t>
            </a:r>
            <a:r>
              <a:rPr lang="en-GB" sz="2400" dirty="0">
                <a:highlight>
                  <a:srgbClr val="FFFFFF"/>
                </a:highlight>
                <a:latin typeface="Arial" panose="020B0604020202020204" pitchFamily="34" charset="0"/>
              </a:rPr>
              <a:t> attribute specifies the URL of an external script file.</a:t>
            </a:r>
            <a:endParaRPr lang="en-US" sz="2400" dirty="0">
              <a:highlight>
                <a:srgbClr val="FFFFFF"/>
              </a:highlight>
              <a:latin typeface="Arial" panose="020B0604020202020204" pitchFamily="34" charset="0"/>
            </a:endParaRPr>
          </a:p>
          <a:p>
            <a:pPr>
              <a:lnSpc>
                <a:spcPct val="150000"/>
              </a:lnSpc>
            </a:pP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40976826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8FE2C4-76EE-1537-0CF4-92F4C5D01C73}"/>
              </a:ext>
            </a:extLst>
          </p:cNvPr>
          <p:cNvSpPr>
            <a:spLocks noGrp="1"/>
          </p:cNvSpPr>
          <p:nvPr>
            <p:ph idx="1"/>
          </p:nvPr>
        </p:nvSpPr>
        <p:spPr>
          <a:xfrm>
            <a:off x="504498" y="157655"/>
            <a:ext cx="10862440" cy="6187965"/>
          </a:xfrm>
        </p:spPr>
        <p:txBody>
          <a:bodyPr/>
          <a:lstStyle/>
          <a:p>
            <a:pPr marL="0" marR="0">
              <a:lnSpc>
                <a:spcPct val="150000"/>
              </a:lnSpc>
              <a:spcBef>
                <a:spcPts val="1440"/>
              </a:spcBef>
              <a:spcAft>
                <a:spcPts val="1440"/>
              </a:spcAft>
            </a:pPr>
            <a:r>
              <a:rPr lang="en-GB" sz="2400" dirty="0">
                <a:solidFill>
                  <a:srgbClr val="000000"/>
                </a:solidFill>
                <a:effectLst/>
                <a:latin typeface="Arial" panose="020B0604020202020204" pitchFamily="34" charset="0"/>
                <a:ea typeface="Arial" panose="020B0604020202020204" pitchFamily="34" charset="0"/>
              </a:rPr>
              <a:t>If you want to run the same JavaScript on several pages in a website, you should create an external JavaScript file, instead of writing the same script over and over again. Save the script file with a .</a:t>
            </a:r>
            <a:r>
              <a:rPr lang="en-GB" sz="2400" dirty="0" err="1">
                <a:solidFill>
                  <a:srgbClr val="000000"/>
                </a:solidFill>
                <a:effectLst/>
                <a:latin typeface="Arial" panose="020B0604020202020204" pitchFamily="34" charset="0"/>
                <a:ea typeface="Arial" panose="020B0604020202020204" pitchFamily="34" charset="0"/>
              </a:rPr>
              <a:t>js</a:t>
            </a:r>
            <a:r>
              <a:rPr lang="en-GB" sz="2400" dirty="0">
                <a:solidFill>
                  <a:srgbClr val="000000"/>
                </a:solidFill>
                <a:effectLst/>
                <a:latin typeface="Arial" panose="020B0604020202020204" pitchFamily="34" charset="0"/>
                <a:ea typeface="Arial" panose="020B0604020202020204" pitchFamily="34" charset="0"/>
              </a:rPr>
              <a:t> extension, and then refer to it using the </a:t>
            </a:r>
            <a:r>
              <a:rPr lang="en-GB" sz="2400" dirty="0" err="1">
                <a:solidFill>
                  <a:srgbClr val="DC143C"/>
                </a:solidFill>
                <a:effectLst/>
                <a:latin typeface="Arial" panose="020B0604020202020204" pitchFamily="34" charset="0"/>
                <a:ea typeface="Arial" panose="020B0604020202020204" pitchFamily="34" charset="0"/>
              </a:rPr>
              <a:t>src</a:t>
            </a:r>
            <a:r>
              <a:rPr lang="en-GB" sz="2400" dirty="0">
                <a:solidFill>
                  <a:srgbClr val="000000"/>
                </a:solidFill>
                <a:effectLst/>
                <a:latin typeface="Arial" panose="020B0604020202020204" pitchFamily="34" charset="0"/>
                <a:ea typeface="Arial" panose="020B0604020202020204" pitchFamily="34" charset="0"/>
              </a:rPr>
              <a:t> attribute in the </a:t>
            </a:r>
            <a:r>
              <a:rPr lang="en-GB" sz="2400" b="1" dirty="0">
                <a:solidFill>
                  <a:srgbClr val="000000"/>
                </a:solidFill>
                <a:effectLst/>
                <a:latin typeface="Arial" panose="020B0604020202020204" pitchFamily="34" charset="0"/>
                <a:ea typeface="Arial" panose="020B0604020202020204" pitchFamily="34" charset="0"/>
              </a:rPr>
              <a:t>&lt;script&gt; tag</a:t>
            </a:r>
            <a:r>
              <a:rPr lang="en-GB" sz="2400" dirty="0">
                <a:solidFill>
                  <a:srgbClr val="000000"/>
                </a:solidFill>
                <a:effectLst/>
                <a:latin typeface="Arial" panose="020B0604020202020204" pitchFamily="34" charset="0"/>
                <a:ea typeface="Arial" panose="020B0604020202020204" pitchFamily="34" charset="0"/>
              </a:rPr>
              <a: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440"/>
              </a:spcBef>
              <a:spcAft>
                <a:spcPts val="1440"/>
              </a:spcAft>
            </a:pPr>
            <a:r>
              <a:rPr lang="en-GB" sz="2400" b="1" dirty="0">
                <a:solidFill>
                  <a:srgbClr val="000000"/>
                </a:solidFill>
                <a:effectLst/>
                <a:latin typeface="Arial" panose="020B0604020202020204" pitchFamily="34" charset="0"/>
                <a:ea typeface="Arial" panose="020B0604020202020204" pitchFamily="34" charset="0"/>
              </a:rPr>
              <a:t>       Note:</a:t>
            </a:r>
            <a:r>
              <a:rPr lang="en-GB" sz="2400" dirty="0">
                <a:solidFill>
                  <a:srgbClr val="000000"/>
                </a:solidFill>
                <a:effectLst/>
                <a:latin typeface="Arial" panose="020B0604020202020204" pitchFamily="34" charset="0"/>
                <a:ea typeface="Arial" panose="020B0604020202020204" pitchFamily="34" charset="0"/>
              </a:rPr>
              <a:t> The external script file cannot contain the </a:t>
            </a:r>
            <a:r>
              <a:rPr lang="en-GB" sz="2400" b="1" dirty="0">
                <a:solidFill>
                  <a:srgbClr val="000000"/>
                </a:solidFill>
                <a:effectLst/>
                <a:latin typeface="Arial" panose="020B0604020202020204" pitchFamily="34" charset="0"/>
                <a:ea typeface="Arial" panose="020B0604020202020204" pitchFamily="34" charset="0"/>
              </a:rPr>
              <a:t>&lt;script&gt; tag.</a:t>
            </a:r>
            <a:r>
              <a:rPr lang="en-US" sz="2400" b="1" dirty="0">
                <a:effectLst/>
                <a:latin typeface="Calibri" panose="020F0502020204030204" pitchFamily="34" charset="0"/>
                <a:ea typeface="Calibri" panose="020F0502020204030204" pitchFamily="34" charset="0"/>
              </a:rPr>
              <a:t> </a:t>
            </a:r>
          </a:p>
          <a:p>
            <a:pPr marL="0" marR="0">
              <a:lnSpc>
                <a:spcPct val="150000"/>
              </a:lnSpc>
              <a:spcBef>
                <a:spcPts val="1440"/>
              </a:spcBef>
              <a:spcAft>
                <a:spcPts val="1440"/>
              </a:spcAft>
            </a:pPr>
            <a:r>
              <a:rPr lang="en-GB" sz="2400" b="1" dirty="0">
                <a:effectLst/>
                <a:latin typeface="Arial Unicode MS"/>
                <a:ea typeface="Arial Unicode MS"/>
                <a:cs typeface="Arial Unicode MS"/>
              </a:rPr>
              <a:t>✔ &lt;script&gt; tag</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dirty="0">
                <a:effectLst/>
                <a:highlight>
                  <a:srgbClr val="FFFFFF"/>
                </a:highlight>
                <a:latin typeface="Arial" panose="020B0604020202020204" pitchFamily="34" charset="0"/>
                <a:ea typeface="Arial" panose="020B0604020202020204" pitchFamily="34" charset="0"/>
              </a:rPr>
              <a:t>The </a:t>
            </a:r>
            <a:r>
              <a:rPr lang="en-GB" sz="2400" b="1" dirty="0">
                <a:effectLst/>
                <a:latin typeface="Arial" panose="020B0604020202020204" pitchFamily="34" charset="0"/>
                <a:ea typeface="Arial" panose="020B0604020202020204" pitchFamily="34" charset="0"/>
              </a:rPr>
              <a:t>&lt;script&gt;</a:t>
            </a:r>
            <a:r>
              <a:rPr lang="en-GB" sz="2400" b="1" dirty="0">
                <a:effectLst/>
                <a:highlight>
                  <a:srgbClr val="FFFFFF"/>
                </a:highlight>
                <a:latin typeface="Arial" panose="020B0604020202020204" pitchFamily="34" charset="0"/>
                <a:ea typeface="Arial" panose="020B0604020202020204" pitchFamily="34" charset="0"/>
              </a:rPr>
              <a:t> tag </a:t>
            </a:r>
            <a:r>
              <a:rPr lang="en-GB" sz="2400" dirty="0">
                <a:effectLst/>
                <a:highlight>
                  <a:srgbClr val="FFFFFF"/>
                </a:highlight>
                <a:latin typeface="Arial" panose="020B0604020202020204" pitchFamily="34" charset="0"/>
                <a:ea typeface="Arial" panose="020B0604020202020204" pitchFamily="34" charset="0"/>
              </a:rPr>
              <a:t>is used to embed a client-side script (JavaScript).</a:t>
            </a:r>
            <a:endParaRPr lang="en-US" sz="2400" dirty="0">
              <a:effectLst/>
              <a:latin typeface="Calibri" panose="020F0502020204030204" pitchFamily="34" charset="0"/>
              <a:ea typeface="Calibri" panose="020F0502020204030204" pitchFamily="34" charset="0"/>
            </a:endParaRPr>
          </a:p>
          <a:p>
            <a:endParaRPr lang="en-US" dirty="0">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4015908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807ADC-8474-7188-C394-B3D93B773B59}"/>
              </a:ext>
            </a:extLst>
          </p:cNvPr>
          <p:cNvSpPr>
            <a:spLocks noGrp="1"/>
          </p:cNvSpPr>
          <p:nvPr>
            <p:ph idx="1"/>
          </p:nvPr>
        </p:nvSpPr>
        <p:spPr>
          <a:xfrm>
            <a:off x="725213" y="346841"/>
            <a:ext cx="10636469" cy="5780690"/>
          </a:xfrm>
        </p:spPr>
        <p:txBody>
          <a:bodyPr/>
          <a:lstStyle/>
          <a:p>
            <a:pPr marL="0" marR="0">
              <a:lnSpc>
                <a:spcPct val="150000"/>
              </a:lnSpc>
              <a:spcBef>
                <a:spcPts val="0"/>
              </a:spcBef>
              <a:spcAft>
                <a:spcPts val="0"/>
              </a:spcAft>
            </a:pPr>
            <a:r>
              <a:rPr lang="en-GB" sz="2400" b="1" dirty="0">
                <a:effectLst/>
                <a:highlight>
                  <a:srgbClr val="FFFFFF"/>
                </a:highlight>
                <a:latin typeface="Arial" panose="020B0604020202020204" pitchFamily="34" charset="0"/>
                <a:ea typeface="Arial" panose="020B0604020202020204" pitchFamily="34" charset="0"/>
              </a:rPr>
              <a:t>Example: </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0"/>
              </a:spcAft>
            </a:pPr>
            <a:r>
              <a:rPr lang="en-GB" sz="2400" dirty="0">
                <a:effectLst/>
                <a:highlight>
                  <a:srgbClr val="FFFFFF"/>
                </a:highlight>
                <a:latin typeface="Arial" panose="020B0604020202020204" pitchFamily="34" charset="0"/>
                <a:ea typeface="Arial" panose="020B0604020202020204" pitchFamily="34" charset="0"/>
              </a:rPr>
              <a:t>&lt;script type="text/</a:t>
            </a:r>
            <a:r>
              <a:rPr lang="en-GB" sz="2400" dirty="0" err="1">
                <a:effectLst/>
                <a:highlight>
                  <a:srgbClr val="FFFFFF"/>
                </a:highlight>
                <a:latin typeface="Arial" panose="020B0604020202020204" pitchFamily="34" charset="0"/>
                <a:ea typeface="Arial" panose="020B0604020202020204" pitchFamily="34" charset="0"/>
              </a:rPr>
              <a:t>javascript</a:t>
            </a:r>
            <a:r>
              <a:rPr lang="en-GB" sz="2400" dirty="0">
                <a:effectLst/>
                <a:highlight>
                  <a:srgbClr val="FFFFFF"/>
                </a:highlight>
                <a:latin typeface="Arial" panose="020B0604020202020204" pitchFamily="34" charset="0"/>
                <a:ea typeface="Arial" panose="020B0604020202020204" pitchFamily="34" charset="0"/>
              </a:rPr>
              <a:t>"&gt; </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0"/>
              </a:spcAft>
            </a:pPr>
            <a:r>
              <a:rPr lang="en-GB" sz="2400" dirty="0" err="1">
                <a:effectLst/>
                <a:highlight>
                  <a:srgbClr val="FFFFFF"/>
                </a:highlight>
                <a:latin typeface="Arial" panose="020B0604020202020204" pitchFamily="34" charset="0"/>
                <a:ea typeface="Arial" panose="020B0604020202020204" pitchFamily="34" charset="0"/>
              </a:rPr>
              <a:t>document.write</a:t>
            </a:r>
            <a:r>
              <a:rPr lang="en-GB" sz="2400" dirty="0">
                <a:effectLst/>
                <a:highlight>
                  <a:srgbClr val="FFFFFF"/>
                </a:highlight>
                <a:latin typeface="Arial" panose="020B0604020202020204" pitchFamily="34" charset="0"/>
                <a:ea typeface="Arial" panose="020B0604020202020204" pitchFamily="34" charset="0"/>
              </a:rPr>
              <a:t>("PHPTPOINT is the place to study </a:t>
            </a:r>
            <a:r>
              <a:rPr lang="en-GB" sz="2400" dirty="0" err="1">
                <a:effectLst/>
                <a:highlight>
                  <a:srgbClr val="FFFFFF"/>
                </a:highlight>
                <a:latin typeface="Arial" panose="020B0604020202020204" pitchFamily="34" charset="0"/>
                <a:ea typeface="Arial" panose="020B0604020202020204" pitchFamily="34" charset="0"/>
              </a:rPr>
              <a:t>javascript</a:t>
            </a:r>
            <a:r>
              <a:rPr lang="en-GB" sz="2400" dirty="0">
                <a:effectLst/>
                <a:highlight>
                  <a:srgbClr val="FFFFFF"/>
                </a:highlight>
                <a:latin typeface="Arial" panose="020B0604020202020204" pitchFamily="34" charset="0"/>
                <a:ea typeface="Arial" panose="020B0604020202020204" pitchFamily="34" charset="0"/>
              </a:rPr>
              <a:t> easily"); </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0"/>
              </a:spcAft>
            </a:pPr>
            <a:r>
              <a:rPr lang="en-GB" sz="2400" dirty="0">
                <a:effectLst/>
                <a:highlight>
                  <a:srgbClr val="FFFFFF"/>
                </a:highlight>
                <a:latin typeface="Arial" panose="020B0604020202020204" pitchFamily="34" charset="0"/>
                <a:ea typeface="Arial" panose="020B0604020202020204" pitchFamily="34" charset="0"/>
              </a:rPr>
              <a:t>&lt;/script&gt;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0"/>
              </a:spcAft>
            </a:pPr>
            <a:r>
              <a:rPr lang="en-GB" sz="2400" dirty="0">
                <a:solidFill>
                  <a:srgbClr val="000000"/>
                </a:solidFill>
                <a:effectLst/>
                <a:latin typeface="Arial" panose="020B0604020202020204" pitchFamily="34" charset="0"/>
                <a:ea typeface="Arial" panose="020B0604020202020204" pitchFamily="34" charset="0"/>
              </a:rPr>
              <a:t>Using the script tag signifies that we are using JavaScript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b="1" dirty="0">
                <a:effectLst/>
                <a:latin typeface="Arial Unicode MS"/>
                <a:ea typeface="Arial Unicode MS"/>
                <a:cs typeface="Arial Unicode MS"/>
              </a:rPr>
              <a:t>✔External JavaScript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0"/>
              </a:spcAft>
            </a:pPr>
            <a:r>
              <a:rPr lang="en-GB" sz="2400" dirty="0">
                <a:solidFill>
                  <a:srgbClr val="000000"/>
                </a:solidFill>
                <a:effectLst/>
                <a:latin typeface="Arial" panose="020B0604020202020204" pitchFamily="34" charset="0"/>
                <a:ea typeface="Arial" panose="020B0604020202020204" pitchFamily="34" charset="0"/>
              </a:rPr>
              <a:t>With JavaScript, an external JavaScript file can be created and can easily be embedded into many HTML pages. Since a single JavaScript file can be used in various HTML pages hence, it provides code reusability.</a:t>
            </a: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2003085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2E8F7A-C1B1-7FBE-F8D4-556D38D5A6C4}"/>
              </a:ext>
            </a:extLst>
          </p:cNvPr>
          <p:cNvSpPr>
            <a:spLocks noGrp="1"/>
          </p:cNvSpPr>
          <p:nvPr>
            <p:ph idx="1"/>
          </p:nvPr>
        </p:nvSpPr>
        <p:spPr>
          <a:xfrm>
            <a:off x="525517" y="346841"/>
            <a:ext cx="10920249" cy="5822731"/>
          </a:xfrm>
        </p:spPr>
        <p:txBody>
          <a:bodyPr>
            <a:normAutofit/>
          </a:bodyPr>
          <a:lstStyle/>
          <a:p>
            <a:pPr marL="0" marR="0" indent="0">
              <a:lnSpc>
                <a:spcPct val="150000"/>
              </a:lnSpc>
              <a:spcBef>
                <a:spcPts val="1200"/>
              </a:spcBef>
              <a:spcAft>
                <a:spcPts val="0"/>
              </a:spcAft>
              <a:buNone/>
            </a:pPr>
            <a:r>
              <a:rPr lang="en-GB" sz="2400" dirty="0">
                <a:solidFill>
                  <a:srgbClr val="000000"/>
                </a:solidFill>
                <a:effectLst/>
                <a:latin typeface="Arial" panose="020B0604020202020204" pitchFamily="34" charset="0"/>
                <a:ea typeface="Arial" panose="020B0604020202020204" pitchFamily="34" charset="0"/>
              </a:rPr>
              <a:t>In order to save a JavaScript file, </a:t>
            </a:r>
            <a:r>
              <a:rPr lang="en-GB" sz="2400" b="1" dirty="0">
                <a:solidFill>
                  <a:srgbClr val="000000"/>
                </a:solidFill>
                <a:effectLst/>
                <a:latin typeface="Arial" panose="020B0604020202020204" pitchFamily="34" charset="0"/>
                <a:ea typeface="Arial" panose="020B0604020202020204" pitchFamily="34" charset="0"/>
              </a:rPr>
              <a:t>.</a:t>
            </a:r>
            <a:r>
              <a:rPr lang="en-GB" sz="2400" b="1" dirty="0" err="1">
                <a:solidFill>
                  <a:srgbClr val="000000"/>
                </a:solidFill>
                <a:effectLst/>
                <a:latin typeface="Arial" panose="020B0604020202020204" pitchFamily="34" charset="0"/>
                <a:ea typeface="Arial" panose="020B0604020202020204" pitchFamily="34" charset="0"/>
              </a:rPr>
              <a:t>js</a:t>
            </a:r>
            <a:r>
              <a:rPr lang="en-GB" sz="2400" b="1" dirty="0">
                <a:solidFill>
                  <a:srgbClr val="000000"/>
                </a:solidFill>
                <a:effectLst/>
                <a:latin typeface="Arial" panose="020B0604020202020204" pitchFamily="34" charset="0"/>
                <a:ea typeface="Arial" panose="020B0604020202020204" pitchFamily="34" charset="0"/>
              </a:rPr>
              <a:t> </a:t>
            </a:r>
            <a:r>
              <a:rPr lang="en-GB" sz="2400" dirty="0">
                <a:solidFill>
                  <a:srgbClr val="000000"/>
                </a:solidFill>
                <a:effectLst/>
                <a:latin typeface="Arial" panose="020B0604020202020204" pitchFamily="34" charset="0"/>
                <a:ea typeface="Arial" panose="020B0604020202020204" pitchFamily="34" charset="0"/>
              </a:rPr>
              <a:t>extension must be used. To increase the speed of the webpages, it is recommended to embed the entire JavaScript file into a single file.</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b="1" dirty="0">
                <a:effectLst/>
                <a:latin typeface="Arial Unicode MS"/>
                <a:ea typeface="Arial Unicode MS"/>
                <a:cs typeface="Arial Unicode MS"/>
              </a:rPr>
              <a:t>   ✔ Using external </a:t>
            </a:r>
            <a:r>
              <a:rPr lang="en-GB" sz="2400" b="1" dirty="0" err="1">
                <a:effectLst/>
                <a:latin typeface="Arial Unicode MS"/>
                <a:ea typeface="Arial Unicode MS"/>
                <a:cs typeface="Arial Unicode MS"/>
              </a:rPr>
              <a:t>Javascript</a:t>
            </a:r>
            <a:r>
              <a:rPr lang="en-GB" sz="2400" b="1" dirty="0">
                <a:effectLst/>
                <a:latin typeface="Arial Unicode MS"/>
                <a:ea typeface="Arial Unicode MS"/>
                <a:cs typeface="Arial Unicode MS"/>
              </a:rPr>
              <a:t> reference (CDN)</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b="1" u="sng" dirty="0">
                <a:effectLst/>
                <a:latin typeface="Arial" panose="020B0604020202020204" pitchFamily="34" charset="0"/>
                <a:ea typeface="Arial" panose="020B0604020202020204" pitchFamily="34" charset="0"/>
              </a:rPr>
              <a:t>What is a CDN?</a:t>
            </a:r>
            <a:endParaRPr lang="en-US" sz="2400" b="1"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dirty="0">
                <a:effectLst/>
                <a:latin typeface="Arial" panose="020B0604020202020204" pitchFamily="34" charset="0"/>
                <a:ea typeface="Arial" panose="020B0604020202020204" pitchFamily="34" charset="0"/>
              </a:rPr>
              <a:t>A </a:t>
            </a:r>
            <a:r>
              <a:rPr lang="en-GB" sz="2400" b="1" dirty="0">
                <a:effectLst/>
                <a:latin typeface="Arial" panose="020B0604020202020204" pitchFamily="34" charset="0"/>
                <a:ea typeface="Arial" panose="020B0604020202020204" pitchFamily="34" charset="0"/>
              </a:rPr>
              <a:t>CDN</a:t>
            </a:r>
            <a:r>
              <a:rPr lang="en-GB" sz="2400" dirty="0">
                <a:effectLst/>
                <a:latin typeface="Arial" panose="020B0604020202020204" pitchFamily="34" charset="0"/>
                <a:ea typeface="Arial" panose="020B0604020202020204" pitchFamily="34" charset="0"/>
              </a:rPr>
              <a:t> is a </a:t>
            </a:r>
            <a:r>
              <a:rPr lang="en-GB" sz="2400" b="1" dirty="0">
                <a:effectLst/>
                <a:latin typeface="Arial" panose="020B0604020202020204" pitchFamily="34" charset="0"/>
                <a:ea typeface="Arial" panose="020B0604020202020204" pitchFamily="34" charset="0"/>
              </a:rPr>
              <a:t>Content Delivery Network. </a:t>
            </a:r>
            <a:r>
              <a:rPr lang="en-GB" sz="2400" dirty="0">
                <a:effectLst/>
                <a:latin typeface="Arial" panose="020B0604020202020204" pitchFamily="34" charset="0"/>
                <a:ea typeface="Arial" panose="020B0604020202020204" pitchFamily="34" charset="0"/>
              </a:rPr>
              <a:t>These are file hosting services for multiple versions of common libraries. </a:t>
            </a:r>
          </a:p>
        </p:txBody>
      </p:sp>
    </p:spTree>
    <p:extLst>
      <p:ext uri="{BB962C8B-B14F-4D97-AF65-F5344CB8AC3E}">
        <p14:creationId xmlns:p14="http://schemas.microsoft.com/office/powerpoint/2010/main" val="25845670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576E52-7C13-E934-6097-6269113CB394}"/>
              </a:ext>
            </a:extLst>
          </p:cNvPr>
          <p:cNvSpPr>
            <a:spLocks noGrp="1"/>
          </p:cNvSpPr>
          <p:nvPr>
            <p:ph idx="1"/>
          </p:nvPr>
        </p:nvSpPr>
        <p:spPr>
          <a:xfrm>
            <a:off x="630620" y="493986"/>
            <a:ext cx="10710041" cy="5532764"/>
          </a:xfrm>
        </p:spPr>
        <p:txBody>
          <a:bodyPr/>
          <a:lstStyle/>
          <a:p>
            <a:pPr marL="0" marR="0">
              <a:lnSpc>
                <a:spcPct val="150000"/>
              </a:lnSpc>
              <a:spcBef>
                <a:spcPts val="1200"/>
              </a:spcBef>
              <a:spcAft>
                <a:spcPts val="1200"/>
              </a:spcAft>
            </a:pPr>
            <a:r>
              <a:rPr lang="en-GB" sz="2400" dirty="0">
                <a:effectLst/>
                <a:latin typeface="Arial" panose="020B0604020202020204" pitchFamily="34" charset="0"/>
                <a:ea typeface="Arial" panose="020B0604020202020204" pitchFamily="34" charset="0"/>
              </a:rPr>
              <a:t>You can use external JavaScript references, often referred to as </a:t>
            </a:r>
            <a:r>
              <a:rPr lang="en-GB" sz="2400" b="1" dirty="0">
                <a:effectLst/>
                <a:latin typeface="Arial" panose="020B0604020202020204" pitchFamily="34" charset="0"/>
                <a:ea typeface="Arial" panose="020B0604020202020204" pitchFamily="34" charset="0"/>
              </a:rPr>
              <a:t>Content Delivery Network (CDN) links</a:t>
            </a:r>
            <a:r>
              <a:rPr lang="en-GB" sz="2400" dirty="0">
                <a:effectLst/>
                <a:latin typeface="Arial" panose="020B0604020202020204" pitchFamily="34" charset="0"/>
                <a:ea typeface="Arial" panose="020B0604020202020204" pitchFamily="34" charset="0"/>
              </a:rPr>
              <a:t>, to include </a:t>
            </a:r>
            <a:r>
              <a:rPr lang="en-GB" sz="2400" b="1" dirty="0">
                <a:effectLst/>
                <a:latin typeface="Arial" panose="020B0604020202020204" pitchFamily="34" charset="0"/>
                <a:ea typeface="Arial" panose="020B0604020202020204" pitchFamily="34" charset="0"/>
              </a:rPr>
              <a:t>JavaScript libraries </a:t>
            </a:r>
            <a:r>
              <a:rPr lang="en-GB" sz="2400" dirty="0">
                <a:effectLst/>
                <a:latin typeface="Arial" panose="020B0604020202020204" pitchFamily="34" charset="0"/>
                <a:ea typeface="Arial" panose="020B0604020202020204" pitchFamily="34" charset="0"/>
              </a:rPr>
              <a:t>or </a:t>
            </a:r>
            <a:r>
              <a:rPr lang="en-GB" sz="2400" b="1" dirty="0">
                <a:effectLst/>
                <a:latin typeface="Arial" panose="020B0604020202020204" pitchFamily="34" charset="0"/>
                <a:ea typeface="Arial" panose="020B0604020202020204" pitchFamily="34" charset="0"/>
              </a:rPr>
              <a:t>scripts in your HTML documents. </a:t>
            </a:r>
            <a:r>
              <a:rPr lang="en-GB" sz="2400" dirty="0">
                <a:effectLst/>
                <a:latin typeface="Arial" panose="020B0604020202020204" pitchFamily="34" charset="0"/>
                <a:ea typeface="Arial" panose="020B0604020202020204" pitchFamily="34" charset="0"/>
              </a:rPr>
              <a:t>This is a common practice to save bandwidth and improve loading times. Here's how you can do it: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dirty="0">
                <a:effectLst/>
                <a:latin typeface="Arial" panose="020B0604020202020204" pitchFamily="34" charset="0"/>
                <a:ea typeface="Arial" panose="020B0604020202020204" pitchFamily="34" charset="0"/>
              </a:rPr>
              <a:t>Find the CDN link for the JavaScript library you want to include. Many popular libraries like </a:t>
            </a:r>
            <a:r>
              <a:rPr lang="en-GB" sz="2400" b="1" dirty="0">
                <a:effectLst/>
                <a:latin typeface="Arial" panose="020B0604020202020204" pitchFamily="34" charset="0"/>
                <a:ea typeface="Arial" panose="020B0604020202020204" pitchFamily="34" charset="0"/>
              </a:rPr>
              <a:t>jQuery</a:t>
            </a:r>
            <a:r>
              <a:rPr lang="en-GB" sz="2400" dirty="0">
                <a:effectLst/>
                <a:latin typeface="Arial" panose="020B0604020202020204" pitchFamily="34" charset="0"/>
                <a:ea typeface="Arial" panose="020B0604020202020204" pitchFamily="34" charset="0"/>
              </a:rPr>
              <a:t>, </a:t>
            </a:r>
            <a:r>
              <a:rPr lang="en-GB" sz="2400" b="1" dirty="0">
                <a:effectLst/>
                <a:latin typeface="Arial" panose="020B0604020202020204" pitchFamily="34" charset="0"/>
                <a:ea typeface="Arial" panose="020B0604020202020204" pitchFamily="34" charset="0"/>
              </a:rPr>
              <a:t>Bootstrap</a:t>
            </a:r>
            <a:r>
              <a:rPr lang="en-GB" sz="2400" dirty="0">
                <a:effectLst/>
                <a:latin typeface="Arial" panose="020B0604020202020204" pitchFamily="34" charset="0"/>
                <a:ea typeface="Arial" panose="020B0604020202020204" pitchFamily="34" charset="0"/>
              </a:rPr>
              <a:t>, or React have CDN links available. These links are hosted on servers provided by various content delivery networks.</a:t>
            </a: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9121825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88E1A7-6D62-503D-71B3-0D036A02C7DC}"/>
              </a:ext>
            </a:extLst>
          </p:cNvPr>
          <p:cNvSpPr>
            <a:spLocks noGrp="1"/>
          </p:cNvSpPr>
          <p:nvPr>
            <p:ph idx="1"/>
          </p:nvPr>
        </p:nvSpPr>
        <p:spPr>
          <a:xfrm>
            <a:off x="662153" y="374285"/>
            <a:ext cx="10720550" cy="5574570"/>
          </a:xfrm>
        </p:spPr>
        <p:txBody>
          <a:bodyPr/>
          <a:lstStyle/>
          <a:p>
            <a:pPr marL="0" marR="0">
              <a:lnSpc>
                <a:spcPct val="150000"/>
              </a:lnSpc>
              <a:spcBef>
                <a:spcPts val="1200"/>
              </a:spcBef>
              <a:spcAft>
                <a:spcPts val="1200"/>
              </a:spcAft>
            </a:pPr>
            <a:r>
              <a:rPr lang="en-GB" sz="2400" dirty="0">
                <a:effectLst/>
                <a:latin typeface="Arial" panose="020B0604020202020204" pitchFamily="34" charset="0"/>
                <a:ea typeface="Arial" panose="020B0604020202020204" pitchFamily="34" charset="0"/>
              </a:rPr>
              <a:t>In your HTML document, add a &lt;script&gt; tag with the </a:t>
            </a:r>
            <a:r>
              <a:rPr lang="en-GB" sz="2400" dirty="0" err="1">
                <a:effectLst/>
                <a:latin typeface="Arial" panose="020B0604020202020204" pitchFamily="34" charset="0"/>
                <a:ea typeface="Arial" panose="020B0604020202020204" pitchFamily="34" charset="0"/>
              </a:rPr>
              <a:t>src</a:t>
            </a:r>
            <a:r>
              <a:rPr lang="en-GB" sz="2400" dirty="0">
                <a:effectLst/>
                <a:latin typeface="Arial" panose="020B0604020202020204" pitchFamily="34" charset="0"/>
                <a:ea typeface="Arial" panose="020B0604020202020204" pitchFamily="34" charset="0"/>
              </a:rPr>
              <a:t> attribute set to the CDN link. </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dirty="0">
                <a:effectLst/>
                <a:latin typeface="Arial" panose="020B0604020202020204" pitchFamily="34" charset="0"/>
                <a:ea typeface="Arial" panose="020B0604020202020204" pitchFamily="34" charset="0"/>
              </a:rPr>
              <a:t>By using CDN links, you can easily include external JavaScript libraries in your web pages without having to host the library files on your server, and your users will benefit from faster loading times since CDNs are designed for efficient content delivery.</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b="1" dirty="0">
                <a:effectLst/>
                <a:latin typeface="Arial Unicode MS"/>
                <a:ea typeface="Arial Unicode MS"/>
                <a:cs typeface="Arial Unicode MS"/>
              </a:rPr>
              <a:t>✔ JavaScript output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dirty="0">
                <a:effectLst/>
                <a:latin typeface="Arial" panose="020B0604020202020204" pitchFamily="34" charset="0"/>
                <a:ea typeface="Arial" panose="020B0604020202020204" pitchFamily="34" charset="0"/>
              </a:rPr>
              <a:t>JavaScript can "display" data in different ways:</a:t>
            </a: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8340716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2AD9E5-E211-CB8F-B2C6-C56952AAB016}"/>
              </a:ext>
            </a:extLst>
          </p:cNvPr>
          <p:cNvSpPr>
            <a:spLocks noGrp="1"/>
          </p:cNvSpPr>
          <p:nvPr>
            <p:ph idx="1"/>
          </p:nvPr>
        </p:nvSpPr>
        <p:spPr>
          <a:xfrm>
            <a:off x="954339" y="451945"/>
            <a:ext cx="10283321" cy="5427660"/>
          </a:xfrm>
        </p:spPr>
        <p:txBody>
          <a:bodyPr>
            <a:normAutofit/>
          </a:bodyPr>
          <a:lstStyle/>
          <a:p>
            <a:pPr marL="342900" marR="0" lvl="0" indent="-342900">
              <a:lnSpc>
                <a:spcPct val="150000"/>
              </a:lnSpc>
              <a:spcBef>
                <a:spcPts val="1200"/>
              </a:spcBef>
              <a:spcAft>
                <a:spcPts val="0"/>
              </a:spcAft>
              <a:buFont typeface="Arial" panose="020B0604020202020204" pitchFamily="34" charset="0"/>
              <a:buChar char="●"/>
            </a:pPr>
            <a:r>
              <a:rPr lang="en-GB" sz="2400" u="none" strike="noStrike" dirty="0">
                <a:solidFill>
                  <a:srgbClr val="000000"/>
                </a:solidFill>
                <a:effectLst/>
                <a:latin typeface="Arial" panose="020B0604020202020204" pitchFamily="34" charset="0"/>
                <a:ea typeface="Arial" panose="020B0604020202020204" pitchFamily="34" charset="0"/>
              </a:rPr>
              <a:t>Writing into an HTML element, using </a:t>
            </a:r>
            <a:r>
              <a:rPr lang="en-GB" sz="2400" u="none" strike="noStrike" dirty="0" err="1">
                <a:solidFill>
                  <a:srgbClr val="000000"/>
                </a:solidFill>
                <a:effectLst/>
                <a:latin typeface="Arial" panose="020B0604020202020204" pitchFamily="34" charset="0"/>
                <a:ea typeface="Arial" panose="020B0604020202020204" pitchFamily="34" charset="0"/>
              </a:rPr>
              <a:t>innerHTML</a:t>
            </a:r>
            <a:r>
              <a:rPr lang="en-GB" sz="2400" u="none" strike="noStrike" dirty="0">
                <a:solidFill>
                  <a:srgbClr val="000000"/>
                </a:solidFill>
                <a:effectLst/>
                <a:latin typeface="Arial" panose="020B0604020202020204" pitchFamily="34" charset="0"/>
                <a:ea typeface="Arial" panose="020B0604020202020204" pitchFamily="34" charset="0"/>
              </a:rPr>
              <a:t>.</a:t>
            </a:r>
            <a:endParaRPr lang="en-US" sz="2400" u="none" strike="noStrike" dirty="0">
              <a:effectLst/>
              <a:latin typeface="Calibri" panose="020F0502020204030204" pitchFamily="34" charset="0"/>
              <a:ea typeface="Calibri" panose="020F0502020204030204" pitchFamily="34" charset="0"/>
            </a:endParaRPr>
          </a:p>
          <a:p>
            <a:pPr marL="342900" marR="0" lvl="0" indent="-342900">
              <a:lnSpc>
                <a:spcPct val="150000"/>
              </a:lnSpc>
              <a:spcBef>
                <a:spcPts val="0"/>
              </a:spcBef>
              <a:spcAft>
                <a:spcPts val="0"/>
              </a:spcAft>
              <a:buFont typeface="Arial" panose="020B0604020202020204" pitchFamily="34" charset="0"/>
              <a:buChar char="●"/>
            </a:pPr>
            <a:r>
              <a:rPr lang="en-GB" sz="2400" u="none" strike="noStrike" dirty="0">
                <a:solidFill>
                  <a:srgbClr val="000000"/>
                </a:solidFill>
                <a:effectLst/>
                <a:latin typeface="Arial" panose="020B0604020202020204" pitchFamily="34" charset="0"/>
                <a:ea typeface="Arial" panose="020B0604020202020204" pitchFamily="34" charset="0"/>
              </a:rPr>
              <a:t>Writing into the HTML output using a document. Write().</a:t>
            </a:r>
            <a:endParaRPr lang="en-US" sz="2400" u="none" strike="noStrike" dirty="0">
              <a:effectLst/>
              <a:latin typeface="Calibri" panose="020F0502020204030204" pitchFamily="34" charset="0"/>
              <a:ea typeface="Calibri" panose="020F0502020204030204" pitchFamily="34" charset="0"/>
            </a:endParaRPr>
          </a:p>
          <a:p>
            <a:pPr marL="342900" marR="0" lvl="0" indent="-342900">
              <a:lnSpc>
                <a:spcPct val="150000"/>
              </a:lnSpc>
              <a:spcBef>
                <a:spcPts val="0"/>
              </a:spcBef>
              <a:spcAft>
                <a:spcPts val="0"/>
              </a:spcAft>
              <a:buFont typeface="Arial" panose="020B0604020202020204" pitchFamily="34" charset="0"/>
              <a:buChar char="●"/>
            </a:pPr>
            <a:r>
              <a:rPr lang="en-GB" sz="2400" u="none" strike="noStrike" dirty="0">
                <a:solidFill>
                  <a:srgbClr val="000000"/>
                </a:solidFill>
                <a:effectLst/>
                <a:latin typeface="Arial" panose="020B0604020202020204" pitchFamily="34" charset="0"/>
                <a:ea typeface="Arial" panose="020B0604020202020204" pitchFamily="34" charset="0"/>
              </a:rPr>
              <a:t>Writing into an alert box, using a window. alert().</a:t>
            </a:r>
            <a:endParaRPr lang="en-US" sz="2400" dirty="0">
              <a:solidFill>
                <a:srgbClr val="000000"/>
              </a:solidFill>
              <a:latin typeface="Calibri" panose="020F0502020204030204" pitchFamily="34" charset="0"/>
              <a:ea typeface="Arial" panose="020B0604020202020204" pitchFamily="34" charset="0"/>
            </a:endParaRPr>
          </a:p>
          <a:p>
            <a:pPr marL="342900" marR="0" lvl="0" indent="-342900">
              <a:lnSpc>
                <a:spcPct val="150000"/>
              </a:lnSpc>
              <a:spcBef>
                <a:spcPts val="0"/>
              </a:spcBef>
              <a:spcAft>
                <a:spcPts val="0"/>
              </a:spcAft>
              <a:buFont typeface="Arial" panose="020B0604020202020204" pitchFamily="34" charset="0"/>
              <a:buChar char="●"/>
            </a:pPr>
            <a:r>
              <a:rPr lang="en-GB" sz="2400" dirty="0">
                <a:effectLst/>
                <a:latin typeface="Arial" panose="020B0604020202020204" pitchFamily="34" charset="0"/>
                <a:ea typeface="Arial" panose="020B0604020202020204" pitchFamily="34" charset="0"/>
              </a:rPr>
              <a:t>Writing into the browser console, using console.log ().</a:t>
            </a:r>
            <a:endParaRPr lang="en-GB" sz="2400" dirty="0">
              <a:latin typeface="Arial" panose="020B0604020202020204" pitchFamily="34" charset="0"/>
              <a:ea typeface="Arial" panose="020B0604020202020204" pitchFamily="34" charset="0"/>
            </a:endParaRPr>
          </a:p>
          <a:p>
            <a:pPr marL="0" marR="0" lvl="0" indent="0">
              <a:lnSpc>
                <a:spcPct val="150000"/>
              </a:lnSpc>
              <a:spcBef>
                <a:spcPts val="0"/>
              </a:spcBef>
              <a:spcAft>
                <a:spcPts val="0"/>
              </a:spcAft>
              <a:buNone/>
            </a:pPr>
            <a:endParaRPr lang="en-GB" sz="2400" dirty="0">
              <a:effectLst/>
              <a:latin typeface="Arial" panose="020B0604020202020204" pitchFamily="34" charset="0"/>
              <a:ea typeface="Arial" panose="020B0604020202020204" pitchFamily="34" charset="0"/>
            </a:endParaRPr>
          </a:p>
          <a:p>
            <a:pPr marL="0" marR="0" lvl="0" indent="0">
              <a:lnSpc>
                <a:spcPct val="150000"/>
              </a:lnSpc>
              <a:spcBef>
                <a:spcPts val="0"/>
              </a:spcBef>
              <a:spcAft>
                <a:spcPts val="0"/>
              </a:spcAft>
              <a:buNone/>
            </a:pPr>
            <a:r>
              <a:rPr lang="en-GB" sz="1800" b="1" dirty="0">
                <a:latin typeface="Arial Unicode MS"/>
              </a:rPr>
              <a:t>1.2.2: Integrate </a:t>
            </a:r>
            <a:r>
              <a:rPr lang="en-GB" sz="1800" b="1" dirty="0" err="1">
                <a:latin typeface="Arial Unicode MS"/>
              </a:rPr>
              <a:t>Javascript</a:t>
            </a:r>
            <a:r>
              <a:rPr lang="en-GB" sz="1800" b="1" dirty="0">
                <a:latin typeface="Arial Unicode MS"/>
              </a:rPr>
              <a:t> to HTML</a:t>
            </a:r>
          </a:p>
          <a:p>
            <a:pPr marL="0" marR="0" lvl="0" indent="0">
              <a:lnSpc>
                <a:spcPct val="150000"/>
              </a:lnSpc>
              <a:spcBef>
                <a:spcPts val="0"/>
              </a:spcBef>
              <a:spcAft>
                <a:spcPts val="0"/>
              </a:spcAft>
              <a:buNone/>
            </a:pPr>
            <a:r>
              <a:rPr lang="en-GB" sz="1800" dirty="0">
                <a:effectLst/>
                <a:latin typeface="Arial" panose="020B0604020202020204" pitchFamily="34" charset="0"/>
                <a:ea typeface="Arial" panose="020B0604020202020204" pitchFamily="34" charset="0"/>
              </a:rPr>
              <a:t> </a:t>
            </a:r>
            <a:r>
              <a:rPr lang="en-GB" sz="1800" b="1" dirty="0">
                <a:effectLst/>
                <a:latin typeface="Arial Unicode MS"/>
                <a:ea typeface="Arial Unicode MS"/>
                <a:cs typeface="Arial Unicode MS"/>
              </a:rPr>
              <a:t>✔ Referencing HTML to JavaScript</a:t>
            </a:r>
            <a:endParaRPr lang="en-GB"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6064526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BDF1B6-A112-29D8-CEE7-7870CFF9A4F9}"/>
              </a:ext>
            </a:extLst>
          </p:cNvPr>
          <p:cNvSpPr>
            <a:spLocks noGrp="1"/>
          </p:cNvSpPr>
          <p:nvPr>
            <p:ph idx="1"/>
          </p:nvPr>
        </p:nvSpPr>
        <p:spPr>
          <a:xfrm>
            <a:off x="756744" y="220717"/>
            <a:ext cx="10773103" cy="5980386"/>
          </a:xfrm>
        </p:spPr>
        <p:txBody>
          <a:bodyPr>
            <a:noAutofit/>
          </a:bodyPr>
          <a:lstStyle/>
          <a:p>
            <a:pPr marL="0" marR="0">
              <a:spcBef>
                <a:spcPts val="0"/>
              </a:spcBef>
              <a:spcAft>
                <a:spcPts val="0"/>
              </a:spcAft>
              <a:tabLst>
                <a:tab pos="3037205" algn="ctr"/>
              </a:tabLst>
            </a:pPr>
            <a:r>
              <a:rPr lang="en-GB" sz="2400" b="1" dirty="0">
                <a:effectLst/>
                <a:highlight>
                  <a:srgbClr val="FFFFFF"/>
                </a:highlight>
                <a:latin typeface="Arial" panose="020B0604020202020204" pitchFamily="34" charset="0"/>
                <a:ea typeface="Arial" panose="020B0604020202020204" pitchFamily="34" charset="0"/>
              </a:rPr>
              <a:t>Example:</a:t>
            </a:r>
          </a:p>
          <a:p>
            <a:pPr marL="0" marR="0" indent="0" algn="just">
              <a:lnSpc>
                <a:spcPct val="150000"/>
              </a:lnSpc>
              <a:spcBef>
                <a:spcPts val="600"/>
              </a:spcBef>
              <a:spcAft>
                <a:spcPts val="0"/>
              </a:spcAft>
              <a:buNone/>
            </a:pPr>
            <a:r>
              <a:rPr lang="en-GB" sz="2400" dirty="0">
                <a:effectLst/>
                <a:latin typeface="Arial" panose="020B0604020202020204" pitchFamily="34" charset="0"/>
                <a:ea typeface="Arial" panose="020B0604020202020204" pitchFamily="34" charset="0"/>
              </a:rPr>
              <a:t>&lt;!DOCTYPE html&gt;</a:t>
            </a:r>
            <a:endParaRPr lang="en-US" sz="2400" dirty="0">
              <a:effectLst/>
              <a:latin typeface="Calibri" panose="020F0502020204030204" pitchFamily="34" charset="0"/>
              <a:ea typeface="Calibri" panose="020F0502020204030204" pitchFamily="34" charset="0"/>
            </a:endParaRPr>
          </a:p>
          <a:p>
            <a:pPr marL="0" marR="0" algn="just">
              <a:lnSpc>
                <a:spcPct val="150000"/>
              </a:lnSpc>
              <a:spcBef>
                <a:spcPts val="600"/>
              </a:spcBef>
              <a:spcAft>
                <a:spcPts val="0"/>
              </a:spcAft>
            </a:pPr>
            <a:r>
              <a:rPr lang="en-GB" sz="2400" dirty="0">
                <a:effectLst/>
                <a:latin typeface="Arial" panose="020B0604020202020204" pitchFamily="34" charset="0"/>
                <a:ea typeface="Arial" panose="020B0604020202020204" pitchFamily="34" charset="0"/>
              </a:rPr>
              <a:t>&lt;html&gt;</a:t>
            </a:r>
            <a:endParaRPr lang="en-US" sz="2400" dirty="0">
              <a:effectLst/>
              <a:latin typeface="Calibri" panose="020F0502020204030204" pitchFamily="34" charset="0"/>
              <a:ea typeface="Calibri" panose="020F0502020204030204" pitchFamily="34" charset="0"/>
            </a:endParaRPr>
          </a:p>
          <a:p>
            <a:pPr marL="0" marR="0" algn="just">
              <a:lnSpc>
                <a:spcPct val="150000"/>
              </a:lnSpc>
              <a:spcBef>
                <a:spcPts val="600"/>
              </a:spcBef>
              <a:spcAft>
                <a:spcPts val="0"/>
              </a:spcAft>
            </a:pPr>
            <a:r>
              <a:rPr lang="en-GB" sz="2400" dirty="0">
                <a:effectLst/>
                <a:latin typeface="Arial" panose="020B0604020202020204" pitchFamily="34" charset="0"/>
                <a:ea typeface="Arial" panose="020B0604020202020204" pitchFamily="34" charset="0"/>
              </a:rPr>
              <a:t>&lt;body&gt;</a:t>
            </a:r>
            <a:endParaRPr lang="en-US" sz="2400" dirty="0">
              <a:effectLst/>
              <a:latin typeface="Calibri" panose="020F0502020204030204" pitchFamily="34" charset="0"/>
              <a:ea typeface="Calibri" panose="020F0502020204030204" pitchFamily="34" charset="0"/>
            </a:endParaRPr>
          </a:p>
          <a:p>
            <a:pPr marL="0" marR="0" algn="just">
              <a:lnSpc>
                <a:spcPct val="150000"/>
              </a:lnSpc>
              <a:spcBef>
                <a:spcPts val="600"/>
              </a:spcBef>
              <a:spcAft>
                <a:spcPts val="0"/>
              </a:spcAft>
            </a:pPr>
            <a:r>
              <a:rPr lang="en-GB" sz="2400" dirty="0">
                <a:effectLst/>
                <a:latin typeface="Arial" panose="020B0604020202020204" pitchFamily="34" charset="0"/>
                <a:ea typeface="Arial" panose="020B0604020202020204" pitchFamily="34" charset="0"/>
              </a:rPr>
              <a:t>&lt;h1&gt;The script </a:t>
            </a:r>
            <a:r>
              <a:rPr lang="en-GB" sz="2400" dirty="0" err="1">
                <a:effectLst/>
                <a:latin typeface="Arial" panose="020B0604020202020204" pitchFamily="34" charset="0"/>
                <a:ea typeface="Arial" panose="020B0604020202020204" pitchFamily="34" charset="0"/>
              </a:rPr>
              <a:t>src</a:t>
            </a:r>
            <a:r>
              <a:rPr lang="en-GB" sz="2400" dirty="0">
                <a:effectLst/>
                <a:latin typeface="Arial" panose="020B0604020202020204" pitchFamily="34" charset="0"/>
                <a:ea typeface="Arial" panose="020B0604020202020204" pitchFamily="34" charset="0"/>
              </a:rPr>
              <a:t> attribute&lt;/h1&gt;</a:t>
            </a:r>
            <a:endParaRPr lang="en-US" sz="2400" dirty="0">
              <a:effectLst/>
              <a:latin typeface="Calibri" panose="020F0502020204030204" pitchFamily="34" charset="0"/>
              <a:ea typeface="Calibri" panose="020F0502020204030204" pitchFamily="34" charset="0"/>
            </a:endParaRPr>
          </a:p>
          <a:p>
            <a:pPr marL="0" marR="0" algn="just">
              <a:lnSpc>
                <a:spcPct val="150000"/>
              </a:lnSpc>
              <a:spcBef>
                <a:spcPts val="600"/>
              </a:spcBef>
              <a:spcAft>
                <a:spcPts val="0"/>
              </a:spcAft>
            </a:pPr>
            <a:r>
              <a:rPr lang="en-GB" sz="2400" dirty="0">
                <a:effectLst/>
                <a:latin typeface="Arial" panose="020B0604020202020204" pitchFamily="34" charset="0"/>
                <a:ea typeface="Arial" panose="020B0604020202020204" pitchFamily="34" charset="0"/>
              </a:rPr>
              <a:t>&lt;script </a:t>
            </a:r>
            <a:r>
              <a:rPr lang="en-GB" sz="2400" dirty="0" err="1">
                <a:effectLst/>
                <a:latin typeface="Arial" panose="020B0604020202020204" pitchFamily="34" charset="0"/>
                <a:ea typeface="Arial" panose="020B0604020202020204" pitchFamily="34" charset="0"/>
              </a:rPr>
              <a:t>src</a:t>
            </a:r>
            <a:r>
              <a:rPr lang="en-GB" sz="2400" dirty="0">
                <a:effectLst/>
                <a:latin typeface="Arial" panose="020B0604020202020204" pitchFamily="34" charset="0"/>
                <a:ea typeface="Arial" panose="020B0604020202020204" pitchFamily="34" charset="0"/>
              </a:rPr>
              <a:t>="demo_script_src.js"&gt;</a:t>
            </a:r>
            <a:endParaRPr lang="en-US" sz="2400" dirty="0">
              <a:effectLst/>
              <a:latin typeface="Calibri" panose="020F0502020204030204" pitchFamily="34" charset="0"/>
              <a:ea typeface="Calibri" panose="020F0502020204030204" pitchFamily="34" charset="0"/>
            </a:endParaRPr>
          </a:p>
          <a:p>
            <a:pPr marL="0" marR="0" algn="just">
              <a:lnSpc>
                <a:spcPct val="150000"/>
              </a:lnSpc>
              <a:spcBef>
                <a:spcPts val="600"/>
              </a:spcBef>
              <a:spcAft>
                <a:spcPts val="0"/>
              </a:spcAft>
            </a:pPr>
            <a:r>
              <a:rPr lang="en-GB" sz="2400" dirty="0">
                <a:effectLst/>
                <a:latin typeface="Arial" panose="020B0604020202020204" pitchFamily="34" charset="0"/>
                <a:ea typeface="Arial" panose="020B0604020202020204" pitchFamily="34" charset="0"/>
              </a:rPr>
              <a:t>&lt;/script&gt;</a:t>
            </a:r>
            <a:endParaRPr lang="en-US" sz="2400" dirty="0">
              <a:effectLst/>
              <a:latin typeface="Calibri" panose="020F0502020204030204" pitchFamily="34" charset="0"/>
              <a:ea typeface="Calibri" panose="020F0502020204030204" pitchFamily="34" charset="0"/>
            </a:endParaRPr>
          </a:p>
          <a:p>
            <a:pPr marL="0" marR="0" algn="just">
              <a:lnSpc>
                <a:spcPct val="150000"/>
              </a:lnSpc>
              <a:spcBef>
                <a:spcPts val="600"/>
              </a:spcBef>
              <a:spcAft>
                <a:spcPts val="0"/>
              </a:spcAft>
            </a:pPr>
            <a:r>
              <a:rPr lang="en-GB" sz="2400" dirty="0">
                <a:effectLst/>
                <a:latin typeface="Arial" panose="020B0604020202020204" pitchFamily="34" charset="0"/>
                <a:ea typeface="Arial" panose="020B0604020202020204" pitchFamily="34" charset="0"/>
              </a:rPr>
              <a:t>&lt;/body&gt;</a:t>
            </a:r>
            <a:endParaRPr lang="en-US" sz="2400" dirty="0">
              <a:effectLst/>
              <a:latin typeface="Calibri" panose="020F0502020204030204" pitchFamily="34" charset="0"/>
              <a:ea typeface="Calibri" panose="020F0502020204030204" pitchFamily="34" charset="0"/>
            </a:endParaRPr>
          </a:p>
          <a:p>
            <a:pPr marL="0" marR="0" algn="just">
              <a:lnSpc>
                <a:spcPct val="150000"/>
              </a:lnSpc>
              <a:spcBef>
                <a:spcPts val="600"/>
              </a:spcBef>
              <a:spcAft>
                <a:spcPts val="0"/>
              </a:spcAft>
            </a:pPr>
            <a:r>
              <a:rPr lang="en-GB" sz="2400" dirty="0">
                <a:effectLst/>
                <a:latin typeface="Arial" panose="020B0604020202020204" pitchFamily="34" charset="0"/>
                <a:ea typeface="Arial" panose="020B0604020202020204" pitchFamily="34" charset="0"/>
              </a:rPr>
              <a:t>&lt;/html&gt;</a:t>
            </a:r>
            <a:endParaRPr lang="en-US" sz="2400" b="1" dirty="0"/>
          </a:p>
        </p:txBody>
      </p:sp>
    </p:spTree>
    <p:extLst>
      <p:ext uri="{BB962C8B-B14F-4D97-AF65-F5344CB8AC3E}">
        <p14:creationId xmlns:p14="http://schemas.microsoft.com/office/powerpoint/2010/main" val="1883224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CA06A2-64A2-321C-007B-F2AC4673FC25}"/>
              </a:ext>
            </a:extLst>
          </p:cNvPr>
          <p:cNvSpPr>
            <a:spLocks noGrp="1"/>
          </p:cNvSpPr>
          <p:nvPr>
            <p:ph idx="1"/>
          </p:nvPr>
        </p:nvSpPr>
        <p:spPr>
          <a:xfrm>
            <a:off x="620110" y="126125"/>
            <a:ext cx="10752083" cy="6117020"/>
          </a:xfrm>
        </p:spPr>
        <p:txBody>
          <a:bodyPr>
            <a:normAutofit/>
          </a:bodyPr>
          <a:lstStyle/>
          <a:p>
            <a:pPr marL="0" marR="0" algn="just">
              <a:lnSpc>
                <a:spcPct val="150000"/>
              </a:lnSpc>
              <a:spcBef>
                <a:spcPts val="1200"/>
              </a:spcBef>
              <a:spcAft>
                <a:spcPts val="1200"/>
              </a:spcAft>
            </a:pPr>
            <a:r>
              <a:rPr lang="en-GB" sz="2400" b="1" dirty="0">
                <a:effectLst/>
                <a:latin typeface="Arial Unicode MS"/>
                <a:ea typeface="Arial Unicode MS"/>
                <a:cs typeface="Arial Unicode MS"/>
              </a:rPr>
              <a:t>✔ 	Using &lt;script&gt; tags</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0"/>
              </a:spcAft>
            </a:pPr>
            <a:r>
              <a:rPr lang="en-GB" sz="2400" dirty="0">
                <a:effectLst/>
                <a:highlight>
                  <a:srgbClr val="FFFFFF"/>
                </a:highlight>
                <a:latin typeface="Arial" panose="020B0604020202020204" pitchFamily="34" charset="0"/>
                <a:ea typeface="Arial" panose="020B0604020202020204" pitchFamily="34" charset="0"/>
              </a:rPr>
              <a:t>Here is an example to understand this from an initial level:</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400" b="1" dirty="0">
                <a:effectLst/>
                <a:latin typeface="Arial" panose="020B0604020202020204" pitchFamily="34" charset="0"/>
                <a:ea typeface="Arial" panose="020B0604020202020204" pitchFamily="34" charset="0"/>
              </a:rPr>
              <a:t>JavaScript Syntax: Code between the head tag</a:t>
            </a:r>
          </a:p>
          <a:p>
            <a:pPr marL="0" marR="0">
              <a:lnSpc>
                <a:spcPct val="150000"/>
              </a:lnSpc>
              <a:spcBef>
                <a:spcPts val="1200"/>
              </a:spcBef>
              <a:spcAft>
                <a:spcPts val="1200"/>
              </a:spcAft>
            </a:pPr>
            <a:r>
              <a:rPr lang="en-GB" sz="2400" b="1" dirty="0">
                <a:effectLst/>
                <a:latin typeface="Arial" panose="020B0604020202020204" pitchFamily="34" charset="0"/>
                <a:ea typeface="Arial" panose="020B0604020202020204" pitchFamily="34" charset="0"/>
              </a:rPr>
              <a:t>Example1. </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&lt;!DOCTYPE html&gt;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&lt;html&gt;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&lt;head&gt;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7837952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A8ACA6-DC29-8F52-BC61-CDEC3330B7A9}"/>
              </a:ext>
            </a:extLst>
          </p:cNvPr>
          <p:cNvSpPr>
            <a:spLocks noGrp="1"/>
          </p:cNvSpPr>
          <p:nvPr>
            <p:ph idx="1"/>
          </p:nvPr>
        </p:nvSpPr>
        <p:spPr>
          <a:xfrm>
            <a:off x="420414" y="0"/>
            <a:ext cx="11046371" cy="6295698"/>
          </a:xfrm>
        </p:spPr>
        <p:txBody>
          <a:bodyPr>
            <a:normAutofit/>
          </a:bodyPr>
          <a:lstStyle/>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&lt;p id="demo"&gt;&lt;/p&gt;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&lt;script&gt;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err="1">
                <a:effectLst/>
                <a:latin typeface="Arial" panose="020B0604020202020204" pitchFamily="34" charset="0"/>
                <a:ea typeface="Arial" panose="020B0604020202020204" pitchFamily="34" charset="0"/>
              </a:rPr>
              <a:t>document.getElementById</a:t>
            </a:r>
            <a:r>
              <a:rPr lang="en-GB" sz="2400" dirty="0">
                <a:effectLst/>
                <a:latin typeface="Arial" panose="020B0604020202020204" pitchFamily="34" charset="0"/>
                <a:ea typeface="Arial" panose="020B0604020202020204" pitchFamily="34" charset="0"/>
              </a:rPr>
              <a:t>("demo").</a:t>
            </a:r>
            <a:r>
              <a:rPr lang="en-GB" sz="2400" dirty="0" err="1">
                <a:effectLst/>
                <a:latin typeface="Arial" panose="020B0604020202020204" pitchFamily="34" charset="0"/>
                <a:ea typeface="Arial" panose="020B0604020202020204" pitchFamily="34" charset="0"/>
              </a:rPr>
              <a:t>innerHTML</a:t>
            </a:r>
            <a:r>
              <a:rPr lang="en-GB" sz="2400" dirty="0">
                <a:effectLst/>
                <a:latin typeface="Arial" panose="020B0604020202020204" pitchFamily="34" charset="0"/>
                <a:ea typeface="Arial" panose="020B0604020202020204" pitchFamily="34" charset="0"/>
              </a:rPr>
              <a:t> = "Paragraph changed.";</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&lt;/script&gt;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&lt;/head&gt;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&lt;body&gt;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&lt;h2&gt;Demo JavaScript in Head&lt;/h2&gt;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&lt;/body&gt;</a:t>
            </a:r>
            <a:endParaRPr lang="en-US" sz="2400" dirty="0">
              <a:effectLst/>
              <a:latin typeface="Calibri" panose="020F0502020204030204" pitchFamily="34" charset="0"/>
              <a:ea typeface="Calibri" panose="020F0502020204030204" pitchFamily="34" charset="0"/>
            </a:endParaRPr>
          </a:p>
          <a:p>
            <a:pPr marL="0" marR="0">
              <a:lnSpc>
                <a:spcPct val="150000"/>
              </a:lnSpc>
              <a:spcBef>
                <a:spcPts val="0"/>
              </a:spcBef>
              <a:spcAft>
                <a:spcPts val="800"/>
              </a:spcAft>
            </a:pPr>
            <a:r>
              <a:rPr lang="en-GB" sz="2400" dirty="0">
                <a:effectLst/>
                <a:latin typeface="Arial" panose="020B0604020202020204" pitchFamily="34" charset="0"/>
                <a:ea typeface="Arial" panose="020B0604020202020204" pitchFamily="34" charset="0"/>
              </a:rPr>
              <a:t>&lt;/html&gt; </a:t>
            </a: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09512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D4822-92E6-E027-8670-C5B2414F45E9}"/>
              </a:ext>
            </a:extLst>
          </p:cNvPr>
          <p:cNvSpPr>
            <a:spLocks noGrp="1"/>
          </p:cNvSpPr>
          <p:nvPr>
            <p:ph type="title"/>
          </p:nvPr>
        </p:nvSpPr>
        <p:spPr>
          <a:xfrm>
            <a:off x="893379" y="889711"/>
            <a:ext cx="10268607" cy="1061543"/>
          </a:xfrm>
        </p:spPr>
        <p:txBody>
          <a:bodyPr>
            <a:normAutofit fontScale="90000"/>
          </a:bodyPr>
          <a:lstStyle/>
          <a:p>
            <a:br>
              <a:rPr lang="en-GB" sz="4800" b="1" dirty="0">
                <a:effectLst/>
                <a:latin typeface="Arial" panose="020B0604020202020204" pitchFamily="34" charset="0"/>
                <a:ea typeface="Arial" panose="020B0604020202020204" pitchFamily="34" charset="0"/>
              </a:rPr>
            </a:br>
            <a:br>
              <a:rPr lang="en-GB" sz="4800" b="1" dirty="0">
                <a:effectLst/>
                <a:latin typeface="Arial" panose="020B0604020202020204" pitchFamily="34" charset="0"/>
                <a:ea typeface="Arial" panose="020B0604020202020204" pitchFamily="34" charset="0"/>
              </a:rPr>
            </a:br>
            <a:r>
              <a:rPr lang="en-GB" sz="2700" b="1" dirty="0">
                <a:effectLst/>
                <a:latin typeface="Arial" panose="020B0604020202020204" pitchFamily="34" charset="0"/>
                <a:ea typeface="Arial" panose="020B0604020202020204" pitchFamily="34" charset="0"/>
              </a:rPr>
              <a:t>JavaScript Syntax</a:t>
            </a:r>
            <a:r>
              <a:rPr lang="en-GB" sz="2700" dirty="0">
                <a:effectLst/>
                <a:latin typeface="Arial" panose="020B0604020202020204" pitchFamily="34" charset="0"/>
                <a:ea typeface="Arial" panose="020B0604020202020204" pitchFamily="34" charset="0"/>
              </a:rPr>
              <a:t>: </a:t>
            </a:r>
            <a:r>
              <a:rPr lang="en-GB" sz="2700" b="1" dirty="0">
                <a:effectLst/>
                <a:latin typeface="Arial" panose="020B0604020202020204" pitchFamily="34" charset="0"/>
                <a:ea typeface="Arial" panose="020B0604020202020204" pitchFamily="34" charset="0"/>
              </a:rPr>
              <a:t>Code between the Body Tags</a:t>
            </a:r>
            <a:br>
              <a:rPr lang="en-US" sz="4800" dirty="0">
                <a:effectLst/>
                <a:latin typeface="Calibri" panose="020F0502020204030204" pitchFamily="34" charset="0"/>
                <a:ea typeface="Calibri" panose="020F0502020204030204" pitchFamily="34" charset="0"/>
              </a:rPr>
            </a:br>
            <a:endParaRPr lang="en-US" dirty="0"/>
          </a:p>
        </p:txBody>
      </p:sp>
      <p:sp>
        <p:nvSpPr>
          <p:cNvPr id="3" name="Content Placeholder 2">
            <a:extLst>
              <a:ext uri="{FF2B5EF4-FFF2-40B4-BE49-F238E27FC236}">
                <a16:creationId xmlns:a16="http://schemas.microsoft.com/office/drawing/2014/main" id="{A1305B7E-F344-8645-BC84-90467321A7ED}"/>
              </a:ext>
            </a:extLst>
          </p:cNvPr>
          <p:cNvSpPr>
            <a:spLocks noGrp="1"/>
          </p:cNvSpPr>
          <p:nvPr>
            <p:ph idx="1"/>
          </p:nvPr>
        </p:nvSpPr>
        <p:spPr>
          <a:xfrm>
            <a:off x="966158" y="1820174"/>
            <a:ext cx="11005124" cy="4296847"/>
          </a:xfrm>
        </p:spPr>
        <p:txBody>
          <a:bodyPr/>
          <a:lstStyle/>
          <a:p>
            <a:pPr marL="0" marR="0">
              <a:spcAft>
                <a:spcPts val="800"/>
              </a:spcAft>
            </a:pPr>
            <a:r>
              <a:rPr lang="en-GB" sz="2400" dirty="0">
                <a:effectLst/>
                <a:latin typeface="Arial" panose="020B0604020202020204" pitchFamily="34" charset="0"/>
                <a:ea typeface="Arial" panose="020B0604020202020204" pitchFamily="34" charset="0"/>
              </a:rPr>
              <a:t>&lt;html&gt;  </a:t>
            </a:r>
            <a:endParaRPr lang="en-US" sz="2400" dirty="0">
              <a:effectLst/>
              <a:latin typeface="Calibri" panose="020F0502020204030204" pitchFamily="34" charset="0"/>
              <a:ea typeface="Calibri" panose="020F0502020204030204" pitchFamily="34" charset="0"/>
            </a:endParaRPr>
          </a:p>
          <a:p>
            <a:pPr marL="0" marR="0">
              <a:spcAft>
                <a:spcPts val="800"/>
              </a:spcAft>
            </a:pPr>
            <a:r>
              <a:rPr lang="en-GB" sz="2400" dirty="0">
                <a:effectLst/>
                <a:latin typeface="Arial" panose="020B0604020202020204" pitchFamily="34" charset="0"/>
                <a:ea typeface="Arial" panose="020B0604020202020204" pitchFamily="34" charset="0"/>
              </a:rPr>
              <a:t>&lt;body&gt;  </a:t>
            </a:r>
            <a:endParaRPr lang="en-US" sz="2400" dirty="0">
              <a:effectLst/>
              <a:latin typeface="Calibri" panose="020F0502020204030204" pitchFamily="34" charset="0"/>
              <a:ea typeface="Calibri" panose="020F0502020204030204" pitchFamily="34" charset="0"/>
            </a:endParaRPr>
          </a:p>
          <a:p>
            <a:pPr marL="0" marR="0">
              <a:spcAft>
                <a:spcPts val="800"/>
              </a:spcAft>
            </a:pPr>
            <a:r>
              <a:rPr lang="en-GB" sz="2400" dirty="0">
                <a:effectLst/>
                <a:latin typeface="Arial" panose="020B0604020202020204" pitchFamily="34" charset="0"/>
                <a:ea typeface="Arial" panose="020B0604020202020204" pitchFamily="34" charset="0"/>
              </a:rPr>
              <a:t>&lt;script type="text/</a:t>
            </a:r>
            <a:r>
              <a:rPr lang="en-GB" sz="2400" dirty="0" err="1">
                <a:effectLst/>
                <a:latin typeface="Arial" panose="020B0604020202020204" pitchFamily="34" charset="0"/>
                <a:ea typeface="Arial" panose="020B0604020202020204" pitchFamily="34" charset="0"/>
              </a:rPr>
              <a:t>javascript</a:t>
            </a:r>
            <a:r>
              <a:rPr lang="en-GB" sz="2400" dirty="0">
                <a:effectLst/>
                <a:latin typeface="Arial" panose="020B0604020202020204" pitchFamily="34" charset="0"/>
                <a:ea typeface="Arial" panose="020B0604020202020204" pitchFamily="34" charset="0"/>
              </a:rPr>
              <a:t>"&gt;  </a:t>
            </a:r>
            <a:endParaRPr lang="en-US" sz="2400" dirty="0">
              <a:effectLst/>
              <a:latin typeface="Calibri" panose="020F0502020204030204" pitchFamily="34" charset="0"/>
              <a:ea typeface="Calibri" panose="020F0502020204030204" pitchFamily="34" charset="0"/>
            </a:endParaRPr>
          </a:p>
          <a:p>
            <a:pPr marL="0" marR="0">
              <a:spcAft>
                <a:spcPts val="800"/>
              </a:spcAft>
            </a:pPr>
            <a:r>
              <a:rPr lang="en-GB" sz="2400" dirty="0" err="1">
                <a:effectLst/>
                <a:latin typeface="Arial" panose="020B0604020202020204" pitchFamily="34" charset="0"/>
                <a:ea typeface="Arial" panose="020B0604020202020204" pitchFamily="34" charset="0"/>
              </a:rPr>
              <a:t>document.write</a:t>
            </a:r>
            <a:r>
              <a:rPr lang="en-GB" sz="2400" dirty="0">
                <a:effectLst/>
                <a:latin typeface="Arial" panose="020B0604020202020204" pitchFamily="34" charset="0"/>
                <a:ea typeface="Arial" panose="020B0604020202020204" pitchFamily="34" charset="0"/>
              </a:rPr>
              <a:t>("JavaScript is a simple language for </a:t>
            </a:r>
            <a:r>
              <a:rPr lang="en-GB" sz="2400" dirty="0" err="1">
                <a:effectLst/>
                <a:latin typeface="Arial" panose="020B0604020202020204" pitchFamily="34" charset="0"/>
                <a:ea typeface="Arial" panose="020B0604020202020204" pitchFamily="34" charset="0"/>
              </a:rPr>
              <a:t>javatpoint</a:t>
            </a:r>
            <a:r>
              <a:rPr lang="en-GB" sz="2400" dirty="0">
                <a:effectLst/>
                <a:latin typeface="Arial" panose="020B0604020202020204" pitchFamily="34" charset="0"/>
                <a:ea typeface="Arial" panose="020B0604020202020204" pitchFamily="34" charset="0"/>
              </a:rPr>
              <a:t> learners");  </a:t>
            </a:r>
            <a:endParaRPr lang="en-US" sz="2400" dirty="0">
              <a:effectLst/>
              <a:latin typeface="Calibri" panose="020F0502020204030204" pitchFamily="34" charset="0"/>
              <a:ea typeface="Calibri" panose="020F0502020204030204" pitchFamily="34" charset="0"/>
            </a:endParaRPr>
          </a:p>
          <a:p>
            <a:pPr marL="0" marR="0">
              <a:spcAft>
                <a:spcPts val="800"/>
              </a:spcAft>
            </a:pPr>
            <a:r>
              <a:rPr lang="en-GB" sz="2400" dirty="0">
                <a:effectLst/>
                <a:latin typeface="Arial" panose="020B0604020202020204" pitchFamily="34" charset="0"/>
                <a:ea typeface="Arial" panose="020B0604020202020204" pitchFamily="34" charset="0"/>
              </a:rPr>
              <a:t>&lt;/script&gt;  </a:t>
            </a:r>
            <a:endParaRPr lang="en-US" sz="2400" dirty="0">
              <a:effectLst/>
              <a:latin typeface="Calibri" panose="020F0502020204030204" pitchFamily="34" charset="0"/>
              <a:ea typeface="Calibri" panose="020F0502020204030204" pitchFamily="34" charset="0"/>
            </a:endParaRPr>
          </a:p>
          <a:p>
            <a:pPr marL="0" marR="0">
              <a:spcAft>
                <a:spcPts val="800"/>
              </a:spcAft>
            </a:pPr>
            <a:r>
              <a:rPr lang="en-GB" sz="2400" dirty="0">
                <a:effectLst/>
                <a:latin typeface="Arial" panose="020B0604020202020204" pitchFamily="34" charset="0"/>
                <a:ea typeface="Arial" panose="020B0604020202020204" pitchFamily="34" charset="0"/>
              </a:rPr>
              <a:t>&lt;/body&gt;  </a:t>
            </a:r>
            <a:endParaRPr lang="en-US" sz="2400" dirty="0">
              <a:effectLst/>
              <a:latin typeface="Calibri" panose="020F0502020204030204" pitchFamily="34" charset="0"/>
              <a:ea typeface="Calibri" panose="020F0502020204030204" pitchFamily="34" charset="0"/>
            </a:endParaRPr>
          </a:p>
          <a:p>
            <a:pPr marL="0" marR="0">
              <a:spcAft>
                <a:spcPts val="800"/>
              </a:spcAft>
            </a:pPr>
            <a:r>
              <a:rPr lang="en-GB" sz="2400" dirty="0">
                <a:effectLst/>
                <a:latin typeface="Arial" panose="020B0604020202020204" pitchFamily="34" charset="0"/>
                <a:ea typeface="Arial" panose="020B0604020202020204" pitchFamily="34" charset="0"/>
              </a:rPr>
              <a:t>&lt;/html&gt;</a:t>
            </a: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3079557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CC4126-5EE6-2108-F811-B828E00E573E}"/>
              </a:ext>
            </a:extLst>
          </p:cNvPr>
          <p:cNvSpPr>
            <a:spLocks noGrp="1"/>
          </p:cNvSpPr>
          <p:nvPr>
            <p:ph idx="1"/>
          </p:nvPr>
        </p:nvSpPr>
        <p:spPr>
          <a:xfrm>
            <a:off x="250166" y="776377"/>
            <a:ext cx="11386869" cy="5365631"/>
          </a:xfrm>
        </p:spPr>
        <p:txBody>
          <a:bodyPr>
            <a:normAutofit fontScale="92500" lnSpcReduction="20000"/>
          </a:bodyPr>
          <a:lstStyle/>
          <a:p>
            <a:pPr marL="0" marR="0">
              <a:spcBef>
                <a:spcPts val="1200"/>
              </a:spcBef>
              <a:spcAft>
                <a:spcPts val="1200"/>
              </a:spcAft>
            </a:pPr>
            <a:r>
              <a:rPr lang="en-GB" sz="1800" b="1" dirty="0">
                <a:solidFill>
                  <a:srgbClr val="000000"/>
                </a:solidFill>
                <a:effectLst/>
                <a:latin typeface="Arial" panose="020B0604020202020204" pitchFamily="34" charset="0"/>
                <a:ea typeface="Arial" panose="020B0604020202020204" pitchFamily="34" charset="0"/>
              </a:rPr>
              <a:t>Example2. </a:t>
            </a:r>
            <a:endParaRPr lang="en-US" sz="18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&lt;!DOCTYPE html &gt;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&lt;html&gt;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&lt;head&gt;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&lt;title&gt; page title&lt;/title&gt;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&lt;script&gt;  </a:t>
            </a:r>
            <a:endParaRPr lang="en-US" sz="2200" dirty="0">
              <a:effectLst/>
              <a:latin typeface="Calibri" panose="020F0502020204030204" pitchFamily="34" charset="0"/>
              <a:ea typeface="Calibri" panose="020F0502020204030204" pitchFamily="34" charset="0"/>
            </a:endParaRPr>
          </a:p>
          <a:p>
            <a:pPr marL="0" marR="0"/>
            <a:r>
              <a:rPr lang="en-GB" sz="2200" dirty="0" err="1">
                <a:solidFill>
                  <a:srgbClr val="000000"/>
                </a:solidFill>
                <a:effectLst/>
                <a:latin typeface="Arial" panose="020B0604020202020204" pitchFamily="34" charset="0"/>
                <a:ea typeface="Arial" panose="020B0604020202020204" pitchFamily="34" charset="0"/>
              </a:rPr>
              <a:t>document.write</a:t>
            </a:r>
            <a:r>
              <a:rPr lang="en-GB" sz="2200" dirty="0">
                <a:solidFill>
                  <a:srgbClr val="000000"/>
                </a:solidFill>
                <a:effectLst/>
                <a:latin typeface="Arial" panose="020B0604020202020204" pitchFamily="34" charset="0"/>
                <a:ea typeface="Arial" panose="020B0604020202020204" pitchFamily="34" charset="0"/>
              </a:rPr>
              <a:t>("Welcome to </a:t>
            </a:r>
            <a:r>
              <a:rPr lang="en-GB" sz="2200" dirty="0" err="1">
                <a:solidFill>
                  <a:srgbClr val="000000"/>
                </a:solidFill>
                <a:effectLst/>
                <a:latin typeface="Arial" panose="020B0604020202020204" pitchFamily="34" charset="0"/>
                <a:ea typeface="Arial" panose="020B0604020202020204" pitchFamily="34" charset="0"/>
              </a:rPr>
              <a:t>Javatpoint</a:t>
            </a:r>
            <a:r>
              <a:rPr lang="en-GB" sz="2200" dirty="0">
                <a:solidFill>
                  <a:srgbClr val="000000"/>
                </a:solidFill>
                <a:effectLst/>
                <a:latin typeface="Arial" panose="020B0604020202020204" pitchFamily="34" charset="0"/>
                <a:ea typeface="Arial" panose="020B0604020202020204" pitchFamily="34" charset="0"/>
              </a:rPr>
              <a: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&lt;/script&gt;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&lt;/head&gt;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&lt;body&gt;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&lt;p&gt;In this example we saw how to add JavaScript in the head section &lt;/p&gt;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&lt;/body&gt;  </a:t>
            </a:r>
            <a:endParaRPr lang="en-US" sz="2200" dirty="0">
              <a:effectLst/>
              <a:latin typeface="Calibri" panose="020F0502020204030204" pitchFamily="34" charset="0"/>
              <a:ea typeface="Calibri" panose="020F0502020204030204" pitchFamily="34" charset="0"/>
            </a:endParaRPr>
          </a:p>
          <a:p>
            <a:pPr marL="0" marR="0"/>
            <a:r>
              <a:rPr lang="en-GB" sz="2200" dirty="0">
                <a:solidFill>
                  <a:srgbClr val="000000"/>
                </a:solidFill>
                <a:effectLst/>
                <a:latin typeface="Arial" panose="020B0604020202020204" pitchFamily="34" charset="0"/>
                <a:ea typeface="Arial" panose="020B0604020202020204" pitchFamily="34" charset="0"/>
              </a:rPr>
              <a:t>&lt;/html&gt;</a:t>
            </a:r>
            <a:endParaRPr lang="en-US" sz="22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3266273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4284B9-AF7A-3444-C593-247A277C9968}"/>
              </a:ext>
            </a:extLst>
          </p:cNvPr>
          <p:cNvSpPr>
            <a:spLocks noGrp="1"/>
          </p:cNvSpPr>
          <p:nvPr>
            <p:ph idx="1"/>
          </p:nvPr>
        </p:nvSpPr>
        <p:spPr>
          <a:xfrm>
            <a:off x="207033" y="750498"/>
            <a:ext cx="11576649" cy="5331125"/>
          </a:xfrm>
        </p:spPr>
        <p:txBody>
          <a:bodyPr>
            <a:normAutofit/>
          </a:bodyPr>
          <a:lstStyle/>
          <a:p>
            <a:pPr marL="0" marR="0"/>
            <a:r>
              <a:rPr lang="en-GB" sz="2400" b="1" dirty="0">
                <a:solidFill>
                  <a:srgbClr val="000000"/>
                </a:solidFill>
                <a:effectLst/>
                <a:latin typeface="Arial" panose="020B0604020202020204" pitchFamily="34" charset="0"/>
                <a:ea typeface="Arial" panose="020B0604020202020204" pitchFamily="34" charset="0"/>
              </a:rPr>
              <a:t>JavaScript Syntax: Code between the Body Tags</a:t>
            </a:r>
            <a:endParaRPr lang="en-US" sz="2400" dirty="0">
              <a:effectLst/>
              <a:latin typeface="Calibri" panose="020F0502020204030204" pitchFamily="34" charset="0"/>
              <a:ea typeface="Calibri" panose="020F0502020204030204" pitchFamily="34" charset="0"/>
            </a:endParaRPr>
          </a:p>
          <a:p>
            <a:pPr marL="0" marR="0">
              <a:spcBef>
                <a:spcPts val="300"/>
              </a:spcBef>
            </a:pPr>
            <a:endParaRPr lang="en-GB" sz="2400" b="1" dirty="0">
              <a:solidFill>
                <a:srgbClr val="000000"/>
              </a:solidFill>
              <a:effectLst/>
              <a:latin typeface="Arial" panose="020B0604020202020204" pitchFamily="34" charset="0"/>
              <a:ea typeface="Arial" panose="020B0604020202020204" pitchFamily="34" charset="0"/>
            </a:endParaRPr>
          </a:p>
          <a:p>
            <a:pPr marL="0" marR="0">
              <a:spcBef>
                <a:spcPts val="300"/>
              </a:spcBef>
            </a:pPr>
            <a:endParaRPr lang="en-GB" sz="2400" b="1" dirty="0">
              <a:solidFill>
                <a:srgbClr val="000000"/>
              </a:solidFill>
              <a:latin typeface="Arial" panose="020B0604020202020204" pitchFamily="34" charset="0"/>
              <a:ea typeface="Arial" panose="020B0604020202020204" pitchFamily="34" charset="0"/>
            </a:endParaRPr>
          </a:p>
          <a:p>
            <a:pPr marL="0" marR="0">
              <a:spcBef>
                <a:spcPts val="300"/>
              </a:spcBef>
            </a:pPr>
            <a:r>
              <a:rPr lang="en-GB" sz="2400" b="1" dirty="0">
                <a:solidFill>
                  <a:srgbClr val="000000"/>
                </a:solidFill>
                <a:effectLst/>
                <a:latin typeface="Arial" panose="020B0604020202020204" pitchFamily="34" charset="0"/>
                <a:ea typeface="Arial" panose="020B0604020202020204" pitchFamily="34" charset="0"/>
              </a:rPr>
              <a:t>Example1</a:t>
            </a:r>
            <a:r>
              <a:rPr lang="en-GB" sz="2400" dirty="0">
                <a:solidFill>
                  <a:srgbClr val="000000"/>
                </a:solidFill>
                <a:effectLst/>
                <a:latin typeface="Arial" panose="020B0604020202020204" pitchFamily="34" charset="0"/>
                <a:ea typeface="Arial" panose="020B0604020202020204" pitchFamily="34" charset="0"/>
              </a:rPr>
              <a:t>. </a:t>
            </a:r>
            <a:endParaRPr lang="en-US" sz="2400" dirty="0">
              <a:effectLst/>
              <a:latin typeface="Calibri" panose="020F0502020204030204" pitchFamily="34" charset="0"/>
              <a:ea typeface="Calibri" panose="020F0502020204030204" pitchFamily="34" charset="0"/>
            </a:endParaRPr>
          </a:p>
          <a:p>
            <a:pPr marL="0" marR="0"/>
            <a:r>
              <a:rPr lang="en-GB" sz="2400" dirty="0">
                <a:solidFill>
                  <a:srgbClr val="000000"/>
                </a:solidFill>
                <a:effectLst/>
                <a:latin typeface="Arial" panose="020B0604020202020204" pitchFamily="34" charset="0"/>
                <a:ea typeface="Arial" panose="020B0604020202020204" pitchFamily="34" charset="0"/>
              </a:rPr>
              <a:t>&lt;html&gt;  </a:t>
            </a:r>
            <a:endParaRPr lang="en-US" sz="2400" dirty="0">
              <a:effectLst/>
              <a:latin typeface="Calibri" panose="020F0502020204030204" pitchFamily="34" charset="0"/>
              <a:ea typeface="Calibri" panose="020F0502020204030204" pitchFamily="34" charset="0"/>
            </a:endParaRPr>
          </a:p>
          <a:p>
            <a:pPr marL="0" marR="0"/>
            <a:r>
              <a:rPr lang="en-GB" sz="2400" dirty="0">
                <a:solidFill>
                  <a:srgbClr val="000000"/>
                </a:solidFill>
                <a:effectLst/>
                <a:latin typeface="Arial" panose="020B0604020202020204" pitchFamily="34" charset="0"/>
                <a:ea typeface="Arial" panose="020B0604020202020204" pitchFamily="34" charset="0"/>
              </a:rPr>
              <a:t>&lt;body&gt;  </a:t>
            </a:r>
            <a:endParaRPr lang="en-US" sz="2400" dirty="0">
              <a:effectLst/>
              <a:latin typeface="Calibri" panose="020F0502020204030204" pitchFamily="34" charset="0"/>
              <a:ea typeface="Calibri" panose="020F0502020204030204" pitchFamily="34" charset="0"/>
            </a:endParaRPr>
          </a:p>
          <a:p>
            <a:pPr marL="0" marR="0"/>
            <a:r>
              <a:rPr lang="en-GB" sz="2400" dirty="0">
                <a:solidFill>
                  <a:srgbClr val="000000"/>
                </a:solidFill>
                <a:effectLst/>
                <a:latin typeface="Arial" panose="020B0604020202020204" pitchFamily="34" charset="0"/>
                <a:ea typeface="Arial" panose="020B0604020202020204" pitchFamily="34" charset="0"/>
              </a:rPr>
              <a:t>&lt;script type="text/</a:t>
            </a:r>
            <a:r>
              <a:rPr lang="en-GB" sz="2400" dirty="0" err="1">
                <a:solidFill>
                  <a:srgbClr val="000000"/>
                </a:solidFill>
                <a:effectLst/>
                <a:latin typeface="Arial" panose="020B0604020202020204" pitchFamily="34" charset="0"/>
                <a:ea typeface="Arial" panose="020B0604020202020204" pitchFamily="34" charset="0"/>
              </a:rPr>
              <a:t>javascript</a:t>
            </a:r>
            <a:r>
              <a:rPr lang="en-GB" sz="2400" dirty="0">
                <a:solidFill>
                  <a:srgbClr val="000000"/>
                </a:solidFill>
                <a:effectLst/>
                <a:latin typeface="Arial" panose="020B0604020202020204" pitchFamily="34" charset="0"/>
                <a:ea typeface="Arial" panose="020B0604020202020204" pitchFamily="34" charset="0"/>
              </a:rPr>
              <a:t>"&gt;  </a:t>
            </a:r>
            <a:endParaRPr lang="en-US" sz="2400" dirty="0">
              <a:effectLst/>
              <a:latin typeface="Calibri" panose="020F0502020204030204" pitchFamily="34" charset="0"/>
              <a:ea typeface="Calibri" panose="020F0502020204030204" pitchFamily="34" charset="0"/>
            </a:endParaRPr>
          </a:p>
          <a:p>
            <a:pPr marL="0" marR="0"/>
            <a:r>
              <a:rPr lang="en-GB" sz="2400" dirty="0" err="1">
                <a:solidFill>
                  <a:srgbClr val="000000"/>
                </a:solidFill>
                <a:effectLst/>
                <a:latin typeface="Arial" panose="020B0604020202020204" pitchFamily="34" charset="0"/>
                <a:ea typeface="Arial" panose="020B0604020202020204" pitchFamily="34" charset="0"/>
              </a:rPr>
              <a:t>document.write</a:t>
            </a:r>
            <a:r>
              <a:rPr lang="en-GB" sz="2400" dirty="0">
                <a:solidFill>
                  <a:srgbClr val="000000"/>
                </a:solidFill>
                <a:effectLst/>
                <a:latin typeface="Arial" panose="020B0604020202020204" pitchFamily="34" charset="0"/>
                <a:ea typeface="Arial" panose="020B0604020202020204" pitchFamily="34" charset="0"/>
              </a:rPr>
              <a:t>("JavaScript is a simple language for </a:t>
            </a:r>
            <a:r>
              <a:rPr lang="en-GB" sz="2400" dirty="0" err="1">
                <a:solidFill>
                  <a:srgbClr val="000000"/>
                </a:solidFill>
                <a:effectLst/>
                <a:latin typeface="Arial" panose="020B0604020202020204" pitchFamily="34" charset="0"/>
                <a:ea typeface="Arial" panose="020B0604020202020204" pitchFamily="34" charset="0"/>
              </a:rPr>
              <a:t>javatpoint</a:t>
            </a:r>
            <a:r>
              <a:rPr lang="en-GB" sz="2400" dirty="0">
                <a:solidFill>
                  <a:srgbClr val="000000"/>
                </a:solidFill>
                <a:effectLst/>
                <a:latin typeface="Arial" panose="020B0604020202020204" pitchFamily="34" charset="0"/>
                <a:ea typeface="Arial" panose="020B0604020202020204" pitchFamily="34" charset="0"/>
              </a:rPr>
              <a:t> learners");  </a:t>
            </a:r>
            <a:endParaRPr lang="en-US" sz="2400" dirty="0">
              <a:effectLst/>
              <a:latin typeface="Calibri" panose="020F0502020204030204" pitchFamily="34" charset="0"/>
              <a:ea typeface="Calibri" panose="020F0502020204030204" pitchFamily="34" charset="0"/>
            </a:endParaRPr>
          </a:p>
          <a:p>
            <a:pPr marL="0" marR="0"/>
            <a:r>
              <a:rPr lang="en-GB" sz="2400" dirty="0">
                <a:solidFill>
                  <a:srgbClr val="000000"/>
                </a:solidFill>
                <a:effectLst/>
                <a:latin typeface="Arial" panose="020B0604020202020204" pitchFamily="34" charset="0"/>
                <a:ea typeface="Arial" panose="020B0604020202020204" pitchFamily="34" charset="0"/>
              </a:rPr>
              <a:t>&lt;/script&gt;  </a:t>
            </a:r>
            <a:endParaRPr lang="en-US" sz="2400" dirty="0">
              <a:effectLst/>
              <a:latin typeface="Calibri" panose="020F0502020204030204" pitchFamily="34" charset="0"/>
              <a:ea typeface="Calibri" panose="020F0502020204030204" pitchFamily="34" charset="0"/>
            </a:endParaRPr>
          </a:p>
          <a:p>
            <a:pPr marL="0" marR="0"/>
            <a:r>
              <a:rPr lang="en-GB" sz="2400" dirty="0">
                <a:solidFill>
                  <a:srgbClr val="000000"/>
                </a:solidFill>
                <a:effectLst/>
                <a:latin typeface="Arial" panose="020B0604020202020204" pitchFamily="34" charset="0"/>
                <a:ea typeface="Arial" panose="020B0604020202020204" pitchFamily="34" charset="0"/>
              </a:rPr>
              <a:t>&lt;/body&gt;  </a:t>
            </a:r>
            <a:endParaRPr lang="en-US" sz="2400" dirty="0">
              <a:effectLst/>
              <a:latin typeface="Calibri" panose="020F0502020204030204" pitchFamily="34" charset="0"/>
              <a:ea typeface="Calibri" panose="020F0502020204030204" pitchFamily="34" charset="0"/>
            </a:endParaRPr>
          </a:p>
          <a:p>
            <a:pPr marL="0" marR="0"/>
            <a:r>
              <a:rPr lang="en-GB" sz="2400" dirty="0">
                <a:solidFill>
                  <a:srgbClr val="000000"/>
                </a:solidFill>
                <a:effectLst/>
                <a:latin typeface="Arial" panose="020B0604020202020204" pitchFamily="34" charset="0"/>
                <a:ea typeface="Arial" panose="020B0604020202020204" pitchFamily="34" charset="0"/>
              </a:rPr>
              <a:t>&lt;/html&gt;  </a:t>
            </a: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214968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904459-BC80-8BCD-C80B-8CD65712BD88}"/>
              </a:ext>
            </a:extLst>
          </p:cNvPr>
          <p:cNvSpPr>
            <a:spLocks noGrp="1"/>
          </p:cNvSpPr>
          <p:nvPr>
            <p:ph idx="1"/>
          </p:nvPr>
        </p:nvSpPr>
        <p:spPr>
          <a:xfrm>
            <a:off x="508957" y="879893"/>
            <a:ext cx="10946921" cy="5287993"/>
          </a:xfrm>
        </p:spPr>
        <p:txBody>
          <a:bodyPr>
            <a:normAutofit lnSpcReduction="10000"/>
          </a:bodyPr>
          <a:lstStyle/>
          <a:p>
            <a:pPr marL="0" marR="0">
              <a:spcBef>
                <a:spcPts val="300"/>
              </a:spcBef>
            </a:pPr>
            <a:r>
              <a:rPr lang="en-GB" sz="1800" b="1" dirty="0">
                <a:solidFill>
                  <a:srgbClr val="000000"/>
                </a:solidFill>
                <a:effectLst/>
                <a:latin typeface="Arial" panose="020B0604020202020204" pitchFamily="34" charset="0"/>
                <a:ea typeface="Arial" panose="020B0604020202020204" pitchFamily="34" charset="0"/>
              </a:rPr>
              <a:t>Example2.</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&lt;!DOCTYPE html &gt;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&lt;html&gt;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&lt;head&gt;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&lt;title&gt; page title&lt;/title&gt;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&lt;/head&gt;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&lt;body&gt;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0" marR="0"/>
            <a:r>
              <a:rPr lang="en-GB" sz="1800" dirty="0" err="1">
                <a:solidFill>
                  <a:srgbClr val="000000"/>
                </a:solidFill>
                <a:effectLst/>
                <a:latin typeface="Arial" panose="020B0604020202020204" pitchFamily="34" charset="0"/>
                <a:ea typeface="Arial" panose="020B0604020202020204" pitchFamily="34" charset="0"/>
              </a:rPr>
              <a:t>document.write</a:t>
            </a:r>
            <a:r>
              <a:rPr lang="en-GB" sz="1800" dirty="0">
                <a:solidFill>
                  <a:srgbClr val="000000"/>
                </a:solidFill>
                <a:effectLst/>
                <a:latin typeface="Arial" panose="020B0604020202020204" pitchFamily="34" charset="0"/>
                <a:ea typeface="Arial" panose="020B0604020202020204" pitchFamily="34" charset="0"/>
              </a:rPr>
              <a:t>("Welcome to </a:t>
            </a:r>
            <a:r>
              <a:rPr lang="en-GB" sz="1800" dirty="0" err="1">
                <a:solidFill>
                  <a:srgbClr val="000000"/>
                </a:solidFill>
                <a:effectLst/>
                <a:latin typeface="Arial" panose="020B0604020202020204" pitchFamily="34" charset="0"/>
                <a:ea typeface="Arial" panose="020B0604020202020204" pitchFamily="34" charset="0"/>
              </a:rPr>
              <a:t>Javatpoint</a:t>
            </a:r>
            <a:r>
              <a:rPr lang="en-GB" sz="1800" dirty="0">
                <a:solidFill>
                  <a:srgbClr val="000000"/>
                </a:solidFill>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&lt;p&gt; In this example we saw how to add  JavaScript in the body section &lt;/p&gt;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&lt;/body&gt;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&lt;/html&gt;</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5105167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A3DB1B-9DC0-FA4C-1310-78FF66B2C02F}"/>
              </a:ext>
            </a:extLst>
          </p:cNvPr>
          <p:cNvSpPr>
            <a:spLocks noGrp="1"/>
          </p:cNvSpPr>
          <p:nvPr>
            <p:ph idx="1"/>
          </p:nvPr>
        </p:nvSpPr>
        <p:spPr>
          <a:xfrm>
            <a:off x="508958" y="828136"/>
            <a:ext cx="10646722" cy="5040958"/>
          </a:xfrm>
        </p:spPr>
        <p:txBody>
          <a:bodyPr/>
          <a:lstStyle/>
          <a:p>
            <a:pPr marL="0" marR="0">
              <a:spcBef>
                <a:spcPts val="1200"/>
              </a:spcBef>
              <a:spcAft>
                <a:spcPts val="1200"/>
              </a:spcAft>
            </a:pPr>
            <a:r>
              <a:rPr lang="en-GB" sz="2400" b="1" dirty="0">
                <a:effectLst/>
                <a:latin typeface="Arial Unicode MS"/>
                <a:ea typeface="Arial Unicode MS"/>
                <a:cs typeface="Arial Unicode MS"/>
              </a:rPr>
              <a:t>✔Using external JavaScript</a:t>
            </a:r>
            <a:endParaRPr lang="en-US" sz="2400" dirty="0">
              <a:effectLst/>
              <a:latin typeface="Calibri" panose="020F0502020204030204" pitchFamily="34" charset="0"/>
              <a:ea typeface="Calibri" panose="020F0502020204030204" pitchFamily="34" charset="0"/>
            </a:endParaRPr>
          </a:p>
          <a:p>
            <a:pPr marL="0" marR="0">
              <a:spcBef>
                <a:spcPts val="1200"/>
              </a:spcBef>
            </a:pPr>
            <a:r>
              <a:rPr lang="en-GB" sz="2400" dirty="0">
                <a:solidFill>
                  <a:srgbClr val="000000"/>
                </a:solidFill>
                <a:effectLst/>
                <a:latin typeface="Arial" panose="020B0604020202020204" pitchFamily="34" charset="0"/>
                <a:ea typeface="Arial" panose="020B0604020202020204" pitchFamily="34" charset="0"/>
              </a:rPr>
              <a:t> </a:t>
            </a:r>
            <a:r>
              <a:rPr lang="en-GB" sz="2400" dirty="0">
                <a:solidFill>
                  <a:srgbClr val="000000"/>
                </a:solidFill>
                <a:effectLst/>
                <a:highlight>
                  <a:srgbClr val="FFFFFF"/>
                </a:highlight>
                <a:latin typeface="Arial" panose="020B0604020202020204" pitchFamily="34" charset="0"/>
                <a:ea typeface="Arial" panose="020B0604020202020204" pitchFamily="34" charset="0"/>
              </a:rPr>
              <a:t>Here is a simple example:</a:t>
            </a:r>
            <a:endParaRPr lang="en-US" sz="24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400" dirty="0">
                <a:solidFill>
                  <a:srgbClr val="000000"/>
                </a:solidFill>
                <a:effectLst/>
                <a:latin typeface="Arial" panose="020B0604020202020204" pitchFamily="34" charset="0"/>
                <a:ea typeface="Arial" panose="020B0604020202020204" pitchFamily="34" charset="0"/>
              </a:rPr>
              <a:t>Let's include the JavaScript file into the html page. It calls the </a:t>
            </a:r>
            <a:r>
              <a:rPr lang="en-GB" sz="2400" u="none" strike="noStrike" dirty="0">
                <a:solidFill>
                  <a:srgbClr val="000000"/>
                </a:solidFill>
                <a:effectLst/>
                <a:latin typeface="Arial" panose="020B0604020202020204" pitchFamily="34" charset="0"/>
                <a:ea typeface="Arial" panose="020B0604020202020204" pitchFamily="34" charset="0"/>
                <a:hlinkClick r:id="rId2"/>
              </a:rPr>
              <a:t>JavaScript function</a:t>
            </a:r>
            <a:r>
              <a:rPr lang="en-GB" sz="2400" dirty="0">
                <a:solidFill>
                  <a:srgbClr val="000000"/>
                </a:solidFill>
                <a:effectLst/>
                <a:latin typeface="Arial" panose="020B0604020202020204" pitchFamily="34" charset="0"/>
                <a:ea typeface="Arial" panose="020B0604020202020204" pitchFamily="34" charset="0"/>
              </a:rPr>
              <a:t> on button click.</a:t>
            </a: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13804617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89D110-4A82-6C91-AC0F-AAE683FBCAE4}"/>
              </a:ext>
            </a:extLst>
          </p:cNvPr>
          <p:cNvSpPr>
            <a:spLocks noGrp="1"/>
          </p:cNvSpPr>
          <p:nvPr>
            <p:ph idx="1"/>
          </p:nvPr>
        </p:nvSpPr>
        <p:spPr>
          <a:xfrm>
            <a:off x="405442" y="802257"/>
            <a:ext cx="10750238" cy="5460520"/>
          </a:xfrm>
        </p:spPr>
        <p:txBody>
          <a:bodyPr>
            <a:normAutofit/>
          </a:bodyPr>
          <a:lstStyle/>
          <a:p>
            <a:pPr marL="0" marR="0" algn="just">
              <a:spcBef>
                <a:spcPts val="1200"/>
              </a:spcBef>
              <a:spcAft>
                <a:spcPts val="1200"/>
              </a:spcAft>
            </a:pPr>
            <a:r>
              <a:rPr lang="en-GB" sz="1800" b="1" dirty="0">
                <a:solidFill>
                  <a:srgbClr val="000000"/>
                </a:solidFill>
                <a:effectLst/>
                <a:latin typeface="Arial" panose="020B0604020202020204" pitchFamily="34" charset="0"/>
                <a:ea typeface="Arial" panose="020B0604020202020204" pitchFamily="34" charset="0"/>
              </a:rPr>
              <a:t>index.html</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&lt;html&gt;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&lt;head&gt;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&lt;script type="text/</a:t>
            </a:r>
            <a:r>
              <a:rPr lang="en-GB" sz="1800" dirty="0" err="1">
                <a:solidFill>
                  <a:srgbClr val="000000"/>
                </a:solidFill>
                <a:effectLst/>
                <a:latin typeface="Arial" panose="020B0604020202020204" pitchFamily="34" charset="0"/>
                <a:ea typeface="Arial" panose="020B0604020202020204" pitchFamily="34" charset="0"/>
              </a:rPr>
              <a:t>javascript</a:t>
            </a:r>
            <a:r>
              <a:rPr lang="en-GB" sz="1800" dirty="0">
                <a:solidFill>
                  <a:srgbClr val="000000"/>
                </a:solidFill>
                <a:effectLst/>
                <a:latin typeface="Arial" panose="020B0604020202020204" pitchFamily="34" charset="0"/>
                <a:ea typeface="Arial" panose="020B0604020202020204" pitchFamily="34" charset="0"/>
              </a:rPr>
              <a:t>" </a:t>
            </a:r>
            <a:r>
              <a:rPr lang="en-GB" sz="1800" dirty="0" err="1">
                <a:solidFill>
                  <a:srgbClr val="000000"/>
                </a:solidFill>
                <a:effectLst/>
                <a:latin typeface="Arial" panose="020B0604020202020204" pitchFamily="34" charset="0"/>
                <a:ea typeface="Arial" panose="020B0604020202020204" pitchFamily="34" charset="0"/>
              </a:rPr>
              <a:t>src</a:t>
            </a:r>
            <a:r>
              <a:rPr lang="en-GB" sz="1800" dirty="0">
                <a:solidFill>
                  <a:srgbClr val="000000"/>
                </a:solidFill>
                <a:effectLst/>
                <a:latin typeface="Arial" panose="020B0604020202020204" pitchFamily="34" charset="0"/>
                <a:ea typeface="Arial" panose="020B0604020202020204" pitchFamily="34" charset="0"/>
              </a:rPr>
              <a:t>="message.js"&gt;&lt;/script&gt;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&lt;/head&gt;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&lt;body&gt;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&lt;p&gt;Welcome to JavaScript&lt;/p&gt;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&lt;form&gt;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&lt;input type="button" value="click" onclick="</a:t>
            </a:r>
            <a:r>
              <a:rPr lang="en-GB" sz="1800" dirty="0" err="1">
                <a:solidFill>
                  <a:srgbClr val="000000"/>
                </a:solidFill>
                <a:effectLst/>
                <a:latin typeface="Arial" panose="020B0604020202020204" pitchFamily="34" charset="0"/>
                <a:ea typeface="Arial" panose="020B0604020202020204" pitchFamily="34" charset="0"/>
              </a:rPr>
              <a:t>msg</a:t>
            </a:r>
            <a:r>
              <a:rPr lang="en-GB" sz="1800" dirty="0">
                <a:solidFill>
                  <a:srgbClr val="000000"/>
                </a:solidFill>
                <a:effectLst/>
                <a:latin typeface="Arial" panose="020B0604020202020204" pitchFamily="34" charset="0"/>
                <a:ea typeface="Arial" panose="020B0604020202020204" pitchFamily="34" charset="0"/>
              </a:rPr>
              <a:t>()"/&gt;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&lt;/form&gt;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&lt;/body&gt;  </a:t>
            </a:r>
            <a:endParaRPr lang="en-US" sz="1800" dirty="0">
              <a:effectLst/>
              <a:latin typeface="Calibri" panose="020F0502020204030204" pitchFamily="34" charset="0"/>
              <a:ea typeface="Calibri" panose="020F0502020204030204" pitchFamily="34" charset="0"/>
            </a:endParaRPr>
          </a:p>
          <a:p>
            <a:pPr marL="0" marR="0" algn="just"/>
            <a:r>
              <a:rPr lang="en-GB" sz="1800" dirty="0">
                <a:solidFill>
                  <a:srgbClr val="000000"/>
                </a:solidFill>
                <a:effectLst/>
                <a:latin typeface="Arial" panose="020B0604020202020204" pitchFamily="34" charset="0"/>
                <a:ea typeface="Arial" panose="020B0604020202020204" pitchFamily="34" charset="0"/>
              </a:rPr>
              <a:t>&lt;/html&gt;  </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5536923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02C85C-BA21-1C05-F3B8-558FF7B94154}"/>
              </a:ext>
            </a:extLst>
          </p:cNvPr>
          <p:cNvSpPr>
            <a:spLocks noGrp="1"/>
          </p:cNvSpPr>
          <p:nvPr>
            <p:ph idx="1"/>
          </p:nvPr>
        </p:nvSpPr>
        <p:spPr>
          <a:xfrm>
            <a:off x="388189" y="767751"/>
            <a:ext cx="10767491" cy="5365630"/>
          </a:xfrm>
        </p:spPr>
        <p:txBody>
          <a:bodyPr/>
          <a:lstStyle/>
          <a:p>
            <a:pPr marL="0" marR="0" algn="just"/>
            <a:r>
              <a:rPr lang="en-GB" dirty="0">
                <a:solidFill>
                  <a:srgbClr val="000000"/>
                </a:solidFill>
                <a:effectLst/>
                <a:latin typeface="Arial" panose="020B0604020202020204" pitchFamily="34" charset="0"/>
                <a:ea typeface="Arial" panose="020B0604020202020204" pitchFamily="34" charset="0"/>
              </a:rPr>
              <a:t>Here is another example that includes the External JavaScript into an HTML page. This code calls the JavaScript function on button click.</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&lt;html&gt; </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&lt;head&gt; </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&lt;title&gt;External </a:t>
            </a:r>
            <a:r>
              <a:rPr lang="en-GB" dirty="0" err="1">
                <a:solidFill>
                  <a:srgbClr val="000000"/>
                </a:solidFill>
                <a:effectLst/>
                <a:latin typeface="Arial" panose="020B0604020202020204" pitchFamily="34" charset="0"/>
                <a:ea typeface="Arial" panose="020B0604020202020204" pitchFamily="34" charset="0"/>
              </a:rPr>
              <a:t>Javascript</a:t>
            </a:r>
            <a:r>
              <a:rPr lang="en-GB" dirty="0">
                <a:solidFill>
                  <a:srgbClr val="000000"/>
                </a:solidFill>
                <a:effectLst/>
                <a:latin typeface="Arial" panose="020B0604020202020204" pitchFamily="34" charset="0"/>
                <a:ea typeface="Arial" panose="020B0604020202020204" pitchFamily="34" charset="0"/>
              </a:rPr>
              <a:t> Example-</a:t>
            </a:r>
            <a:r>
              <a:rPr lang="en-GB" dirty="0" err="1">
                <a:solidFill>
                  <a:srgbClr val="000000"/>
                </a:solidFill>
                <a:effectLst/>
                <a:latin typeface="Arial" panose="020B0604020202020204" pitchFamily="34" charset="0"/>
                <a:ea typeface="Arial" panose="020B0604020202020204" pitchFamily="34" charset="0"/>
              </a:rPr>
              <a:t>Phptpoint</a:t>
            </a:r>
            <a:r>
              <a:rPr lang="en-GB" dirty="0">
                <a:solidFill>
                  <a:srgbClr val="000000"/>
                </a:solidFill>
                <a:effectLst/>
                <a:latin typeface="Arial" panose="020B0604020202020204" pitchFamily="34" charset="0"/>
                <a:ea typeface="Arial" panose="020B0604020202020204" pitchFamily="34" charset="0"/>
              </a:rPr>
              <a:t>&lt;/title&gt;</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&lt;script type="text/</a:t>
            </a:r>
            <a:r>
              <a:rPr lang="en-GB" dirty="0" err="1">
                <a:solidFill>
                  <a:srgbClr val="000000"/>
                </a:solidFill>
                <a:effectLst/>
                <a:latin typeface="Arial" panose="020B0604020202020204" pitchFamily="34" charset="0"/>
                <a:ea typeface="Arial" panose="020B0604020202020204" pitchFamily="34" charset="0"/>
              </a:rPr>
              <a:t>javascript</a:t>
            </a:r>
            <a:r>
              <a:rPr lang="en-GB" dirty="0">
                <a:solidFill>
                  <a:srgbClr val="000000"/>
                </a:solidFill>
                <a:effectLst/>
                <a:latin typeface="Arial" panose="020B0604020202020204" pitchFamily="34" charset="0"/>
                <a:ea typeface="Arial" panose="020B0604020202020204" pitchFamily="34" charset="0"/>
              </a:rPr>
              <a:t>" </a:t>
            </a:r>
            <a:r>
              <a:rPr lang="en-GB" dirty="0" err="1">
                <a:solidFill>
                  <a:srgbClr val="000000"/>
                </a:solidFill>
                <a:effectLst/>
                <a:latin typeface="Arial" panose="020B0604020202020204" pitchFamily="34" charset="0"/>
                <a:ea typeface="Arial" panose="020B0604020202020204" pitchFamily="34" charset="0"/>
              </a:rPr>
              <a:t>src</a:t>
            </a:r>
            <a:r>
              <a:rPr lang="en-GB" dirty="0">
                <a:solidFill>
                  <a:srgbClr val="000000"/>
                </a:solidFill>
                <a:effectLst/>
                <a:latin typeface="Arial" panose="020B0604020202020204" pitchFamily="34" charset="0"/>
                <a:ea typeface="Arial" panose="020B0604020202020204" pitchFamily="34" charset="0"/>
              </a:rPr>
              <a:t>="myscript.js"&gt;&lt;/script&gt; </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&lt;/head&gt; </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&lt;body&gt; </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&lt;p&gt;Welcome to </a:t>
            </a:r>
            <a:r>
              <a:rPr lang="en-GB" dirty="0" err="1">
                <a:solidFill>
                  <a:srgbClr val="000000"/>
                </a:solidFill>
                <a:effectLst/>
                <a:latin typeface="Arial" panose="020B0604020202020204" pitchFamily="34" charset="0"/>
                <a:ea typeface="Arial" panose="020B0604020202020204" pitchFamily="34" charset="0"/>
              </a:rPr>
              <a:t>Phptpoint</a:t>
            </a:r>
            <a:r>
              <a:rPr lang="en-GB" dirty="0">
                <a:solidFill>
                  <a:srgbClr val="000000"/>
                </a:solidFill>
                <a:effectLst/>
                <a:latin typeface="Arial" panose="020B0604020202020204" pitchFamily="34" charset="0"/>
                <a:ea typeface="Arial" panose="020B0604020202020204" pitchFamily="34" charset="0"/>
              </a:rPr>
              <a:t>&lt;/p&gt; </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&lt;input type="button" value="click" onclick="</a:t>
            </a:r>
            <a:r>
              <a:rPr lang="en-GB" dirty="0" err="1">
                <a:solidFill>
                  <a:srgbClr val="000000"/>
                </a:solidFill>
                <a:effectLst/>
                <a:latin typeface="Arial" panose="020B0604020202020204" pitchFamily="34" charset="0"/>
                <a:ea typeface="Arial" panose="020B0604020202020204" pitchFamily="34" charset="0"/>
              </a:rPr>
              <a:t>msg</a:t>
            </a:r>
            <a:r>
              <a:rPr lang="en-GB" dirty="0">
                <a:solidFill>
                  <a:srgbClr val="000000"/>
                </a:solidFill>
                <a:effectLst/>
                <a:latin typeface="Arial" panose="020B0604020202020204" pitchFamily="34" charset="0"/>
                <a:ea typeface="Arial" panose="020B0604020202020204" pitchFamily="34" charset="0"/>
              </a:rPr>
              <a:t>()"/&gt; </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&lt;/body&gt; </a:t>
            </a:r>
            <a:endParaRPr lang="en-US" dirty="0">
              <a:effectLst/>
              <a:latin typeface="Calibri" panose="020F0502020204030204" pitchFamily="34" charset="0"/>
              <a:ea typeface="Calibri" panose="020F0502020204030204" pitchFamily="34" charset="0"/>
            </a:endParaRPr>
          </a:p>
          <a:p>
            <a:pPr marL="0" marR="0" algn="just"/>
            <a:r>
              <a:rPr lang="en-GB" dirty="0">
                <a:solidFill>
                  <a:srgbClr val="000000"/>
                </a:solidFill>
                <a:effectLst/>
                <a:latin typeface="Arial" panose="020B0604020202020204" pitchFamily="34" charset="0"/>
                <a:ea typeface="Arial" panose="020B0604020202020204" pitchFamily="34" charset="0"/>
              </a:rPr>
              <a:t>&lt;/html&gt; </a:t>
            </a:r>
            <a:endParaRPr lang="en-US"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11642258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001EED-DDBF-7D43-1B09-B5EFD0217378}"/>
              </a:ext>
            </a:extLst>
          </p:cNvPr>
          <p:cNvSpPr>
            <a:spLocks noGrp="1"/>
          </p:cNvSpPr>
          <p:nvPr>
            <p:ph idx="1"/>
          </p:nvPr>
        </p:nvSpPr>
        <p:spPr>
          <a:xfrm>
            <a:off x="189781" y="767750"/>
            <a:ext cx="11145328" cy="5520907"/>
          </a:xfrm>
        </p:spPr>
        <p:txBody>
          <a:bodyPr>
            <a:normAutofit fontScale="85000" lnSpcReduction="20000"/>
          </a:bodyPr>
          <a:lstStyle/>
          <a:p>
            <a:pPr marL="0" marR="0" algn="just"/>
            <a:r>
              <a:rPr lang="en-GB" sz="2200" b="1" dirty="0">
                <a:solidFill>
                  <a:srgbClr val="000000"/>
                </a:solidFill>
                <a:effectLst/>
                <a:latin typeface="Arial Unicode MS"/>
                <a:ea typeface="Arial Unicode MS"/>
                <a:cs typeface="Arial Unicode MS"/>
              </a:rPr>
              <a:t>✔ using external </a:t>
            </a:r>
            <a:r>
              <a:rPr lang="en-GB" sz="2200" b="1" dirty="0" err="1">
                <a:solidFill>
                  <a:srgbClr val="000000"/>
                </a:solidFill>
                <a:effectLst/>
                <a:latin typeface="Arial Unicode MS"/>
                <a:ea typeface="Arial Unicode MS"/>
                <a:cs typeface="Arial Unicode MS"/>
              </a:rPr>
              <a:t>Javascript</a:t>
            </a:r>
            <a:r>
              <a:rPr lang="en-GB" sz="2200" b="1" dirty="0">
                <a:solidFill>
                  <a:srgbClr val="000000"/>
                </a:solidFill>
                <a:effectLst/>
                <a:latin typeface="Arial Unicode MS"/>
                <a:ea typeface="Arial Unicode MS"/>
                <a:cs typeface="Arial Unicode MS"/>
              </a:rPr>
              <a:t> reference (CDN)</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&lt;!DOCTYPE html&gt;</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&lt;html&gt;</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&lt;head&gt;</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&lt;title&gt;Using CDN for JavaScript&lt;/title&gt;</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&lt;script </a:t>
            </a:r>
            <a:r>
              <a:rPr lang="en-GB" sz="2200" dirty="0" err="1">
                <a:solidFill>
                  <a:srgbClr val="000000"/>
                </a:solidFill>
                <a:effectLst/>
                <a:latin typeface="Arial" panose="020B0604020202020204" pitchFamily="34" charset="0"/>
                <a:ea typeface="Arial" panose="020B0604020202020204" pitchFamily="34" charset="0"/>
              </a:rPr>
              <a:t>src</a:t>
            </a:r>
            <a:r>
              <a:rPr lang="en-GB" sz="2200" dirty="0">
                <a:solidFill>
                  <a:srgbClr val="000000"/>
                </a:solidFill>
                <a:effectLst/>
                <a:latin typeface="Arial" panose="020B0604020202020204" pitchFamily="34" charset="0"/>
                <a:ea typeface="Arial" panose="020B0604020202020204" pitchFamily="34" charset="0"/>
              </a:rPr>
              <a:t>="https://cdnjs.cloudflare.com/ajax/libs/</a:t>
            </a:r>
            <a:r>
              <a:rPr lang="en-GB" sz="2200" dirty="0" err="1">
                <a:solidFill>
                  <a:srgbClr val="000000"/>
                </a:solidFill>
                <a:effectLst/>
                <a:latin typeface="Arial" panose="020B0604020202020204" pitchFamily="34" charset="0"/>
                <a:ea typeface="Arial" panose="020B0604020202020204" pitchFamily="34" charset="0"/>
              </a:rPr>
              <a:t>jquery</a:t>
            </a:r>
            <a:r>
              <a:rPr lang="en-GB" sz="2200" dirty="0">
                <a:solidFill>
                  <a:srgbClr val="000000"/>
                </a:solidFill>
                <a:effectLst/>
                <a:latin typeface="Arial" panose="020B0604020202020204" pitchFamily="34" charset="0"/>
                <a:ea typeface="Arial" panose="020B0604020202020204" pitchFamily="34" charset="0"/>
              </a:rPr>
              <a:t>/3.6.0/jquery.min.js"&gt;&lt;/script&gt;</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&lt;/head&gt;</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&lt;body&gt;</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 Your HTML content here --&gt;</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&lt;/body&gt;</a:t>
            </a:r>
            <a:endParaRPr lang="en-US" sz="22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2200" dirty="0">
                <a:solidFill>
                  <a:srgbClr val="000000"/>
                </a:solidFill>
                <a:effectLst/>
                <a:latin typeface="Arial" panose="020B0604020202020204" pitchFamily="34" charset="0"/>
                <a:ea typeface="Arial" panose="020B0604020202020204" pitchFamily="34" charset="0"/>
              </a:rPr>
              <a:t>&lt;/html&gt;</a:t>
            </a:r>
            <a:endParaRPr lang="en-US" sz="22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3492503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D7486-BDC9-8960-4C6C-27BB696B0C87}"/>
              </a:ext>
            </a:extLst>
          </p:cNvPr>
          <p:cNvSpPr>
            <a:spLocks noGrp="1"/>
          </p:cNvSpPr>
          <p:nvPr>
            <p:ph idx="1"/>
          </p:nvPr>
        </p:nvSpPr>
        <p:spPr>
          <a:xfrm>
            <a:off x="577970" y="1155939"/>
            <a:ext cx="10594963" cy="5270740"/>
          </a:xfrm>
        </p:spPr>
        <p:txBody>
          <a:bodyPr>
            <a:normAutofit/>
          </a:bodyPr>
          <a:lstStyle/>
          <a:p>
            <a:pPr marL="0" marR="0">
              <a:spcBef>
                <a:spcPts val="1200"/>
              </a:spcBef>
              <a:spcAft>
                <a:spcPts val="1200"/>
              </a:spcAft>
            </a:pPr>
            <a:r>
              <a:rPr lang="en-GB" sz="2400" b="1" dirty="0">
                <a:effectLst/>
                <a:latin typeface="Arial Unicode MS"/>
                <a:ea typeface="Arial Unicode MS"/>
                <a:cs typeface="Arial Unicode MS"/>
              </a:rPr>
              <a:t>✔JavaScript output</a:t>
            </a:r>
            <a:endParaRPr lang="en-US" sz="2400" dirty="0">
              <a:effectLst/>
              <a:latin typeface="Calibri" panose="020F0502020204030204" pitchFamily="34" charset="0"/>
              <a:ea typeface="Calibri" panose="020F0502020204030204" pitchFamily="34" charset="0"/>
            </a:endParaRPr>
          </a:p>
          <a:p>
            <a:pPr marL="342900" marR="0" lvl="0" indent="-342900">
              <a:spcBef>
                <a:spcPts val="1200"/>
              </a:spcBef>
              <a:spcAft>
                <a:spcPts val="1200"/>
              </a:spcAft>
              <a:buFont typeface="Arial" panose="020B0604020202020204" pitchFamily="34" charset="0"/>
              <a:buChar char="★"/>
            </a:pPr>
            <a:r>
              <a:rPr lang="en-GB" sz="2400" u="sng" strike="noStrike" dirty="0">
                <a:solidFill>
                  <a:srgbClr val="000000"/>
                </a:solidFill>
                <a:effectLst/>
                <a:latin typeface="Arial" panose="020B0604020202020204" pitchFamily="34" charset="0"/>
                <a:ea typeface="Arial" panose="020B0604020202020204" pitchFamily="34" charset="0"/>
              </a:rPr>
              <a:t>Using </a:t>
            </a:r>
            <a:r>
              <a:rPr lang="en-GB" sz="2400" u="sng" strike="noStrike" dirty="0" err="1">
                <a:solidFill>
                  <a:srgbClr val="000000"/>
                </a:solidFill>
                <a:effectLst/>
                <a:latin typeface="Arial" panose="020B0604020202020204" pitchFamily="34" charset="0"/>
                <a:ea typeface="Arial" panose="020B0604020202020204" pitchFamily="34" charset="0"/>
              </a:rPr>
              <a:t>innerHTML</a:t>
            </a:r>
            <a:endParaRPr lang="en-US" sz="2400" u="none" strike="noStrike" dirty="0">
              <a:effectLst/>
              <a:latin typeface="Calibri" panose="020F0502020204030204" pitchFamily="34" charset="0"/>
              <a:ea typeface="Calibri" panose="020F0502020204030204" pitchFamily="34" charset="0"/>
            </a:endParaRPr>
          </a:p>
          <a:p>
            <a:pPr marL="0" marR="0">
              <a:spcBef>
                <a:spcPts val="1400"/>
              </a:spcBef>
              <a:spcAft>
                <a:spcPts val="1400"/>
              </a:spcAft>
            </a:pPr>
            <a:r>
              <a:rPr lang="en-GB" sz="2400" dirty="0">
                <a:solidFill>
                  <a:srgbClr val="000000"/>
                </a:solidFill>
                <a:effectLst/>
                <a:latin typeface="Arial" panose="020B0604020202020204" pitchFamily="34" charset="0"/>
                <a:ea typeface="Arial" panose="020B0604020202020204" pitchFamily="34" charset="0"/>
              </a:rPr>
              <a:t>To access an HTML element, JavaScript can use the </a:t>
            </a:r>
            <a:r>
              <a:rPr lang="en-GB" sz="2400" dirty="0" err="1">
                <a:solidFill>
                  <a:srgbClr val="000000"/>
                </a:solidFill>
                <a:effectLst/>
                <a:latin typeface="Arial" panose="020B0604020202020204" pitchFamily="34" charset="0"/>
                <a:ea typeface="Arial" panose="020B0604020202020204" pitchFamily="34" charset="0"/>
              </a:rPr>
              <a:t>document.getElementById</a:t>
            </a:r>
            <a:r>
              <a:rPr lang="en-GB" sz="2400" dirty="0">
                <a:solidFill>
                  <a:srgbClr val="000000"/>
                </a:solidFill>
                <a:effectLst/>
                <a:latin typeface="Arial" panose="020B0604020202020204" pitchFamily="34" charset="0"/>
                <a:ea typeface="Arial" panose="020B0604020202020204" pitchFamily="34" charset="0"/>
              </a:rPr>
              <a:t>(id) method. The id attribute defines the HTML element. The </a:t>
            </a:r>
            <a:r>
              <a:rPr lang="en-GB" sz="2400" dirty="0" err="1">
                <a:solidFill>
                  <a:srgbClr val="000000"/>
                </a:solidFill>
                <a:effectLst/>
                <a:latin typeface="Arial" panose="020B0604020202020204" pitchFamily="34" charset="0"/>
                <a:ea typeface="Arial" panose="020B0604020202020204" pitchFamily="34" charset="0"/>
              </a:rPr>
              <a:t>innerHTML</a:t>
            </a:r>
            <a:r>
              <a:rPr lang="en-GB" sz="2400" dirty="0">
                <a:solidFill>
                  <a:srgbClr val="000000"/>
                </a:solidFill>
                <a:effectLst/>
                <a:latin typeface="Arial" panose="020B0604020202020204" pitchFamily="34" charset="0"/>
                <a:ea typeface="Arial" panose="020B0604020202020204" pitchFamily="34" charset="0"/>
              </a:rPr>
              <a:t> property defines the HTML content:</a:t>
            </a:r>
            <a:endParaRPr lang="en-US" sz="24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10802794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37FA88-8AE0-10F6-DE95-1A6E85426428}"/>
              </a:ext>
            </a:extLst>
          </p:cNvPr>
          <p:cNvSpPr>
            <a:spLocks noGrp="1"/>
          </p:cNvSpPr>
          <p:nvPr>
            <p:ph idx="1"/>
          </p:nvPr>
        </p:nvSpPr>
        <p:spPr>
          <a:xfrm>
            <a:off x="138023" y="1009290"/>
            <a:ext cx="11524890" cy="5287994"/>
          </a:xfrm>
        </p:spPr>
        <p:txBody>
          <a:bodyPr>
            <a:normAutofit lnSpcReduction="10000"/>
          </a:bodyPr>
          <a:lstStyle/>
          <a:p>
            <a:pPr marL="0" marR="0"/>
            <a:r>
              <a:rPr lang="en-GB" b="1" dirty="0">
                <a:effectLst/>
                <a:latin typeface="Arial" panose="020B0604020202020204" pitchFamily="34" charset="0"/>
                <a:ea typeface="Arial" panose="020B0604020202020204" pitchFamily="34" charset="0"/>
              </a:rPr>
              <a:t>Example</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&lt;Html&gt; </a:t>
            </a:r>
            <a:endParaRPr lang="en-US" dirty="0">
              <a:latin typeface="Calibri" panose="020F0502020204030204" pitchFamily="34" charset="0"/>
              <a:ea typeface="Arial" panose="020B0604020202020204" pitchFamily="34" charset="0"/>
            </a:endParaRPr>
          </a:p>
          <a:p>
            <a:pPr marL="0" marR="0"/>
            <a:r>
              <a:rPr lang="en-GB" dirty="0">
                <a:effectLst/>
                <a:latin typeface="Arial" panose="020B0604020202020204" pitchFamily="34" charset="0"/>
                <a:ea typeface="Arial" panose="020B0604020202020204" pitchFamily="34" charset="0"/>
              </a:rPr>
              <a:t>&lt;Head&gt; </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&lt;Body&gt;</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 &lt;h1&gt;My First Web Page&lt;/h1&gt;</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 &lt;p&gt;My First Paragraph&lt;/p&gt;</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 &lt;p id="demo"&gt;&lt;/p&gt;</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 &lt;script&gt;</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 </a:t>
            </a:r>
            <a:r>
              <a:rPr lang="en-GB" dirty="0" err="1">
                <a:effectLst/>
                <a:latin typeface="Arial" panose="020B0604020202020204" pitchFamily="34" charset="0"/>
                <a:ea typeface="Arial" panose="020B0604020202020204" pitchFamily="34" charset="0"/>
              </a:rPr>
              <a:t>document.getElementById</a:t>
            </a:r>
            <a:r>
              <a:rPr lang="en-GB" dirty="0">
                <a:effectLst/>
                <a:latin typeface="Arial" panose="020B0604020202020204" pitchFamily="34" charset="0"/>
                <a:ea typeface="Arial" panose="020B0604020202020204" pitchFamily="34" charset="0"/>
              </a:rPr>
              <a:t>("demo").</a:t>
            </a:r>
            <a:r>
              <a:rPr lang="en-GB" dirty="0" err="1">
                <a:effectLst/>
                <a:latin typeface="Arial" panose="020B0604020202020204" pitchFamily="34" charset="0"/>
                <a:ea typeface="Arial" panose="020B0604020202020204" pitchFamily="34" charset="0"/>
              </a:rPr>
              <a:t>innerHTML</a:t>
            </a:r>
            <a:r>
              <a:rPr lang="en-GB" dirty="0">
                <a:effectLst/>
                <a:latin typeface="Arial" panose="020B0604020202020204" pitchFamily="34" charset="0"/>
                <a:ea typeface="Arial" panose="020B0604020202020204" pitchFamily="34" charset="0"/>
              </a:rPr>
              <a:t> = 5 + 6;</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 &lt;/script&gt;</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 &lt;/body&gt;</a:t>
            </a:r>
            <a:endParaRPr lang="en-US" dirty="0">
              <a:effectLst/>
              <a:latin typeface="Calibri" panose="020F0502020204030204" pitchFamily="34" charset="0"/>
              <a:ea typeface="Calibri" panose="020F0502020204030204" pitchFamily="34" charset="0"/>
            </a:endParaRPr>
          </a:p>
          <a:p>
            <a:pPr marL="0" marR="0"/>
            <a:r>
              <a:rPr lang="en-GB" dirty="0">
                <a:effectLst/>
                <a:latin typeface="Arial" panose="020B0604020202020204" pitchFamily="34" charset="0"/>
                <a:ea typeface="Arial" panose="020B0604020202020204" pitchFamily="34" charset="0"/>
              </a:rPr>
              <a:t> &lt;/html&gt;</a:t>
            </a:r>
            <a:endParaRPr lang="en-US"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022195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58F75A-1FD3-FE4C-15E2-54527AD5FC0A}"/>
              </a:ext>
            </a:extLst>
          </p:cNvPr>
          <p:cNvSpPr>
            <a:spLocks noGrp="1"/>
          </p:cNvSpPr>
          <p:nvPr>
            <p:ph idx="1"/>
          </p:nvPr>
        </p:nvSpPr>
        <p:spPr>
          <a:xfrm>
            <a:off x="241540" y="974786"/>
            <a:ext cx="11455879" cy="5270740"/>
          </a:xfrm>
        </p:spPr>
        <p:txBody>
          <a:bodyPr>
            <a:normAutofit fontScale="92500" lnSpcReduction="20000"/>
          </a:bodyPr>
          <a:lstStyle/>
          <a:p>
            <a:pPr marL="342900" marR="0" lvl="0" indent="-342900">
              <a:spcBef>
                <a:spcPts val="1200"/>
              </a:spcBef>
              <a:buFont typeface="Arial" panose="020B0604020202020204" pitchFamily="34" charset="0"/>
              <a:buChar char="★"/>
            </a:pPr>
            <a:r>
              <a:rPr lang="en-US" sz="2200" u="none" strike="noStrike" dirty="0">
                <a:solidFill>
                  <a:srgbClr val="000000"/>
                </a:solidFill>
                <a:effectLst/>
                <a:latin typeface="Arial" panose="020B0604020202020204" pitchFamily="34" charset="0"/>
                <a:ea typeface="Arial" panose="020B0604020202020204" pitchFamily="34" charset="0"/>
              </a:rPr>
              <a:t> </a:t>
            </a:r>
            <a:r>
              <a:rPr lang="en-GB" sz="2200" u="sng" strike="noStrike" dirty="0">
                <a:solidFill>
                  <a:srgbClr val="000000"/>
                </a:solidFill>
                <a:effectLst/>
                <a:latin typeface="Arial" panose="020B0604020202020204" pitchFamily="34" charset="0"/>
                <a:ea typeface="Arial" panose="020B0604020202020204" pitchFamily="34" charset="0"/>
              </a:rPr>
              <a:t>Using </a:t>
            </a:r>
            <a:r>
              <a:rPr lang="en-GB" sz="2200" u="sng" strike="noStrike" dirty="0" err="1">
                <a:solidFill>
                  <a:srgbClr val="000000"/>
                </a:solidFill>
                <a:effectLst/>
                <a:latin typeface="Arial" panose="020B0604020202020204" pitchFamily="34" charset="0"/>
                <a:ea typeface="Arial" panose="020B0604020202020204" pitchFamily="34" charset="0"/>
              </a:rPr>
              <a:t>document.write</a:t>
            </a:r>
            <a:r>
              <a:rPr lang="en-GB" sz="2200" u="sng" strike="noStrike" dirty="0">
                <a:solidFill>
                  <a:srgbClr val="000000"/>
                </a:solidFill>
                <a:effectLst/>
                <a:latin typeface="Arial" panose="020B0604020202020204" pitchFamily="34" charset="0"/>
                <a:ea typeface="Arial" panose="020B0604020202020204" pitchFamily="34" charset="0"/>
              </a:rPr>
              <a:t>()</a:t>
            </a:r>
            <a:endParaRPr lang="en-US" sz="2200" u="none" strike="noStrike" dirty="0">
              <a:effectLst/>
              <a:latin typeface="Calibri" panose="020F0502020204030204" pitchFamily="34" charset="0"/>
              <a:ea typeface="Calibri" panose="020F0502020204030204" pitchFamily="34" charset="0"/>
            </a:endParaRPr>
          </a:p>
          <a:p>
            <a:pPr marL="0" marR="0">
              <a:spcBef>
                <a:spcPts val="1200"/>
              </a:spcBef>
            </a:pPr>
            <a:r>
              <a:rPr lang="en-GB" sz="2200" dirty="0">
                <a:solidFill>
                  <a:srgbClr val="000000"/>
                </a:solidFill>
                <a:effectLst/>
                <a:latin typeface="Arial" panose="020B0604020202020204" pitchFamily="34" charset="0"/>
                <a:ea typeface="Arial" panose="020B0604020202020204" pitchFamily="34" charset="0"/>
              </a:rPr>
              <a:t>For testing purposes, it is convenient to use </a:t>
            </a:r>
            <a:r>
              <a:rPr lang="en-GB" sz="2200" dirty="0" err="1">
                <a:solidFill>
                  <a:srgbClr val="000000"/>
                </a:solidFill>
                <a:effectLst/>
                <a:latin typeface="Arial" panose="020B0604020202020204" pitchFamily="34" charset="0"/>
                <a:ea typeface="Arial" panose="020B0604020202020204" pitchFamily="34" charset="0"/>
              </a:rPr>
              <a:t>document.write</a:t>
            </a:r>
            <a:r>
              <a:rPr lang="en-GB" sz="2200" dirty="0">
                <a:solidFill>
                  <a:srgbClr val="000000"/>
                </a:solidFill>
                <a:effectLst/>
                <a:latin typeface="Arial" panose="020B0604020202020204" pitchFamily="34" charset="0"/>
                <a:ea typeface="Arial" panose="020B0604020202020204" pitchFamily="34" charset="0"/>
              </a:rPr>
              <a:t>():</a:t>
            </a:r>
            <a:endParaRPr lang="en-US" sz="22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2200" b="1" dirty="0">
                <a:effectLst/>
                <a:latin typeface="Arial" panose="020B0604020202020204" pitchFamily="34" charset="0"/>
                <a:ea typeface="Arial" panose="020B0604020202020204" pitchFamily="34" charset="0"/>
              </a:rPr>
              <a:t>Example: 1</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&lt;! DOCTYPE html&gt;</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 &lt;html&gt;</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 &lt;body&gt;</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 &lt;h1&gt;My First Web Page&lt;/h1&gt;</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 &lt;p&gt;My first paragraph. &lt;/p&gt;</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 &lt;script&gt;</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 </a:t>
            </a:r>
            <a:r>
              <a:rPr lang="en-GB" sz="2200" dirty="0" err="1">
                <a:effectLst/>
                <a:latin typeface="Arial" panose="020B0604020202020204" pitchFamily="34" charset="0"/>
                <a:ea typeface="Arial" panose="020B0604020202020204" pitchFamily="34" charset="0"/>
              </a:rPr>
              <a:t>document.write</a:t>
            </a:r>
            <a:r>
              <a:rPr lang="en-GB" sz="2200" dirty="0">
                <a:effectLst/>
                <a:latin typeface="Arial" panose="020B0604020202020204" pitchFamily="34" charset="0"/>
                <a:ea typeface="Arial" panose="020B0604020202020204" pitchFamily="34" charset="0"/>
              </a:rPr>
              <a:t>(5 + 6);</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 &lt;/script&gt;</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 &lt;/body&gt;</a:t>
            </a:r>
            <a:endParaRPr lang="en-US" sz="2200" dirty="0">
              <a:effectLst/>
              <a:latin typeface="Calibri" panose="020F0502020204030204" pitchFamily="34" charset="0"/>
              <a:ea typeface="Calibri" panose="020F0502020204030204" pitchFamily="34" charset="0"/>
            </a:endParaRPr>
          </a:p>
          <a:p>
            <a:pPr marL="0" marR="0"/>
            <a:r>
              <a:rPr lang="en-GB" sz="2200" dirty="0">
                <a:effectLst/>
                <a:latin typeface="Arial" panose="020B0604020202020204" pitchFamily="34" charset="0"/>
                <a:ea typeface="Arial" panose="020B0604020202020204" pitchFamily="34" charset="0"/>
              </a:rPr>
              <a:t> &lt;/html&gt;</a:t>
            </a:r>
            <a:endParaRPr lang="en-US" sz="22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860255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EED310-0614-5DB5-0140-11FAD2E939B3}"/>
              </a:ext>
            </a:extLst>
          </p:cNvPr>
          <p:cNvSpPr>
            <a:spLocks noGrp="1"/>
          </p:cNvSpPr>
          <p:nvPr>
            <p:ph idx="1"/>
          </p:nvPr>
        </p:nvSpPr>
        <p:spPr>
          <a:xfrm>
            <a:off x="439947" y="1250830"/>
            <a:ext cx="10715733" cy="4902936"/>
          </a:xfrm>
        </p:spPr>
        <p:txBody>
          <a:bodyPr/>
          <a:lstStyle/>
          <a:p>
            <a:pPr marL="0" marR="0">
              <a:spcBef>
                <a:spcPts val="1200"/>
              </a:spcBef>
              <a:spcAft>
                <a:spcPts val="1200"/>
              </a:spcAft>
            </a:pPr>
            <a:r>
              <a:rPr lang="en-GB" sz="1800" b="1" dirty="0">
                <a:effectLst/>
                <a:latin typeface="Arial" panose="020B0604020202020204" pitchFamily="34" charset="0"/>
                <a:ea typeface="Arial" panose="020B0604020202020204" pitchFamily="34" charset="0"/>
              </a:rPr>
              <a:t>Example: 2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 DOCTYPE 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&lt;h1&gt;My First Web Page&lt;/h1&gt;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&lt;p&gt;My first paragraph.&lt;/p&gt;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&lt;button type="button" onclick="</a:t>
            </a:r>
            <a:r>
              <a:rPr lang="en-GB" sz="1800" dirty="0" err="1">
                <a:effectLst/>
                <a:latin typeface="Arial" panose="020B0604020202020204" pitchFamily="34" charset="0"/>
                <a:ea typeface="Arial" panose="020B0604020202020204" pitchFamily="34" charset="0"/>
              </a:rPr>
              <a:t>document.write</a:t>
            </a:r>
            <a:r>
              <a:rPr lang="en-GB" sz="1800" dirty="0">
                <a:effectLst/>
                <a:latin typeface="Arial" panose="020B0604020202020204" pitchFamily="34" charset="0"/>
                <a:ea typeface="Arial" panose="020B0604020202020204" pitchFamily="34" charset="0"/>
              </a:rPr>
              <a:t>(5 + 6)"&gt;Try it&lt;/button&gt;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&lt;/html&gt; </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10764837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ADEF81-CDE5-4AF9-BA76-31A6130E1FE9}"/>
              </a:ext>
            </a:extLst>
          </p:cNvPr>
          <p:cNvSpPr>
            <a:spLocks noGrp="1"/>
          </p:cNvSpPr>
          <p:nvPr>
            <p:ph idx="1"/>
          </p:nvPr>
        </p:nvSpPr>
        <p:spPr>
          <a:xfrm>
            <a:off x="267419" y="923026"/>
            <a:ext cx="11007306" cy="5331125"/>
          </a:xfrm>
        </p:spPr>
        <p:txBody>
          <a:bodyPr>
            <a:normAutofit/>
          </a:bodyPr>
          <a:lstStyle/>
          <a:p>
            <a:pPr marL="342900" marR="0" lvl="0" indent="-342900">
              <a:spcBef>
                <a:spcPts val="1200"/>
              </a:spcBef>
              <a:spcAft>
                <a:spcPts val="1200"/>
              </a:spcAft>
              <a:buFont typeface="Arial" panose="020B0604020202020204" pitchFamily="34" charset="0"/>
              <a:buChar char="★"/>
            </a:pPr>
            <a:r>
              <a:rPr lang="en-GB" sz="1800" u="sng" strike="noStrike" dirty="0">
                <a:effectLst/>
                <a:latin typeface="Arial" panose="020B0604020202020204" pitchFamily="34" charset="0"/>
                <a:ea typeface="Arial" panose="020B0604020202020204" pitchFamily="34" charset="0"/>
              </a:rPr>
              <a:t>Using </a:t>
            </a:r>
            <a:r>
              <a:rPr lang="en-GB" sz="1800" u="sng" strike="noStrike" dirty="0" err="1">
                <a:effectLst/>
                <a:latin typeface="Arial" panose="020B0604020202020204" pitchFamily="34" charset="0"/>
                <a:ea typeface="Arial" panose="020B0604020202020204" pitchFamily="34" charset="0"/>
              </a:rPr>
              <a:t>window.alert</a:t>
            </a:r>
            <a:r>
              <a:rPr lang="en-GB" sz="1800" u="sng" strike="noStrike" dirty="0">
                <a:effectLst/>
                <a:latin typeface="Arial" panose="020B0604020202020204" pitchFamily="34" charset="0"/>
                <a:ea typeface="Arial" panose="020B0604020202020204" pitchFamily="34" charset="0"/>
              </a:rPr>
              <a:t>()</a:t>
            </a:r>
            <a:endParaRPr lang="en-US" sz="1800" u="none" strike="noStrike"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effectLst/>
                <a:latin typeface="Arial" panose="020B0604020202020204" pitchFamily="34" charset="0"/>
                <a:ea typeface="Arial" panose="020B0604020202020204" pitchFamily="34" charset="0"/>
              </a:rPr>
              <a:t>You can use an alert box to display data:</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&lt;!DOCTYPE 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&lt;h1&gt;My First Web Page&lt;/h1&gt;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&lt;p&gt;My first paragraph.&lt;/p&gt;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&lt;script&gt;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alert(5 + 6);</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&lt;/script&gt;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&lt;/html&gt;</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2058007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3A4B-8B0E-F8BA-1057-215DBB9B263D}"/>
              </a:ext>
            </a:extLst>
          </p:cNvPr>
          <p:cNvSpPr>
            <a:spLocks noGrp="1"/>
          </p:cNvSpPr>
          <p:nvPr>
            <p:ph idx="1"/>
          </p:nvPr>
        </p:nvSpPr>
        <p:spPr>
          <a:xfrm>
            <a:off x="224287" y="888519"/>
            <a:ext cx="11197086" cy="5408763"/>
          </a:xfrm>
        </p:spPr>
        <p:txBody>
          <a:bodyPr/>
          <a:lstStyle/>
          <a:p>
            <a:pPr marL="342900" marR="0" lvl="0" indent="-342900">
              <a:spcBef>
                <a:spcPts val="1200"/>
              </a:spcBef>
              <a:spcAft>
                <a:spcPts val="1200"/>
              </a:spcAft>
              <a:buFont typeface="Arial" panose="020B0604020202020204" pitchFamily="34" charset="0"/>
              <a:buChar char="★"/>
            </a:pPr>
            <a:r>
              <a:rPr lang="en-GB" sz="1800" u="sng" strike="noStrike" dirty="0">
                <a:effectLst/>
                <a:latin typeface="Arial" panose="020B0604020202020204" pitchFamily="34" charset="0"/>
                <a:ea typeface="Arial" panose="020B0604020202020204" pitchFamily="34" charset="0"/>
              </a:rPr>
              <a:t>Using console.log </a:t>
            </a:r>
            <a:r>
              <a:rPr lang="en-GB" sz="1800" b="1" u="none" strike="noStrike" dirty="0">
                <a:effectLst/>
                <a:latin typeface="Arial" panose="020B0604020202020204" pitchFamily="34" charset="0"/>
                <a:ea typeface="Arial" panose="020B0604020202020204" pitchFamily="34" charset="0"/>
              </a:rPr>
              <a:t>()</a:t>
            </a:r>
            <a:endParaRPr lang="en-US" sz="1800" u="none" strike="noStrike"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effectLst/>
                <a:latin typeface="Arial" panose="020B0604020202020204" pitchFamily="34" charset="0"/>
                <a:ea typeface="Arial" panose="020B0604020202020204" pitchFamily="34" charset="0"/>
              </a:rPr>
              <a:t>For debugging purposes, you can call the console.log() method in the browser to display data.</a:t>
            </a:r>
            <a:endParaRPr lang="en-US" sz="1800" dirty="0">
              <a:effectLst/>
              <a:latin typeface="Calibri" panose="020F0502020204030204" pitchFamily="34" charset="0"/>
              <a:ea typeface="Calibri" panose="020F0502020204030204" pitchFamily="34" charset="0"/>
            </a:endParaRPr>
          </a:p>
          <a:p>
            <a:pPr marL="0" marR="0">
              <a:spcBef>
                <a:spcPts val="800"/>
              </a:spcBef>
            </a:pPr>
            <a:r>
              <a:rPr lang="en-GB" sz="1800" b="1" dirty="0">
                <a:effectLst/>
                <a:latin typeface="Arial" panose="020B0604020202020204" pitchFamily="34" charset="0"/>
                <a:ea typeface="Arial" panose="020B0604020202020204" pitchFamily="34" charset="0"/>
              </a:rPr>
              <a:t>Example</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 DOCTYPE 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&lt;script&gt;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console.log(5 + 6);</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&lt;/script&gt;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&lt;/html&gt;</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0624371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31DF5D-BC34-2769-101A-10FD2F7FDCC8}"/>
              </a:ext>
            </a:extLst>
          </p:cNvPr>
          <p:cNvSpPr>
            <a:spLocks noGrp="1"/>
          </p:cNvSpPr>
          <p:nvPr>
            <p:ph idx="1"/>
          </p:nvPr>
        </p:nvSpPr>
        <p:spPr>
          <a:xfrm>
            <a:off x="345057" y="966158"/>
            <a:ext cx="10808898" cy="4787662"/>
          </a:xfrm>
        </p:spPr>
        <p:txBody>
          <a:bodyPr/>
          <a:lstStyle/>
          <a:p>
            <a:pPr marL="342900" marR="0" lvl="0" indent="-342900">
              <a:spcBef>
                <a:spcPts val="1200"/>
              </a:spcBef>
              <a:spcAft>
                <a:spcPts val="1200"/>
              </a:spcAft>
              <a:buFont typeface="Arial" panose="020B0604020202020204" pitchFamily="34" charset="0"/>
              <a:buChar char="★"/>
            </a:pPr>
            <a:r>
              <a:rPr lang="en-GB" u="sng" strike="noStrike" dirty="0">
                <a:effectLst/>
                <a:latin typeface="Arial" panose="020B0604020202020204" pitchFamily="34" charset="0"/>
                <a:ea typeface="Arial" panose="020B0604020202020204" pitchFamily="34" charset="0"/>
              </a:rPr>
              <a:t>JavaScript Print</a:t>
            </a:r>
          </a:p>
          <a:p>
            <a:pPr marL="342900" marR="0" lvl="0" indent="-342900">
              <a:spcBef>
                <a:spcPts val="1200"/>
              </a:spcBef>
              <a:spcAft>
                <a:spcPts val="1200"/>
              </a:spcAft>
              <a:buFont typeface="Arial" panose="020B0604020202020204" pitchFamily="34" charset="0"/>
              <a:buChar char="★"/>
            </a:pPr>
            <a:endParaRPr lang="en-US" u="none" strike="noStrike"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50000"/>
              </a:lnSpc>
              <a:spcBef>
                <a:spcPts val="1200"/>
              </a:spcBef>
              <a:spcAft>
                <a:spcPts val="1200"/>
              </a:spcAft>
            </a:pPr>
            <a:r>
              <a:rPr lang="en-GB" dirty="0">
                <a:effectLst/>
                <a:latin typeface="Times New Roman" panose="02020603050405020304" pitchFamily="18" charset="0"/>
                <a:ea typeface="Arial" panose="020B0604020202020204" pitchFamily="34" charset="0"/>
                <a:cs typeface="Times New Roman" panose="02020603050405020304" pitchFamily="18" charset="0"/>
              </a:rPr>
              <a:t>JavaScript does not have any print object or print methods. You cannot access output devices from JavaScript. The only exception is that you can call the </a:t>
            </a:r>
            <a:r>
              <a:rPr lang="en-GB" dirty="0" err="1">
                <a:effectLst/>
                <a:latin typeface="Times New Roman" panose="02020603050405020304" pitchFamily="18" charset="0"/>
                <a:ea typeface="Arial" panose="020B0604020202020204" pitchFamily="34" charset="0"/>
                <a:cs typeface="Times New Roman" panose="02020603050405020304" pitchFamily="18" charset="0"/>
              </a:rPr>
              <a:t>window.print</a:t>
            </a:r>
            <a:r>
              <a:rPr lang="en-GB" dirty="0">
                <a:effectLst/>
                <a:latin typeface="Times New Roman" panose="02020603050405020304" pitchFamily="18" charset="0"/>
                <a:ea typeface="Arial" panose="020B0604020202020204" pitchFamily="34" charset="0"/>
                <a:cs typeface="Times New Roman" panose="02020603050405020304" pitchFamily="18" charset="0"/>
              </a:rPr>
              <a:t>() method in the browser to print the content of the current window.</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304690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649C4-C4FE-4A70-B7A6-FF5C2BA465FE}"/>
              </a:ext>
            </a:extLst>
          </p:cNvPr>
          <p:cNvSpPr>
            <a:spLocks noGrp="1"/>
          </p:cNvSpPr>
          <p:nvPr>
            <p:ph idx="1"/>
          </p:nvPr>
        </p:nvSpPr>
        <p:spPr>
          <a:xfrm>
            <a:off x="267419" y="1052423"/>
            <a:ext cx="11266098" cy="4908429"/>
          </a:xfrm>
        </p:spPr>
        <p:txBody>
          <a:bodyPr/>
          <a:lstStyle/>
          <a:p>
            <a:pPr marL="0" marR="0"/>
            <a:r>
              <a:rPr lang="en-GB" sz="1800" dirty="0">
                <a:effectLst/>
                <a:latin typeface="Arial" panose="020B0604020202020204" pitchFamily="34" charset="0"/>
                <a:ea typeface="Arial" panose="020B0604020202020204" pitchFamily="34" charset="0"/>
              </a:rPr>
              <a:t>&lt;!DOCTYPE 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&lt;button onclick="</a:t>
            </a:r>
            <a:r>
              <a:rPr lang="en-GB" sz="1800" dirty="0" err="1">
                <a:effectLst/>
                <a:latin typeface="Arial" panose="020B0604020202020204" pitchFamily="34" charset="0"/>
                <a:ea typeface="Arial" panose="020B0604020202020204" pitchFamily="34" charset="0"/>
              </a:rPr>
              <a:t>window.print</a:t>
            </a:r>
            <a:r>
              <a:rPr lang="en-GB" sz="1800" dirty="0">
                <a:effectLst/>
                <a:latin typeface="Arial" panose="020B0604020202020204" pitchFamily="34" charset="0"/>
                <a:ea typeface="Arial" panose="020B0604020202020204" pitchFamily="34" charset="0"/>
              </a:rPr>
              <a:t>()"&gt;Print this page&lt;/button&gt;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&lt;/html&gt;</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1112526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C44A89-8D9F-ABD2-BA84-49A3ECCC54EC}"/>
              </a:ext>
            </a:extLst>
          </p:cNvPr>
          <p:cNvSpPr>
            <a:spLocks noGrp="1"/>
          </p:cNvSpPr>
          <p:nvPr>
            <p:ph idx="1"/>
          </p:nvPr>
        </p:nvSpPr>
        <p:spPr>
          <a:xfrm>
            <a:off x="1095555" y="1086928"/>
            <a:ext cx="10282687" cy="4971947"/>
          </a:xfrm>
        </p:spPr>
        <p:txBody>
          <a:bodyPr/>
          <a:lstStyle/>
          <a:p>
            <a:pPr marL="1143000" marR="0" indent="0">
              <a:lnSpc>
                <a:spcPct val="150000"/>
              </a:lnSpc>
              <a:spcBef>
                <a:spcPts val="1800"/>
              </a:spcBef>
              <a:spcAft>
                <a:spcPts val="400"/>
              </a:spcAft>
              <a:buNone/>
            </a:pPr>
            <a:r>
              <a:rPr lang="fr-FR" sz="1800" b="1" dirty="0">
                <a:effectLst/>
                <a:latin typeface="Arial" panose="020B0604020202020204" pitchFamily="34" charset="0"/>
              </a:rPr>
              <a:t>Indicative content 1.3: Use of variables in JAVASCRIPT</a:t>
            </a:r>
            <a:endParaRPr lang="en-US" sz="1800" b="1" dirty="0">
              <a:effectLst/>
              <a:latin typeface="Arial" panose="020B0604020202020204" pitchFamily="34" charset="0"/>
            </a:endParaRPr>
          </a:p>
          <a:p>
            <a:pPr marL="0" marR="0"/>
            <a:r>
              <a:rPr lang="en-US" sz="1800" b="1" dirty="0">
                <a:effectLst/>
                <a:latin typeface="Arial" panose="020B0604020202020204" pitchFamily="34" charset="0"/>
                <a:ea typeface="Arial" panose="020B0604020202020204" pitchFamily="34" charset="0"/>
              </a:rPr>
              <a:t>               1.3.1: Declaration and re-declaration of </a:t>
            </a:r>
            <a:r>
              <a:rPr lang="en-US" sz="1800" b="1" dirty="0" err="1">
                <a:effectLst/>
                <a:latin typeface="Arial" panose="020B0604020202020204" pitchFamily="34" charset="0"/>
                <a:ea typeface="Arial" panose="020B0604020202020204" pitchFamily="34" charset="0"/>
              </a:rPr>
              <a:t>variablesA</a:t>
            </a:r>
            <a:endParaRPr lang="en-US" sz="1800" b="1" dirty="0">
              <a:effectLst/>
              <a:latin typeface="Arial" panose="020B0604020202020204" pitchFamily="34" charset="0"/>
              <a:ea typeface="Arial" panose="020B0604020202020204" pitchFamily="34" charset="0"/>
            </a:endParaRPr>
          </a:p>
          <a:p>
            <a:pPr marL="0" marR="0"/>
            <a:r>
              <a:rPr lang="en-GB" sz="1800" dirty="0">
                <a:effectLst/>
                <a:latin typeface="Arial" panose="020B0604020202020204" pitchFamily="34" charset="0"/>
                <a:ea typeface="Arial" panose="020B0604020202020204" pitchFamily="34" charset="0"/>
              </a:rPr>
              <a:t> </a:t>
            </a:r>
            <a:r>
              <a:rPr lang="en-GB" sz="1800" b="1" dirty="0" err="1">
                <a:effectLst/>
                <a:latin typeface="Arial" panose="020B0604020202020204" pitchFamily="34" charset="0"/>
                <a:ea typeface="Arial" panose="020B0604020202020204" pitchFamily="34" charset="0"/>
              </a:rPr>
              <a:t>Javascript</a:t>
            </a:r>
            <a:r>
              <a:rPr lang="en-GB" sz="1800" b="1" dirty="0">
                <a:effectLst/>
                <a:latin typeface="Arial" panose="020B0604020202020204" pitchFamily="34" charset="0"/>
                <a:ea typeface="Arial" panose="020B0604020202020204" pitchFamily="34" charset="0"/>
              </a:rPr>
              <a:t> variables</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a:effectLst/>
                <a:latin typeface="Arial" panose="020B0604020202020204" pitchFamily="34" charset="0"/>
                <a:ea typeface="Arial" panose="020B0604020202020204" pitchFamily="34" charset="0"/>
              </a:rPr>
              <a:t>A JavaScript variable is simply a name of a storage location. There are two types of variables in JavaScript : local variable and global variable</a:t>
            </a:r>
          </a:p>
          <a:p>
            <a:pPr marL="901700" marR="0">
              <a:spcBef>
                <a:spcPts val="1200"/>
              </a:spcBef>
              <a:spcAft>
                <a:spcPts val="1200"/>
              </a:spcAft>
            </a:pPr>
            <a:r>
              <a:rPr lang="en-GB" sz="1800" b="1" dirty="0">
                <a:effectLst/>
                <a:latin typeface="Arial Unicode MS"/>
                <a:ea typeface="Arial Unicode MS"/>
                <a:cs typeface="Arial Unicode MS"/>
              </a:rPr>
              <a:t>✔ Declaration of variable</a:t>
            </a:r>
            <a:endParaRPr lang="en-US" sz="1800" dirty="0">
              <a:effectLst/>
              <a:latin typeface="Calibri" panose="020F0502020204030204" pitchFamily="34" charset="0"/>
              <a:ea typeface="Calibri" panose="020F0502020204030204" pitchFamily="34" charset="0"/>
            </a:endParaRPr>
          </a:p>
          <a:p>
            <a:pPr marL="0" marR="0"/>
            <a:r>
              <a:rPr lang="en-GB" sz="1800" dirty="0">
                <a:effectLst/>
                <a:highlight>
                  <a:srgbClr val="FFFFFF"/>
                </a:highlight>
                <a:latin typeface="Arial" panose="020B0604020202020204" pitchFamily="34" charset="0"/>
                <a:ea typeface="Arial" panose="020B0604020202020204" pitchFamily="34" charset="0"/>
              </a:rPr>
              <a:t>Creating a variable in JavaScript is called "declaring" a variable.</a:t>
            </a:r>
            <a:endParaRPr lang="en-US" sz="1800" dirty="0">
              <a:effectLst/>
              <a:latin typeface="Calibri" panose="020F0502020204030204" pitchFamily="34" charset="0"/>
              <a:ea typeface="Calibri" panose="020F0502020204030204" pitchFamily="34" charset="0"/>
            </a:endParaRPr>
          </a:p>
          <a:p>
            <a:pPr marL="0" marR="0"/>
            <a:r>
              <a:rPr lang="en-GB" sz="1800" dirty="0">
                <a:effectLst/>
                <a:highlight>
                  <a:srgbClr val="FFFFFF"/>
                </a:highlight>
                <a:latin typeface="Arial" panose="020B0604020202020204" pitchFamily="34" charset="0"/>
                <a:ea typeface="Arial" panose="020B0604020202020204" pitchFamily="34" charset="0"/>
              </a:rPr>
              <a:t>Before you use a variable in a JavaScript program, you must declare it.</a:t>
            </a:r>
            <a:endParaRPr lang="en-US" sz="1800" dirty="0">
              <a:effectLst/>
              <a:latin typeface="Calibri" panose="020F0502020204030204" pitchFamily="34" charset="0"/>
              <a:ea typeface="Calibri" panose="020F0502020204030204" pitchFamily="34" charset="0"/>
            </a:endParaRPr>
          </a:p>
          <a:p>
            <a:pPr marL="0" marR="0"/>
            <a:endParaRPr lang="en-US" dirty="0"/>
          </a:p>
        </p:txBody>
      </p:sp>
    </p:spTree>
    <p:extLst>
      <p:ext uri="{BB962C8B-B14F-4D97-AF65-F5344CB8AC3E}">
        <p14:creationId xmlns:p14="http://schemas.microsoft.com/office/powerpoint/2010/main" val="39005500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081677-3A06-7F99-7A4F-BA2B2598547A}"/>
              </a:ext>
            </a:extLst>
          </p:cNvPr>
          <p:cNvSpPr>
            <a:spLocks noGrp="1"/>
          </p:cNvSpPr>
          <p:nvPr>
            <p:ph idx="1"/>
          </p:nvPr>
        </p:nvSpPr>
        <p:spPr>
          <a:xfrm>
            <a:off x="362309" y="983410"/>
            <a:ext cx="11231593" cy="5287993"/>
          </a:xfrm>
        </p:spPr>
        <p:txBody>
          <a:bodyPr>
            <a:normAutofit/>
          </a:bodyPr>
          <a:lstStyle/>
          <a:p>
            <a:pPr marL="0" marR="0"/>
            <a:r>
              <a:rPr lang="en-GB" dirty="0">
                <a:effectLst/>
                <a:latin typeface="Calibri" panose="020F0502020204030204" pitchFamily="34" charset="0"/>
                <a:ea typeface="Calibri" panose="020F0502020204030204" pitchFamily="34" charset="0"/>
              </a:rPr>
              <a:t> </a:t>
            </a:r>
            <a:r>
              <a:rPr lang="en-GB" b="1" dirty="0">
                <a:effectLst/>
                <a:latin typeface="Arial" panose="020B0604020202020204" pitchFamily="34" charset="0"/>
                <a:ea typeface="Arial" panose="020B0604020202020204" pitchFamily="34" charset="0"/>
              </a:rPr>
              <a:t>Four Ways to Declare a JavaScript Variable:</a:t>
            </a:r>
            <a:endParaRPr lang="en-US" dirty="0">
              <a:effectLst/>
              <a:latin typeface="Calibri" panose="020F0502020204030204" pitchFamily="34" charset="0"/>
              <a:ea typeface="Calibri" panose="020F0502020204030204" pitchFamily="34" charset="0"/>
            </a:endParaRPr>
          </a:p>
          <a:p>
            <a:pPr marL="342900" marR="0" lvl="0" indent="-342900">
              <a:spcBef>
                <a:spcPts val="1100"/>
              </a:spcBef>
              <a:buSzPts val="1150"/>
              <a:buFont typeface="Arial" panose="020B0604020202020204" pitchFamily="34" charset="0"/>
              <a:buChar char="●"/>
            </a:pPr>
            <a:r>
              <a:rPr lang="en-GB" u="none" strike="noStrike" dirty="0">
                <a:effectLst/>
                <a:latin typeface="Arial" panose="020B0604020202020204" pitchFamily="34" charset="0"/>
                <a:ea typeface="Arial" panose="020B0604020202020204" pitchFamily="34" charset="0"/>
                <a:cs typeface="Verdana" panose="020B0604030504040204" pitchFamily="34" charset="0"/>
              </a:rPr>
              <a:t>Using var</a:t>
            </a:r>
            <a:endParaRPr lang="en-US" u="none" strike="noStrike"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buSzPts val="1150"/>
              <a:buFont typeface="Arial" panose="020B0604020202020204" pitchFamily="34" charset="0"/>
              <a:buChar char="●"/>
            </a:pPr>
            <a:r>
              <a:rPr lang="en-GB" u="none" strike="noStrike" dirty="0">
                <a:effectLst/>
                <a:latin typeface="Arial" panose="020B0604020202020204" pitchFamily="34" charset="0"/>
                <a:ea typeface="Arial" panose="020B0604020202020204" pitchFamily="34" charset="0"/>
                <a:cs typeface="Verdana" panose="020B0604030504040204" pitchFamily="34" charset="0"/>
              </a:rPr>
              <a:t>Using let</a:t>
            </a:r>
            <a:endParaRPr lang="en-US" u="none" strike="noStrike"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buSzPts val="1150"/>
              <a:buFont typeface="Arial" panose="020B0604020202020204" pitchFamily="34" charset="0"/>
              <a:buChar char="●"/>
            </a:pPr>
            <a:r>
              <a:rPr lang="en-GB" u="none" strike="noStrike" dirty="0">
                <a:effectLst/>
                <a:latin typeface="Arial" panose="020B0604020202020204" pitchFamily="34" charset="0"/>
                <a:ea typeface="Arial" panose="020B0604020202020204" pitchFamily="34" charset="0"/>
                <a:cs typeface="Verdana" panose="020B0604030504040204" pitchFamily="34" charset="0"/>
              </a:rPr>
              <a:t>Using </a:t>
            </a:r>
            <a:r>
              <a:rPr lang="en-GB" u="none" strike="noStrike" dirty="0" err="1">
                <a:effectLst/>
                <a:latin typeface="Arial" panose="020B0604020202020204" pitchFamily="34" charset="0"/>
                <a:ea typeface="Arial" panose="020B0604020202020204" pitchFamily="34" charset="0"/>
                <a:cs typeface="Verdana" panose="020B0604030504040204" pitchFamily="34" charset="0"/>
              </a:rPr>
              <a:t>const</a:t>
            </a:r>
            <a:endParaRPr lang="en-US" u="none" strike="noStrike"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Aft>
                <a:spcPts val="1100"/>
              </a:spcAft>
              <a:buSzPts val="1150"/>
              <a:buFont typeface="Arial" panose="020B0604020202020204" pitchFamily="34" charset="0"/>
              <a:buChar char="●"/>
            </a:pPr>
            <a:r>
              <a:rPr lang="en-GB" u="none" strike="noStrike" dirty="0">
                <a:effectLst/>
                <a:latin typeface="Arial" panose="020B0604020202020204" pitchFamily="34" charset="0"/>
                <a:ea typeface="Arial" panose="020B0604020202020204" pitchFamily="34" charset="0"/>
                <a:cs typeface="Verdana" panose="020B0604030504040204" pitchFamily="34" charset="0"/>
              </a:rPr>
              <a:t>Using nothing</a:t>
            </a:r>
            <a:endParaRPr lang="en-US" u="none" strike="noStrike"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1200"/>
              </a:spcBef>
              <a:spcAft>
                <a:spcPts val="1200"/>
              </a:spcAft>
            </a:pPr>
            <a:r>
              <a:rPr lang="en-GB" dirty="0">
                <a:effectLst/>
                <a:latin typeface="Arial" panose="020B0604020202020204" pitchFamily="34" charset="0"/>
                <a:ea typeface="Arial" panose="020B0604020202020204" pitchFamily="34" charset="0"/>
              </a:rPr>
              <a:t>There are some rules while declaring a JavaScript variable (also known as identifiers).</a:t>
            </a:r>
            <a:endParaRPr lang="en-US" dirty="0">
              <a:effectLst/>
              <a:latin typeface="Calibri" panose="020F0502020204030204" pitchFamily="34" charset="0"/>
              <a:ea typeface="Calibri" panose="020F0502020204030204" pitchFamily="34" charset="0"/>
            </a:endParaRPr>
          </a:p>
          <a:p>
            <a:pPr marL="342900" marR="0" lvl="0" indent="-342900">
              <a:buFont typeface="+mj-lt"/>
              <a:buAutoNum type="arabicPeriod"/>
            </a:pPr>
            <a:r>
              <a:rPr lang="en-GB" u="none" strike="noStrike" dirty="0">
                <a:effectLst/>
                <a:latin typeface="Arial" panose="020B0604020202020204" pitchFamily="34" charset="0"/>
                <a:ea typeface="Arial" panose="020B0604020202020204" pitchFamily="34" charset="0"/>
              </a:rPr>
              <a:t>Name must start with a letter (a to z or A to Z), underscore( _ ), or dollar( $ ) sign.</a:t>
            </a:r>
            <a:endParaRPr lang="en-US" u="none" strike="noStrike" dirty="0">
              <a:effectLst/>
              <a:latin typeface="Calibri" panose="020F0502020204030204" pitchFamily="34" charset="0"/>
              <a:ea typeface="Calibri" panose="020F0502020204030204" pitchFamily="34" charset="0"/>
            </a:endParaRPr>
          </a:p>
          <a:p>
            <a:pPr marL="342900" marR="0" lvl="0" indent="-342900">
              <a:buFont typeface="+mj-lt"/>
              <a:buAutoNum type="arabicPeriod"/>
            </a:pPr>
            <a:r>
              <a:rPr lang="en-GB" u="none" strike="noStrike" dirty="0">
                <a:effectLst/>
                <a:latin typeface="Arial" panose="020B0604020202020204" pitchFamily="34" charset="0"/>
                <a:ea typeface="Arial" panose="020B0604020202020204" pitchFamily="34" charset="0"/>
              </a:rPr>
              <a:t>After the first letter we can use digits (0 to 9), for example value1.</a:t>
            </a:r>
            <a:endParaRPr lang="en-US" u="none" strike="noStrike" dirty="0">
              <a:effectLst/>
              <a:latin typeface="Calibri" panose="020F0502020204030204" pitchFamily="34" charset="0"/>
              <a:ea typeface="Calibri" panose="020F0502020204030204" pitchFamily="34" charset="0"/>
            </a:endParaRPr>
          </a:p>
          <a:p>
            <a:pPr marL="342900" marR="0" lvl="0" indent="-342900">
              <a:spcAft>
                <a:spcPts val="1200"/>
              </a:spcAft>
              <a:buFont typeface="+mj-lt"/>
              <a:buAutoNum type="arabicPeriod"/>
            </a:pPr>
            <a:r>
              <a:rPr lang="en-GB" u="none" strike="noStrike" dirty="0">
                <a:effectLst/>
                <a:latin typeface="Arial" panose="020B0604020202020204" pitchFamily="34" charset="0"/>
                <a:ea typeface="Arial" panose="020B0604020202020204" pitchFamily="34" charset="0"/>
              </a:rPr>
              <a:t>JavaScript variables are case sensitive, for example x and X are different variables.</a:t>
            </a:r>
            <a:endParaRPr lang="en-US" dirty="0"/>
          </a:p>
        </p:txBody>
      </p:sp>
    </p:spTree>
    <p:extLst>
      <p:ext uri="{BB962C8B-B14F-4D97-AF65-F5344CB8AC3E}">
        <p14:creationId xmlns:p14="http://schemas.microsoft.com/office/powerpoint/2010/main" val="33434958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7A41FD-BD9C-C668-FD3D-1FEFA4FDD087}"/>
              </a:ext>
            </a:extLst>
          </p:cNvPr>
          <p:cNvSpPr>
            <a:spLocks noGrp="1"/>
          </p:cNvSpPr>
          <p:nvPr>
            <p:ph idx="1"/>
          </p:nvPr>
        </p:nvSpPr>
        <p:spPr>
          <a:xfrm>
            <a:off x="526211" y="1095554"/>
            <a:ext cx="10638095" cy="4868430"/>
          </a:xfrm>
        </p:spPr>
        <p:txBody>
          <a:bodyPr/>
          <a:lstStyle/>
          <a:p>
            <a:pPr marL="457200" marR="0">
              <a:spcAft>
                <a:spcPts val="1200"/>
              </a:spcAft>
            </a:pPr>
            <a:r>
              <a:rPr lang="en-GB" sz="1800" b="1" dirty="0">
                <a:effectLst/>
                <a:latin typeface="Arial" panose="020B0604020202020204" pitchFamily="34" charset="0"/>
                <a:ea typeface="Arial" panose="020B0604020202020204" pitchFamily="34" charset="0"/>
              </a:rPr>
              <a:t>Variable initialization</a:t>
            </a:r>
            <a:endParaRPr lang="en-US" sz="1800" dirty="0">
              <a:effectLst/>
              <a:latin typeface="Calibri" panose="020F0502020204030204" pitchFamily="34" charset="0"/>
              <a:ea typeface="Calibri" panose="020F0502020204030204" pitchFamily="34" charset="0"/>
            </a:endParaRPr>
          </a:p>
          <a:p>
            <a:pPr marL="0" marR="0">
              <a:spcBef>
                <a:spcPts val="1400"/>
              </a:spcBef>
              <a:spcAft>
                <a:spcPts val="1400"/>
              </a:spcAft>
            </a:pPr>
            <a:r>
              <a:rPr lang="en-GB" sz="1800" dirty="0">
                <a:solidFill>
                  <a:srgbClr val="000000"/>
                </a:solidFill>
                <a:effectLst/>
                <a:latin typeface="Arial" panose="020B0604020202020204" pitchFamily="34" charset="0"/>
                <a:ea typeface="Arial" panose="020B0604020202020204" pitchFamily="34" charset="0"/>
              </a:rPr>
              <a:t>After the declaration, the variable has no value (technically it is undefined).</a:t>
            </a:r>
            <a:endParaRPr lang="en-US" sz="1800" dirty="0">
              <a:effectLst/>
              <a:latin typeface="Calibri" panose="020F0502020204030204" pitchFamily="34" charset="0"/>
              <a:ea typeface="Calibri" panose="020F0502020204030204" pitchFamily="34" charset="0"/>
            </a:endParaRPr>
          </a:p>
          <a:p>
            <a:pPr marL="0" marR="0">
              <a:spcBef>
                <a:spcPts val="1400"/>
              </a:spcBef>
              <a:spcAft>
                <a:spcPts val="1400"/>
              </a:spcAft>
            </a:pPr>
            <a:r>
              <a:rPr lang="en-GB" sz="1800" dirty="0">
                <a:solidFill>
                  <a:srgbClr val="000000"/>
                </a:solidFill>
                <a:effectLst/>
                <a:latin typeface="Arial" panose="020B0604020202020204" pitchFamily="34" charset="0"/>
                <a:ea typeface="Arial" panose="020B0604020202020204" pitchFamily="34" charset="0"/>
              </a:rPr>
              <a:t>To assign a value to the variable, use the “= “sign:</a:t>
            </a:r>
            <a:endParaRPr lang="en-US" sz="1800" dirty="0">
              <a:effectLst/>
              <a:latin typeface="Calibri" panose="020F0502020204030204" pitchFamily="34" charset="0"/>
              <a:ea typeface="Calibri" panose="020F0502020204030204" pitchFamily="34" charset="0"/>
            </a:endParaRPr>
          </a:p>
          <a:p>
            <a:pPr marL="0" marR="0" algn="just">
              <a:spcBef>
                <a:spcPts val="1200"/>
              </a:spcBef>
              <a:spcAft>
                <a:spcPts val="1200"/>
              </a:spcAft>
            </a:pPr>
            <a:r>
              <a:rPr lang="en-GB" sz="1800" dirty="0">
                <a:solidFill>
                  <a:srgbClr val="000000"/>
                </a:solidFill>
                <a:effectLst/>
                <a:latin typeface="Arial" panose="020B0604020202020204" pitchFamily="34" charset="0"/>
                <a:ea typeface="Arial" panose="020B0604020202020204" pitchFamily="34" charset="0"/>
              </a:rPr>
              <a:t>The syntax of variable initialization: </a:t>
            </a:r>
            <a:r>
              <a:rPr lang="en-GB" sz="1800" dirty="0" err="1">
                <a:solidFill>
                  <a:srgbClr val="000000"/>
                </a:solidFill>
                <a:effectLst/>
                <a:latin typeface="Arial" panose="020B0604020202020204" pitchFamily="34" charset="0"/>
                <a:ea typeface="Arial" panose="020B0604020202020204" pitchFamily="34" charset="0"/>
              </a:rPr>
              <a:t>variable_name</a:t>
            </a:r>
            <a:r>
              <a:rPr lang="en-GB" sz="1800" dirty="0">
                <a:solidFill>
                  <a:srgbClr val="000000"/>
                </a:solidFill>
                <a:effectLst/>
                <a:latin typeface="Arial" panose="020B0604020202020204" pitchFamily="34" charset="0"/>
                <a:ea typeface="Arial" panose="020B0604020202020204" pitchFamily="34" charset="0"/>
              </a:rPr>
              <a:t> = </a:t>
            </a:r>
            <a:r>
              <a:rPr lang="en-GB" sz="1800" dirty="0" err="1">
                <a:solidFill>
                  <a:srgbClr val="000000"/>
                </a:solidFill>
                <a:effectLst/>
                <a:latin typeface="Arial" panose="020B0604020202020204" pitchFamily="34" charset="0"/>
                <a:ea typeface="Arial" panose="020B0604020202020204" pitchFamily="34" charset="0"/>
              </a:rPr>
              <a:t>variable_value</a:t>
            </a:r>
            <a:r>
              <a:rPr lang="en-GB" sz="1800" dirty="0">
                <a:solidFill>
                  <a:srgbClr val="000000"/>
                </a:solidFill>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spcBef>
                <a:spcPts val="1400"/>
              </a:spcBef>
              <a:spcAft>
                <a:spcPts val="1400"/>
              </a:spcAft>
            </a:pPr>
            <a:r>
              <a:rPr lang="en-GB" sz="1800" dirty="0">
                <a:solidFill>
                  <a:srgbClr val="000000"/>
                </a:solidFill>
                <a:effectLst/>
                <a:highlight>
                  <a:srgbClr val="FFFFFF"/>
                </a:highlight>
                <a:latin typeface="Arial" panose="020B0604020202020204" pitchFamily="34" charset="0"/>
                <a:ea typeface="Arial" panose="020B0604020202020204" pitchFamily="34" charset="0"/>
              </a:rPr>
              <a:t>Example: </a:t>
            </a:r>
            <a:r>
              <a:rPr lang="en-GB" sz="1800" dirty="0" err="1">
                <a:solidFill>
                  <a:srgbClr val="000000"/>
                </a:solidFill>
                <a:effectLst/>
                <a:highlight>
                  <a:srgbClr val="FFFFFF"/>
                </a:highlight>
                <a:latin typeface="Arial" panose="020B0604020202020204" pitchFamily="34" charset="0"/>
                <a:ea typeface="Arial" panose="020B0604020202020204" pitchFamily="34" charset="0"/>
              </a:rPr>
              <a:t>carName</a:t>
            </a:r>
            <a:r>
              <a:rPr lang="en-GB" sz="1800" dirty="0">
                <a:solidFill>
                  <a:srgbClr val="000000"/>
                </a:solidFill>
                <a:effectLst/>
                <a:highlight>
                  <a:srgbClr val="FFFFFF"/>
                </a:highlight>
                <a:latin typeface="Arial" panose="020B0604020202020204" pitchFamily="34" charset="0"/>
                <a:ea typeface="Arial" panose="020B0604020202020204" pitchFamily="34" charset="0"/>
              </a:rPr>
              <a:t> = "Volvo";</a:t>
            </a:r>
            <a:endParaRPr lang="en-US" sz="1800" dirty="0">
              <a:effectLst/>
              <a:latin typeface="Calibri" panose="020F0502020204030204" pitchFamily="34" charset="0"/>
              <a:ea typeface="Calibri" panose="020F0502020204030204" pitchFamily="34" charset="0"/>
            </a:endParaRPr>
          </a:p>
          <a:p>
            <a:pPr marL="0" marR="0">
              <a:spcBef>
                <a:spcPts val="1400"/>
              </a:spcBef>
              <a:spcAft>
                <a:spcPts val="1400"/>
              </a:spcAft>
            </a:pPr>
            <a:r>
              <a:rPr lang="en-GB" sz="1800" dirty="0">
                <a:solidFill>
                  <a:srgbClr val="000000"/>
                </a:solidFill>
                <a:effectLst/>
                <a:highlight>
                  <a:srgbClr val="FFFFFF"/>
                </a:highlight>
                <a:latin typeface="Arial" panose="020B0604020202020204" pitchFamily="34" charset="0"/>
                <a:ea typeface="Arial" panose="020B0604020202020204" pitchFamily="34" charset="0"/>
              </a:rPr>
              <a:t>You can also assign a value to the variable when you declare it:</a:t>
            </a:r>
            <a:endParaRPr lang="en-US" sz="1800" dirty="0">
              <a:effectLst/>
              <a:latin typeface="Calibri" panose="020F0502020204030204" pitchFamily="34" charset="0"/>
              <a:ea typeface="Calibri" panose="020F0502020204030204" pitchFamily="34" charset="0"/>
            </a:endParaRPr>
          </a:p>
          <a:p>
            <a:pPr marL="0" marR="0">
              <a:spcBef>
                <a:spcPts val="1400"/>
              </a:spcBef>
              <a:spcAft>
                <a:spcPts val="1400"/>
              </a:spcAft>
            </a:pPr>
            <a:r>
              <a:rPr lang="en-GB" sz="1800" dirty="0">
                <a:solidFill>
                  <a:srgbClr val="000000"/>
                </a:solidFill>
                <a:effectLst/>
                <a:highlight>
                  <a:srgbClr val="FFFFFF"/>
                </a:highlight>
                <a:latin typeface="Arial" panose="020B0604020202020204" pitchFamily="34" charset="0"/>
                <a:ea typeface="Arial" panose="020B0604020202020204" pitchFamily="34" charset="0"/>
              </a:rPr>
              <a:t>let </a:t>
            </a:r>
            <a:r>
              <a:rPr lang="en-GB" sz="1800" dirty="0" err="1">
                <a:solidFill>
                  <a:srgbClr val="000000"/>
                </a:solidFill>
                <a:effectLst/>
                <a:highlight>
                  <a:srgbClr val="FFFFFF"/>
                </a:highlight>
                <a:latin typeface="Arial" panose="020B0604020202020204" pitchFamily="34" charset="0"/>
                <a:ea typeface="Arial" panose="020B0604020202020204" pitchFamily="34" charset="0"/>
              </a:rPr>
              <a:t>carName</a:t>
            </a:r>
            <a:r>
              <a:rPr lang="en-GB" sz="1800" dirty="0">
                <a:solidFill>
                  <a:srgbClr val="000000"/>
                </a:solidFill>
                <a:effectLst/>
                <a:highlight>
                  <a:srgbClr val="FFFFFF"/>
                </a:highlight>
                <a:latin typeface="Arial" panose="020B0604020202020204" pitchFamily="34" charset="0"/>
                <a:ea typeface="Arial" panose="020B0604020202020204" pitchFamily="34" charset="0"/>
              </a:rPr>
              <a:t> = "Volvo";</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5143779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624FDA-9340-8B05-EA19-67F3BEFD3E0B}"/>
              </a:ext>
            </a:extLst>
          </p:cNvPr>
          <p:cNvSpPr>
            <a:spLocks noGrp="1"/>
          </p:cNvSpPr>
          <p:nvPr>
            <p:ph idx="1"/>
          </p:nvPr>
        </p:nvSpPr>
        <p:spPr>
          <a:xfrm>
            <a:off x="552091" y="1000664"/>
            <a:ext cx="10603589" cy="4868430"/>
          </a:xfrm>
        </p:spPr>
        <p:txBody>
          <a:bodyPr/>
          <a:lstStyle/>
          <a:p>
            <a:pPr marL="0" marR="0">
              <a:lnSpc>
                <a:spcPct val="150000"/>
              </a:lnSpc>
              <a:spcAft>
                <a:spcPts val="800"/>
              </a:spcAft>
            </a:pPr>
            <a:r>
              <a:rPr lang="en-GB" sz="1800" b="1" dirty="0" err="1">
                <a:effectLst/>
                <a:highlight>
                  <a:srgbClr val="FFFFFF"/>
                </a:highlight>
                <a:latin typeface="Arial" panose="020B0604020202020204" pitchFamily="34" charset="0"/>
                <a:ea typeface="Arial" panose="020B0604020202020204" pitchFamily="34" charset="0"/>
              </a:rPr>
              <a:t>Javascript</a:t>
            </a:r>
            <a:r>
              <a:rPr lang="en-GB" sz="1800" b="1" dirty="0">
                <a:effectLst/>
                <a:highlight>
                  <a:srgbClr val="FFFFFF"/>
                </a:highlight>
                <a:latin typeface="Arial" panose="020B0604020202020204" pitchFamily="34" charset="0"/>
                <a:ea typeface="Arial" panose="020B0604020202020204" pitchFamily="34" charset="0"/>
              </a:rPr>
              <a:t> variable scope</a:t>
            </a:r>
            <a:endParaRPr lang="en-US" sz="1800" dirty="0">
              <a:effectLst/>
              <a:latin typeface="Calibri" panose="020F0502020204030204" pitchFamily="34" charset="0"/>
              <a:ea typeface="Calibri" panose="020F0502020204030204" pitchFamily="34" charset="0"/>
            </a:endParaRPr>
          </a:p>
          <a:p>
            <a:pPr marL="342900" marR="0" lvl="0" indent="-342900">
              <a:lnSpc>
                <a:spcPct val="150000"/>
              </a:lnSpc>
              <a:spcBef>
                <a:spcPts val="1400"/>
              </a:spcBef>
              <a:spcAft>
                <a:spcPts val="1400"/>
              </a:spcAft>
              <a:buFont typeface="Arial" panose="020B0604020202020204" pitchFamily="34" charset="0"/>
              <a:buChar char="★"/>
            </a:pPr>
            <a:r>
              <a:rPr lang="en-GB" sz="1800" b="1" u="none" strike="noStrike" dirty="0">
                <a:solidFill>
                  <a:srgbClr val="000000"/>
                </a:solidFill>
                <a:effectLst/>
                <a:highlight>
                  <a:srgbClr val="FFFFFF"/>
                </a:highlight>
                <a:latin typeface="Arial" panose="020B0604020202020204" pitchFamily="34" charset="0"/>
                <a:ea typeface="Arial" panose="020B0604020202020204" pitchFamily="34" charset="0"/>
              </a:rPr>
              <a:t> </a:t>
            </a:r>
            <a:r>
              <a:rPr lang="en-GB" sz="1800" b="1" u="none" strike="noStrike" dirty="0" err="1">
                <a:solidFill>
                  <a:srgbClr val="000000"/>
                </a:solidFill>
                <a:effectLst/>
                <a:highlight>
                  <a:srgbClr val="FFFFFF"/>
                </a:highlight>
                <a:latin typeface="Arial" panose="020B0604020202020204" pitchFamily="34" charset="0"/>
                <a:ea typeface="Arial" panose="020B0604020202020204" pitchFamily="34" charset="0"/>
              </a:rPr>
              <a:t>Javascript</a:t>
            </a:r>
            <a:r>
              <a:rPr lang="en-GB" sz="1800" b="1" u="none" strike="noStrike" dirty="0">
                <a:solidFill>
                  <a:srgbClr val="000000"/>
                </a:solidFill>
                <a:effectLst/>
                <a:highlight>
                  <a:srgbClr val="FFFFFF"/>
                </a:highlight>
                <a:latin typeface="Arial" panose="020B0604020202020204" pitchFamily="34" charset="0"/>
                <a:ea typeface="Arial" panose="020B0604020202020204" pitchFamily="34" charset="0"/>
              </a:rPr>
              <a:t> local variables</a:t>
            </a:r>
            <a:endParaRPr lang="en-US" sz="1800" u="none" strike="noStrike" dirty="0">
              <a:effectLst/>
              <a:latin typeface="Calibri" panose="020F0502020204030204" pitchFamily="34" charset="0"/>
              <a:ea typeface="Calibri" panose="020F0502020204030204" pitchFamily="34" charset="0"/>
            </a:endParaRPr>
          </a:p>
          <a:p>
            <a:pPr marL="0" marR="0" algn="just">
              <a:lnSpc>
                <a:spcPct val="150000"/>
              </a:lnSpc>
              <a:spcBef>
                <a:spcPts val="1200"/>
              </a:spcBef>
              <a:spcAft>
                <a:spcPts val="1200"/>
              </a:spcAft>
            </a:pPr>
            <a:r>
              <a:rPr lang="en-GB" sz="1800" dirty="0">
                <a:solidFill>
                  <a:srgbClr val="000000"/>
                </a:solidFill>
                <a:effectLst/>
                <a:latin typeface="Arial" panose="020B0604020202020204" pitchFamily="34" charset="0"/>
                <a:ea typeface="Arial" panose="020B0604020202020204" pitchFamily="34" charset="0"/>
              </a:rPr>
              <a:t>A JavaScript local variable is declared inside a block or function. It is accessible within the function or block only. </a:t>
            </a:r>
            <a:endParaRPr lang="en-US" sz="1800" dirty="0">
              <a:effectLst/>
              <a:latin typeface="Calibri" panose="020F0502020204030204" pitchFamily="34" charset="0"/>
              <a:ea typeface="Calibri" panose="020F0502020204030204" pitchFamily="34" charset="0"/>
            </a:endParaRPr>
          </a:p>
          <a:p>
            <a:pPr marL="342900" marR="0" lvl="0" indent="-342900" algn="just">
              <a:lnSpc>
                <a:spcPct val="150000"/>
              </a:lnSpc>
              <a:spcBef>
                <a:spcPts val="1200"/>
              </a:spcBef>
              <a:spcAft>
                <a:spcPts val="1200"/>
              </a:spcAft>
              <a:buFont typeface="Arial" panose="020B0604020202020204" pitchFamily="34" charset="0"/>
              <a:buChar char="★"/>
            </a:pPr>
            <a:r>
              <a:rPr lang="en-GB" sz="1800" b="1" u="none" strike="noStrike" dirty="0" err="1">
                <a:solidFill>
                  <a:srgbClr val="000000"/>
                </a:solidFill>
                <a:effectLst/>
                <a:latin typeface="Arial" panose="020B0604020202020204" pitchFamily="34" charset="0"/>
                <a:ea typeface="Arial" panose="020B0604020202020204" pitchFamily="34" charset="0"/>
              </a:rPr>
              <a:t>Javascript</a:t>
            </a:r>
            <a:r>
              <a:rPr lang="en-GB" sz="1800" b="1" u="none" strike="noStrike" dirty="0">
                <a:solidFill>
                  <a:srgbClr val="000000"/>
                </a:solidFill>
                <a:effectLst/>
                <a:latin typeface="Arial" panose="020B0604020202020204" pitchFamily="34" charset="0"/>
                <a:ea typeface="Arial" panose="020B0604020202020204" pitchFamily="34" charset="0"/>
              </a:rPr>
              <a:t> global variables</a:t>
            </a:r>
            <a:endParaRPr lang="en-US" sz="1800" b="1" dirty="0">
              <a:latin typeface="Calibri" panose="020F0502020204030204" pitchFamily="34" charset="0"/>
              <a:ea typeface="Arial" panose="020B0604020202020204" pitchFamily="34" charset="0"/>
            </a:endParaRPr>
          </a:p>
          <a:p>
            <a:pPr marL="0" marR="0" lvl="0" indent="0" algn="just">
              <a:lnSpc>
                <a:spcPct val="150000"/>
              </a:lnSpc>
              <a:spcBef>
                <a:spcPts val="1200"/>
              </a:spcBef>
              <a:spcAft>
                <a:spcPts val="1200"/>
              </a:spcAft>
              <a:buNone/>
            </a:pPr>
            <a:r>
              <a:rPr lang="en-GB" sz="1800" dirty="0">
                <a:solidFill>
                  <a:srgbClr val="000000"/>
                </a:solidFill>
                <a:effectLst/>
                <a:latin typeface="Arial" panose="020B0604020202020204" pitchFamily="34" charset="0"/>
                <a:ea typeface="Arial" panose="020B0604020202020204" pitchFamily="34" charset="0"/>
              </a:rPr>
              <a:t>A JavaScript global variable is accessible from any function. A variable i.e. declared outside the function or declared with a window object is known as a global variable. </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0057118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F158BC-8218-3760-C0F8-128E7CC00F72}"/>
              </a:ext>
            </a:extLst>
          </p:cNvPr>
          <p:cNvSpPr>
            <a:spLocks noGrp="1"/>
          </p:cNvSpPr>
          <p:nvPr>
            <p:ph idx="1"/>
          </p:nvPr>
        </p:nvSpPr>
        <p:spPr>
          <a:xfrm>
            <a:off x="310551" y="931653"/>
            <a:ext cx="10845130" cy="5210355"/>
          </a:xfrm>
        </p:spPr>
        <p:txBody>
          <a:bodyPr>
            <a:normAutofit fontScale="92500" lnSpcReduction="20000"/>
          </a:bodyPr>
          <a:lstStyle/>
          <a:p>
            <a:pPr marL="901700" marR="0">
              <a:lnSpc>
                <a:spcPct val="150000"/>
              </a:lnSpc>
              <a:spcBef>
                <a:spcPts val="1200"/>
              </a:spcBef>
              <a:spcAft>
                <a:spcPts val="1200"/>
              </a:spcAft>
            </a:pPr>
            <a:r>
              <a:rPr lang="en-GB" sz="2200" b="1" dirty="0">
                <a:effectLst/>
                <a:latin typeface="Arial Unicode MS"/>
                <a:ea typeface="Arial Unicode MS"/>
                <a:cs typeface="Arial Unicode MS"/>
              </a:rPr>
              <a:t>✔ Redeclaration of variable</a:t>
            </a:r>
            <a:endParaRPr lang="en-US" sz="22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2200" dirty="0">
                <a:solidFill>
                  <a:srgbClr val="111111"/>
                </a:solidFill>
                <a:effectLst/>
                <a:highlight>
                  <a:srgbClr val="FFFFFF"/>
                </a:highlight>
                <a:latin typeface="Arial" panose="020B0604020202020204" pitchFamily="34" charset="0"/>
                <a:ea typeface="Arial" panose="020B0604020202020204" pitchFamily="34" charset="0"/>
              </a:rPr>
              <a:t>To redeclare a variable simply means to declare an already declared variable or identifier regardless of whether in the same block or outer scope.</a:t>
            </a:r>
            <a:endParaRPr lang="en-US" sz="2200" dirty="0">
              <a:effectLst/>
              <a:latin typeface="Calibri" panose="020F0502020204030204" pitchFamily="34" charset="0"/>
              <a:ea typeface="Calibri" panose="020F0502020204030204" pitchFamily="34" charset="0"/>
            </a:endParaRPr>
          </a:p>
          <a:p>
            <a:pPr marL="0" marR="0">
              <a:lnSpc>
                <a:spcPct val="150000"/>
              </a:lnSpc>
            </a:pPr>
            <a:r>
              <a:rPr lang="en-GB" sz="2200" dirty="0">
                <a:solidFill>
                  <a:srgbClr val="111111"/>
                </a:solidFill>
                <a:effectLst/>
                <a:latin typeface="Arial" panose="020B0604020202020204" pitchFamily="34" charset="0"/>
                <a:ea typeface="Arial" panose="020B0604020202020204" pitchFamily="34" charset="0"/>
              </a:rPr>
              <a:t>You could declare and initialise a variable using the </a:t>
            </a:r>
            <a:r>
              <a:rPr lang="en-GB" sz="2200" dirty="0" err="1">
                <a:solidFill>
                  <a:srgbClr val="000000"/>
                </a:solidFill>
                <a:effectLst/>
                <a:latin typeface="Arial" panose="020B0604020202020204" pitchFamily="34" charset="0"/>
                <a:ea typeface="Arial" panose="020B0604020202020204" pitchFamily="34" charset="0"/>
              </a:rPr>
              <a:t>const</a:t>
            </a:r>
            <a:r>
              <a:rPr lang="en-GB" sz="2200" dirty="0">
                <a:solidFill>
                  <a:srgbClr val="111111"/>
                </a:solidFill>
                <a:effectLst/>
                <a:latin typeface="Arial" panose="020B0604020202020204" pitchFamily="34" charset="0"/>
                <a:ea typeface="Arial" panose="020B0604020202020204" pitchFamily="34" charset="0"/>
              </a:rPr>
              <a:t> keyword.</a:t>
            </a:r>
            <a:endParaRPr lang="en-US" sz="2200" dirty="0">
              <a:effectLst/>
              <a:latin typeface="Calibri" panose="020F0502020204030204" pitchFamily="34" charset="0"/>
              <a:ea typeface="Calibri" panose="020F0502020204030204" pitchFamily="34" charset="0"/>
            </a:endParaRPr>
          </a:p>
          <a:p>
            <a:pPr marL="0" marR="0">
              <a:lnSpc>
                <a:spcPct val="150000"/>
              </a:lnSpc>
            </a:pPr>
            <a:r>
              <a:rPr lang="en-GB" sz="2200" b="1" dirty="0">
                <a:solidFill>
                  <a:srgbClr val="111111"/>
                </a:solidFill>
                <a:effectLst/>
                <a:latin typeface="Arial" panose="020B0604020202020204" pitchFamily="34" charset="0"/>
                <a:ea typeface="Arial" panose="020B0604020202020204" pitchFamily="34" charset="0"/>
              </a:rPr>
              <a:t>Example: </a:t>
            </a:r>
            <a:endParaRPr lang="en-US" sz="2200" b="1" dirty="0">
              <a:effectLst/>
              <a:latin typeface="Calibri" panose="020F0502020204030204" pitchFamily="34" charset="0"/>
              <a:ea typeface="Calibri" panose="020F0502020204030204" pitchFamily="34" charset="0"/>
            </a:endParaRPr>
          </a:p>
          <a:p>
            <a:pPr marL="0" marR="0">
              <a:lnSpc>
                <a:spcPct val="150000"/>
              </a:lnSpc>
            </a:pPr>
            <a:r>
              <a:rPr lang="en-GB" sz="2200" dirty="0">
                <a:effectLst/>
                <a:latin typeface="Arial" panose="020B0604020202020204" pitchFamily="34" charset="0"/>
                <a:ea typeface="Arial" panose="020B0604020202020204" pitchFamily="34" charset="0"/>
              </a:rPr>
              <a:t>//declared and initialized the variable(</a:t>
            </a:r>
            <a:r>
              <a:rPr lang="en-GB" sz="2200" dirty="0" err="1">
                <a:effectLst/>
                <a:latin typeface="Arial" panose="020B0604020202020204" pitchFamily="34" charset="0"/>
                <a:ea typeface="Arial" panose="020B0604020202020204" pitchFamily="34" charset="0"/>
              </a:rPr>
              <a:t>firstName</a:t>
            </a:r>
            <a:r>
              <a:rPr lang="en-GB" sz="2200" dirty="0">
                <a:effectLst/>
                <a:latin typeface="Arial" panose="020B0604020202020204" pitchFamily="34" charset="0"/>
                <a:ea typeface="Arial" panose="020B0604020202020204" pitchFamily="34" charset="0"/>
              </a:rPr>
              <a:t>) and assigned a value of 'Patrick'.</a:t>
            </a:r>
            <a:endParaRPr lang="en-US" sz="2200" dirty="0">
              <a:effectLst/>
              <a:latin typeface="Calibri" panose="020F0502020204030204" pitchFamily="34" charset="0"/>
              <a:ea typeface="Calibri" panose="020F0502020204030204" pitchFamily="34" charset="0"/>
            </a:endParaRPr>
          </a:p>
          <a:p>
            <a:pPr marL="0" marR="0">
              <a:lnSpc>
                <a:spcPct val="150000"/>
              </a:lnSpc>
            </a:pPr>
            <a:r>
              <a:rPr lang="en-GB" sz="2200" dirty="0" err="1">
                <a:effectLst/>
                <a:latin typeface="Arial" panose="020B0604020202020204" pitchFamily="34" charset="0"/>
                <a:ea typeface="Arial" panose="020B0604020202020204" pitchFamily="34" charset="0"/>
              </a:rPr>
              <a:t>const</a:t>
            </a:r>
            <a:r>
              <a:rPr lang="en-GB" sz="2200" dirty="0">
                <a:effectLst/>
                <a:latin typeface="Arial" panose="020B0604020202020204" pitchFamily="34" charset="0"/>
                <a:ea typeface="Arial" panose="020B0604020202020204" pitchFamily="34" charset="0"/>
              </a:rPr>
              <a:t> </a:t>
            </a:r>
            <a:r>
              <a:rPr lang="en-GB" sz="2200" dirty="0" err="1">
                <a:effectLst/>
                <a:latin typeface="Arial" panose="020B0604020202020204" pitchFamily="34" charset="0"/>
                <a:ea typeface="Arial" panose="020B0604020202020204" pitchFamily="34" charset="0"/>
              </a:rPr>
              <a:t>firstname</a:t>
            </a:r>
            <a:r>
              <a:rPr lang="en-GB" sz="2200" dirty="0">
                <a:effectLst/>
                <a:latin typeface="Arial" panose="020B0604020202020204" pitchFamily="34" charset="0"/>
                <a:ea typeface="Arial" panose="020B0604020202020204" pitchFamily="34" charset="0"/>
              </a:rPr>
              <a:t>=’</a:t>
            </a:r>
            <a:r>
              <a:rPr lang="en-GB" sz="2200" dirty="0" err="1">
                <a:effectLst/>
                <a:latin typeface="Arial" panose="020B0604020202020204" pitchFamily="34" charset="0"/>
                <a:ea typeface="Arial" panose="020B0604020202020204" pitchFamily="34" charset="0"/>
              </a:rPr>
              <a:t>patrick</a:t>
            </a:r>
            <a:r>
              <a:rPr lang="en-GB" sz="2200" dirty="0">
                <a:effectLst/>
                <a:latin typeface="Arial" panose="020B0604020202020204" pitchFamily="34" charset="0"/>
                <a:ea typeface="Arial" panose="020B0604020202020204" pitchFamily="34" charset="0"/>
              </a:rPr>
              <a:t>’;</a:t>
            </a:r>
            <a:endParaRPr lang="en-US" sz="2200" dirty="0">
              <a:effectLst/>
              <a:latin typeface="Calibri" panose="020F0502020204030204" pitchFamily="34" charset="0"/>
              <a:ea typeface="Calibri" panose="020F0502020204030204" pitchFamily="34" charset="0"/>
            </a:endParaRPr>
          </a:p>
          <a:p>
            <a:pPr marL="0" marR="0">
              <a:lnSpc>
                <a:spcPct val="150000"/>
              </a:lnSpc>
            </a:pPr>
            <a:r>
              <a:rPr lang="en-GB" sz="2200" dirty="0">
                <a:effectLst/>
                <a:latin typeface="Arial" panose="020B0604020202020204" pitchFamily="34" charset="0"/>
                <a:ea typeface="Arial" panose="020B0604020202020204" pitchFamily="34" charset="0"/>
              </a:rPr>
              <a:t>console.log(</a:t>
            </a:r>
            <a:r>
              <a:rPr lang="en-GB" sz="2200" dirty="0" err="1">
                <a:effectLst/>
                <a:latin typeface="Arial" panose="020B0604020202020204" pitchFamily="34" charset="0"/>
                <a:ea typeface="Arial" panose="020B0604020202020204" pitchFamily="34" charset="0"/>
              </a:rPr>
              <a:t>firstname</a:t>
            </a:r>
            <a:r>
              <a:rPr lang="en-GB" sz="2200" dirty="0">
                <a:effectLst/>
                <a:latin typeface="Arial" panose="020B0604020202020204" pitchFamily="34" charset="0"/>
                <a:ea typeface="Arial" panose="020B0604020202020204" pitchFamily="34" charset="0"/>
              </a:rPr>
              <a:t>); //</a:t>
            </a:r>
            <a:r>
              <a:rPr lang="en-GB" sz="2200" dirty="0" err="1">
                <a:effectLst/>
                <a:latin typeface="Arial" panose="020B0604020202020204" pitchFamily="34" charset="0"/>
                <a:ea typeface="Arial" panose="020B0604020202020204" pitchFamily="34" charset="0"/>
              </a:rPr>
              <a:t>patrick</a:t>
            </a:r>
            <a:endParaRPr lang="en-US" sz="2200" dirty="0">
              <a:effectLst/>
              <a:latin typeface="Calibri" panose="020F0502020204030204" pitchFamily="34" charset="0"/>
              <a:ea typeface="Calibri" panose="020F0502020204030204" pitchFamily="34" charset="0"/>
            </a:endParaRPr>
          </a:p>
          <a:p>
            <a:pPr marL="0" marR="0">
              <a:lnSpc>
                <a:spcPct val="150000"/>
              </a:lnSpc>
            </a:pPr>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3576633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B89DE4-DFD0-2B3D-F3BA-ED4A51F370D5}"/>
              </a:ext>
            </a:extLst>
          </p:cNvPr>
          <p:cNvSpPr>
            <a:spLocks noGrp="1"/>
          </p:cNvSpPr>
          <p:nvPr>
            <p:ph idx="1"/>
          </p:nvPr>
        </p:nvSpPr>
        <p:spPr>
          <a:xfrm>
            <a:off x="483079" y="1043796"/>
            <a:ext cx="10672601" cy="4825298"/>
          </a:xfrm>
        </p:spPr>
        <p:txBody>
          <a:bodyPr/>
          <a:lstStyle/>
          <a:p>
            <a:pPr marL="0" marR="0">
              <a:lnSpc>
                <a:spcPct val="150000"/>
              </a:lnSpc>
            </a:pPr>
            <a:r>
              <a:rPr lang="en-GB" sz="1800" dirty="0">
                <a:solidFill>
                  <a:srgbClr val="000000"/>
                </a:solidFill>
                <a:effectLst/>
                <a:latin typeface="Arial" panose="020B0604020202020204" pitchFamily="34" charset="0"/>
                <a:ea typeface="Arial" panose="020B0604020202020204" pitchFamily="34" charset="0"/>
              </a:rPr>
              <a:t>You may have tried to redeclare the variable or even try to change its value still using the </a:t>
            </a:r>
            <a:r>
              <a:rPr lang="en-GB" sz="1800" dirty="0" err="1">
                <a:solidFill>
                  <a:srgbClr val="000000"/>
                </a:solidFill>
                <a:effectLst/>
                <a:latin typeface="Arial" panose="020B0604020202020204" pitchFamily="34" charset="0"/>
                <a:ea typeface="Arial" panose="020B0604020202020204" pitchFamily="34" charset="0"/>
              </a:rPr>
              <a:t>const</a:t>
            </a:r>
            <a:r>
              <a:rPr lang="en-GB" sz="1800" dirty="0">
                <a:solidFill>
                  <a:srgbClr val="000000"/>
                </a:solidFill>
                <a:effectLst/>
                <a:latin typeface="Arial" panose="020B0604020202020204" pitchFamily="34" charset="0"/>
                <a:ea typeface="Arial" panose="020B0604020202020204" pitchFamily="34" charset="0"/>
              </a:rPr>
              <a:t> keyword.</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err="1">
                <a:effectLst/>
                <a:latin typeface="Arial" panose="020B0604020202020204" pitchFamily="34" charset="0"/>
                <a:ea typeface="Arial" panose="020B0604020202020204" pitchFamily="34" charset="0"/>
              </a:rPr>
              <a:t>const</a:t>
            </a:r>
            <a:r>
              <a:rPr lang="en-GB" sz="1800" dirty="0">
                <a:effectLst/>
                <a:latin typeface="Arial" panose="020B0604020202020204" pitchFamily="34" charset="0"/>
                <a:ea typeface="Arial" panose="020B0604020202020204" pitchFamily="34" charset="0"/>
              </a:rPr>
              <a:t> </a:t>
            </a:r>
            <a:r>
              <a:rPr lang="en-GB" sz="1800" dirty="0" err="1">
                <a:effectLst/>
                <a:latin typeface="Arial" panose="020B0604020202020204" pitchFamily="34" charset="0"/>
                <a:ea typeface="Arial" panose="020B0604020202020204" pitchFamily="34" charset="0"/>
              </a:rPr>
              <a:t>firstname</a:t>
            </a:r>
            <a:r>
              <a:rPr lang="en-GB" sz="1800" dirty="0">
                <a:effectLst/>
                <a:latin typeface="Arial" panose="020B0604020202020204" pitchFamily="34" charset="0"/>
                <a:ea typeface="Arial" panose="020B0604020202020204" pitchFamily="34" charset="0"/>
              </a:rPr>
              <a:t>=’</a:t>
            </a:r>
            <a:r>
              <a:rPr lang="en-GB" sz="1800" dirty="0" err="1">
                <a:effectLst/>
                <a:latin typeface="Arial" panose="020B0604020202020204" pitchFamily="34" charset="0"/>
                <a:ea typeface="Arial" panose="020B0604020202020204" pitchFamily="34" charset="0"/>
              </a:rPr>
              <a:t>patrick</a:t>
            </a:r>
            <a:r>
              <a:rPr lang="en-GB" sz="1800" dirty="0">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err="1">
                <a:effectLst/>
                <a:latin typeface="Arial" panose="020B0604020202020204" pitchFamily="34" charset="0"/>
                <a:ea typeface="Arial" panose="020B0604020202020204" pitchFamily="34" charset="0"/>
              </a:rPr>
              <a:t>const</a:t>
            </a:r>
            <a:r>
              <a:rPr lang="en-GB" sz="1800" dirty="0">
                <a:effectLst/>
                <a:latin typeface="Arial" panose="020B0604020202020204" pitchFamily="34" charset="0"/>
                <a:ea typeface="Arial" panose="020B0604020202020204" pitchFamily="34" charset="0"/>
              </a:rPr>
              <a:t> </a:t>
            </a:r>
            <a:r>
              <a:rPr lang="en-GB" sz="1800" dirty="0" err="1">
                <a:effectLst/>
                <a:latin typeface="Arial" panose="020B0604020202020204" pitchFamily="34" charset="0"/>
                <a:ea typeface="Arial" panose="020B0604020202020204" pitchFamily="34" charset="0"/>
              </a:rPr>
              <a:t>firstname</a:t>
            </a:r>
            <a:r>
              <a:rPr lang="en-GB" sz="1800" dirty="0">
                <a:effectLst/>
                <a:latin typeface="Arial" panose="020B0604020202020204" pitchFamily="34" charset="0"/>
                <a:ea typeface="Arial" panose="020B0604020202020204" pitchFamily="34" charset="0"/>
              </a:rPr>
              <a:t>=’john’;</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a:effectLst/>
                <a:latin typeface="Arial" panose="020B0604020202020204" pitchFamily="34" charset="0"/>
                <a:ea typeface="Arial" panose="020B0604020202020204" pitchFamily="34" charset="0"/>
              </a:rPr>
              <a:t>//Uncaught </a:t>
            </a:r>
            <a:r>
              <a:rPr lang="en-GB" sz="1800" dirty="0" err="1">
                <a:effectLst/>
                <a:latin typeface="Arial" panose="020B0604020202020204" pitchFamily="34" charset="0"/>
                <a:ea typeface="Arial" panose="020B0604020202020204" pitchFamily="34" charset="0"/>
              </a:rPr>
              <a:t>SyntaxError</a:t>
            </a:r>
            <a:r>
              <a:rPr lang="en-GB" sz="1800" dirty="0">
                <a:effectLst/>
                <a:latin typeface="Arial" panose="020B0604020202020204" pitchFamily="34" charset="0"/>
                <a:ea typeface="Arial" panose="020B0604020202020204" pitchFamily="34" charset="0"/>
              </a:rPr>
              <a:t>: Identifier '</a:t>
            </a:r>
            <a:r>
              <a:rPr lang="en-GB" sz="1800" dirty="0" err="1">
                <a:effectLst/>
                <a:latin typeface="Arial" panose="020B0604020202020204" pitchFamily="34" charset="0"/>
                <a:ea typeface="Arial" panose="020B0604020202020204" pitchFamily="34" charset="0"/>
              </a:rPr>
              <a:t>firstName</a:t>
            </a:r>
            <a:r>
              <a:rPr lang="en-GB" sz="1800" dirty="0">
                <a:effectLst/>
                <a:latin typeface="Arial" panose="020B0604020202020204" pitchFamily="34" charset="0"/>
                <a:ea typeface="Arial" panose="020B0604020202020204" pitchFamily="34" charset="0"/>
              </a:rPr>
              <a:t>' has already been declared.</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a:solidFill>
                  <a:srgbClr val="111111"/>
                </a:solidFill>
                <a:effectLst/>
                <a:latin typeface="Arial" panose="020B0604020202020204" pitchFamily="34" charset="0"/>
                <a:ea typeface="Arial" panose="020B0604020202020204" pitchFamily="34" charset="0"/>
              </a:rPr>
              <a:t> </a:t>
            </a:r>
            <a:r>
              <a:rPr lang="en-GB" sz="1800" dirty="0">
                <a:solidFill>
                  <a:srgbClr val="000000"/>
                </a:solidFill>
                <a:effectLst/>
                <a:latin typeface="Arial" panose="020B0604020202020204" pitchFamily="34" charset="0"/>
                <a:ea typeface="Arial" panose="020B0604020202020204" pitchFamily="34" charset="0"/>
              </a:rPr>
              <a:t>it signals a syntax error because </a:t>
            </a:r>
            <a:r>
              <a:rPr lang="en-GB" sz="1800" dirty="0" err="1">
                <a:solidFill>
                  <a:srgbClr val="000000"/>
                </a:solidFill>
                <a:effectLst/>
                <a:latin typeface="Arial" panose="020B0604020202020204" pitchFamily="34" charset="0"/>
                <a:ea typeface="Arial" panose="020B0604020202020204" pitchFamily="34" charset="0"/>
              </a:rPr>
              <a:t>const</a:t>
            </a:r>
            <a:r>
              <a:rPr lang="en-GB" sz="1800" dirty="0">
                <a:solidFill>
                  <a:srgbClr val="000000"/>
                </a:solidFill>
                <a:effectLst/>
                <a:latin typeface="Arial" panose="020B0604020202020204" pitchFamily="34" charset="0"/>
                <a:ea typeface="Arial" panose="020B0604020202020204" pitchFamily="34" charset="0"/>
              </a:rPr>
              <a:t> never allows us to tamper with its identifier. With these experiments, we could agree that A variable declared using the '</a:t>
            </a:r>
            <a:r>
              <a:rPr lang="en-GB" sz="1800" dirty="0" err="1">
                <a:solidFill>
                  <a:srgbClr val="000000"/>
                </a:solidFill>
                <a:effectLst/>
                <a:latin typeface="Arial" panose="020B0604020202020204" pitchFamily="34" charset="0"/>
                <a:ea typeface="Arial" panose="020B0604020202020204" pitchFamily="34" charset="0"/>
              </a:rPr>
              <a:t>const</a:t>
            </a:r>
            <a:r>
              <a:rPr lang="en-GB" sz="1800" dirty="0">
                <a:solidFill>
                  <a:srgbClr val="000000"/>
                </a:solidFill>
                <a:effectLst/>
                <a:latin typeface="Arial" panose="020B0604020202020204" pitchFamily="34" charset="0"/>
                <a:ea typeface="Arial" panose="020B0604020202020204" pitchFamily="34" charset="0"/>
              </a:rPr>
              <a:t>' keyword cannot be redeclared and its value cannot be reassigned.</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11002107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D0573E-1FDC-B009-C8C3-F08C65F17B86}"/>
              </a:ext>
            </a:extLst>
          </p:cNvPr>
          <p:cNvSpPr>
            <a:spLocks noGrp="1"/>
          </p:cNvSpPr>
          <p:nvPr>
            <p:ph idx="1"/>
          </p:nvPr>
        </p:nvSpPr>
        <p:spPr>
          <a:xfrm>
            <a:off x="629729" y="957531"/>
            <a:ext cx="10990052" cy="5270741"/>
          </a:xfrm>
        </p:spPr>
        <p:txBody>
          <a:bodyPr/>
          <a:lstStyle/>
          <a:p>
            <a:pPr marL="0" marR="0"/>
            <a:r>
              <a:rPr lang="en-GB" sz="1800" b="1" dirty="0">
                <a:effectLst/>
                <a:latin typeface="Arial" panose="020B0604020202020204" pitchFamily="34" charset="0"/>
                <a:ea typeface="Arial" panose="020B0604020202020204" pitchFamily="34" charset="0"/>
              </a:rPr>
              <a:t>Redeclaring Variables using the </a:t>
            </a:r>
            <a:r>
              <a:rPr lang="en-GB" sz="1800" b="1" u="sng" dirty="0">
                <a:effectLst/>
                <a:latin typeface="Arial" panose="020B0604020202020204" pitchFamily="34" charset="0"/>
                <a:ea typeface="Arial" panose="020B0604020202020204" pitchFamily="34" charset="0"/>
              </a:rPr>
              <a:t>let </a:t>
            </a:r>
            <a:r>
              <a:rPr lang="en-GB" sz="1800" b="1" dirty="0">
                <a:effectLst/>
                <a:latin typeface="Arial" panose="020B0604020202020204" pitchFamily="34" charset="0"/>
                <a:ea typeface="Arial" panose="020B0604020202020204" pitchFamily="34" charset="0"/>
              </a:rPr>
              <a:t>keyword</a:t>
            </a:r>
            <a:endParaRPr lang="en-US" sz="1800" dirty="0">
              <a:effectLst/>
              <a:latin typeface="Calibri" panose="020F0502020204030204" pitchFamily="34" charset="0"/>
              <a:ea typeface="Calibri" panose="020F0502020204030204" pitchFamily="34" charset="0"/>
            </a:endParaRPr>
          </a:p>
          <a:p>
            <a:pPr marL="0" marR="0"/>
            <a:r>
              <a:rPr lang="en-GB" sz="1800" b="1"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111111"/>
                </a:solidFill>
                <a:effectLst/>
                <a:latin typeface="Arial" panose="020B0604020202020204" pitchFamily="34" charset="0"/>
                <a:ea typeface="Arial" panose="020B0604020202020204" pitchFamily="34" charset="0"/>
              </a:rPr>
              <a:t>You can declare and initialize a variable using the </a:t>
            </a:r>
            <a:r>
              <a:rPr lang="en-GB" sz="1800" u="sng" dirty="0">
                <a:solidFill>
                  <a:srgbClr val="000000"/>
                </a:solidFill>
                <a:effectLst/>
                <a:latin typeface="Arial" panose="020B0604020202020204" pitchFamily="34" charset="0"/>
                <a:ea typeface="Arial" panose="020B0604020202020204" pitchFamily="34" charset="0"/>
              </a:rPr>
              <a:t>let</a:t>
            </a:r>
            <a:r>
              <a:rPr lang="en-GB" sz="1800" dirty="0">
                <a:solidFill>
                  <a:srgbClr val="111111"/>
                </a:solidFill>
                <a:effectLst/>
                <a:latin typeface="Arial" panose="020B0604020202020204" pitchFamily="34" charset="0"/>
                <a:ea typeface="Arial" panose="020B0604020202020204" pitchFamily="34" charset="0"/>
              </a:rPr>
              <a:t> keyword.</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//declared and initialized the variable and assigned a value of 'Okafor'.</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let </a:t>
            </a:r>
            <a:r>
              <a:rPr lang="en-GB" sz="1800" dirty="0" err="1">
                <a:effectLst/>
                <a:latin typeface="Arial" panose="020B0604020202020204" pitchFamily="34" charset="0"/>
                <a:ea typeface="Arial" panose="020B0604020202020204" pitchFamily="34" charset="0"/>
              </a:rPr>
              <a:t>lastname</a:t>
            </a:r>
            <a:r>
              <a:rPr lang="en-GB" sz="1800" dirty="0">
                <a:effectLst/>
                <a:latin typeface="Arial" panose="020B0604020202020204" pitchFamily="34" charset="0"/>
                <a:ea typeface="Arial" panose="020B0604020202020204" pitchFamily="34" charset="0"/>
              </a:rPr>
              <a:t>=’</a:t>
            </a:r>
            <a:r>
              <a:rPr lang="en-GB" sz="1800" dirty="0" err="1">
                <a:effectLst/>
                <a:latin typeface="Arial" panose="020B0604020202020204" pitchFamily="34" charset="0"/>
                <a:ea typeface="Arial" panose="020B0604020202020204" pitchFamily="34" charset="0"/>
              </a:rPr>
              <a:t>okafor</a:t>
            </a:r>
            <a:r>
              <a:rPr lang="en-GB" sz="1800" dirty="0">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console.log(</a:t>
            </a:r>
            <a:r>
              <a:rPr lang="en-GB" sz="1800" dirty="0" err="1">
                <a:effectLst/>
                <a:latin typeface="Arial" panose="020B0604020202020204" pitchFamily="34" charset="0"/>
                <a:ea typeface="Arial" panose="020B0604020202020204" pitchFamily="34" charset="0"/>
              </a:rPr>
              <a:t>lastname</a:t>
            </a:r>
            <a:r>
              <a:rPr lang="en-GB" sz="1800" dirty="0">
                <a:effectLst/>
                <a:latin typeface="Arial" panose="020B0604020202020204" pitchFamily="34" charset="0"/>
                <a:ea typeface="Arial" panose="020B0604020202020204" pitchFamily="34" charset="0"/>
              </a:rPr>
              <a:t>); //</a:t>
            </a:r>
            <a:r>
              <a:rPr lang="en-GB" sz="1800" dirty="0" err="1">
                <a:effectLst/>
                <a:latin typeface="Arial" panose="020B0604020202020204" pitchFamily="34" charset="0"/>
                <a:ea typeface="Arial" panose="020B0604020202020204" pitchFamily="34" charset="0"/>
              </a:rPr>
              <a:t>okafor</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Let's try to redeclare the identifier and change its value.</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let </a:t>
            </a:r>
            <a:r>
              <a:rPr lang="en-GB" sz="1800" dirty="0" err="1">
                <a:effectLst/>
                <a:latin typeface="Arial" panose="020B0604020202020204" pitchFamily="34" charset="0"/>
                <a:ea typeface="Arial" panose="020B0604020202020204" pitchFamily="34" charset="0"/>
              </a:rPr>
              <a:t>lastname</a:t>
            </a:r>
            <a:r>
              <a:rPr lang="en-GB" sz="1800" dirty="0">
                <a:effectLst/>
                <a:latin typeface="Arial" panose="020B0604020202020204" pitchFamily="34" charset="0"/>
                <a:ea typeface="Arial" panose="020B0604020202020204" pitchFamily="34" charset="0"/>
              </a:rPr>
              <a:t>=’</a:t>
            </a:r>
            <a:r>
              <a:rPr lang="en-GB" sz="1800" dirty="0" err="1">
                <a:effectLst/>
                <a:latin typeface="Arial" panose="020B0604020202020204" pitchFamily="34" charset="0"/>
                <a:ea typeface="Arial" panose="020B0604020202020204" pitchFamily="34" charset="0"/>
              </a:rPr>
              <a:t>okafor</a:t>
            </a:r>
            <a:r>
              <a:rPr lang="en-GB" sz="1800" dirty="0">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let </a:t>
            </a:r>
            <a:r>
              <a:rPr lang="en-GB" sz="1800" dirty="0" err="1">
                <a:effectLst/>
                <a:latin typeface="Arial" panose="020B0604020202020204" pitchFamily="34" charset="0"/>
                <a:ea typeface="Arial" panose="020B0604020202020204" pitchFamily="34" charset="0"/>
              </a:rPr>
              <a:t>lastname</a:t>
            </a:r>
            <a:r>
              <a:rPr lang="en-GB" sz="1800" dirty="0">
                <a:effectLst/>
                <a:latin typeface="Arial" panose="020B0604020202020204" pitchFamily="34" charset="0"/>
                <a:ea typeface="Arial" panose="020B0604020202020204" pitchFamily="34" charset="0"/>
              </a:rPr>
              <a:t>=’</a:t>
            </a:r>
            <a:r>
              <a:rPr lang="en-GB" sz="1800" dirty="0" err="1">
                <a:effectLst/>
                <a:latin typeface="Arial" panose="020B0604020202020204" pitchFamily="34" charset="0"/>
                <a:ea typeface="Arial" panose="020B0604020202020204" pitchFamily="34" charset="0"/>
              </a:rPr>
              <a:t>okafor</a:t>
            </a:r>
            <a:r>
              <a:rPr lang="en-GB" sz="1800" dirty="0">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//Uncaught </a:t>
            </a:r>
            <a:r>
              <a:rPr lang="en-GB" sz="1800" dirty="0" err="1">
                <a:effectLst/>
                <a:latin typeface="Arial" panose="020B0604020202020204" pitchFamily="34" charset="0"/>
                <a:ea typeface="Arial" panose="020B0604020202020204" pitchFamily="34" charset="0"/>
              </a:rPr>
              <a:t>SyntaxError</a:t>
            </a:r>
            <a:r>
              <a:rPr lang="en-GB" sz="1800" dirty="0">
                <a:effectLst/>
                <a:latin typeface="Arial" panose="020B0604020202020204" pitchFamily="34" charset="0"/>
                <a:ea typeface="Arial" panose="020B0604020202020204" pitchFamily="34" charset="0"/>
              </a:rPr>
              <a:t>: Identifier '</a:t>
            </a:r>
            <a:r>
              <a:rPr lang="en-GB" sz="1800" dirty="0" err="1">
                <a:effectLst/>
                <a:latin typeface="Arial" panose="020B0604020202020204" pitchFamily="34" charset="0"/>
                <a:ea typeface="Arial" panose="020B0604020202020204" pitchFamily="34" charset="0"/>
              </a:rPr>
              <a:t>lastName</a:t>
            </a:r>
            <a:r>
              <a:rPr lang="en-GB" sz="1800" dirty="0">
                <a:effectLst/>
                <a:latin typeface="Arial" panose="020B0604020202020204" pitchFamily="34" charset="0"/>
                <a:ea typeface="Arial" panose="020B0604020202020204" pitchFamily="34" charset="0"/>
              </a:rPr>
              <a:t>' has already been declared</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1009238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AC0D74-A51C-E909-E744-37482F3938DA}"/>
              </a:ext>
            </a:extLst>
          </p:cNvPr>
          <p:cNvSpPr>
            <a:spLocks noGrp="1"/>
          </p:cNvSpPr>
          <p:nvPr>
            <p:ph idx="1"/>
          </p:nvPr>
        </p:nvSpPr>
        <p:spPr>
          <a:xfrm>
            <a:off x="405442" y="1216325"/>
            <a:ext cx="10564483" cy="4868429"/>
          </a:xfrm>
        </p:spPr>
        <p:txBody>
          <a:bodyPr>
            <a:normAutofit/>
          </a:bodyPr>
          <a:lstStyle/>
          <a:p>
            <a:pPr marL="0" marR="0">
              <a:lnSpc>
                <a:spcPct val="150000"/>
              </a:lnSpc>
            </a:pPr>
            <a:r>
              <a:rPr lang="en-GB" dirty="0">
                <a:solidFill>
                  <a:srgbClr val="000000"/>
                </a:solidFill>
                <a:effectLst/>
                <a:latin typeface="Arial" panose="020B0604020202020204" pitchFamily="34" charset="0"/>
                <a:ea typeface="Arial" panose="020B0604020202020204" pitchFamily="34" charset="0"/>
              </a:rPr>
              <a:t>It logs out an error signalling that the </a:t>
            </a:r>
            <a:r>
              <a:rPr lang="en-GB" dirty="0">
                <a:solidFill>
                  <a:srgbClr val="111111"/>
                </a:solidFill>
                <a:effectLst/>
                <a:latin typeface="Arial" panose="020B0604020202020204" pitchFamily="34" charset="0"/>
                <a:ea typeface="Arial" panose="020B0604020202020204" pitchFamily="34" charset="0"/>
              </a:rPr>
              <a:t>identifier has already been declared therefore we must use another identifier. Now with these experiments, you can see also that; </a:t>
            </a:r>
            <a:r>
              <a:rPr lang="en-GB" dirty="0">
                <a:solidFill>
                  <a:srgbClr val="000000"/>
                </a:solidFill>
                <a:effectLst/>
                <a:latin typeface="Arial" panose="020B0604020202020204" pitchFamily="34" charset="0"/>
                <a:ea typeface="Arial" panose="020B0604020202020204" pitchFamily="34" charset="0"/>
              </a:rPr>
              <a:t>A variable that is declared using the 'let' keyword cannot be redeclared again and its value cannot be changed or reassigned.</a:t>
            </a:r>
            <a:endParaRPr lang="en-US" dirty="0">
              <a:effectLst/>
              <a:latin typeface="Calibri" panose="020F0502020204030204" pitchFamily="34" charset="0"/>
              <a:ea typeface="Calibri" panose="020F0502020204030204" pitchFamily="34" charset="0"/>
            </a:endParaRPr>
          </a:p>
          <a:p>
            <a:pPr>
              <a:lnSpc>
                <a:spcPct val="150000"/>
              </a:lnSpc>
            </a:pPr>
            <a:r>
              <a:rPr lang="en-GB" dirty="0">
                <a:effectLst/>
                <a:latin typeface="Arial" panose="020B0604020202020204" pitchFamily="34" charset="0"/>
                <a:ea typeface="Arial" panose="020B0604020202020204" pitchFamily="34" charset="0"/>
              </a:rPr>
              <a:t>Note: We could declare a variable once and refer to it again without using the let keyword</a:t>
            </a:r>
            <a:r>
              <a:rPr lang="en-GB" dirty="0">
                <a:solidFill>
                  <a:srgbClr val="111111"/>
                </a:solidFill>
                <a:effectLst/>
                <a:latin typeface="Arial" panose="020B0604020202020204" pitchFamily="34" charset="0"/>
                <a:ea typeface="Arial" panose="020B0604020202020204" pitchFamily="34" charset="0"/>
              </a:rPr>
              <a:t>.</a:t>
            </a:r>
          </a:p>
          <a:p>
            <a:pPr marL="0" marR="0"/>
            <a:r>
              <a:rPr lang="en-GB" sz="1800" b="1" dirty="0">
                <a:solidFill>
                  <a:srgbClr val="111111"/>
                </a:solidFill>
                <a:effectLst/>
                <a:latin typeface="Arial" panose="020B0604020202020204" pitchFamily="34" charset="0"/>
                <a:ea typeface="Arial" panose="020B0604020202020204" pitchFamily="34" charset="0"/>
              </a:rPr>
              <a:t>For example</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let </a:t>
            </a:r>
            <a:r>
              <a:rPr lang="en-GB" sz="1800" dirty="0" err="1">
                <a:effectLst/>
                <a:latin typeface="Arial" panose="020B0604020202020204" pitchFamily="34" charset="0"/>
                <a:ea typeface="Arial" panose="020B0604020202020204" pitchFamily="34" charset="0"/>
              </a:rPr>
              <a:t>lastname</a:t>
            </a:r>
            <a:r>
              <a:rPr lang="en-GB" sz="1800" dirty="0">
                <a:effectLst/>
                <a:latin typeface="Arial" panose="020B0604020202020204" pitchFamily="34" charset="0"/>
                <a:ea typeface="Arial" panose="020B0604020202020204" pitchFamily="34" charset="0"/>
              </a:rPr>
              <a:t>=’</a:t>
            </a:r>
            <a:r>
              <a:rPr lang="en-GB" sz="1800" dirty="0" err="1">
                <a:effectLst/>
                <a:latin typeface="Arial" panose="020B0604020202020204" pitchFamily="34" charset="0"/>
                <a:ea typeface="Arial" panose="020B0604020202020204" pitchFamily="34" charset="0"/>
              </a:rPr>
              <a:t>okafor</a:t>
            </a:r>
            <a:r>
              <a:rPr lang="en-GB" sz="1800" dirty="0">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r>
              <a:rPr lang="en-GB" sz="1800" dirty="0" err="1">
                <a:effectLst/>
                <a:latin typeface="Arial" panose="020B0604020202020204" pitchFamily="34" charset="0"/>
                <a:ea typeface="Arial" panose="020B0604020202020204" pitchFamily="34" charset="0"/>
              </a:rPr>
              <a:t>lastname</a:t>
            </a:r>
            <a:r>
              <a:rPr lang="en-GB" sz="1800" dirty="0">
                <a:effectLst/>
                <a:latin typeface="Arial" panose="020B0604020202020204" pitchFamily="34" charset="0"/>
                <a:ea typeface="Arial" panose="020B0604020202020204" pitchFamily="34" charset="0"/>
              </a:rPr>
              <a:t>=’doe’;</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console.log(</a:t>
            </a:r>
            <a:r>
              <a:rPr lang="en-GB" sz="1800" dirty="0" err="1">
                <a:effectLst/>
                <a:latin typeface="Arial" panose="020B0604020202020204" pitchFamily="34" charset="0"/>
                <a:ea typeface="Arial" panose="020B0604020202020204" pitchFamily="34" charset="0"/>
              </a:rPr>
              <a:t>lastname</a:t>
            </a:r>
            <a:r>
              <a:rPr lang="en-GB" sz="1800" dirty="0">
                <a:effectLst/>
                <a:latin typeface="Arial" panose="020B0604020202020204" pitchFamily="34" charset="0"/>
                <a:ea typeface="Arial" panose="020B0604020202020204" pitchFamily="34" charset="0"/>
              </a:rPr>
              <a:t>); //doe</a:t>
            </a:r>
            <a:endParaRPr lang="en-US" sz="1800" dirty="0">
              <a:effectLst/>
              <a:latin typeface="Calibri" panose="020F0502020204030204" pitchFamily="34" charset="0"/>
              <a:ea typeface="Calibri" panose="020F0502020204030204" pitchFamily="34" charset="0"/>
            </a:endParaRPr>
          </a:p>
          <a:p>
            <a:pPr>
              <a:lnSpc>
                <a:spcPct val="150000"/>
              </a:lnSpc>
            </a:pPr>
            <a:r>
              <a:rPr lang="en-GB" dirty="0">
                <a:solidFill>
                  <a:srgbClr val="111111"/>
                </a:solidFill>
                <a:effectLst/>
                <a:latin typeface="Arial" panose="020B0604020202020204" pitchFamily="34" charset="0"/>
                <a:ea typeface="Arial" panose="020B0604020202020204" pitchFamily="34" charset="0"/>
              </a:rPr>
              <a:t> </a:t>
            </a:r>
            <a:endParaRPr lang="en-US" dirty="0"/>
          </a:p>
        </p:txBody>
      </p:sp>
    </p:spTree>
    <p:extLst>
      <p:ext uri="{BB962C8B-B14F-4D97-AF65-F5344CB8AC3E}">
        <p14:creationId xmlns:p14="http://schemas.microsoft.com/office/powerpoint/2010/main" val="858798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6AAA5-6481-0B8F-4DB8-9685B06B440F}"/>
              </a:ext>
            </a:extLst>
          </p:cNvPr>
          <p:cNvSpPr>
            <a:spLocks noGrp="1"/>
          </p:cNvSpPr>
          <p:nvPr>
            <p:ph idx="1"/>
          </p:nvPr>
        </p:nvSpPr>
        <p:spPr>
          <a:xfrm>
            <a:off x="284672" y="1000663"/>
            <a:ext cx="11197086" cy="5149971"/>
          </a:xfrm>
        </p:spPr>
        <p:txBody>
          <a:bodyPr>
            <a:normAutofit/>
          </a:bodyPr>
          <a:lstStyle/>
          <a:p>
            <a:pPr marL="0" marR="0"/>
            <a:r>
              <a:rPr lang="en-GB" sz="1800" dirty="0">
                <a:solidFill>
                  <a:srgbClr val="000000"/>
                </a:solidFill>
                <a:effectLst/>
                <a:latin typeface="Arial" panose="020B0604020202020204" pitchFamily="34" charset="0"/>
                <a:ea typeface="Arial" panose="020B0604020202020204" pitchFamily="34" charset="0"/>
              </a:rPr>
              <a:t>This can run successfully because we declared it with the let keyword. The </a:t>
            </a:r>
            <a:r>
              <a:rPr lang="en-GB" sz="1800" dirty="0" err="1">
                <a:solidFill>
                  <a:srgbClr val="000000"/>
                </a:solidFill>
                <a:effectLst/>
                <a:latin typeface="Arial" panose="020B0604020202020204" pitchFamily="34" charset="0"/>
                <a:ea typeface="Arial" panose="020B0604020202020204" pitchFamily="34" charset="0"/>
              </a:rPr>
              <a:t>const</a:t>
            </a:r>
            <a:r>
              <a:rPr lang="en-GB" sz="1800" dirty="0">
                <a:solidFill>
                  <a:srgbClr val="000000"/>
                </a:solidFill>
                <a:effectLst/>
                <a:latin typeface="Arial" panose="020B0604020202020204" pitchFamily="34" charset="0"/>
                <a:ea typeface="Arial" panose="020B0604020202020204" pitchFamily="34" charset="0"/>
              </a:rPr>
              <a:t> keyword would output an error.</a:t>
            </a:r>
            <a:endParaRPr lang="en-US" sz="1800" dirty="0">
              <a:effectLst/>
              <a:latin typeface="Calibri" panose="020F0502020204030204" pitchFamily="34" charset="0"/>
              <a:ea typeface="Calibri" panose="020F0502020204030204" pitchFamily="34" charset="0"/>
            </a:endParaRPr>
          </a:p>
          <a:p>
            <a:pPr marL="0" marR="0"/>
            <a:r>
              <a:rPr lang="en-GB" sz="1800" dirty="0" err="1">
                <a:solidFill>
                  <a:srgbClr val="111111"/>
                </a:solidFill>
                <a:effectLst/>
                <a:latin typeface="Arial" panose="020B0604020202020204" pitchFamily="34" charset="0"/>
                <a:ea typeface="Arial" panose="020B0604020202020204" pitchFamily="34" charset="0"/>
              </a:rPr>
              <a:t>const</a:t>
            </a:r>
            <a:r>
              <a:rPr lang="en-GB" sz="1800" dirty="0">
                <a:solidFill>
                  <a:srgbClr val="111111"/>
                </a:solidFill>
                <a:effectLst/>
                <a:latin typeface="Arial" panose="020B0604020202020204" pitchFamily="34" charset="0"/>
                <a:ea typeface="Arial" panose="020B0604020202020204" pitchFamily="34" charset="0"/>
              </a:rPr>
              <a:t> </a:t>
            </a:r>
            <a:r>
              <a:rPr lang="en-GB" sz="1800" dirty="0" err="1">
                <a:solidFill>
                  <a:srgbClr val="111111"/>
                </a:solidFill>
                <a:effectLst/>
                <a:latin typeface="Arial" panose="020B0604020202020204" pitchFamily="34" charset="0"/>
                <a:ea typeface="Arial" panose="020B0604020202020204" pitchFamily="34" charset="0"/>
              </a:rPr>
              <a:t>lastname</a:t>
            </a:r>
            <a:r>
              <a:rPr lang="en-GB" sz="1800" dirty="0">
                <a:solidFill>
                  <a:srgbClr val="111111"/>
                </a:solidFill>
                <a:effectLst/>
                <a:latin typeface="Arial" panose="020B0604020202020204" pitchFamily="34" charset="0"/>
                <a:ea typeface="Arial" panose="020B0604020202020204" pitchFamily="34" charset="0"/>
              </a:rPr>
              <a:t>=’</a:t>
            </a:r>
            <a:r>
              <a:rPr lang="en-GB" sz="1800" dirty="0" err="1">
                <a:solidFill>
                  <a:srgbClr val="111111"/>
                </a:solidFill>
                <a:effectLst/>
                <a:latin typeface="Arial" panose="020B0604020202020204" pitchFamily="34" charset="0"/>
                <a:ea typeface="Arial" panose="020B0604020202020204" pitchFamily="34" charset="0"/>
              </a:rPr>
              <a:t>okafor</a:t>
            </a:r>
            <a:r>
              <a:rPr lang="en-GB" sz="1800" dirty="0">
                <a:solidFill>
                  <a:srgbClr val="111111"/>
                </a:solidFill>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r>
              <a:rPr lang="en-GB" sz="1800" dirty="0" err="1">
                <a:solidFill>
                  <a:srgbClr val="111111"/>
                </a:solidFill>
                <a:effectLst/>
                <a:latin typeface="Arial" panose="020B0604020202020204" pitchFamily="34" charset="0"/>
                <a:ea typeface="Arial" panose="020B0604020202020204" pitchFamily="34" charset="0"/>
              </a:rPr>
              <a:t>lastname</a:t>
            </a:r>
            <a:r>
              <a:rPr lang="en-GB" sz="1800" dirty="0">
                <a:solidFill>
                  <a:srgbClr val="111111"/>
                </a:solidFill>
                <a:effectLst/>
                <a:latin typeface="Arial" panose="020B0604020202020204" pitchFamily="34" charset="0"/>
                <a:ea typeface="Arial" panose="020B0604020202020204" pitchFamily="34" charset="0"/>
              </a:rPr>
              <a:t>=’doe’;</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111111"/>
                </a:solidFill>
                <a:effectLst/>
                <a:latin typeface="Arial" panose="020B0604020202020204" pitchFamily="34" charset="0"/>
                <a:ea typeface="Arial" panose="020B0604020202020204" pitchFamily="34" charset="0"/>
              </a:rPr>
              <a:t>console.log(</a:t>
            </a:r>
            <a:r>
              <a:rPr lang="en-GB" sz="1800" dirty="0" err="1">
                <a:solidFill>
                  <a:srgbClr val="111111"/>
                </a:solidFill>
                <a:effectLst/>
                <a:latin typeface="Arial" panose="020B0604020202020204" pitchFamily="34" charset="0"/>
                <a:ea typeface="Arial" panose="020B0604020202020204" pitchFamily="34" charset="0"/>
              </a:rPr>
              <a:t>lastname</a:t>
            </a:r>
            <a:r>
              <a:rPr lang="en-GB" sz="1800" dirty="0">
                <a:solidFill>
                  <a:srgbClr val="111111"/>
                </a:solidFill>
                <a:effectLst/>
                <a:latin typeface="Arial" panose="020B0604020202020204" pitchFamily="34" charset="0"/>
                <a:ea typeface="Arial" panose="020B0604020202020204" pitchFamily="34" charset="0"/>
              </a:rPr>
              <a:t>); //null</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111111"/>
                </a:solidFill>
                <a:effectLst/>
                <a:latin typeface="Arial" panose="020B0604020202020204" pitchFamily="34" charset="0"/>
                <a:ea typeface="Arial" panose="020B0604020202020204" pitchFamily="34" charset="0"/>
              </a:rPr>
              <a:t> </a:t>
            </a:r>
            <a:r>
              <a:rPr lang="en-GB" sz="1800" b="1" dirty="0">
                <a:effectLst/>
                <a:latin typeface="Arial" panose="020B0604020202020204" pitchFamily="34" charset="0"/>
                <a:ea typeface="Arial" panose="020B0604020202020204" pitchFamily="34" charset="0"/>
              </a:rPr>
              <a:t> Redeclaring Variables using the </a:t>
            </a:r>
            <a:r>
              <a:rPr lang="en-GB" sz="1800" b="1" u="sng" dirty="0">
                <a:effectLst/>
                <a:latin typeface="Arial" panose="020B0604020202020204" pitchFamily="34" charset="0"/>
                <a:ea typeface="Arial" panose="020B0604020202020204" pitchFamily="34" charset="0"/>
              </a:rPr>
              <a:t>var</a:t>
            </a:r>
            <a:r>
              <a:rPr lang="en-GB" sz="1800" b="1" dirty="0">
                <a:effectLst/>
                <a:latin typeface="Arial" panose="020B0604020202020204" pitchFamily="34" charset="0"/>
                <a:ea typeface="Arial" panose="020B0604020202020204" pitchFamily="34" charset="0"/>
              </a:rPr>
              <a:t> keyword</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Just like using the </a:t>
            </a:r>
            <a:r>
              <a:rPr lang="en-GB" sz="1800" dirty="0" err="1">
                <a:solidFill>
                  <a:srgbClr val="000000"/>
                </a:solidFill>
                <a:effectLst/>
                <a:latin typeface="Arial" panose="020B0604020202020204" pitchFamily="34" charset="0"/>
                <a:ea typeface="Arial" panose="020B0604020202020204" pitchFamily="34" charset="0"/>
              </a:rPr>
              <a:t>const</a:t>
            </a:r>
            <a:r>
              <a:rPr lang="en-GB" sz="1800" dirty="0">
                <a:solidFill>
                  <a:srgbClr val="000000"/>
                </a:solidFill>
                <a:effectLst/>
                <a:latin typeface="Arial" panose="020B0604020202020204" pitchFamily="34" charset="0"/>
                <a:ea typeface="Arial" panose="020B0604020202020204" pitchFamily="34" charset="0"/>
              </a:rPr>
              <a:t> and let keywords, You can declare and initialise a variable using the var keyword.</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a:t>
            </a:r>
            <a:endParaRPr lang="en-US" sz="1800" dirty="0">
              <a:latin typeface="Calibri" panose="020F0502020204030204" pitchFamily="34" charset="0"/>
              <a:ea typeface="Arial" panose="020B0604020202020204" pitchFamily="34" charset="0"/>
            </a:endParaRPr>
          </a:p>
          <a:p>
            <a:pPr marL="0" marR="0"/>
            <a:r>
              <a:rPr lang="en-GB" sz="1800" dirty="0">
                <a:effectLst/>
                <a:latin typeface="Arial" panose="020B0604020202020204" pitchFamily="34" charset="0"/>
                <a:ea typeface="Arial" panose="020B0604020202020204" pitchFamily="34" charset="0"/>
              </a:rPr>
              <a:t>//declared and initialized the variable and assigned a value of 'Cat'.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var </a:t>
            </a:r>
            <a:r>
              <a:rPr lang="en-GB" sz="1800" dirty="0" err="1">
                <a:effectLst/>
                <a:latin typeface="Arial" panose="020B0604020202020204" pitchFamily="34" charset="0"/>
                <a:ea typeface="Arial" panose="020B0604020202020204" pitchFamily="34" charset="0"/>
              </a:rPr>
              <a:t>mypet</a:t>
            </a:r>
            <a:r>
              <a:rPr lang="en-GB" sz="1800" dirty="0">
                <a:effectLst/>
                <a:latin typeface="Arial" panose="020B0604020202020204" pitchFamily="34" charset="0"/>
                <a:ea typeface="Arial" panose="020B0604020202020204" pitchFamily="34" charset="0"/>
              </a:rPr>
              <a:t>=’cat’;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console.log(</a:t>
            </a:r>
            <a:r>
              <a:rPr lang="en-GB" sz="1800" dirty="0" err="1">
                <a:effectLst/>
                <a:latin typeface="Arial" panose="020B0604020202020204" pitchFamily="34" charset="0"/>
                <a:ea typeface="Arial" panose="020B0604020202020204" pitchFamily="34" charset="0"/>
              </a:rPr>
              <a:t>mypet</a:t>
            </a:r>
            <a:r>
              <a:rPr lang="en-GB" sz="1800" dirty="0">
                <a:effectLst/>
                <a:latin typeface="Arial" panose="020B0604020202020204" pitchFamily="34" charset="0"/>
                <a:ea typeface="Arial" panose="020B0604020202020204" pitchFamily="34" charset="0"/>
              </a:rPr>
              <a:t>); //cat</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1282915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33E3E2-442E-5ED8-6D8F-5AC4AA27F0F0}"/>
              </a:ext>
            </a:extLst>
          </p:cNvPr>
          <p:cNvSpPr>
            <a:spLocks noGrp="1"/>
          </p:cNvSpPr>
          <p:nvPr>
            <p:ph idx="1"/>
          </p:nvPr>
        </p:nvSpPr>
        <p:spPr>
          <a:xfrm>
            <a:off x="414068" y="1069675"/>
            <a:ext cx="11050438" cy="5003321"/>
          </a:xfrm>
        </p:spPr>
        <p:txBody>
          <a:bodyPr/>
          <a:lstStyle/>
          <a:p>
            <a:pPr marL="0" marR="0"/>
            <a:r>
              <a:rPr lang="en-GB" sz="1800" dirty="0">
                <a:solidFill>
                  <a:srgbClr val="111111"/>
                </a:solidFill>
                <a:effectLst/>
                <a:latin typeface="Arial" panose="020B0604020202020204" pitchFamily="34" charset="0"/>
                <a:ea typeface="Arial" panose="020B0604020202020204" pitchFamily="34" charset="0"/>
              </a:rPr>
              <a:t>Let's try to redeclare the variable and also change its value. We start with redeclaring the variable</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111111"/>
                </a:solidFill>
                <a:effectLst/>
                <a:latin typeface="Arial" panose="020B0604020202020204" pitchFamily="34" charset="0"/>
                <a:ea typeface="Arial" panose="020B0604020202020204" pitchFamily="34" charset="0"/>
              </a:rPr>
              <a:t>var </a:t>
            </a:r>
            <a:r>
              <a:rPr lang="en-GB" sz="1800" dirty="0" err="1">
                <a:solidFill>
                  <a:srgbClr val="111111"/>
                </a:solidFill>
                <a:effectLst/>
                <a:latin typeface="Arial" panose="020B0604020202020204" pitchFamily="34" charset="0"/>
                <a:ea typeface="Arial" panose="020B0604020202020204" pitchFamily="34" charset="0"/>
              </a:rPr>
              <a:t>mypet</a:t>
            </a:r>
            <a:r>
              <a:rPr lang="en-GB" sz="1800" dirty="0">
                <a:solidFill>
                  <a:srgbClr val="111111"/>
                </a:solidFill>
                <a:effectLst/>
                <a:latin typeface="Arial" panose="020B0604020202020204" pitchFamily="34" charset="0"/>
                <a:ea typeface="Arial" panose="020B0604020202020204" pitchFamily="34" charset="0"/>
              </a:rPr>
              <a:t>=’cat’;</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111111"/>
                </a:solidFill>
                <a:effectLst/>
                <a:latin typeface="Arial" panose="020B0604020202020204" pitchFamily="34" charset="0"/>
                <a:ea typeface="Arial" panose="020B0604020202020204" pitchFamily="34" charset="0"/>
              </a:rPr>
              <a:t>var </a:t>
            </a:r>
            <a:r>
              <a:rPr lang="en-GB" sz="1800" dirty="0" err="1">
                <a:solidFill>
                  <a:srgbClr val="111111"/>
                </a:solidFill>
                <a:effectLst/>
                <a:latin typeface="Arial" panose="020B0604020202020204" pitchFamily="34" charset="0"/>
                <a:ea typeface="Arial" panose="020B0604020202020204" pitchFamily="34" charset="0"/>
              </a:rPr>
              <a:t>mypet</a:t>
            </a:r>
            <a:r>
              <a:rPr lang="en-GB" sz="1800" dirty="0">
                <a:solidFill>
                  <a:srgbClr val="111111"/>
                </a:solidFill>
                <a:effectLst/>
                <a:latin typeface="Arial" panose="020B0604020202020204" pitchFamily="34" charset="0"/>
                <a:ea typeface="Arial" panose="020B0604020202020204" pitchFamily="34" charset="0"/>
              </a:rPr>
              <a:t>=’cat’; //cat</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111111"/>
                </a:solidFill>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111111"/>
                </a:solidFill>
                <a:effectLst/>
                <a:latin typeface="Arial" panose="020B0604020202020204" pitchFamily="34" charset="0"/>
                <a:ea typeface="Arial" panose="020B0604020202020204" pitchFamily="34" charset="0"/>
              </a:rPr>
              <a:t>This time around, it doesn't display any errors. It logs out the value. Now, let's change the value;</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111111"/>
                </a:solidFill>
                <a:effectLst/>
                <a:latin typeface="Arial" panose="020B0604020202020204" pitchFamily="34" charset="0"/>
                <a:ea typeface="Arial" panose="020B0604020202020204" pitchFamily="34" charset="0"/>
              </a:rPr>
              <a:t>var </a:t>
            </a:r>
            <a:r>
              <a:rPr lang="en-GB" sz="1800" dirty="0" err="1">
                <a:solidFill>
                  <a:srgbClr val="111111"/>
                </a:solidFill>
                <a:effectLst/>
                <a:latin typeface="Arial" panose="020B0604020202020204" pitchFamily="34" charset="0"/>
                <a:ea typeface="Arial" panose="020B0604020202020204" pitchFamily="34" charset="0"/>
              </a:rPr>
              <a:t>mypet</a:t>
            </a:r>
            <a:r>
              <a:rPr lang="en-GB" sz="1800" dirty="0">
                <a:solidFill>
                  <a:srgbClr val="111111"/>
                </a:solidFill>
                <a:effectLst/>
                <a:latin typeface="Arial" panose="020B0604020202020204" pitchFamily="34" charset="0"/>
                <a:ea typeface="Arial" panose="020B0604020202020204" pitchFamily="34" charset="0"/>
              </a:rPr>
              <a:t>=’cat’;</a:t>
            </a:r>
            <a:endParaRPr lang="en-US" sz="1800" dirty="0">
              <a:effectLst/>
              <a:latin typeface="Calibri" panose="020F0502020204030204" pitchFamily="34" charset="0"/>
              <a:ea typeface="Calibri" panose="020F0502020204030204" pitchFamily="34" charset="0"/>
            </a:endParaRPr>
          </a:p>
          <a:p>
            <a:r>
              <a:rPr lang="en-GB" sz="1800" dirty="0">
                <a:solidFill>
                  <a:srgbClr val="111111"/>
                </a:solidFill>
                <a:effectLst/>
                <a:latin typeface="Arial" panose="020B0604020202020204" pitchFamily="34" charset="0"/>
                <a:ea typeface="Arial" panose="020B0604020202020204" pitchFamily="34" charset="0"/>
              </a:rPr>
              <a:t>var </a:t>
            </a:r>
            <a:r>
              <a:rPr lang="en-GB" sz="1800" dirty="0" err="1">
                <a:solidFill>
                  <a:srgbClr val="111111"/>
                </a:solidFill>
                <a:effectLst/>
                <a:latin typeface="Arial" panose="020B0604020202020204" pitchFamily="34" charset="0"/>
                <a:ea typeface="Arial" panose="020B0604020202020204" pitchFamily="34" charset="0"/>
              </a:rPr>
              <a:t>mypet</a:t>
            </a:r>
            <a:r>
              <a:rPr lang="en-GB" sz="1800" dirty="0">
                <a:solidFill>
                  <a:srgbClr val="111111"/>
                </a:solidFill>
                <a:effectLst/>
                <a:latin typeface="Arial" panose="020B0604020202020204" pitchFamily="34" charset="0"/>
                <a:ea typeface="Arial" panose="020B0604020202020204" pitchFamily="34" charset="0"/>
              </a:rPr>
              <a:t>=’dog’; //dog</a:t>
            </a:r>
            <a:endParaRPr lang="en-US" dirty="0"/>
          </a:p>
        </p:txBody>
      </p:sp>
    </p:spTree>
    <p:extLst>
      <p:ext uri="{BB962C8B-B14F-4D97-AF65-F5344CB8AC3E}">
        <p14:creationId xmlns:p14="http://schemas.microsoft.com/office/powerpoint/2010/main" val="12617779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1324EC-771B-E910-EF10-83C9E6835972}"/>
              </a:ext>
            </a:extLst>
          </p:cNvPr>
          <p:cNvSpPr>
            <a:spLocks noGrp="1"/>
          </p:cNvSpPr>
          <p:nvPr>
            <p:ph idx="1"/>
          </p:nvPr>
        </p:nvSpPr>
        <p:spPr>
          <a:xfrm>
            <a:off x="422694" y="966158"/>
            <a:ext cx="10998680" cy="5003321"/>
          </a:xfrm>
        </p:spPr>
        <p:txBody>
          <a:bodyPr>
            <a:normAutofit/>
          </a:bodyPr>
          <a:lstStyle/>
          <a:p>
            <a:r>
              <a:rPr lang="en-GB" b="1" dirty="0">
                <a:effectLst/>
                <a:latin typeface="Calibri" panose="020F0502020204030204" pitchFamily="34" charset="0"/>
                <a:ea typeface="Calibri" panose="020F0502020204030204" pitchFamily="34" charset="0"/>
              </a:rPr>
              <a:t>1.3.2: Initialise variables</a:t>
            </a:r>
          </a:p>
          <a:p>
            <a:pPr marL="457200" marR="0">
              <a:spcAft>
                <a:spcPts val="1200"/>
              </a:spcAft>
            </a:pPr>
            <a:r>
              <a:rPr lang="en-GB" b="1" dirty="0">
                <a:effectLst/>
                <a:latin typeface="Arial" panose="020B0604020202020204" pitchFamily="34" charset="0"/>
                <a:ea typeface="Arial" panose="020B0604020202020204" pitchFamily="34" charset="0"/>
              </a:rPr>
              <a:t>Variable initialization</a:t>
            </a:r>
            <a:endParaRPr lang="en-US" dirty="0">
              <a:effectLst/>
              <a:latin typeface="Calibri" panose="020F0502020204030204" pitchFamily="34" charset="0"/>
              <a:ea typeface="Calibri" panose="020F0502020204030204" pitchFamily="34" charset="0"/>
            </a:endParaRPr>
          </a:p>
          <a:p>
            <a:pPr marL="0" marR="0">
              <a:spcBef>
                <a:spcPts val="1400"/>
              </a:spcBef>
              <a:spcAft>
                <a:spcPts val="1400"/>
              </a:spcAft>
            </a:pPr>
            <a:r>
              <a:rPr lang="en-GB" dirty="0">
                <a:solidFill>
                  <a:srgbClr val="000000"/>
                </a:solidFill>
                <a:effectLst/>
                <a:highlight>
                  <a:srgbClr val="FFFFFF"/>
                </a:highlight>
                <a:latin typeface="Arial" panose="020B0604020202020204" pitchFamily="34" charset="0"/>
                <a:ea typeface="Arial" panose="020B0604020202020204" pitchFamily="34" charset="0"/>
              </a:rPr>
              <a:t>In the example below, we create a variable called </a:t>
            </a:r>
            <a:r>
              <a:rPr lang="en-GB" dirty="0" err="1">
                <a:solidFill>
                  <a:srgbClr val="000000"/>
                </a:solidFill>
                <a:effectLst/>
                <a:highlight>
                  <a:srgbClr val="FFFFFF"/>
                </a:highlight>
                <a:latin typeface="Arial" panose="020B0604020202020204" pitchFamily="34" charset="0"/>
                <a:ea typeface="Arial" panose="020B0604020202020204" pitchFamily="34" charset="0"/>
              </a:rPr>
              <a:t>carName</a:t>
            </a:r>
            <a:r>
              <a:rPr lang="en-GB" dirty="0">
                <a:solidFill>
                  <a:srgbClr val="000000"/>
                </a:solidFill>
                <a:effectLst/>
                <a:highlight>
                  <a:srgbClr val="FFFFFF"/>
                </a:highlight>
                <a:latin typeface="Arial" panose="020B0604020202020204" pitchFamily="34" charset="0"/>
                <a:ea typeface="Arial" panose="020B0604020202020204" pitchFamily="34" charset="0"/>
              </a:rPr>
              <a:t> and assign the value "Volvo" to it.</a:t>
            </a:r>
            <a:endParaRPr lang="en-US" dirty="0">
              <a:effectLst/>
              <a:latin typeface="Calibri" panose="020F0502020204030204" pitchFamily="34" charset="0"/>
              <a:ea typeface="Calibri" panose="020F0502020204030204" pitchFamily="34" charset="0"/>
            </a:endParaRPr>
          </a:p>
          <a:p>
            <a:pPr marL="0" marR="0">
              <a:spcBef>
                <a:spcPts val="1400"/>
              </a:spcBef>
              <a:spcAft>
                <a:spcPts val="1400"/>
              </a:spcAft>
            </a:pPr>
            <a:r>
              <a:rPr lang="en-GB" dirty="0">
                <a:solidFill>
                  <a:srgbClr val="000000"/>
                </a:solidFill>
                <a:effectLst/>
                <a:highlight>
                  <a:srgbClr val="FFFFFF"/>
                </a:highlight>
                <a:latin typeface="Arial" panose="020B0604020202020204" pitchFamily="34" charset="0"/>
                <a:ea typeface="Arial" panose="020B0604020202020204" pitchFamily="34" charset="0"/>
              </a:rPr>
              <a:t>Then we "output" the value inside an HTML paragraph with id="demo":</a:t>
            </a:r>
            <a:endParaRPr lang="en-US" dirty="0">
              <a:effectLst/>
              <a:latin typeface="Calibri" panose="020F0502020204030204" pitchFamily="34" charset="0"/>
              <a:ea typeface="Calibri" panose="020F0502020204030204" pitchFamily="34" charset="0"/>
            </a:endParaRPr>
          </a:p>
          <a:p>
            <a:endParaRPr lang="en-US" b="1" dirty="0"/>
          </a:p>
        </p:txBody>
      </p:sp>
    </p:spTree>
    <p:extLst>
      <p:ext uri="{BB962C8B-B14F-4D97-AF65-F5344CB8AC3E}">
        <p14:creationId xmlns:p14="http://schemas.microsoft.com/office/powerpoint/2010/main" val="38323014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849906-C06A-2DAE-5C2C-11396E576868}"/>
              </a:ext>
            </a:extLst>
          </p:cNvPr>
          <p:cNvSpPr>
            <a:spLocks noGrp="1"/>
          </p:cNvSpPr>
          <p:nvPr>
            <p:ph idx="1"/>
          </p:nvPr>
        </p:nvSpPr>
        <p:spPr>
          <a:xfrm>
            <a:off x="319177" y="966157"/>
            <a:ext cx="11110823" cy="5253487"/>
          </a:xfrm>
        </p:spPr>
        <p:txBody>
          <a:bodyPr>
            <a:normAutofit lnSpcReduction="10000"/>
          </a:bodyPr>
          <a:lstStyle/>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&lt;!DOCTYPE html&gt;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&lt;html&gt;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&lt;body&gt;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&lt;h1&gt;JavaScript Variables&lt;/h1&gt;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&lt;p&gt;Create a variable, assign a value to it, and display it:&lt;/p&gt;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&lt;p id="demo"&gt;&lt;/p&gt;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&lt;script&gt;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let </a:t>
            </a:r>
            <a:r>
              <a:rPr lang="en-GB" sz="2000" dirty="0" err="1">
                <a:solidFill>
                  <a:srgbClr val="000000"/>
                </a:solidFill>
                <a:effectLst/>
                <a:highlight>
                  <a:srgbClr val="FFFFFF"/>
                </a:highlight>
                <a:latin typeface="Arial" panose="020B0604020202020204" pitchFamily="34" charset="0"/>
                <a:ea typeface="Arial" panose="020B0604020202020204" pitchFamily="34" charset="0"/>
              </a:rPr>
              <a:t>carName</a:t>
            </a:r>
            <a:r>
              <a:rPr lang="en-GB" sz="2000" dirty="0">
                <a:solidFill>
                  <a:srgbClr val="000000"/>
                </a:solidFill>
                <a:effectLst/>
                <a:highlight>
                  <a:srgbClr val="FFFFFF"/>
                </a:highlight>
                <a:latin typeface="Arial" panose="020B0604020202020204" pitchFamily="34" charset="0"/>
                <a:ea typeface="Arial" panose="020B0604020202020204" pitchFamily="34" charset="0"/>
              </a:rPr>
              <a:t> = "Volvo";</a:t>
            </a:r>
            <a:endParaRPr lang="en-US" sz="2000" dirty="0">
              <a:effectLst/>
              <a:latin typeface="Calibri" panose="020F0502020204030204" pitchFamily="34" charset="0"/>
              <a:ea typeface="Calibri" panose="020F0502020204030204" pitchFamily="34" charset="0"/>
            </a:endParaRPr>
          </a:p>
          <a:p>
            <a:pPr marL="0" marR="0"/>
            <a:r>
              <a:rPr lang="en-GB" sz="2000" dirty="0" err="1">
                <a:solidFill>
                  <a:srgbClr val="000000"/>
                </a:solidFill>
                <a:effectLst/>
                <a:highlight>
                  <a:srgbClr val="FFFFFF"/>
                </a:highlight>
                <a:latin typeface="Arial" panose="020B0604020202020204" pitchFamily="34" charset="0"/>
                <a:ea typeface="Arial" panose="020B0604020202020204" pitchFamily="34" charset="0"/>
              </a:rPr>
              <a:t>document.getElementById</a:t>
            </a:r>
            <a:r>
              <a:rPr lang="en-GB" sz="2000" dirty="0">
                <a:solidFill>
                  <a:srgbClr val="000000"/>
                </a:solidFill>
                <a:effectLst/>
                <a:highlight>
                  <a:srgbClr val="FFFFFF"/>
                </a:highlight>
                <a:latin typeface="Arial" panose="020B0604020202020204" pitchFamily="34" charset="0"/>
                <a:ea typeface="Arial" panose="020B0604020202020204" pitchFamily="34" charset="0"/>
              </a:rPr>
              <a:t>("demo").</a:t>
            </a:r>
            <a:r>
              <a:rPr lang="en-GB" sz="2000" dirty="0" err="1">
                <a:solidFill>
                  <a:srgbClr val="000000"/>
                </a:solidFill>
                <a:effectLst/>
                <a:highlight>
                  <a:srgbClr val="FFFFFF"/>
                </a:highlight>
                <a:latin typeface="Arial" panose="020B0604020202020204" pitchFamily="34" charset="0"/>
                <a:ea typeface="Arial" panose="020B0604020202020204" pitchFamily="34" charset="0"/>
              </a:rPr>
              <a:t>innerHTML</a:t>
            </a:r>
            <a:r>
              <a:rPr lang="en-GB" sz="2000" dirty="0">
                <a:solidFill>
                  <a:srgbClr val="000000"/>
                </a:solidFill>
                <a:effectLst/>
                <a:highlight>
                  <a:srgbClr val="FFFFFF"/>
                </a:highlight>
                <a:latin typeface="Arial" panose="020B0604020202020204" pitchFamily="34" charset="0"/>
                <a:ea typeface="Arial" panose="020B0604020202020204" pitchFamily="34" charset="0"/>
              </a:rPr>
              <a:t> = </a:t>
            </a:r>
            <a:r>
              <a:rPr lang="en-GB" sz="2000" dirty="0" err="1">
                <a:solidFill>
                  <a:srgbClr val="000000"/>
                </a:solidFill>
                <a:effectLst/>
                <a:highlight>
                  <a:srgbClr val="FFFFFF"/>
                </a:highlight>
                <a:latin typeface="Arial" panose="020B0604020202020204" pitchFamily="34" charset="0"/>
                <a:ea typeface="Arial" panose="020B0604020202020204" pitchFamily="34" charset="0"/>
              </a:rPr>
              <a:t>carName</a:t>
            </a:r>
            <a:r>
              <a:rPr lang="en-GB" sz="2000" dirty="0">
                <a:solidFill>
                  <a:srgbClr val="000000"/>
                </a:solidFill>
                <a:effectLst/>
                <a:highlight>
                  <a:srgbClr val="FFFFFF"/>
                </a:highlight>
                <a:latin typeface="Arial" panose="020B0604020202020204" pitchFamily="34" charset="0"/>
                <a:ea typeface="Arial" panose="020B0604020202020204" pitchFamily="34" charset="0"/>
              </a:rPr>
              <a: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&lt;/script&gt;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&lt;/body&gt;</a:t>
            </a:r>
            <a:endParaRPr lang="en-US" sz="2000" dirty="0">
              <a:effectLst/>
              <a:latin typeface="Calibri" panose="020F0502020204030204" pitchFamily="34" charset="0"/>
              <a:ea typeface="Calibri" panose="020F0502020204030204" pitchFamily="34" charset="0"/>
            </a:endParaRPr>
          </a:p>
          <a:p>
            <a:pPr marL="0" marR="0"/>
            <a:r>
              <a:rPr lang="en-GB" sz="2000" dirty="0">
                <a:solidFill>
                  <a:srgbClr val="000000"/>
                </a:solidFill>
                <a:effectLst/>
                <a:highlight>
                  <a:srgbClr val="FFFFFF"/>
                </a:highlight>
                <a:latin typeface="Arial" panose="020B0604020202020204" pitchFamily="34" charset="0"/>
                <a:ea typeface="Arial" panose="020B0604020202020204" pitchFamily="34" charset="0"/>
              </a:rPr>
              <a:t>&lt;/html&gt;</a:t>
            </a:r>
            <a:endParaRPr lang="en-US" sz="20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42500757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03E468-6D34-7447-5D49-8964B84AAB39}"/>
              </a:ext>
            </a:extLst>
          </p:cNvPr>
          <p:cNvSpPr>
            <a:spLocks noGrp="1"/>
          </p:cNvSpPr>
          <p:nvPr>
            <p:ph idx="1"/>
          </p:nvPr>
        </p:nvSpPr>
        <p:spPr>
          <a:xfrm>
            <a:off x="198409" y="1035170"/>
            <a:ext cx="11248844" cy="5218981"/>
          </a:xfrm>
        </p:spPr>
        <p:txBody>
          <a:bodyPr>
            <a:normAutofit fontScale="47500" lnSpcReduction="20000"/>
          </a:bodyPr>
          <a:lstStyle/>
          <a:p>
            <a:pPr marL="0" marR="0"/>
            <a:r>
              <a:rPr lang="en-GB" sz="3200" b="1" dirty="0">
                <a:effectLst/>
                <a:highlight>
                  <a:srgbClr val="FFFFFF"/>
                </a:highlight>
                <a:latin typeface="Arial" panose="020B0604020202020204" pitchFamily="34" charset="0"/>
                <a:ea typeface="Arial" panose="020B0604020202020204" pitchFamily="34" charset="0"/>
              </a:rPr>
              <a:t>Output</a:t>
            </a:r>
            <a:endParaRPr lang="en-US" sz="3200" dirty="0">
              <a:effectLst/>
              <a:latin typeface="Calibri" panose="020F0502020204030204" pitchFamily="34" charset="0"/>
              <a:ea typeface="Calibri" panose="020F0502020204030204" pitchFamily="34" charset="0"/>
            </a:endParaRPr>
          </a:p>
          <a:p>
            <a:pPr marL="0" marR="0"/>
            <a:r>
              <a:rPr lang="en-GB" sz="3200" b="1" dirty="0">
                <a:effectLst/>
                <a:highlight>
                  <a:srgbClr val="FFFFFF"/>
                </a:highlight>
                <a:latin typeface="Arial" panose="020B0604020202020204" pitchFamily="34" charset="0"/>
                <a:ea typeface="Arial" panose="020B0604020202020204" pitchFamily="34" charset="0"/>
              </a:rPr>
              <a:t> JavaScript Variables</a:t>
            </a:r>
            <a:endParaRPr lang="en-US" sz="32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3200" dirty="0">
                <a:solidFill>
                  <a:srgbClr val="000000"/>
                </a:solidFill>
                <a:effectLst/>
                <a:highlight>
                  <a:srgbClr val="FFFFFF"/>
                </a:highlight>
                <a:latin typeface="Arial" panose="020B0604020202020204" pitchFamily="34" charset="0"/>
                <a:ea typeface="Arial" panose="020B0604020202020204" pitchFamily="34" charset="0"/>
              </a:rPr>
              <a:t>Create a variable, assign a value to it, and display it:</a:t>
            </a:r>
            <a:endParaRPr lang="en-US" sz="32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3200" dirty="0">
                <a:solidFill>
                  <a:srgbClr val="000000"/>
                </a:solidFill>
                <a:effectLst/>
                <a:highlight>
                  <a:srgbClr val="FFFFFF"/>
                </a:highlight>
                <a:latin typeface="Arial" panose="020B0604020202020204" pitchFamily="34" charset="0"/>
                <a:ea typeface="Arial" panose="020B0604020202020204" pitchFamily="34" charset="0"/>
              </a:rPr>
              <a:t>Volvo</a:t>
            </a:r>
            <a:endParaRPr lang="en-US" sz="32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3200" dirty="0">
                <a:effectLst/>
                <a:latin typeface="Arial" panose="020B0604020202020204" pitchFamily="34" charset="0"/>
                <a:ea typeface="Arial" panose="020B0604020202020204" pitchFamily="34" charset="0"/>
              </a:rPr>
              <a:t>  </a:t>
            </a:r>
            <a:r>
              <a:rPr lang="en-GB" sz="3200" b="1" dirty="0">
                <a:effectLst/>
                <a:latin typeface="Arial" panose="020B0604020202020204" pitchFamily="34" charset="0"/>
                <a:ea typeface="Arial" panose="020B0604020202020204" pitchFamily="34" charset="0"/>
              </a:rPr>
              <a:t>Example2:</a:t>
            </a:r>
            <a:endParaRPr lang="en-US" sz="3200" dirty="0">
              <a:effectLst/>
              <a:latin typeface="Calibri" panose="020F0502020204030204" pitchFamily="34" charset="0"/>
              <a:ea typeface="Calibri" panose="020F0502020204030204" pitchFamily="34" charset="0"/>
            </a:endParaRPr>
          </a:p>
          <a:p>
            <a:pPr marL="457200" marR="0"/>
            <a:r>
              <a:rPr lang="en-GB" sz="3200" dirty="0">
                <a:effectLst/>
                <a:latin typeface="Arial" panose="020B0604020202020204" pitchFamily="34" charset="0"/>
                <a:ea typeface="Arial" panose="020B0604020202020204" pitchFamily="34" charset="0"/>
              </a:rPr>
              <a:t>&lt;script&gt;  </a:t>
            </a:r>
            <a:endParaRPr lang="en-US" sz="3200" dirty="0">
              <a:effectLst/>
              <a:latin typeface="Calibri" panose="020F0502020204030204" pitchFamily="34" charset="0"/>
              <a:ea typeface="Calibri" panose="020F0502020204030204" pitchFamily="34" charset="0"/>
            </a:endParaRPr>
          </a:p>
          <a:p>
            <a:pPr marL="457200" marR="0"/>
            <a:r>
              <a:rPr lang="en-GB" sz="3200" dirty="0">
                <a:effectLst/>
                <a:latin typeface="Arial" panose="020B0604020202020204" pitchFamily="34" charset="0"/>
                <a:ea typeface="Arial" panose="020B0604020202020204" pitchFamily="34" charset="0"/>
              </a:rPr>
              <a:t>var x = 10;  </a:t>
            </a:r>
            <a:endParaRPr lang="en-US" sz="3200" dirty="0">
              <a:effectLst/>
              <a:latin typeface="Calibri" panose="020F0502020204030204" pitchFamily="34" charset="0"/>
              <a:ea typeface="Calibri" panose="020F0502020204030204" pitchFamily="34" charset="0"/>
            </a:endParaRPr>
          </a:p>
          <a:p>
            <a:pPr marL="457200" marR="0"/>
            <a:r>
              <a:rPr lang="en-GB" sz="3200" dirty="0">
                <a:effectLst/>
                <a:latin typeface="Arial" panose="020B0604020202020204" pitchFamily="34" charset="0"/>
                <a:ea typeface="Arial" panose="020B0604020202020204" pitchFamily="34" charset="0"/>
              </a:rPr>
              <a:t>var y = 20;  </a:t>
            </a:r>
            <a:endParaRPr lang="en-US" sz="3200" dirty="0">
              <a:effectLst/>
              <a:latin typeface="Calibri" panose="020F0502020204030204" pitchFamily="34" charset="0"/>
              <a:ea typeface="Calibri" panose="020F0502020204030204" pitchFamily="34" charset="0"/>
            </a:endParaRPr>
          </a:p>
          <a:p>
            <a:pPr marL="457200" marR="0"/>
            <a:r>
              <a:rPr lang="en-GB" sz="3200" dirty="0">
                <a:effectLst/>
                <a:latin typeface="Arial" panose="020B0604020202020204" pitchFamily="34" charset="0"/>
                <a:ea typeface="Arial" panose="020B0604020202020204" pitchFamily="34" charset="0"/>
              </a:rPr>
              <a:t>var z=</a:t>
            </a:r>
            <a:r>
              <a:rPr lang="en-GB" sz="3200" dirty="0" err="1">
                <a:effectLst/>
                <a:latin typeface="Arial" panose="020B0604020202020204" pitchFamily="34" charset="0"/>
                <a:ea typeface="Arial" panose="020B0604020202020204" pitchFamily="34" charset="0"/>
              </a:rPr>
              <a:t>x+y</a:t>
            </a:r>
            <a:r>
              <a:rPr lang="en-GB" sz="3200" dirty="0">
                <a:effectLst/>
                <a:latin typeface="Arial" panose="020B0604020202020204" pitchFamily="34" charset="0"/>
                <a:ea typeface="Arial" panose="020B0604020202020204" pitchFamily="34" charset="0"/>
              </a:rPr>
              <a:t>;  </a:t>
            </a:r>
            <a:endParaRPr lang="en-US" sz="3200" dirty="0">
              <a:effectLst/>
              <a:latin typeface="Calibri" panose="020F0502020204030204" pitchFamily="34" charset="0"/>
              <a:ea typeface="Calibri" panose="020F0502020204030204" pitchFamily="34" charset="0"/>
            </a:endParaRPr>
          </a:p>
          <a:p>
            <a:pPr marL="457200" marR="0"/>
            <a:r>
              <a:rPr lang="en-GB" sz="3200" dirty="0" err="1">
                <a:effectLst/>
                <a:latin typeface="Arial" panose="020B0604020202020204" pitchFamily="34" charset="0"/>
                <a:ea typeface="Arial" panose="020B0604020202020204" pitchFamily="34" charset="0"/>
              </a:rPr>
              <a:t>document.write</a:t>
            </a:r>
            <a:r>
              <a:rPr lang="en-GB" sz="3200" dirty="0">
                <a:effectLst/>
                <a:latin typeface="Arial" panose="020B0604020202020204" pitchFamily="34" charset="0"/>
                <a:ea typeface="Arial" panose="020B0604020202020204" pitchFamily="34" charset="0"/>
              </a:rPr>
              <a:t>(z);  </a:t>
            </a:r>
            <a:endParaRPr lang="en-US" sz="3200" dirty="0">
              <a:effectLst/>
              <a:latin typeface="Calibri" panose="020F0502020204030204" pitchFamily="34" charset="0"/>
              <a:ea typeface="Calibri" panose="020F0502020204030204" pitchFamily="34" charset="0"/>
            </a:endParaRPr>
          </a:p>
          <a:p>
            <a:pPr marL="457200" marR="0">
              <a:spcAft>
                <a:spcPts val="1200"/>
              </a:spcAft>
            </a:pPr>
            <a:r>
              <a:rPr lang="en-GB" sz="3200" dirty="0">
                <a:effectLst/>
                <a:latin typeface="Arial" panose="020B0604020202020204" pitchFamily="34" charset="0"/>
                <a:ea typeface="Arial" panose="020B0604020202020204" pitchFamily="34" charset="0"/>
              </a:rPr>
              <a:t>&lt;/script&gt;  </a:t>
            </a:r>
            <a:endParaRPr lang="en-US" sz="3200" dirty="0">
              <a:effectLst/>
              <a:latin typeface="Calibri" panose="020F0502020204030204" pitchFamily="34" charset="0"/>
              <a:ea typeface="Calibri" panose="020F0502020204030204" pitchFamily="34" charset="0"/>
            </a:endParaRPr>
          </a:p>
          <a:p>
            <a:pPr marL="0" marR="0"/>
            <a:r>
              <a:rPr lang="en-GB" sz="3200" dirty="0">
                <a:effectLst/>
                <a:latin typeface="Arial" panose="020B0604020202020204" pitchFamily="34" charset="0"/>
                <a:ea typeface="Arial" panose="020B0604020202020204" pitchFamily="34" charset="0"/>
              </a:rPr>
              <a:t>         </a:t>
            </a:r>
            <a:r>
              <a:rPr lang="en-GB" sz="3200" b="1" dirty="0">
                <a:effectLst/>
                <a:latin typeface="Arial" panose="020B0604020202020204" pitchFamily="34" charset="0"/>
                <a:ea typeface="Arial" panose="020B0604020202020204" pitchFamily="34" charset="0"/>
              </a:rPr>
              <a:t>Output of the above example</a:t>
            </a:r>
            <a:endParaRPr lang="en-US" sz="3200" dirty="0">
              <a:effectLst/>
              <a:latin typeface="Calibri" panose="020F0502020204030204" pitchFamily="34" charset="0"/>
              <a:ea typeface="Calibri" panose="020F0502020204030204" pitchFamily="34" charset="0"/>
            </a:endParaRPr>
          </a:p>
          <a:p>
            <a:pPr marL="0" marR="0"/>
            <a:r>
              <a:rPr lang="en-GB" sz="3200" dirty="0">
                <a:effectLst/>
                <a:latin typeface="Arial" panose="020B0604020202020204" pitchFamily="34" charset="0"/>
                <a:ea typeface="Arial" panose="020B0604020202020204" pitchFamily="34" charset="0"/>
              </a:rPr>
              <a:t>                        30</a:t>
            </a:r>
            <a:endParaRPr lang="en-US" sz="32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7588473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5676C-B4AC-BBCA-7547-E8D7F8BAD89E}"/>
              </a:ext>
            </a:extLst>
          </p:cNvPr>
          <p:cNvSpPr>
            <a:spLocks noGrp="1"/>
          </p:cNvSpPr>
          <p:nvPr>
            <p:ph idx="1"/>
          </p:nvPr>
        </p:nvSpPr>
        <p:spPr>
          <a:xfrm>
            <a:off x="414067" y="931653"/>
            <a:ext cx="10869283" cy="5331124"/>
          </a:xfrm>
        </p:spPr>
        <p:txBody>
          <a:bodyPr>
            <a:normAutofit fontScale="92500" lnSpcReduction="10000"/>
          </a:bodyPr>
          <a:lstStyle/>
          <a:p>
            <a:pPr marL="0" marR="0">
              <a:spcBef>
                <a:spcPts val="1200"/>
              </a:spcBef>
              <a:spcAft>
                <a:spcPts val="1200"/>
              </a:spcAft>
            </a:pPr>
            <a:r>
              <a:rPr lang="en-GB" sz="1800" dirty="0">
                <a:effectLst/>
                <a:latin typeface="Arial" panose="020B0604020202020204" pitchFamily="34" charset="0"/>
                <a:ea typeface="Arial" panose="020B0604020202020204" pitchFamily="34" charset="0"/>
              </a:rPr>
              <a:t>JavaScript local variable</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function </a:t>
            </a:r>
            <a:r>
              <a:rPr lang="en-GB" sz="1800" dirty="0" err="1">
                <a:effectLst/>
                <a:latin typeface="Arial" panose="020B0604020202020204" pitchFamily="34" charset="0"/>
                <a:ea typeface="Arial" panose="020B0604020202020204" pitchFamily="34" charset="0"/>
              </a:rPr>
              <a:t>abc</a:t>
            </a:r>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var x=10;//local variable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457200" marR="0">
              <a:spcAft>
                <a:spcPts val="1200"/>
              </a:spcAft>
            </a:pPr>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457200" marR="0">
              <a:spcAft>
                <a:spcPts val="1200"/>
              </a:spcAft>
            </a:pPr>
            <a:br>
              <a:rPr lang="en-GB" sz="1800" dirty="0">
                <a:effectLst/>
                <a:latin typeface="Arial" panose="020B0604020202020204" pitchFamily="34" charset="0"/>
                <a:ea typeface="Arial" panose="020B0604020202020204" pitchFamily="34" charset="0"/>
              </a:rPr>
            </a:br>
            <a:r>
              <a:rPr lang="en-GB" sz="1800" dirty="0">
                <a:effectLst/>
                <a:latin typeface="Arial" panose="020B0604020202020204" pitchFamily="34" charset="0"/>
                <a:ea typeface="Arial" panose="020B0604020202020204" pitchFamily="34" charset="0"/>
              </a:rPr>
              <a:t> </a:t>
            </a:r>
            <a:r>
              <a:rPr lang="en-GB" sz="1800" dirty="0">
                <a:effectLst/>
                <a:highlight>
                  <a:srgbClr val="FFFFFF"/>
                </a:highlight>
                <a:latin typeface="Arial" panose="020B0604020202020204" pitchFamily="34" charset="0"/>
                <a:ea typeface="Arial" panose="020B0604020202020204" pitchFamily="34" charset="0"/>
              </a:rPr>
              <a:t>Or,</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If(10&lt;13){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var y=20;//JavaScript local variable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457200" marR="0">
              <a:spcAft>
                <a:spcPts val="1200"/>
              </a:spcAft>
            </a:pPr>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060846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E38E78-FDD6-EF08-FE6F-15A1B816EF6D}"/>
              </a:ext>
            </a:extLst>
          </p:cNvPr>
          <p:cNvSpPr>
            <a:spLocks noGrp="1"/>
          </p:cNvSpPr>
          <p:nvPr>
            <p:ph idx="1"/>
          </p:nvPr>
        </p:nvSpPr>
        <p:spPr>
          <a:xfrm>
            <a:off x="319177" y="897147"/>
            <a:ext cx="10836503" cy="5357004"/>
          </a:xfrm>
        </p:spPr>
        <p:txBody>
          <a:bodyPr>
            <a:normAutofit/>
          </a:bodyPr>
          <a:lstStyle/>
          <a:p>
            <a:pPr marL="0" marR="0">
              <a:spcBef>
                <a:spcPts val="1200"/>
              </a:spcBef>
              <a:spcAft>
                <a:spcPts val="1200"/>
              </a:spcAft>
            </a:pPr>
            <a:r>
              <a:rPr lang="en-GB" sz="1800" dirty="0">
                <a:effectLst/>
                <a:latin typeface="Arial" panose="020B0604020202020204" pitchFamily="34" charset="0"/>
                <a:ea typeface="Arial" panose="020B0604020202020204" pitchFamily="34" charset="0"/>
              </a:rPr>
              <a:t>JavaScript global variable</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var data=200;//global variable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function a(){  </a:t>
            </a:r>
            <a:endParaRPr lang="en-US" sz="1800" dirty="0">
              <a:effectLst/>
              <a:latin typeface="Calibri" panose="020F0502020204030204" pitchFamily="34" charset="0"/>
              <a:ea typeface="Calibri" panose="020F0502020204030204" pitchFamily="34" charset="0"/>
            </a:endParaRPr>
          </a:p>
          <a:p>
            <a:pPr marL="457200" marR="0"/>
            <a:r>
              <a:rPr lang="en-GB" sz="1800" dirty="0" err="1">
                <a:effectLst/>
                <a:latin typeface="Arial" panose="020B0604020202020204" pitchFamily="34" charset="0"/>
                <a:ea typeface="Arial" panose="020B0604020202020204" pitchFamily="34" charset="0"/>
              </a:rPr>
              <a:t>document.writeln</a:t>
            </a:r>
            <a:r>
              <a:rPr lang="en-GB" sz="1800" dirty="0">
                <a:effectLst/>
                <a:latin typeface="Arial" panose="020B0604020202020204" pitchFamily="34" charset="0"/>
                <a:ea typeface="Arial" panose="020B0604020202020204" pitchFamily="34" charset="0"/>
              </a:rPr>
              <a:t>(data);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function b(){  </a:t>
            </a:r>
            <a:endParaRPr lang="en-US" sz="1800" dirty="0">
              <a:effectLst/>
              <a:latin typeface="Calibri" panose="020F0502020204030204" pitchFamily="34" charset="0"/>
              <a:ea typeface="Calibri" panose="020F0502020204030204" pitchFamily="34" charset="0"/>
            </a:endParaRPr>
          </a:p>
          <a:p>
            <a:pPr marL="457200" marR="0"/>
            <a:r>
              <a:rPr lang="en-GB" sz="1800" dirty="0" err="1">
                <a:effectLst/>
                <a:latin typeface="Arial" panose="020B0604020202020204" pitchFamily="34" charset="0"/>
                <a:ea typeface="Arial" panose="020B0604020202020204" pitchFamily="34" charset="0"/>
              </a:rPr>
              <a:t>document.writeln</a:t>
            </a:r>
            <a:r>
              <a:rPr lang="en-GB" sz="1800" dirty="0">
                <a:effectLst/>
                <a:latin typeface="Arial" panose="020B0604020202020204" pitchFamily="34" charset="0"/>
                <a:ea typeface="Arial" panose="020B0604020202020204" pitchFamily="34" charset="0"/>
              </a:rPr>
              <a:t>(data);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a();//calling JavaScript function  </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b();  </a:t>
            </a:r>
            <a:endParaRPr lang="en-US" sz="1800" dirty="0">
              <a:effectLst/>
              <a:latin typeface="Calibri" panose="020F0502020204030204" pitchFamily="34" charset="0"/>
              <a:ea typeface="Calibri" panose="020F0502020204030204" pitchFamily="34" charset="0"/>
            </a:endParaRPr>
          </a:p>
          <a:p>
            <a:r>
              <a:rPr lang="en-GB" sz="1800" dirty="0">
                <a:effectLst/>
                <a:latin typeface="Arial" panose="020B0604020202020204" pitchFamily="34" charset="0"/>
                <a:ea typeface="Arial" panose="020B0604020202020204" pitchFamily="34" charset="0"/>
              </a:rPr>
              <a:t>&lt;/script&gt;</a:t>
            </a:r>
            <a:endParaRPr lang="en-US" dirty="0"/>
          </a:p>
        </p:txBody>
      </p:sp>
    </p:spTree>
    <p:extLst>
      <p:ext uri="{BB962C8B-B14F-4D97-AF65-F5344CB8AC3E}">
        <p14:creationId xmlns:p14="http://schemas.microsoft.com/office/powerpoint/2010/main" val="36260686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7D293-1745-2F3E-3F79-3A65FC861198}"/>
              </a:ext>
            </a:extLst>
          </p:cNvPr>
          <p:cNvSpPr>
            <a:spLocks noGrp="1"/>
          </p:cNvSpPr>
          <p:nvPr>
            <p:ph idx="1"/>
          </p:nvPr>
        </p:nvSpPr>
        <p:spPr>
          <a:xfrm>
            <a:off x="353683" y="1052421"/>
            <a:ext cx="10972800" cy="5236235"/>
          </a:xfrm>
        </p:spPr>
        <p:txBody>
          <a:bodyPr/>
          <a:lstStyle/>
          <a:p>
            <a:pPr marL="457200" marR="0" indent="0">
              <a:lnSpc>
                <a:spcPct val="150000"/>
              </a:lnSpc>
              <a:spcBef>
                <a:spcPts val="1800"/>
              </a:spcBef>
              <a:spcAft>
                <a:spcPts val="400"/>
              </a:spcAft>
              <a:buNone/>
            </a:pPr>
            <a:r>
              <a:rPr lang="fr-FR" sz="1800" b="1" dirty="0">
                <a:effectLst/>
                <a:latin typeface="Arial" panose="020B0604020202020204" pitchFamily="34" charset="0"/>
              </a:rPr>
              <a:t>Indicative content 1.4: Use of data types in JAVASCRIPT</a:t>
            </a:r>
            <a:endParaRPr lang="en-US" sz="1800" b="1" dirty="0">
              <a:effectLst/>
              <a:latin typeface="Arial" panose="020B0604020202020204" pitchFamily="34" charset="0"/>
            </a:endParaRPr>
          </a:p>
          <a:p>
            <a:pPr marL="0" marR="0"/>
            <a:r>
              <a:rPr lang="en-US" sz="1800" b="1" dirty="0">
                <a:effectLst/>
                <a:latin typeface="Arial" panose="020B0604020202020204" pitchFamily="34" charset="0"/>
                <a:ea typeface="Arial" panose="020B0604020202020204" pitchFamily="34" charset="0"/>
              </a:rPr>
              <a:t>                           1.4.1: Explain data types in JavaScript</a:t>
            </a:r>
          </a:p>
          <a:p>
            <a:pPr marL="0" marR="0"/>
            <a:r>
              <a:rPr lang="en-GB" sz="1800" dirty="0">
                <a:effectLst/>
                <a:highlight>
                  <a:srgbClr val="FFFFFF"/>
                </a:highlight>
                <a:latin typeface="Arial" panose="020B0604020202020204" pitchFamily="34" charset="0"/>
                <a:ea typeface="Arial" panose="020B0604020202020204" pitchFamily="34" charset="0"/>
              </a:rPr>
              <a:t>A data type is </a:t>
            </a:r>
            <a:r>
              <a:rPr lang="en-GB" sz="1800" dirty="0">
                <a:effectLst/>
                <a:latin typeface="Arial" panose="020B0604020202020204" pitchFamily="34" charset="0"/>
                <a:ea typeface="Arial" panose="020B0604020202020204" pitchFamily="34" charset="0"/>
              </a:rPr>
              <a:t>an attribute associated with a piece of data that tells a computer system how to interpret its value.</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To hold different types of values, JavaScript provides different data types. In JavaScript, there are only two types of data types:</a:t>
            </a:r>
            <a:endParaRPr lang="en-US" sz="1800" dirty="0">
              <a:effectLst/>
              <a:latin typeface="Calibri" panose="020F0502020204030204" pitchFamily="34" charset="0"/>
              <a:ea typeface="Calibri" panose="020F0502020204030204" pitchFamily="34" charset="0"/>
            </a:endParaRPr>
          </a:p>
          <a:p>
            <a:pPr marL="0" marR="0" indent="342900"/>
            <a:r>
              <a:rPr lang="en-GB" sz="1800" dirty="0">
                <a:effectLst/>
                <a:latin typeface="Arial" panose="020B0604020202020204" pitchFamily="34" charset="0"/>
                <a:ea typeface="Arial" panose="020B0604020202020204" pitchFamily="34" charset="0"/>
              </a:rPr>
              <a:t>•	Primitive data type</a:t>
            </a:r>
            <a:endParaRPr lang="en-US" sz="1800" dirty="0">
              <a:effectLst/>
              <a:latin typeface="Calibri" panose="020F0502020204030204" pitchFamily="34" charset="0"/>
              <a:ea typeface="Calibri" panose="020F0502020204030204" pitchFamily="34" charset="0"/>
            </a:endParaRPr>
          </a:p>
          <a:p>
            <a:pPr marL="0" marR="0" indent="342900"/>
            <a:r>
              <a:rPr lang="en-GB" sz="1800" dirty="0">
                <a:effectLst/>
                <a:latin typeface="Arial" panose="020B0604020202020204" pitchFamily="34" charset="0"/>
                <a:ea typeface="Arial" panose="020B0604020202020204" pitchFamily="34" charset="0"/>
              </a:rPr>
              <a:t>•	Non-primitive (reference) data type</a:t>
            </a:r>
            <a:endParaRPr lang="en-US" sz="1800" dirty="0">
              <a:effectLst/>
              <a:latin typeface="Calibri" panose="020F0502020204030204" pitchFamily="34" charset="0"/>
              <a:ea typeface="Calibri" panose="020F0502020204030204" pitchFamily="34" charset="0"/>
            </a:endParaRPr>
          </a:p>
          <a:p>
            <a:pPr marL="0">
              <a:lnSpc>
                <a:spcPct val="150000"/>
              </a:lnSpc>
            </a:pPr>
            <a:r>
              <a:rPr lang="en-GB" sz="1800" dirty="0">
                <a:effectLst/>
                <a:latin typeface="Arial" panose="020B0604020202020204" pitchFamily="34" charset="0"/>
                <a:ea typeface="Arial" panose="020B0604020202020204" pitchFamily="34" charset="0"/>
              </a:rPr>
              <a:t>JavaScript is generally known as a dynamic type language that means there is no need to specify the type of variable as it is dynamically used by the JavaScript engine. In order to specify the data we have to use a var keyword. This can hold any type of values e.g. strings, numbers and more.</a:t>
            </a:r>
            <a:endParaRPr lang="en-US" sz="1800" dirty="0">
              <a:effectLst/>
              <a:latin typeface="Calibri" panose="020F0502020204030204" pitchFamily="34" charset="0"/>
              <a:ea typeface="Calibri" panose="020F0502020204030204" pitchFamily="34" charset="0"/>
            </a:endParaRPr>
          </a:p>
          <a:p>
            <a:pPr marL="0" marR="0"/>
            <a:endParaRPr lang="en-US" sz="1800" b="1" dirty="0">
              <a:effectLst/>
              <a:latin typeface="Arial" panose="020B0604020202020204" pitchFamily="34" charset="0"/>
              <a:ea typeface="Arial" panose="020B0604020202020204" pitchFamily="34" charset="0"/>
            </a:endParaRPr>
          </a:p>
          <a:p>
            <a:endParaRPr lang="en-US" dirty="0"/>
          </a:p>
        </p:txBody>
      </p:sp>
    </p:spTree>
    <p:extLst>
      <p:ext uri="{BB962C8B-B14F-4D97-AF65-F5344CB8AC3E}">
        <p14:creationId xmlns:p14="http://schemas.microsoft.com/office/powerpoint/2010/main" val="30964196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365963D3-C70E-BF4D-E7EB-924C38766FCE}"/>
              </a:ext>
            </a:extLst>
          </p:cNvPr>
          <p:cNvSpPr>
            <a:spLocks noGrp="1"/>
          </p:cNvSpPr>
          <p:nvPr>
            <p:ph idx="1"/>
          </p:nvPr>
        </p:nvSpPr>
        <p:spPr>
          <a:xfrm>
            <a:off x="362309" y="241220"/>
            <a:ext cx="10525952" cy="5236554"/>
          </a:xfrm>
        </p:spPr>
        <p:txBody>
          <a:bodyPr/>
          <a:lstStyle/>
          <a:p>
            <a:r>
              <a:rPr lang="en-GB" sz="1800" b="1" dirty="0">
                <a:effectLst/>
                <a:latin typeface="Arial" panose="020B0604020202020204" pitchFamily="34" charset="0"/>
                <a:ea typeface="Arial" panose="020B0604020202020204" pitchFamily="34" charset="0"/>
              </a:rPr>
              <a:t>1. Primitive data types in JavaScript</a:t>
            </a:r>
            <a:endParaRPr lang="en-US" sz="1800" dirty="0">
              <a:effectLst/>
              <a:latin typeface="Calibri" panose="020F0502020204030204" pitchFamily="34" charset="0"/>
              <a:ea typeface="Calibri" panose="020F0502020204030204" pitchFamily="34" charset="0"/>
            </a:endParaRPr>
          </a:p>
          <a:p>
            <a:endParaRPr lang="en-US" dirty="0"/>
          </a:p>
        </p:txBody>
      </p:sp>
      <p:pic>
        <p:nvPicPr>
          <p:cNvPr id="14" name="Picture 13">
            <a:extLst>
              <a:ext uri="{FF2B5EF4-FFF2-40B4-BE49-F238E27FC236}">
                <a16:creationId xmlns:a16="http://schemas.microsoft.com/office/drawing/2014/main" id="{DEE78A6B-77CA-2D76-B5F1-2241C287C660}"/>
              </a:ext>
            </a:extLst>
          </p:cNvPr>
          <p:cNvPicPr>
            <a:picLocks noChangeAspect="1"/>
          </p:cNvPicPr>
          <p:nvPr/>
        </p:nvPicPr>
        <p:blipFill>
          <a:blip r:embed="rId2"/>
          <a:stretch>
            <a:fillRect/>
          </a:stretch>
        </p:blipFill>
        <p:spPr>
          <a:xfrm>
            <a:off x="577700" y="863720"/>
            <a:ext cx="10310561" cy="4908792"/>
          </a:xfrm>
          <a:prstGeom prst="rect">
            <a:avLst/>
          </a:prstGeom>
        </p:spPr>
      </p:pic>
    </p:spTree>
    <p:extLst>
      <p:ext uri="{BB962C8B-B14F-4D97-AF65-F5344CB8AC3E}">
        <p14:creationId xmlns:p14="http://schemas.microsoft.com/office/powerpoint/2010/main" val="20760554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00E40C9-D50F-2480-0170-FA372257FFFC}"/>
              </a:ext>
            </a:extLst>
          </p:cNvPr>
          <p:cNvPicPr>
            <a:picLocks noGrp="1" noChangeAspect="1"/>
          </p:cNvPicPr>
          <p:nvPr>
            <p:ph idx="1"/>
          </p:nvPr>
        </p:nvPicPr>
        <p:blipFill>
          <a:blip r:embed="rId2"/>
          <a:stretch>
            <a:fillRect/>
          </a:stretch>
        </p:blipFill>
        <p:spPr>
          <a:xfrm>
            <a:off x="345056" y="361256"/>
            <a:ext cx="11033185" cy="5384961"/>
          </a:xfrm>
        </p:spPr>
      </p:pic>
    </p:spTree>
    <p:extLst>
      <p:ext uri="{BB962C8B-B14F-4D97-AF65-F5344CB8AC3E}">
        <p14:creationId xmlns:p14="http://schemas.microsoft.com/office/powerpoint/2010/main" val="30422953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F9305E-9149-DD12-F455-A00E2A27A00D}"/>
              </a:ext>
            </a:extLst>
          </p:cNvPr>
          <p:cNvSpPr>
            <a:spLocks noGrp="1"/>
          </p:cNvSpPr>
          <p:nvPr>
            <p:ph idx="1"/>
          </p:nvPr>
        </p:nvSpPr>
        <p:spPr>
          <a:xfrm>
            <a:off x="353683" y="94891"/>
            <a:ext cx="11110824" cy="5443267"/>
          </a:xfrm>
        </p:spPr>
        <p:txBody>
          <a:bodyPr>
            <a:normAutofit/>
          </a:bodyPr>
          <a:lstStyle/>
          <a:p>
            <a:pPr marL="0" marR="0">
              <a:spcBef>
                <a:spcPts val="1200"/>
              </a:spcBef>
              <a:spcAft>
                <a:spcPts val="1200"/>
              </a:spcAft>
            </a:pPr>
            <a:r>
              <a:rPr lang="en-GB" sz="1800" b="1" dirty="0">
                <a:effectLst/>
                <a:latin typeface="Arial" panose="020B0604020202020204" pitchFamily="34" charset="0"/>
                <a:ea typeface="Arial" panose="020B0604020202020204" pitchFamily="34" charset="0"/>
              </a:rPr>
              <a:t>3. Type-casting</a:t>
            </a:r>
          </a:p>
          <a:p>
            <a:pPr marL="0" marR="0">
              <a:spcBef>
                <a:spcPts val="1200"/>
              </a:spcBef>
              <a:spcAft>
                <a:spcPts val="1200"/>
              </a:spcAft>
            </a:pPr>
            <a:r>
              <a:rPr lang="en-GB" sz="1800" dirty="0">
                <a:effectLst/>
                <a:latin typeface="Arial" panose="020B0604020202020204" pitchFamily="34" charset="0"/>
                <a:ea typeface="Arial" panose="020B0604020202020204" pitchFamily="34" charset="0"/>
              </a:rPr>
              <a:t>Typecasting in JavaScript means converting one data type to another data type i.e., the conversion of a string data type to Boolean or the conversion of an integer data type to string data type. The typecasting in JavaScript is also known as type conversion or type coercion.</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a:effectLst/>
                <a:latin typeface="Arial" panose="020B0604020202020204" pitchFamily="34" charset="0"/>
                <a:ea typeface="Arial" panose="020B0604020202020204" pitchFamily="34" charset="0"/>
              </a:rPr>
              <a:t> 	</a:t>
            </a:r>
            <a:r>
              <a:rPr lang="en-GB" sz="1800" b="1" dirty="0">
                <a:effectLst/>
                <a:latin typeface="Arial" panose="020B0604020202020204" pitchFamily="34" charset="0"/>
                <a:ea typeface="Arial" panose="020B0604020202020204" pitchFamily="34" charset="0"/>
              </a:rPr>
              <a:t>Types of conversions</a:t>
            </a:r>
            <a:endParaRPr lang="en-US" sz="1800" dirty="0">
              <a:effectLst/>
              <a:latin typeface="Calibri" panose="020F0502020204030204" pitchFamily="34" charset="0"/>
              <a:ea typeface="Calibri" panose="020F0502020204030204" pitchFamily="34" charset="0"/>
            </a:endParaRPr>
          </a:p>
          <a:p>
            <a:pPr marL="0" marR="0">
              <a:lnSpc>
                <a:spcPct val="160000"/>
              </a:lnSpc>
            </a:pPr>
            <a:r>
              <a:rPr lang="en-GB" sz="1800" dirty="0">
                <a:effectLst/>
                <a:latin typeface="Arial" panose="020B0604020202020204" pitchFamily="34" charset="0"/>
                <a:ea typeface="Arial" panose="020B0604020202020204" pitchFamily="34" charset="0"/>
              </a:rPr>
              <a:t>The type casting is of two types in JavaScript. They are the implicit type conversions and the explicit type conversions.</a:t>
            </a:r>
          </a:p>
          <a:p>
            <a:pPr marL="342900" marR="0" lvl="0" indent="-342900">
              <a:lnSpc>
                <a:spcPct val="160000"/>
              </a:lnSpc>
              <a:spcBef>
                <a:spcPts val="1200"/>
              </a:spcBef>
              <a:spcAft>
                <a:spcPts val="1200"/>
              </a:spcAft>
              <a:buFont typeface="Arial" panose="020B0604020202020204" pitchFamily="34" charset="0"/>
              <a:buChar char="★"/>
            </a:pPr>
            <a:r>
              <a:rPr lang="en-GB" sz="1800" b="1" u="none" strike="noStrike" dirty="0">
                <a:effectLst/>
                <a:latin typeface="Arial" panose="020B0604020202020204" pitchFamily="34" charset="0"/>
                <a:ea typeface="Arial" panose="020B0604020202020204" pitchFamily="34" charset="0"/>
              </a:rPr>
              <a:t>Implicit type casting</a:t>
            </a:r>
          </a:p>
          <a:p>
            <a:pPr marL="0" marR="0" lvl="0" indent="0">
              <a:lnSpc>
                <a:spcPct val="160000"/>
              </a:lnSpc>
              <a:spcBef>
                <a:spcPts val="1200"/>
              </a:spcBef>
              <a:spcAft>
                <a:spcPts val="1200"/>
              </a:spcAft>
              <a:buNone/>
            </a:pPr>
            <a:r>
              <a:rPr lang="en-GB" sz="1800" dirty="0">
                <a:effectLst/>
                <a:latin typeface="Arial" panose="020B0604020202020204" pitchFamily="34" charset="0"/>
                <a:ea typeface="Arial" panose="020B0604020202020204" pitchFamily="34" charset="0"/>
              </a:rPr>
              <a:t>The implicit type casting is the conversion of data type done due to the internal requirement or automatic conversion by the compiler or the interpreter. </a:t>
            </a:r>
            <a:endParaRPr lang="en-US" sz="1800" dirty="0">
              <a:effectLst/>
              <a:latin typeface="Calibri" panose="020F0502020204030204" pitchFamily="34" charset="0"/>
              <a:ea typeface="Calibri" panose="020F0502020204030204" pitchFamily="34" charset="0"/>
            </a:endParaRPr>
          </a:p>
          <a:p>
            <a:pPr marL="0" marR="0">
              <a:lnSpc>
                <a:spcPct val="150000"/>
              </a:lnSpc>
            </a:pP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10264135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4458DC-E350-9889-2422-63B092835658}"/>
              </a:ext>
            </a:extLst>
          </p:cNvPr>
          <p:cNvSpPr>
            <a:spLocks noGrp="1"/>
          </p:cNvSpPr>
          <p:nvPr>
            <p:ph idx="1"/>
          </p:nvPr>
        </p:nvSpPr>
        <p:spPr>
          <a:xfrm>
            <a:off x="310551" y="439947"/>
            <a:ext cx="11628407" cy="5727940"/>
          </a:xfrm>
        </p:spPr>
        <p:txBody>
          <a:bodyPr/>
          <a:lstStyle/>
          <a:p>
            <a:pPr>
              <a:lnSpc>
                <a:spcPct val="150000"/>
              </a:lnSpc>
            </a:pPr>
            <a:r>
              <a:rPr lang="en-GB" sz="1800" dirty="0">
                <a:effectLst/>
                <a:latin typeface="Arial" panose="020B0604020202020204" pitchFamily="34" charset="0"/>
                <a:ea typeface="Arial" panose="020B0604020202020204" pitchFamily="34" charset="0"/>
              </a:rPr>
              <a:t>To understand the implicit conversion let us consider the example of the </a:t>
            </a:r>
            <a:r>
              <a:rPr lang="en-GB" sz="1800" dirty="0" err="1">
                <a:effectLst/>
                <a:latin typeface="Arial" panose="020B0604020202020204" pitchFamily="34" charset="0"/>
                <a:ea typeface="Arial" panose="020B0604020202020204" pitchFamily="34" charset="0"/>
              </a:rPr>
              <a:t>boolean</a:t>
            </a:r>
            <a:r>
              <a:rPr lang="en-GB" sz="1800" dirty="0">
                <a:effectLst/>
                <a:latin typeface="Arial" panose="020B0604020202020204" pitchFamily="34" charset="0"/>
                <a:ea typeface="Arial" panose="020B0604020202020204" pitchFamily="34" charset="0"/>
              </a:rPr>
              <a:t> values (primitive). JavaScript expects a </a:t>
            </a:r>
            <a:r>
              <a:rPr lang="en-GB" sz="1800" dirty="0" err="1">
                <a:effectLst/>
                <a:latin typeface="Arial" panose="020B0604020202020204" pitchFamily="34" charset="0"/>
                <a:ea typeface="Arial" panose="020B0604020202020204" pitchFamily="34" charset="0"/>
              </a:rPr>
              <a:t>boolean</a:t>
            </a:r>
            <a:r>
              <a:rPr lang="en-GB" sz="1800" dirty="0">
                <a:effectLst/>
                <a:latin typeface="Arial" panose="020B0604020202020204" pitchFamily="34" charset="0"/>
                <a:ea typeface="Arial" panose="020B0604020202020204" pitchFamily="34" charset="0"/>
              </a:rPr>
              <a:t> value in a conditional expression. So JavaScript will temporarily convert the value in parentheses to a Boolean to evaluate the if expression</a:t>
            </a:r>
            <a:endParaRPr lang="en-US" sz="1800" dirty="0">
              <a:effectLst/>
              <a:latin typeface="Calibri" panose="020F0502020204030204" pitchFamily="34" charset="0"/>
              <a:ea typeface="Calibri" panose="020F0502020204030204" pitchFamily="34" charset="0"/>
            </a:endParaRPr>
          </a:p>
          <a:p>
            <a:pPr marL="0" marR="0"/>
            <a:r>
              <a:rPr lang="en-GB" sz="1800" dirty="0" err="1">
                <a:effectLst/>
                <a:latin typeface="Arial" panose="020B0604020202020204" pitchFamily="34" charset="0"/>
                <a:ea typeface="Arial" panose="020B0604020202020204" pitchFamily="34" charset="0"/>
              </a:rPr>
              <a:t>val</a:t>
            </a:r>
            <a:r>
              <a:rPr lang="en-GB" sz="1800" dirty="0">
                <a:effectLst/>
                <a:latin typeface="Arial" panose="020B0604020202020204" pitchFamily="34" charset="0"/>
                <a:ea typeface="Arial" panose="020B0604020202020204" pitchFamily="34" charset="0"/>
              </a:rPr>
              <a:t> = 1;</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if (</a:t>
            </a:r>
            <a:r>
              <a:rPr lang="en-GB" sz="1800" dirty="0" err="1">
                <a:effectLst/>
                <a:latin typeface="Arial" panose="020B0604020202020204" pitchFamily="34" charset="0"/>
                <a:ea typeface="Arial" panose="020B0604020202020204" pitchFamily="34" charset="0"/>
              </a:rPr>
              <a:t>val</a:t>
            </a:r>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console.log( 'yes, </a:t>
            </a:r>
            <a:r>
              <a:rPr lang="en-GB" sz="1800" dirty="0" err="1">
                <a:effectLst/>
                <a:latin typeface="Arial" panose="020B0604020202020204" pitchFamily="34" charset="0"/>
                <a:ea typeface="Arial" panose="020B0604020202020204" pitchFamily="34" charset="0"/>
              </a:rPr>
              <a:t>val</a:t>
            </a:r>
            <a:r>
              <a:rPr lang="en-GB" sz="1800" dirty="0">
                <a:effectLst/>
                <a:latin typeface="Arial" panose="020B0604020202020204" pitchFamily="34" charset="0"/>
                <a:ea typeface="Arial" panose="020B0604020202020204" pitchFamily="34" charset="0"/>
              </a:rPr>
              <a:t> exists'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effectLst/>
                <a:latin typeface="Arial" panose="020B0604020202020204" pitchFamily="34" charset="0"/>
                <a:ea typeface="Arial" panose="020B0604020202020204" pitchFamily="34" charset="0"/>
              </a:rPr>
              <a:t>Implicit conversion with == operator</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Unicode MS"/>
                <a:ea typeface="Arial Unicode MS"/>
                <a:cs typeface="Arial Unicode MS"/>
              </a:rPr>
              <a:t>Type conversion is also performed when comparing values using the equal (==) and not equal (!=) operators. So when you compare the number 125 with a string '125' using the equals (==) operator, the expression evaluates to true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console.log( 125 == '125' );</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0526567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59878A-404D-0898-6CF4-D2729FCFA606}"/>
              </a:ext>
            </a:extLst>
          </p:cNvPr>
          <p:cNvSpPr>
            <a:spLocks noGrp="1"/>
          </p:cNvSpPr>
          <p:nvPr>
            <p:ph idx="1"/>
          </p:nvPr>
        </p:nvSpPr>
        <p:spPr>
          <a:xfrm>
            <a:off x="327804" y="379562"/>
            <a:ext cx="11205714" cy="5244860"/>
          </a:xfrm>
        </p:spPr>
        <p:txBody>
          <a:bodyPr/>
          <a:lstStyle/>
          <a:p>
            <a:pPr marL="342900" marR="0" lvl="0" indent="-342900">
              <a:spcBef>
                <a:spcPts val="1200"/>
              </a:spcBef>
              <a:spcAft>
                <a:spcPts val="1200"/>
              </a:spcAft>
              <a:buFont typeface="Arial" panose="020B0604020202020204" pitchFamily="34" charset="0"/>
              <a:buChar char="★"/>
            </a:pPr>
            <a:r>
              <a:rPr lang="en-GB" sz="1800" b="1" u="none" strike="noStrike" dirty="0">
                <a:effectLst/>
                <a:latin typeface="Arial" panose="020B0604020202020204" pitchFamily="34" charset="0"/>
                <a:ea typeface="Arial" panose="020B0604020202020204" pitchFamily="34" charset="0"/>
              </a:rPr>
              <a:t>Explicit type casting</a:t>
            </a:r>
            <a:endParaRPr lang="en-US" sz="1800" u="none" strike="noStrike"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effectLst/>
                <a:latin typeface="Arial" panose="020B0604020202020204" pitchFamily="34" charset="0"/>
                <a:ea typeface="Arial" panose="020B0604020202020204" pitchFamily="34" charset="0"/>
              </a:rPr>
              <a:t>The explicit type casting is done forcefully by the developer for the sake of a good line of code. In JavaScript the type casting can be done only for strings, numbers and Boolean (object) data types.</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Examples of the explicit type casting are methods </a:t>
            </a:r>
            <a:r>
              <a:rPr lang="en-GB" sz="1800" dirty="0" err="1">
                <a:effectLst/>
                <a:latin typeface="Arial" panose="020B0604020202020204" pitchFamily="34" charset="0"/>
                <a:ea typeface="Arial" panose="020B0604020202020204" pitchFamily="34" charset="0"/>
              </a:rPr>
              <a:t>parseInt</a:t>
            </a:r>
            <a:r>
              <a:rPr lang="en-GB" sz="1800" dirty="0">
                <a:effectLst/>
                <a:latin typeface="Arial" panose="020B0604020202020204" pitchFamily="34" charset="0"/>
                <a:ea typeface="Arial" panose="020B0604020202020204" pitchFamily="34" charset="0"/>
              </a:rPr>
              <a:t>(), </a:t>
            </a:r>
            <a:r>
              <a:rPr lang="en-GB" sz="1800" dirty="0" err="1">
                <a:effectLst/>
                <a:latin typeface="Arial" panose="020B0604020202020204" pitchFamily="34" charset="0"/>
                <a:ea typeface="Arial" panose="020B0604020202020204" pitchFamily="34" charset="0"/>
              </a:rPr>
              <a:t>parseFloat</a:t>
            </a:r>
            <a:r>
              <a:rPr lang="en-GB" sz="1800" dirty="0">
                <a:effectLst/>
                <a:latin typeface="Arial" panose="020B0604020202020204" pitchFamily="34" charset="0"/>
                <a:ea typeface="Arial" panose="020B0604020202020204" pitchFamily="34" charset="0"/>
              </a:rPr>
              <a:t>() and </a:t>
            </a:r>
            <a:r>
              <a:rPr lang="en-GB" sz="1800" dirty="0" err="1">
                <a:effectLst/>
                <a:latin typeface="Arial" panose="020B0604020202020204" pitchFamily="34" charset="0"/>
                <a:ea typeface="Arial" panose="020B0604020202020204" pitchFamily="34" charset="0"/>
              </a:rPr>
              <a:t>toString</a:t>
            </a:r>
            <a:r>
              <a:rPr lang="en-GB" sz="1800" dirty="0">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342900" marR="0" lvl="0" indent="-342900">
              <a:buSzPts val="1000"/>
              <a:buFont typeface="Arial" panose="020B0604020202020204" pitchFamily="34" charset="0"/>
              <a:buChar char="●"/>
            </a:pPr>
            <a:r>
              <a:rPr lang="en-GB" sz="1800" dirty="0">
                <a:effectLst/>
                <a:latin typeface="Arial" panose="020B0604020202020204" pitchFamily="34" charset="0"/>
                <a:ea typeface="Arial" panose="020B0604020202020204" pitchFamily="34" charset="0"/>
                <a:cs typeface="Noto Sans Symbols"/>
              </a:rPr>
              <a:t>The </a:t>
            </a:r>
            <a:r>
              <a:rPr lang="en-GB" sz="1800" dirty="0" err="1">
                <a:effectLst/>
                <a:latin typeface="Arial" panose="020B0604020202020204" pitchFamily="34" charset="0"/>
                <a:ea typeface="Arial" panose="020B0604020202020204" pitchFamily="34" charset="0"/>
                <a:cs typeface="Noto Sans Symbols"/>
              </a:rPr>
              <a:t>parseInt</a:t>
            </a:r>
            <a:r>
              <a:rPr lang="en-GB" sz="1800" dirty="0">
                <a:effectLst/>
                <a:latin typeface="Arial" panose="020B0604020202020204" pitchFamily="34" charset="0"/>
                <a:ea typeface="Arial" panose="020B0604020202020204" pitchFamily="34" charset="0"/>
                <a:cs typeface="Noto Sans Symbols"/>
              </a:rPr>
              <a:t>() function converts its first argument to a string, parses that string, then returns an integer or </a:t>
            </a:r>
            <a:r>
              <a:rPr lang="en-GB" sz="1800" dirty="0" err="1">
                <a:effectLst/>
                <a:latin typeface="Arial" panose="020B0604020202020204" pitchFamily="34" charset="0"/>
                <a:ea typeface="Arial" panose="020B0604020202020204" pitchFamily="34" charset="0"/>
                <a:cs typeface="Noto Sans Symbols"/>
              </a:rPr>
              <a:t>NaN</a:t>
            </a:r>
            <a:r>
              <a:rPr lang="en-GB" sz="1800" dirty="0">
                <a:effectLst/>
                <a:latin typeface="Arial" panose="020B0604020202020204" pitchFamily="34" charset="0"/>
                <a:ea typeface="Arial" panose="020B0604020202020204" pitchFamily="34" charset="0"/>
                <a:cs typeface="Noto Sans Symbols"/>
              </a:rPr>
              <a:t>.</a:t>
            </a:r>
            <a:endParaRPr lang="en-US" sz="1800" dirty="0">
              <a:effectLst/>
              <a:latin typeface="Noto Sans Symbols"/>
              <a:ea typeface="Noto Sans Symbols"/>
              <a:cs typeface="Noto Sans Symbols"/>
            </a:endParaRPr>
          </a:p>
          <a:p>
            <a:pPr marL="342900" marR="0" lvl="0" indent="-342900">
              <a:buSzPts val="1000"/>
              <a:buFont typeface="Arial" panose="020B0604020202020204" pitchFamily="34" charset="0"/>
              <a:buChar char="●"/>
            </a:pPr>
            <a:r>
              <a:rPr lang="en-GB" sz="1800" dirty="0">
                <a:effectLst/>
                <a:latin typeface="Arial" panose="020B0604020202020204" pitchFamily="34" charset="0"/>
                <a:ea typeface="Arial" panose="020B0604020202020204" pitchFamily="34" charset="0"/>
                <a:cs typeface="Noto Sans Symbols"/>
              </a:rPr>
              <a:t>The </a:t>
            </a:r>
            <a:r>
              <a:rPr lang="en-GB" sz="1800" dirty="0" err="1">
                <a:effectLst/>
                <a:latin typeface="Arial" panose="020B0604020202020204" pitchFamily="34" charset="0"/>
                <a:ea typeface="Arial" panose="020B0604020202020204" pitchFamily="34" charset="0"/>
                <a:cs typeface="Noto Sans Symbols"/>
              </a:rPr>
              <a:t>parseFloat</a:t>
            </a:r>
            <a:r>
              <a:rPr lang="en-GB" sz="1800" dirty="0">
                <a:effectLst/>
                <a:latin typeface="Arial" panose="020B0604020202020204" pitchFamily="34" charset="0"/>
                <a:ea typeface="Arial" panose="020B0604020202020204" pitchFamily="34" charset="0"/>
                <a:cs typeface="Noto Sans Symbols"/>
              </a:rPr>
              <a:t>() function parses an argument (converting it to a string first if needed) and returns a floating point number.</a:t>
            </a:r>
            <a:endParaRPr lang="en-US" sz="1800" dirty="0">
              <a:effectLst/>
              <a:latin typeface="Noto Sans Symbols"/>
              <a:ea typeface="Noto Sans Symbols"/>
              <a:cs typeface="Noto Sans Symbols"/>
            </a:endParaRPr>
          </a:p>
          <a:p>
            <a:pPr marL="342900" marR="0" lvl="0" indent="-342900">
              <a:buSzPts val="1000"/>
              <a:buFont typeface="Arial" panose="020B0604020202020204" pitchFamily="34" charset="0"/>
              <a:buChar char="●"/>
            </a:pPr>
            <a:r>
              <a:rPr lang="en-GB" sz="1800" dirty="0">
                <a:effectLst/>
                <a:latin typeface="Arial" panose="020B0604020202020204" pitchFamily="34" charset="0"/>
                <a:ea typeface="Arial" panose="020B0604020202020204" pitchFamily="34" charset="0"/>
                <a:cs typeface="Noto Sans Symbols"/>
              </a:rPr>
              <a:t>The </a:t>
            </a:r>
            <a:r>
              <a:rPr lang="en-GB" sz="1800" dirty="0" err="1">
                <a:effectLst/>
                <a:latin typeface="Arial" panose="020B0604020202020204" pitchFamily="34" charset="0"/>
                <a:ea typeface="Arial" panose="020B0604020202020204" pitchFamily="34" charset="0"/>
                <a:cs typeface="Noto Sans Symbols"/>
              </a:rPr>
              <a:t>toString</a:t>
            </a:r>
            <a:r>
              <a:rPr lang="en-GB" sz="1800" dirty="0">
                <a:effectLst/>
                <a:latin typeface="Arial" panose="020B0604020202020204" pitchFamily="34" charset="0"/>
                <a:ea typeface="Arial" panose="020B0604020202020204" pitchFamily="34" charset="0"/>
                <a:cs typeface="Noto Sans Symbols"/>
              </a:rPr>
              <a:t>() method returns a string representing the object, i.e., it tries to convert object to string.</a:t>
            </a:r>
            <a:endParaRPr lang="en-US" sz="1800" dirty="0">
              <a:effectLst/>
              <a:latin typeface="Noto Sans Symbols"/>
              <a:ea typeface="Noto Sans Symbols"/>
              <a:cs typeface="Noto Sans Symbols"/>
            </a:endParaRPr>
          </a:p>
          <a:p>
            <a:endParaRPr lang="en-US" dirty="0"/>
          </a:p>
        </p:txBody>
      </p:sp>
    </p:spTree>
    <p:extLst>
      <p:ext uri="{BB962C8B-B14F-4D97-AF65-F5344CB8AC3E}">
        <p14:creationId xmlns:p14="http://schemas.microsoft.com/office/powerpoint/2010/main" val="34229343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465ED1-A6F8-8CB8-ED13-99A39BD54216}"/>
              </a:ext>
            </a:extLst>
          </p:cNvPr>
          <p:cNvSpPr>
            <a:spLocks noGrp="1"/>
          </p:cNvSpPr>
          <p:nvPr>
            <p:ph idx="1"/>
          </p:nvPr>
        </p:nvSpPr>
        <p:spPr>
          <a:xfrm>
            <a:off x="345056" y="138021"/>
            <a:ext cx="10886536" cy="5472279"/>
          </a:xfrm>
        </p:spPr>
        <p:txBody>
          <a:bodyPr/>
          <a:lstStyle/>
          <a:p>
            <a:pPr marL="0" marR="0">
              <a:spcBef>
                <a:spcPts val="1200"/>
              </a:spcBef>
              <a:spcAft>
                <a:spcPts val="1200"/>
              </a:spcAft>
            </a:pPr>
            <a:r>
              <a:rPr lang="en-GB" sz="1800" b="1" dirty="0">
                <a:effectLst/>
                <a:latin typeface="Arial" panose="020B0604020202020204" pitchFamily="34" charset="0"/>
                <a:ea typeface="Arial" panose="020B0604020202020204" pitchFamily="34" charset="0"/>
              </a:rPr>
              <a:t>Example</a:t>
            </a:r>
            <a:endParaRPr lang="en-US" sz="18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effectLst/>
                <a:latin typeface="Arial" panose="020B0604020202020204" pitchFamily="34" charset="0"/>
                <a:ea typeface="Arial" panose="020B0604020202020204" pitchFamily="34" charset="0"/>
              </a:rPr>
              <a:t>Following example demonstrates explicit type casting in JavaScript.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let a = 1.015</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console.log(a)</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console.log(</a:t>
            </a:r>
            <a:r>
              <a:rPr lang="en-GB" sz="1800" dirty="0" err="1">
                <a:effectLst/>
                <a:latin typeface="Arial" panose="020B0604020202020204" pitchFamily="34" charset="0"/>
                <a:ea typeface="Arial" panose="020B0604020202020204" pitchFamily="34" charset="0"/>
              </a:rPr>
              <a:t>typeof</a:t>
            </a:r>
            <a:r>
              <a:rPr lang="en-GB" sz="1800" dirty="0">
                <a:effectLst/>
                <a:latin typeface="Arial" panose="020B0604020202020204" pitchFamily="34" charset="0"/>
                <a:ea typeface="Arial" panose="020B0604020202020204" pitchFamily="34" charset="0"/>
              </a:rPr>
              <a:t> a)</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console.log(</a:t>
            </a:r>
            <a:r>
              <a:rPr lang="en-GB" sz="1800" dirty="0" err="1">
                <a:effectLst/>
                <a:latin typeface="Arial" panose="020B0604020202020204" pitchFamily="34" charset="0"/>
                <a:ea typeface="Arial" panose="020B0604020202020204" pitchFamily="34" charset="0"/>
              </a:rPr>
              <a:t>a.toString</a:t>
            </a:r>
            <a:r>
              <a:rPr lang="en-GB" sz="1800" dirty="0">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console.log(</a:t>
            </a:r>
            <a:r>
              <a:rPr lang="en-GB" sz="1800" dirty="0" err="1">
                <a:effectLst/>
                <a:latin typeface="Arial" panose="020B0604020202020204" pitchFamily="34" charset="0"/>
                <a:ea typeface="Arial" panose="020B0604020202020204" pitchFamily="34" charset="0"/>
              </a:rPr>
              <a:t>typeof</a:t>
            </a:r>
            <a:r>
              <a:rPr lang="en-GB" sz="1800" dirty="0">
                <a:effectLst/>
                <a:latin typeface="Arial" panose="020B0604020202020204" pitchFamily="34" charset="0"/>
                <a:ea typeface="Arial" panose="020B0604020202020204" pitchFamily="34" charset="0"/>
              </a:rPr>
              <a:t> </a:t>
            </a:r>
            <a:r>
              <a:rPr lang="en-GB" sz="1800" dirty="0" err="1">
                <a:effectLst/>
                <a:latin typeface="Arial" panose="020B0604020202020204" pitchFamily="34" charset="0"/>
                <a:ea typeface="Arial" panose="020B0604020202020204" pitchFamily="34" charset="0"/>
              </a:rPr>
              <a:t>a.toString</a:t>
            </a:r>
            <a:r>
              <a:rPr lang="en-GB" sz="1800" dirty="0">
                <a:effectLst/>
                <a:latin typeface="Arial" panose="020B0604020202020204" pitchFamily="34" charset="0"/>
                <a:ea typeface="Arial" panose="020B0604020202020204" pitchFamily="34" charset="0"/>
              </a:rPr>
              <a:t>())</a:t>
            </a:r>
            <a:endParaRPr lang="en-US" sz="18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b="1" dirty="0">
                <a:effectLst/>
                <a:latin typeface="Arial" panose="020B0604020202020204" pitchFamily="34" charset="0"/>
                <a:ea typeface="Arial" panose="020B0604020202020204" pitchFamily="34" charset="0"/>
              </a:rPr>
              <a:t>Output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1.015</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number</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1.015</a:t>
            </a:r>
            <a:endParaRPr lang="en-US" sz="1800" dirty="0">
              <a:effectLst/>
              <a:latin typeface="Calibri" panose="020F0502020204030204" pitchFamily="34" charset="0"/>
              <a:ea typeface="Calibri" panose="020F0502020204030204" pitchFamily="34" charset="0"/>
            </a:endParaRPr>
          </a:p>
          <a:p>
            <a:r>
              <a:rPr lang="en-GB" sz="1800" dirty="0">
                <a:effectLst/>
                <a:latin typeface="Arial" panose="020B0604020202020204" pitchFamily="34" charset="0"/>
                <a:ea typeface="Arial" panose="020B0604020202020204" pitchFamily="34" charset="0"/>
              </a:rPr>
              <a:t>String</a:t>
            </a:r>
            <a:endParaRPr lang="en-US" dirty="0"/>
          </a:p>
        </p:txBody>
      </p:sp>
    </p:spTree>
    <p:extLst>
      <p:ext uri="{BB962C8B-B14F-4D97-AF65-F5344CB8AC3E}">
        <p14:creationId xmlns:p14="http://schemas.microsoft.com/office/powerpoint/2010/main" val="27553224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A46E2F-9CE3-C511-79EF-B68FBE4B4D5D}"/>
              </a:ext>
            </a:extLst>
          </p:cNvPr>
          <p:cNvSpPr>
            <a:spLocks noGrp="1"/>
          </p:cNvSpPr>
          <p:nvPr>
            <p:ph idx="1"/>
          </p:nvPr>
        </p:nvSpPr>
        <p:spPr>
          <a:xfrm>
            <a:off x="267419" y="241538"/>
            <a:ext cx="10491446" cy="5382885"/>
          </a:xfrm>
        </p:spPr>
        <p:txBody>
          <a:bodyPr/>
          <a:lstStyle/>
          <a:p>
            <a:r>
              <a:rPr lang="en-GB" sz="1800" b="1" dirty="0">
                <a:effectLst/>
                <a:latin typeface="Calibri" panose="020F0502020204030204" pitchFamily="34" charset="0"/>
                <a:ea typeface="Calibri" panose="020F0502020204030204" pitchFamily="34" charset="0"/>
              </a:rPr>
              <a:t>1.4.2:  Use  data types in JAVASCRIPT</a:t>
            </a:r>
          </a:p>
          <a:p>
            <a:pPr marL="0" marR="0"/>
            <a:r>
              <a:rPr lang="en-GB" sz="1800" b="1" dirty="0">
                <a:effectLst/>
                <a:latin typeface="Arial" panose="020B0604020202020204" pitchFamily="34" charset="0"/>
                <a:ea typeface="Arial" panose="020B0604020202020204" pitchFamily="34" charset="0"/>
              </a:rPr>
              <a:t>Primitive data types</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Example:</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var x=20;//holding number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var y="</a:t>
            </a:r>
            <a:r>
              <a:rPr lang="en-GB" sz="1800" dirty="0" err="1">
                <a:effectLst/>
                <a:latin typeface="Arial" panose="020B0604020202020204" pitchFamily="34" charset="0"/>
                <a:ea typeface="Arial" panose="020B0604020202020204" pitchFamily="34" charset="0"/>
              </a:rPr>
              <a:t>Phptpoint</a:t>
            </a:r>
            <a:r>
              <a:rPr lang="en-GB" sz="1800" dirty="0">
                <a:effectLst/>
                <a:latin typeface="Arial" panose="020B0604020202020204" pitchFamily="34" charset="0"/>
                <a:ea typeface="Arial" panose="020B0604020202020204" pitchFamily="34" charset="0"/>
              </a:rPr>
              <a:t>";//holding string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var bool=true;//holding </a:t>
            </a:r>
            <a:r>
              <a:rPr lang="en-GB" sz="1800" dirty="0" err="1">
                <a:effectLst/>
                <a:latin typeface="Arial" panose="020B0604020202020204" pitchFamily="34" charset="0"/>
                <a:ea typeface="Arial" panose="020B0604020202020204" pitchFamily="34" charset="0"/>
              </a:rPr>
              <a:t>boolean</a:t>
            </a:r>
            <a:r>
              <a:rPr lang="en-GB" sz="1800" dirty="0">
                <a:effectLst/>
                <a:latin typeface="Arial" panose="020B0604020202020204" pitchFamily="34" charset="0"/>
                <a:ea typeface="Arial" panose="020B0604020202020204" pitchFamily="34" charset="0"/>
              </a:rPr>
              <a:t> true</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var bool=false;//holding </a:t>
            </a:r>
            <a:r>
              <a:rPr lang="en-GB" sz="1800" dirty="0" err="1">
                <a:effectLst/>
                <a:latin typeface="Arial" panose="020B0604020202020204" pitchFamily="34" charset="0"/>
                <a:ea typeface="Arial" panose="020B0604020202020204" pitchFamily="34" charset="0"/>
              </a:rPr>
              <a:t>boolean</a:t>
            </a:r>
            <a:r>
              <a:rPr lang="en-GB" sz="1800" dirty="0">
                <a:effectLst/>
                <a:latin typeface="Arial" panose="020B0604020202020204" pitchFamily="34" charset="0"/>
                <a:ea typeface="Arial" panose="020B0604020202020204" pitchFamily="34" charset="0"/>
              </a:rPr>
              <a:t> false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var blank=null;//holding null value</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endParaRPr lang="en-US" b="1" dirty="0"/>
          </a:p>
        </p:txBody>
      </p:sp>
    </p:spTree>
    <p:extLst>
      <p:ext uri="{BB962C8B-B14F-4D97-AF65-F5344CB8AC3E}">
        <p14:creationId xmlns:p14="http://schemas.microsoft.com/office/powerpoint/2010/main" val="7360515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6ACA3-5DA2-EBBA-7F16-CCFCAEB1D7A5}"/>
              </a:ext>
            </a:extLst>
          </p:cNvPr>
          <p:cNvSpPr>
            <a:spLocks noGrp="1"/>
          </p:cNvSpPr>
          <p:nvPr>
            <p:ph idx="1"/>
          </p:nvPr>
        </p:nvSpPr>
        <p:spPr>
          <a:xfrm>
            <a:off x="379562" y="388190"/>
            <a:ext cx="11740551" cy="5865962"/>
          </a:xfrm>
        </p:spPr>
        <p:txBody>
          <a:bodyPr>
            <a:noAutofit/>
          </a:bodyPr>
          <a:lstStyle/>
          <a:p>
            <a:pPr marL="0" marR="0">
              <a:spcBef>
                <a:spcPts val="1200"/>
              </a:spcBef>
              <a:spcAft>
                <a:spcPts val="1200"/>
              </a:spcAft>
            </a:pPr>
            <a:r>
              <a:rPr lang="en-GB" sz="1800" b="1" dirty="0">
                <a:effectLst/>
                <a:latin typeface="Arial" panose="020B0604020202020204" pitchFamily="34" charset="0"/>
                <a:ea typeface="Arial" panose="020B0604020202020204" pitchFamily="34" charset="0"/>
              </a:rPr>
              <a:t>Non primitive data types</a:t>
            </a:r>
            <a:endParaRPr lang="en-US" sz="1800" dirty="0">
              <a:effectLst/>
              <a:latin typeface="Calibri" panose="020F0502020204030204" pitchFamily="34" charset="0"/>
              <a:ea typeface="Calibri" panose="020F0502020204030204" pitchFamily="34" charset="0"/>
            </a:endParaRPr>
          </a:p>
          <a:p>
            <a:pPr marL="342900" marR="0" lvl="0" indent="-342900">
              <a:buFont typeface="Arial" panose="020B0604020202020204" pitchFamily="34" charset="0"/>
              <a:buChar char="●"/>
            </a:pPr>
            <a:r>
              <a:rPr lang="en-GB" sz="1800" u="none" strike="noStrike" dirty="0">
                <a:effectLst/>
                <a:latin typeface="Arial" panose="020B0604020202020204" pitchFamily="34" charset="0"/>
                <a:ea typeface="Arial" panose="020B0604020202020204" pitchFamily="34" charset="0"/>
              </a:rPr>
              <a:t>Example of Object:</a:t>
            </a:r>
            <a:endParaRPr lang="en-US" sz="1800" u="none" strike="noStrike" dirty="0">
              <a:effectLst/>
              <a:latin typeface="Calibri" panose="020F0502020204030204" pitchFamily="34" charset="0"/>
              <a:ea typeface="Calibri" panose="020F0502020204030204" pitchFamily="34" charset="0"/>
            </a:endParaRPr>
          </a:p>
          <a:p>
            <a:pPr marL="114300" marR="0"/>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114300" marR="0"/>
            <a:r>
              <a:rPr lang="en-GB" sz="1800" dirty="0">
                <a:effectLst/>
                <a:latin typeface="Arial" panose="020B0604020202020204" pitchFamily="34" charset="0"/>
                <a:ea typeface="Arial" panose="020B0604020202020204" pitchFamily="34" charset="0"/>
              </a:rPr>
              <a:t>//example of Object </a:t>
            </a:r>
            <a:endParaRPr lang="en-US" sz="1800" dirty="0">
              <a:effectLst/>
              <a:latin typeface="Calibri" panose="020F0502020204030204" pitchFamily="34" charset="0"/>
              <a:ea typeface="Calibri" panose="020F0502020204030204" pitchFamily="34" charset="0"/>
            </a:endParaRPr>
          </a:p>
          <a:p>
            <a:pPr marL="114300" marR="0"/>
            <a:r>
              <a:rPr lang="en-GB" sz="1800" dirty="0" err="1">
                <a:effectLst/>
                <a:latin typeface="Arial" panose="020B0604020202020204" pitchFamily="34" charset="0"/>
                <a:ea typeface="Arial" panose="020B0604020202020204" pitchFamily="34" charset="0"/>
              </a:rPr>
              <a:t>stu</a:t>
            </a:r>
            <a:r>
              <a:rPr lang="en-GB" sz="1800" dirty="0">
                <a:effectLst/>
                <a:latin typeface="Arial" panose="020B0604020202020204" pitchFamily="34" charset="0"/>
                <a:ea typeface="Arial" panose="020B0604020202020204" pitchFamily="34" charset="0"/>
              </a:rPr>
              <a:t>={id:101,name:"sanjeev"}  </a:t>
            </a:r>
            <a:endParaRPr lang="en-US" sz="1800" dirty="0">
              <a:effectLst/>
              <a:latin typeface="Calibri" panose="020F0502020204030204" pitchFamily="34" charset="0"/>
              <a:ea typeface="Calibri" panose="020F0502020204030204" pitchFamily="34" charset="0"/>
            </a:endParaRPr>
          </a:p>
          <a:p>
            <a:pPr marL="114300" marR="0"/>
            <a:r>
              <a:rPr lang="en-GB" sz="1800" dirty="0">
                <a:effectLst/>
                <a:latin typeface="Arial" panose="020B0604020202020204" pitchFamily="34" charset="0"/>
                <a:ea typeface="Arial" panose="020B0604020202020204" pitchFamily="34" charset="0"/>
              </a:rPr>
              <a:t>alert(stu.id+" "+stu.name);  </a:t>
            </a:r>
            <a:endParaRPr lang="en-US" sz="1800" dirty="0">
              <a:effectLst/>
              <a:latin typeface="Calibri" panose="020F0502020204030204" pitchFamily="34" charset="0"/>
              <a:ea typeface="Calibri" panose="020F0502020204030204" pitchFamily="34" charset="0"/>
            </a:endParaRPr>
          </a:p>
          <a:p>
            <a:pPr marL="114300" marR="0"/>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342900" marR="0" lvl="0" indent="-342900">
              <a:spcBef>
                <a:spcPts val="1200"/>
              </a:spcBef>
              <a:buFont typeface="Arial" panose="020B0604020202020204" pitchFamily="34" charset="0"/>
              <a:buChar char="●"/>
            </a:pPr>
            <a:r>
              <a:rPr lang="en-GB" sz="1800" u="none" strike="noStrike" dirty="0">
                <a:effectLst/>
                <a:latin typeface="Arial" panose="020B0604020202020204" pitchFamily="34" charset="0"/>
                <a:ea typeface="Arial" panose="020B0604020202020204" pitchFamily="34" charset="0"/>
              </a:rPr>
              <a:t>  Example of Array:</a:t>
            </a:r>
            <a:endParaRPr lang="en-US" sz="1800" u="none" strike="noStrike" dirty="0">
              <a:effectLst/>
              <a:latin typeface="Calibri" panose="020F0502020204030204" pitchFamily="34" charset="0"/>
              <a:ea typeface="Calibri" panose="020F0502020204030204" pitchFamily="34" charset="0"/>
            </a:endParaRPr>
          </a:p>
          <a:p>
            <a:pPr marL="114300" marR="0"/>
            <a:r>
              <a:rPr lang="en-GB" sz="1800" dirty="0">
                <a:effectLst/>
                <a:latin typeface="Arial" panose="020B0604020202020204" pitchFamily="34" charset="0"/>
                <a:ea typeface="Arial" panose="020B0604020202020204" pitchFamily="34" charset="0"/>
              </a:rPr>
              <a:t>&lt;script&gt; </a:t>
            </a:r>
            <a:endParaRPr lang="en-US" sz="1800" dirty="0">
              <a:effectLst/>
              <a:latin typeface="Calibri" panose="020F0502020204030204" pitchFamily="34" charset="0"/>
              <a:ea typeface="Calibri" panose="020F0502020204030204" pitchFamily="34" charset="0"/>
            </a:endParaRPr>
          </a:p>
          <a:p>
            <a:pPr marL="114300" marR="0"/>
            <a:r>
              <a:rPr lang="en-GB" sz="1800" dirty="0">
                <a:effectLst/>
                <a:latin typeface="Arial" panose="020B0604020202020204" pitchFamily="34" charset="0"/>
                <a:ea typeface="Arial" panose="020B0604020202020204" pitchFamily="34" charset="0"/>
              </a:rPr>
              <a:t>//example of Array </a:t>
            </a:r>
            <a:endParaRPr lang="en-US" sz="1800" dirty="0">
              <a:effectLst/>
              <a:latin typeface="Calibri" panose="020F0502020204030204" pitchFamily="34" charset="0"/>
              <a:ea typeface="Calibri" panose="020F0502020204030204" pitchFamily="34" charset="0"/>
            </a:endParaRPr>
          </a:p>
          <a:p>
            <a:pPr marL="114300" marR="0"/>
            <a:r>
              <a:rPr lang="en-GB" sz="1800" dirty="0" err="1">
                <a:effectLst/>
                <a:latin typeface="Arial" panose="020B0604020202020204" pitchFamily="34" charset="0"/>
                <a:ea typeface="Arial" panose="020B0604020202020204" pitchFamily="34" charset="0"/>
              </a:rPr>
              <a:t>arr</a:t>
            </a:r>
            <a:r>
              <a:rPr lang="en-GB" sz="1800" dirty="0">
                <a:effectLst/>
                <a:latin typeface="Arial" panose="020B0604020202020204" pitchFamily="34" charset="0"/>
                <a:ea typeface="Arial" panose="020B0604020202020204" pitchFamily="34" charset="0"/>
              </a:rPr>
              <a:t>=Array(101,"sanjeev");  </a:t>
            </a:r>
            <a:endParaRPr lang="en-US" sz="1800" dirty="0">
              <a:effectLst/>
              <a:latin typeface="Calibri" panose="020F0502020204030204" pitchFamily="34" charset="0"/>
              <a:ea typeface="Calibri" panose="020F0502020204030204" pitchFamily="34" charset="0"/>
            </a:endParaRPr>
          </a:p>
          <a:p>
            <a:pPr marL="114300" marR="0"/>
            <a:r>
              <a:rPr lang="en-GB" sz="1800" dirty="0">
                <a:effectLst/>
                <a:latin typeface="Arial" panose="020B0604020202020204" pitchFamily="34" charset="0"/>
                <a:ea typeface="Arial" panose="020B0604020202020204" pitchFamily="34" charset="0"/>
              </a:rPr>
              <a:t>alert(</a:t>
            </a:r>
            <a:r>
              <a:rPr lang="en-GB" sz="1800" dirty="0" err="1">
                <a:effectLst/>
                <a:latin typeface="Arial" panose="020B0604020202020204" pitchFamily="34" charset="0"/>
                <a:ea typeface="Arial" panose="020B0604020202020204" pitchFamily="34" charset="0"/>
              </a:rPr>
              <a:t>arr</a:t>
            </a:r>
            <a:r>
              <a:rPr lang="en-GB" sz="1800" dirty="0">
                <a:effectLst/>
                <a:latin typeface="Arial" panose="020B0604020202020204" pitchFamily="34" charset="0"/>
                <a:ea typeface="Arial" panose="020B0604020202020204" pitchFamily="34" charset="0"/>
              </a:rPr>
              <a:t>[0]+" "+</a:t>
            </a:r>
            <a:r>
              <a:rPr lang="en-GB" sz="1800" dirty="0" err="1">
                <a:effectLst/>
                <a:latin typeface="Arial" panose="020B0604020202020204" pitchFamily="34" charset="0"/>
                <a:ea typeface="Arial" panose="020B0604020202020204" pitchFamily="34" charset="0"/>
              </a:rPr>
              <a:t>arr</a:t>
            </a:r>
            <a:r>
              <a:rPr lang="en-GB" sz="1800" dirty="0">
                <a:effectLst/>
                <a:latin typeface="Arial" panose="020B0604020202020204" pitchFamily="34" charset="0"/>
                <a:ea typeface="Arial" panose="020B0604020202020204" pitchFamily="34" charset="0"/>
              </a:rPr>
              <a:t>[1]);  </a:t>
            </a:r>
            <a:endParaRPr lang="en-US" sz="1800" dirty="0">
              <a:effectLst/>
              <a:latin typeface="Calibri" panose="020F0502020204030204" pitchFamily="34" charset="0"/>
              <a:ea typeface="Calibri" panose="020F0502020204030204" pitchFamily="34" charset="0"/>
            </a:endParaRPr>
          </a:p>
          <a:p>
            <a:r>
              <a:rPr lang="en-GB" sz="1800" dirty="0">
                <a:effectLst/>
                <a:latin typeface="Arial" panose="020B0604020202020204" pitchFamily="34" charset="0"/>
                <a:ea typeface="Arial" panose="020B0604020202020204" pitchFamily="34" charset="0"/>
              </a:rPr>
              <a:t>&lt;/script&gt; </a:t>
            </a:r>
            <a:endParaRPr lang="en-US" sz="1800" dirty="0"/>
          </a:p>
        </p:txBody>
      </p:sp>
    </p:spTree>
    <p:extLst>
      <p:ext uri="{BB962C8B-B14F-4D97-AF65-F5344CB8AC3E}">
        <p14:creationId xmlns:p14="http://schemas.microsoft.com/office/powerpoint/2010/main" val="5589096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4AA388-9451-6C14-5104-6A2C98BE8ECD}"/>
              </a:ext>
            </a:extLst>
          </p:cNvPr>
          <p:cNvSpPr>
            <a:spLocks noGrp="1"/>
          </p:cNvSpPr>
          <p:nvPr>
            <p:ph idx="1"/>
          </p:nvPr>
        </p:nvSpPr>
        <p:spPr>
          <a:xfrm>
            <a:off x="525493" y="1155940"/>
            <a:ext cx="10638814" cy="5098211"/>
          </a:xfrm>
        </p:spPr>
        <p:txBody>
          <a:bodyPr/>
          <a:lstStyle/>
          <a:p>
            <a:pPr marL="0" marR="0" indent="0">
              <a:lnSpc>
                <a:spcPct val="150000"/>
              </a:lnSpc>
              <a:spcBef>
                <a:spcPts val="1800"/>
              </a:spcBef>
              <a:spcAft>
                <a:spcPts val="400"/>
              </a:spcAft>
            </a:pPr>
            <a:r>
              <a:rPr lang="fr-FR" sz="1800" b="1" dirty="0">
                <a:effectLst/>
                <a:latin typeface="Arial" panose="020B0604020202020204" pitchFamily="34" charset="0"/>
              </a:rPr>
              <a:t> Indicative content 1.5: Use of </a:t>
            </a:r>
            <a:r>
              <a:rPr lang="fr-FR" sz="1800" b="1" dirty="0" err="1">
                <a:effectLst/>
                <a:latin typeface="Arial" panose="020B0604020202020204" pitchFamily="34" charset="0"/>
              </a:rPr>
              <a:t>operators</a:t>
            </a:r>
            <a:r>
              <a:rPr lang="fr-FR" sz="1800" b="1" dirty="0">
                <a:effectLst/>
                <a:latin typeface="Arial" panose="020B0604020202020204" pitchFamily="34" charset="0"/>
              </a:rPr>
              <a:t> in JavaScript</a:t>
            </a:r>
            <a:r>
              <a:rPr lang="fr-FR" sz="1800" b="1" dirty="0">
                <a:effectLst/>
                <a:latin typeface="Arial" panose="020B0604020202020204" pitchFamily="34" charset="0"/>
                <a:ea typeface="Arial" panose="020B0604020202020204" pitchFamily="34" charset="0"/>
              </a:rPr>
              <a:t>                                   </a:t>
            </a:r>
            <a:endParaRPr lang="en-US" sz="1800" b="1" dirty="0">
              <a:effectLst/>
              <a:latin typeface="Arial" panose="020B0604020202020204" pitchFamily="34" charset="0"/>
            </a:endParaRPr>
          </a:p>
          <a:p>
            <a:pPr marL="0" marR="0"/>
            <a:r>
              <a:rPr lang="en-US" sz="1800" b="1" dirty="0">
                <a:effectLst/>
                <a:latin typeface="Arial" panose="020B0604020202020204" pitchFamily="34" charset="0"/>
                <a:ea typeface="Arial" panose="020B0604020202020204" pitchFamily="34" charset="0"/>
              </a:rPr>
              <a:t> 1.5.1: Describe the operators in JavaScript </a:t>
            </a:r>
          </a:p>
          <a:p>
            <a:pPr marL="0" marR="0"/>
            <a:endParaRPr lang="en-US" dirty="0"/>
          </a:p>
        </p:txBody>
      </p:sp>
      <p:pic>
        <p:nvPicPr>
          <p:cNvPr id="5" name="Picture 4">
            <a:extLst>
              <a:ext uri="{FF2B5EF4-FFF2-40B4-BE49-F238E27FC236}">
                <a16:creationId xmlns:a16="http://schemas.microsoft.com/office/drawing/2014/main" id="{77D6FA73-530D-220C-61D5-3BD53B567EFC}"/>
              </a:ext>
            </a:extLst>
          </p:cNvPr>
          <p:cNvPicPr>
            <a:picLocks noChangeAspect="1"/>
          </p:cNvPicPr>
          <p:nvPr/>
        </p:nvPicPr>
        <p:blipFill>
          <a:blip r:embed="rId2"/>
          <a:stretch>
            <a:fillRect/>
          </a:stretch>
        </p:blipFill>
        <p:spPr>
          <a:xfrm>
            <a:off x="525492" y="2185807"/>
            <a:ext cx="8915400" cy="3952875"/>
          </a:xfrm>
          <a:prstGeom prst="rect">
            <a:avLst/>
          </a:prstGeom>
        </p:spPr>
      </p:pic>
    </p:spTree>
    <p:extLst>
      <p:ext uri="{BB962C8B-B14F-4D97-AF65-F5344CB8AC3E}">
        <p14:creationId xmlns:p14="http://schemas.microsoft.com/office/powerpoint/2010/main" val="7426905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54392B4-AA80-9BEB-85BE-B2DC9F813171}"/>
              </a:ext>
            </a:extLst>
          </p:cNvPr>
          <p:cNvPicPr>
            <a:picLocks noGrp="1" noChangeAspect="1"/>
          </p:cNvPicPr>
          <p:nvPr>
            <p:ph idx="1"/>
          </p:nvPr>
        </p:nvPicPr>
        <p:blipFill>
          <a:blip r:embed="rId2"/>
          <a:stretch>
            <a:fillRect/>
          </a:stretch>
        </p:blipFill>
        <p:spPr>
          <a:xfrm>
            <a:off x="1121434" y="1535449"/>
            <a:ext cx="9168435" cy="4851124"/>
          </a:xfrm>
        </p:spPr>
      </p:pic>
    </p:spTree>
    <p:extLst>
      <p:ext uri="{BB962C8B-B14F-4D97-AF65-F5344CB8AC3E}">
        <p14:creationId xmlns:p14="http://schemas.microsoft.com/office/powerpoint/2010/main" val="36437274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D9DCC6-9D09-8274-E322-36E97FC85902}"/>
              </a:ext>
            </a:extLst>
          </p:cNvPr>
          <p:cNvPicPr>
            <a:picLocks noGrp="1" noChangeAspect="1"/>
          </p:cNvPicPr>
          <p:nvPr>
            <p:ph idx="1"/>
          </p:nvPr>
        </p:nvPicPr>
        <p:blipFill>
          <a:blip r:embed="rId2"/>
          <a:stretch>
            <a:fillRect/>
          </a:stretch>
        </p:blipFill>
        <p:spPr>
          <a:xfrm>
            <a:off x="646981" y="1742535"/>
            <a:ext cx="10009625" cy="3631722"/>
          </a:xfrm>
        </p:spPr>
      </p:pic>
    </p:spTree>
    <p:extLst>
      <p:ext uri="{BB962C8B-B14F-4D97-AF65-F5344CB8AC3E}">
        <p14:creationId xmlns:p14="http://schemas.microsoft.com/office/powerpoint/2010/main" val="6812836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8E935-5FAA-1194-81F9-B6CC0EC565D3}"/>
              </a:ext>
            </a:extLst>
          </p:cNvPr>
          <p:cNvSpPr>
            <a:spLocks noGrp="1"/>
          </p:cNvSpPr>
          <p:nvPr>
            <p:ph idx="1"/>
          </p:nvPr>
        </p:nvSpPr>
        <p:spPr>
          <a:xfrm>
            <a:off x="543465" y="1768415"/>
            <a:ext cx="10500072" cy="4514747"/>
          </a:xfrm>
        </p:spPr>
        <p:txBody>
          <a:bodyPr/>
          <a:lstStyle/>
          <a:p>
            <a:pPr marL="0" marR="0">
              <a:spcAft>
                <a:spcPts val="1200"/>
              </a:spcAft>
            </a:pPr>
            <a:r>
              <a:rPr lang="en-GB" sz="1800" b="1" dirty="0">
                <a:solidFill>
                  <a:srgbClr val="000000"/>
                </a:solidFill>
                <a:effectLst/>
                <a:latin typeface="Arial" panose="020B0604020202020204" pitchFamily="34" charset="0"/>
                <a:ea typeface="Arial" panose="020B0604020202020204" pitchFamily="34" charset="0"/>
              </a:rPr>
              <a:t>Note:</a:t>
            </a:r>
            <a:r>
              <a:rPr lang="en-GB" sz="1800" dirty="0">
                <a:solidFill>
                  <a:srgbClr val="000000"/>
                </a:solidFill>
                <a:effectLst/>
                <a:latin typeface="Arial" panose="020B0604020202020204" pitchFamily="34" charset="0"/>
                <a:ea typeface="Arial" panose="020B0604020202020204" pitchFamily="34" charset="0"/>
              </a:rPr>
              <a:t> + Operator executes a series of operations provided one of the operands is of string type. This example will help you understand the working of + Operator on operands of various data types.</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var w = 5, x = "Hello ", y = "World!", z = 10;</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w + x; // "5Hello "</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x + y; // "Hello World!"</a:t>
            </a:r>
            <a:endParaRPr lang="en-US" sz="1800" dirty="0">
              <a:effectLst/>
              <a:latin typeface="Calibri" panose="020F0502020204030204" pitchFamily="34" charset="0"/>
              <a:ea typeface="Calibri" panose="020F0502020204030204" pitchFamily="34" charset="0"/>
            </a:endParaRPr>
          </a:p>
          <a:p>
            <a:pPr marL="0" marR="0"/>
            <a:r>
              <a:rPr lang="en-GB" sz="1800" dirty="0">
                <a:solidFill>
                  <a:srgbClr val="000000"/>
                </a:solidFill>
                <a:effectLst/>
                <a:latin typeface="Arial" panose="020B0604020202020204" pitchFamily="34" charset="0"/>
                <a:ea typeface="Arial" panose="020B0604020202020204" pitchFamily="34" charset="0"/>
              </a:rPr>
              <a:t>w + z; // 15</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5588886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9DD845-754C-957A-88C7-1895357F000A}"/>
              </a:ext>
            </a:extLst>
          </p:cNvPr>
          <p:cNvSpPr>
            <a:spLocks noGrp="1"/>
          </p:cNvSpPr>
          <p:nvPr>
            <p:ph idx="1"/>
          </p:nvPr>
        </p:nvSpPr>
        <p:spPr>
          <a:xfrm>
            <a:off x="646981" y="1328467"/>
            <a:ext cx="10627744" cy="4761781"/>
          </a:xfrm>
        </p:spPr>
        <p:txBody>
          <a:bodyPr/>
          <a:lstStyle/>
          <a:p>
            <a:pPr marL="342900" marR="0" lvl="0" indent="-342900">
              <a:spcBef>
                <a:spcPts val="1200"/>
              </a:spcBef>
              <a:spcAft>
                <a:spcPts val="1200"/>
              </a:spcAft>
              <a:buFont typeface="Arial" panose="020B0604020202020204" pitchFamily="34" charset="0"/>
              <a:buChar char="➢"/>
            </a:pPr>
            <a:r>
              <a:rPr lang="en-GB" sz="1800" b="1" u="none" strike="noStrike" dirty="0">
                <a:effectLst/>
                <a:latin typeface="Arial" panose="020B0604020202020204" pitchFamily="34" charset="0"/>
                <a:ea typeface="Arial" panose="020B0604020202020204" pitchFamily="34" charset="0"/>
              </a:rPr>
              <a:t>String Operators</a:t>
            </a:r>
            <a:endParaRPr lang="en-US" sz="1800" u="none" strike="noStrike"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effectLst/>
                <a:highlight>
                  <a:srgbClr val="FFFFFF"/>
                </a:highlight>
                <a:latin typeface="Arial" panose="020B0604020202020204" pitchFamily="34" charset="0"/>
                <a:ea typeface="Arial" panose="020B0604020202020204" pitchFamily="34" charset="0"/>
              </a:rPr>
              <a:t>A string operator in JavaScript, simply put, is </a:t>
            </a:r>
            <a:r>
              <a:rPr lang="en-GB" sz="1800" dirty="0">
                <a:effectLst/>
                <a:latin typeface="Arial" panose="020B0604020202020204" pitchFamily="34" charset="0"/>
                <a:ea typeface="Arial" panose="020B0604020202020204" pitchFamily="34" charset="0"/>
              </a:rPr>
              <a:t>an operator that operates on a string</a:t>
            </a:r>
            <a:r>
              <a:rPr lang="en-GB" sz="1800" dirty="0">
                <a:effectLst/>
                <a:highlight>
                  <a:srgbClr val="FFFFFF"/>
                </a:highligh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effectLst/>
                <a:highlight>
                  <a:srgbClr val="FFFFFF"/>
                </a:highlight>
                <a:latin typeface="Arial" panose="020B0604020202020204" pitchFamily="34" charset="0"/>
                <a:ea typeface="Arial" panose="020B0604020202020204" pitchFamily="34" charset="0"/>
              </a:rPr>
              <a:t>There are only two operators that JavaScript supports for modifying a string. These operators allow you to join one string to another easily. These operators are called “concatenate” and “concatenate assignment“.</a:t>
            </a:r>
            <a:endParaRPr lang="en-US" sz="18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solidFill>
                  <a:srgbClr val="212529"/>
                </a:solidFill>
                <a:effectLst/>
                <a:highlight>
                  <a:srgbClr val="FFFFFF"/>
                </a:highlight>
                <a:latin typeface="Arial" panose="020B0604020202020204" pitchFamily="34" charset="0"/>
                <a:ea typeface="Arial" panose="020B0604020202020204" pitchFamily="34" charset="0"/>
              </a:rPr>
              <a:t>These two operators allow you to join one string to another.</a:t>
            </a:r>
            <a:endParaRPr lang="en-US" sz="1800" dirty="0">
              <a:effectLst/>
              <a:latin typeface="Calibri" panose="020F0502020204030204" pitchFamily="34" charset="0"/>
              <a:ea typeface="Calibri" panose="020F0502020204030204" pitchFamily="34" charset="0"/>
            </a:endParaRPr>
          </a:p>
          <a:p>
            <a:pPr marL="342900" marR="0" lvl="0" indent="-342900">
              <a:buClr>
                <a:srgbClr val="212529"/>
              </a:buClr>
              <a:buSzPts val="1350"/>
              <a:buFont typeface="Arial" panose="020B0604020202020204" pitchFamily="34" charset="0"/>
              <a:buChar char="●"/>
            </a:pPr>
            <a:r>
              <a:rPr lang="en-GB" sz="1800" b="1" u="none" strike="noStrike" dirty="0">
                <a:solidFill>
                  <a:srgbClr val="212529"/>
                </a:solidFill>
                <a:effectLst/>
                <a:latin typeface="Arial" panose="020B0604020202020204" pitchFamily="34" charset="0"/>
                <a:ea typeface="Arial" panose="020B0604020202020204" pitchFamily="34" charset="0"/>
                <a:cs typeface="Roboto" panose="02000000000000000000" pitchFamily="2" charset="0"/>
              </a:rPr>
              <a:t>Concatenate:</a:t>
            </a:r>
            <a:r>
              <a:rPr lang="en-GB" sz="1800" u="none" strike="noStrike" dirty="0">
                <a:solidFill>
                  <a:srgbClr val="212529"/>
                </a:solidFill>
                <a:effectLst/>
                <a:latin typeface="Arial" panose="020B0604020202020204" pitchFamily="34" charset="0"/>
                <a:ea typeface="Arial" panose="020B0604020202020204" pitchFamily="34" charset="0"/>
                <a:cs typeface="Roboto" panose="02000000000000000000" pitchFamily="2" charset="0"/>
              </a:rPr>
              <a:t> This refers to appending one string to another.</a:t>
            </a:r>
            <a:endParaRPr lang="en-US" sz="1800" u="none" strike="noStrike" dirty="0">
              <a:effectLst/>
              <a:latin typeface="Roboto" panose="02000000000000000000" pitchFamily="2" charset="0"/>
              <a:ea typeface="Roboto" panose="02000000000000000000" pitchFamily="2" charset="0"/>
              <a:cs typeface="Roboto" panose="02000000000000000000" pitchFamily="2" charset="0"/>
            </a:endParaRPr>
          </a:p>
          <a:p>
            <a:pPr marL="342900" marR="0" lvl="0" indent="-342900">
              <a:spcAft>
                <a:spcPts val="1200"/>
              </a:spcAft>
              <a:buClr>
                <a:srgbClr val="212529"/>
              </a:buClr>
              <a:buSzPts val="1350"/>
              <a:buFont typeface="Arial" panose="020B0604020202020204" pitchFamily="34" charset="0"/>
              <a:buChar char="●"/>
            </a:pPr>
            <a:r>
              <a:rPr lang="en-GB" sz="1800" b="1" u="none" strike="noStrike" dirty="0">
                <a:solidFill>
                  <a:srgbClr val="212529"/>
                </a:solidFill>
                <a:effectLst/>
                <a:latin typeface="Arial" panose="020B0604020202020204" pitchFamily="34" charset="0"/>
                <a:ea typeface="Arial" panose="020B0604020202020204" pitchFamily="34" charset="0"/>
                <a:cs typeface="Roboto" panose="02000000000000000000" pitchFamily="2" charset="0"/>
              </a:rPr>
              <a:t>Concatenate Assignment:</a:t>
            </a:r>
            <a:r>
              <a:rPr lang="en-GB" sz="1800" u="none" strike="noStrike" dirty="0">
                <a:solidFill>
                  <a:srgbClr val="212529"/>
                </a:solidFill>
                <a:effectLst/>
                <a:latin typeface="Arial" panose="020B0604020202020204" pitchFamily="34" charset="0"/>
                <a:ea typeface="Arial" panose="020B0604020202020204" pitchFamily="34" charset="0"/>
                <a:cs typeface="Roboto" panose="02000000000000000000" pitchFamily="2" charset="0"/>
              </a:rPr>
              <a:t> Similar to the previous but refers more specifically to appending a string to the end of a variable. Assigning the final result to that variable.</a:t>
            </a:r>
            <a:endParaRPr lang="en-US" sz="1800" u="none" strike="noStrike" dirty="0">
              <a:effectLst/>
              <a:latin typeface="Roboto" panose="02000000000000000000" pitchFamily="2" charset="0"/>
              <a:ea typeface="Roboto" panose="02000000000000000000" pitchFamily="2" charset="0"/>
              <a:cs typeface="Roboto" panose="02000000000000000000" pitchFamily="2" charset="0"/>
            </a:endParaRPr>
          </a:p>
          <a:p>
            <a:endParaRPr lang="en-US" dirty="0"/>
          </a:p>
        </p:txBody>
      </p:sp>
    </p:spTree>
    <p:extLst>
      <p:ext uri="{BB962C8B-B14F-4D97-AF65-F5344CB8AC3E}">
        <p14:creationId xmlns:p14="http://schemas.microsoft.com/office/powerpoint/2010/main" val="31003021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DD3E113-BAB7-4258-1785-6C3B32748AA8}"/>
              </a:ext>
            </a:extLst>
          </p:cNvPr>
          <p:cNvPicPr>
            <a:picLocks noGrp="1" noChangeAspect="1"/>
          </p:cNvPicPr>
          <p:nvPr>
            <p:ph idx="1"/>
          </p:nvPr>
        </p:nvPicPr>
        <p:blipFill>
          <a:blip r:embed="rId2"/>
          <a:stretch>
            <a:fillRect/>
          </a:stretch>
        </p:blipFill>
        <p:spPr>
          <a:xfrm>
            <a:off x="915194" y="1451769"/>
            <a:ext cx="9963150" cy="4191000"/>
          </a:xfrm>
        </p:spPr>
      </p:pic>
    </p:spTree>
    <p:extLst>
      <p:ext uri="{BB962C8B-B14F-4D97-AF65-F5344CB8AC3E}">
        <p14:creationId xmlns:p14="http://schemas.microsoft.com/office/powerpoint/2010/main" val="3975892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3ABBAC-42C8-8B31-1861-59023AD9EB10}"/>
              </a:ext>
            </a:extLst>
          </p:cNvPr>
          <p:cNvSpPr>
            <a:spLocks noGrp="1"/>
          </p:cNvSpPr>
          <p:nvPr>
            <p:ph idx="1"/>
          </p:nvPr>
        </p:nvSpPr>
        <p:spPr>
          <a:xfrm>
            <a:off x="370936" y="258793"/>
            <a:ext cx="10801998" cy="5837336"/>
          </a:xfrm>
        </p:spPr>
        <p:txBody>
          <a:bodyPr>
            <a:normAutofit fontScale="92500" lnSpcReduction="20000"/>
          </a:bodyPr>
          <a:lstStyle/>
          <a:p>
            <a:pPr marL="0" marR="0">
              <a:lnSpc>
                <a:spcPct val="150000"/>
              </a:lnSpc>
              <a:spcAft>
                <a:spcPts val="1200"/>
              </a:spcAft>
            </a:pPr>
            <a:r>
              <a:rPr lang="en-GB" sz="1800" dirty="0">
                <a:solidFill>
                  <a:srgbClr val="000000"/>
                </a:solidFill>
                <a:effectLst/>
                <a:latin typeface="Arial" panose="020B0604020202020204" pitchFamily="34" charset="0"/>
                <a:ea typeface="Arial" panose="020B0604020202020204" pitchFamily="34" charset="0"/>
              </a:rPr>
              <a:t>Please note that JavaScript’s string operators will attempt to convert non-strings to a string. The data type that you include must have some way of being converted. For example, JavaScript can easily convert the number 112 to a string. </a:t>
            </a:r>
            <a:endParaRPr lang="en-US" sz="1800" dirty="0">
              <a:effectLst/>
              <a:latin typeface="Calibri" panose="020F0502020204030204" pitchFamily="34" charset="0"/>
              <a:ea typeface="Calibri" panose="020F0502020204030204" pitchFamily="34" charset="0"/>
            </a:endParaRPr>
          </a:p>
          <a:p>
            <a:pPr marL="342900" marR="0" lvl="0" indent="-342900">
              <a:lnSpc>
                <a:spcPct val="150000"/>
              </a:lnSpc>
              <a:spcBef>
                <a:spcPts val="1100"/>
              </a:spcBef>
              <a:buFont typeface="Arial" panose="020B0604020202020204" pitchFamily="34" charset="0"/>
              <a:buChar char="➢"/>
            </a:pPr>
            <a:r>
              <a:rPr lang="en-GB" sz="1800" b="1" u="none" strike="noStrike" dirty="0">
                <a:solidFill>
                  <a:srgbClr val="000000"/>
                </a:solidFill>
                <a:effectLst/>
                <a:latin typeface="Arial" panose="020B0604020202020204" pitchFamily="34" charset="0"/>
                <a:ea typeface="Arial" panose="020B0604020202020204" pitchFamily="34" charset="0"/>
              </a:rPr>
              <a:t>Comparison Operators</a:t>
            </a:r>
            <a:endParaRPr lang="en-US" sz="1800" u="none" strike="noStrike" dirty="0">
              <a:effectLst/>
              <a:latin typeface="Calibri" panose="020F0502020204030204" pitchFamily="34" charset="0"/>
              <a:ea typeface="Calibri" panose="020F0502020204030204" pitchFamily="34" charset="0"/>
            </a:endParaRPr>
          </a:p>
          <a:p>
            <a:pPr marL="0" marR="0">
              <a:lnSpc>
                <a:spcPct val="150000"/>
              </a:lnSpc>
            </a:pPr>
            <a:r>
              <a:rPr lang="en-GB" sz="1800" dirty="0">
                <a:solidFill>
                  <a:srgbClr val="000000"/>
                </a:solidFill>
                <a:effectLst/>
                <a:latin typeface="Arial" panose="020B0604020202020204" pitchFamily="34" charset="0"/>
                <a:ea typeface="Arial" panose="020B0604020202020204" pitchFamily="34" charset="0"/>
              </a:rPr>
              <a:t>Any time you compare two values in JavaScript, the result is a Boolean true or false value.</a:t>
            </a:r>
            <a:br>
              <a:rPr lang="en-GB" sz="1800" dirty="0">
                <a:solidFill>
                  <a:srgbClr val="000000"/>
                </a:solidFill>
                <a:effectLst/>
                <a:latin typeface="Arial" panose="020B0604020202020204" pitchFamily="34" charset="0"/>
                <a:ea typeface="Arial" panose="020B0604020202020204" pitchFamily="34" charset="0"/>
              </a:rPr>
            </a:br>
            <a:r>
              <a:rPr lang="en-GB" sz="1800" dirty="0">
                <a:solidFill>
                  <a:srgbClr val="000000"/>
                </a:solidFill>
                <a:effectLst/>
                <a:latin typeface="Arial" panose="020B0604020202020204" pitchFamily="34" charset="0"/>
                <a:ea typeface="Arial" panose="020B0604020202020204" pitchFamily="34" charset="0"/>
              </a:rPr>
              <a:t> You have a wide selection of comparison operators to choose from, depending on the kind of test you</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a:solidFill>
                  <a:srgbClr val="000000"/>
                </a:solidFill>
                <a:effectLst/>
                <a:latin typeface="Arial" panose="020B0604020202020204" pitchFamily="34" charset="0"/>
                <a:ea typeface="Arial" panose="020B0604020202020204" pitchFamily="34" charset="0"/>
              </a:rPr>
              <a:t>   want to apply to the two operands.  </a:t>
            </a:r>
            <a:br>
              <a:rPr lang="en-GB" sz="1800" dirty="0">
                <a:solidFill>
                  <a:srgbClr val="000000"/>
                </a:solidFill>
                <a:effectLst/>
                <a:latin typeface="Arial" panose="020B0604020202020204" pitchFamily="34" charset="0"/>
                <a:ea typeface="Arial" panose="020B0604020202020204" pitchFamily="34" charset="0"/>
              </a:rPr>
            </a:br>
            <a:r>
              <a:rPr lang="en-GB" sz="1800" dirty="0">
                <a:solidFill>
                  <a:srgbClr val="000000"/>
                </a:solidFill>
                <a:effectLst/>
                <a:latin typeface="Arial" panose="020B0604020202020204" pitchFamily="34" charset="0"/>
                <a:ea typeface="Arial" panose="020B0604020202020204" pitchFamily="34" charset="0"/>
              </a:rPr>
              <a:t> There are basically 4 ways by which the equality is tested that are listed as follows:</a:t>
            </a:r>
            <a:endParaRPr lang="en-US" sz="1800" dirty="0">
              <a:effectLst/>
              <a:latin typeface="Calibri" panose="020F0502020204030204" pitchFamily="34" charset="0"/>
              <a:ea typeface="Calibri" panose="020F0502020204030204" pitchFamily="34" charset="0"/>
            </a:endParaRPr>
          </a:p>
          <a:p>
            <a:pPr marL="342900" marR="0" lvl="0" indent="-342900">
              <a:lnSpc>
                <a:spcPct val="150000"/>
              </a:lnSpc>
              <a:spcBef>
                <a:spcPts val="1200"/>
              </a:spcBef>
              <a:buFont typeface="Arial" panose="020B0604020202020204" pitchFamily="34" charset="0"/>
              <a:buChar char="●"/>
            </a:pPr>
            <a:r>
              <a:rPr lang="en-GB" sz="1800" u="none" strike="noStrike" dirty="0">
                <a:solidFill>
                  <a:srgbClr val="000000"/>
                </a:solidFill>
                <a:effectLst/>
                <a:latin typeface="Arial" panose="020B0604020202020204" pitchFamily="34" charset="0"/>
                <a:ea typeface="Arial" panose="020B0604020202020204" pitchFamily="34" charset="0"/>
              </a:rPr>
              <a:t>'==' operator</a:t>
            </a:r>
            <a:endParaRPr lang="en-US" sz="1800" u="none" strike="noStrike" dirty="0">
              <a:effectLst/>
              <a:latin typeface="Calibri" panose="020F0502020204030204" pitchFamily="34" charset="0"/>
              <a:ea typeface="Calibri" panose="020F0502020204030204" pitchFamily="34" charset="0"/>
            </a:endParaRPr>
          </a:p>
          <a:p>
            <a:pPr marL="342900" marR="0" lvl="0" indent="-342900">
              <a:lnSpc>
                <a:spcPct val="150000"/>
              </a:lnSpc>
              <a:buFont typeface="Arial" panose="020B0604020202020204" pitchFamily="34" charset="0"/>
              <a:buChar char="●"/>
            </a:pPr>
            <a:r>
              <a:rPr lang="en-GB" sz="1800" u="none" strike="noStrike" dirty="0">
                <a:solidFill>
                  <a:srgbClr val="000000"/>
                </a:solidFill>
                <a:effectLst/>
                <a:latin typeface="Arial" panose="020B0604020202020204" pitchFamily="34" charset="0"/>
                <a:ea typeface="Arial" panose="020B0604020202020204" pitchFamily="34" charset="0"/>
              </a:rPr>
              <a:t>'===' operator</a:t>
            </a:r>
            <a:endParaRPr lang="en-US" sz="1800" u="none" strike="noStrike" dirty="0">
              <a:effectLst/>
              <a:latin typeface="Calibri" panose="020F0502020204030204" pitchFamily="34" charset="0"/>
              <a:ea typeface="Calibri" panose="020F0502020204030204" pitchFamily="34" charset="0"/>
            </a:endParaRPr>
          </a:p>
          <a:p>
            <a:pPr marL="342900" marR="0" lvl="0" indent="-342900">
              <a:lnSpc>
                <a:spcPct val="150000"/>
              </a:lnSpc>
              <a:buFont typeface="Arial" panose="020B0604020202020204" pitchFamily="34" charset="0"/>
              <a:buChar char="●"/>
            </a:pPr>
            <a:r>
              <a:rPr lang="en-GB" sz="1800" u="none" strike="noStrike" dirty="0" err="1">
                <a:solidFill>
                  <a:srgbClr val="000000"/>
                </a:solidFill>
                <a:effectLst/>
                <a:latin typeface="Arial" panose="020B0604020202020204" pitchFamily="34" charset="0"/>
                <a:ea typeface="Arial" panose="020B0604020202020204" pitchFamily="34" charset="0"/>
              </a:rPr>
              <a:t>SameValuezero</a:t>
            </a:r>
            <a:r>
              <a:rPr lang="en-GB" sz="1800" u="none" strike="noStrike" dirty="0">
                <a:solidFill>
                  <a:srgbClr val="000000"/>
                </a:solidFill>
                <a:effectLst/>
                <a:latin typeface="Arial" panose="020B0604020202020204" pitchFamily="34" charset="0"/>
                <a:ea typeface="Arial" panose="020B0604020202020204" pitchFamily="34" charset="0"/>
              </a:rPr>
              <a:t>: this is mainly used in maps, arrays and sets.</a:t>
            </a:r>
            <a:endParaRPr lang="en-US" sz="1800" u="none" strike="noStrike" dirty="0">
              <a:effectLst/>
              <a:latin typeface="Calibri" panose="020F0502020204030204" pitchFamily="34" charset="0"/>
              <a:ea typeface="Calibri" panose="020F0502020204030204" pitchFamily="34" charset="0"/>
            </a:endParaRPr>
          </a:p>
          <a:p>
            <a:pPr marL="342900" marR="0" lvl="0" indent="-342900">
              <a:lnSpc>
                <a:spcPct val="150000"/>
              </a:lnSpc>
              <a:spcAft>
                <a:spcPts val="2000"/>
              </a:spcAft>
              <a:buFont typeface="Arial" panose="020B0604020202020204" pitchFamily="34" charset="0"/>
              <a:buChar char="●"/>
            </a:pPr>
            <a:r>
              <a:rPr lang="en-GB" sz="1800" u="none" strike="noStrike" dirty="0" err="1">
                <a:solidFill>
                  <a:srgbClr val="000000"/>
                </a:solidFill>
                <a:effectLst/>
                <a:latin typeface="Arial" panose="020B0604020202020204" pitchFamily="34" charset="0"/>
                <a:ea typeface="Arial" panose="020B0604020202020204" pitchFamily="34" charset="0"/>
              </a:rPr>
              <a:t>SameValue</a:t>
            </a:r>
            <a:r>
              <a:rPr lang="en-GB" sz="1800" u="none" strike="noStrike" dirty="0">
                <a:solidFill>
                  <a:srgbClr val="000000"/>
                </a:solidFill>
                <a:effectLst/>
                <a:latin typeface="Arial" panose="020B0604020202020204" pitchFamily="34" charset="0"/>
                <a:ea typeface="Arial" panose="020B0604020202020204" pitchFamily="34" charset="0"/>
              </a:rPr>
              <a:t>: these are used elsewhere.</a:t>
            </a:r>
            <a:endParaRPr lang="en-US" sz="1800" u="none" strike="noStrike" dirty="0">
              <a:effectLst/>
              <a:latin typeface="Calibri" panose="020F0502020204030204" pitchFamily="34" charset="0"/>
              <a:ea typeface="Calibri" panose="020F0502020204030204" pitchFamily="34" charset="0"/>
            </a:endParaRPr>
          </a:p>
          <a:p>
            <a:pPr>
              <a:lnSpc>
                <a:spcPct val="150000"/>
              </a:lnSpc>
            </a:pPr>
            <a:endParaRPr lang="en-US" dirty="0"/>
          </a:p>
        </p:txBody>
      </p:sp>
    </p:spTree>
    <p:extLst>
      <p:ext uri="{BB962C8B-B14F-4D97-AF65-F5344CB8AC3E}">
        <p14:creationId xmlns:p14="http://schemas.microsoft.com/office/powerpoint/2010/main" val="170550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DA9F16-7B74-B183-006A-99AF803F9E25}"/>
              </a:ext>
            </a:extLst>
          </p:cNvPr>
          <p:cNvPicPr>
            <a:picLocks noGrp="1" noChangeAspect="1"/>
          </p:cNvPicPr>
          <p:nvPr>
            <p:ph idx="1"/>
          </p:nvPr>
        </p:nvPicPr>
        <p:blipFill>
          <a:blip r:embed="rId2"/>
          <a:stretch>
            <a:fillRect/>
          </a:stretch>
        </p:blipFill>
        <p:spPr>
          <a:xfrm>
            <a:off x="1202726" y="910970"/>
            <a:ext cx="10413744" cy="3471248"/>
          </a:xfrm>
        </p:spPr>
      </p:pic>
    </p:spTree>
    <p:extLst>
      <p:ext uri="{BB962C8B-B14F-4D97-AF65-F5344CB8AC3E}">
        <p14:creationId xmlns:p14="http://schemas.microsoft.com/office/powerpoint/2010/main" val="40880716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FF2C979-A6E2-E8E6-A950-8E4431785311}"/>
              </a:ext>
            </a:extLst>
          </p:cNvPr>
          <p:cNvPicPr>
            <a:picLocks noGrp="1" noChangeAspect="1"/>
          </p:cNvPicPr>
          <p:nvPr>
            <p:ph idx="1"/>
          </p:nvPr>
        </p:nvPicPr>
        <p:blipFill>
          <a:blip r:embed="rId2"/>
          <a:stretch>
            <a:fillRect/>
          </a:stretch>
        </p:blipFill>
        <p:spPr>
          <a:xfrm>
            <a:off x="733786" y="1268083"/>
            <a:ext cx="10566818" cy="3939500"/>
          </a:xfrm>
        </p:spPr>
      </p:pic>
    </p:spTree>
    <p:extLst>
      <p:ext uri="{BB962C8B-B14F-4D97-AF65-F5344CB8AC3E}">
        <p14:creationId xmlns:p14="http://schemas.microsoft.com/office/powerpoint/2010/main" val="60305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B3BAAE-8AAE-A51D-6A6A-7936F7718E19}"/>
              </a:ext>
            </a:extLst>
          </p:cNvPr>
          <p:cNvSpPr>
            <a:spLocks noGrp="1"/>
          </p:cNvSpPr>
          <p:nvPr>
            <p:ph idx="1"/>
          </p:nvPr>
        </p:nvSpPr>
        <p:spPr>
          <a:xfrm>
            <a:off x="638355" y="405441"/>
            <a:ext cx="10517325" cy="5607169"/>
          </a:xfrm>
        </p:spPr>
        <p:txBody>
          <a:bodyPr/>
          <a:lstStyle/>
          <a:p>
            <a:pPr marL="50800" marR="0">
              <a:spcBef>
                <a:spcPts val="400"/>
              </a:spcBef>
            </a:pPr>
            <a:r>
              <a:rPr lang="en-GB" sz="1800" b="1" dirty="0">
                <a:solidFill>
                  <a:srgbClr val="000000"/>
                </a:solidFill>
                <a:effectLst/>
                <a:latin typeface="Arial" panose="020B0604020202020204" pitchFamily="34" charset="0"/>
                <a:ea typeface="Arial" panose="020B0604020202020204" pitchFamily="34" charset="0"/>
              </a:rPr>
              <a:t>'==' operator:</a:t>
            </a:r>
            <a:endParaRPr lang="en-US" sz="18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1800" dirty="0">
                <a:solidFill>
                  <a:srgbClr val="000000"/>
                </a:solidFill>
                <a:effectLst/>
                <a:latin typeface="Arial" panose="020B0604020202020204" pitchFamily="34" charset="0"/>
                <a:ea typeface="Arial" panose="020B0604020202020204" pitchFamily="34" charset="0"/>
              </a:rPr>
              <a:t>In </a:t>
            </a:r>
            <a:r>
              <a:rPr lang="en-GB" sz="1800" dirty="0" err="1">
                <a:solidFill>
                  <a:srgbClr val="000000"/>
                </a:solidFill>
                <a:effectLst/>
                <a:latin typeface="Arial" panose="020B0604020202020204" pitchFamily="34" charset="0"/>
                <a:ea typeface="Arial" panose="020B0604020202020204" pitchFamily="34" charset="0"/>
              </a:rPr>
              <a:t>javascript</a:t>
            </a:r>
            <a:r>
              <a:rPr lang="en-GB" sz="1800" dirty="0">
                <a:solidFill>
                  <a:srgbClr val="000000"/>
                </a:solidFill>
                <a:effectLst/>
                <a:latin typeface="Arial" panose="020B0604020202020204" pitchFamily="34" charset="0"/>
                <a:ea typeface="Arial" panose="020B0604020202020204" pitchFamily="34" charset="0"/>
              </a:rPr>
              <a:t>, the use of this operator is mainly in comparing two values on both the sides and then returning true or false as a result. This </a:t>
            </a:r>
            <a:r>
              <a:rPr lang="en-GB" sz="1800" dirty="0" err="1">
                <a:solidFill>
                  <a:srgbClr val="000000"/>
                </a:solidFill>
                <a:effectLst/>
                <a:latin typeface="Arial" panose="020B0604020202020204" pitchFamily="34" charset="0"/>
                <a:ea typeface="Arial" panose="020B0604020202020204" pitchFamily="34" charset="0"/>
              </a:rPr>
              <a:t>javascript</a:t>
            </a:r>
            <a:r>
              <a:rPr lang="en-GB" sz="1800" dirty="0">
                <a:solidFill>
                  <a:srgbClr val="000000"/>
                </a:solidFill>
                <a:effectLst/>
                <a:latin typeface="Arial" panose="020B0604020202020204" pitchFamily="34" charset="0"/>
                <a:ea typeface="Arial" panose="020B0604020202020204" pitchFamily="34" charset="0"/>
              </a:rPr>
              <a:t> operator evaluates the equality only after converting or we can say bringing both the values to a common type known as type coercion.</a:t>
            </a:r>
            <a:endParaRPr lang="en-US" sz="1800" dirty="0">
              <a:effectLst/>
              <a:latin typeface="Calibri" panose="020F0502020204030204" pitchFamily="34" charset="0"/>
              <a:ea typeface="Calibri" panose="020F0502020204030204" pitchFamily="34" charset="0"/>
            </a:endParaRPr>
          </a:p>
          <a:p>
            <a:pPr marL="0" marR="0">
              <a:lnSpc>
                <a:spcPct val="150000"/>
              </a:lnSpc>
              <a:spcBef>
                <a:spcPts val="1200"/>
              </a:spcBef>
              <a:spcAft>
                <a:spcPts val="1200"/>
              </a:spcAft>
            </a:pPr>
            <a:r>
              <a:rPr lang="en-GB" sz="1800" dirty="0">
                <a:solidFill>
                  <a:srgbClr val="000000"/>
                </a:solidFill>
                <a:effectLst/>
                <a:latin typeface="Arial" panose="020B0604020202020204" pitchFamily="34" charset="0"/>
                <a:ea typeface="Arial" panose="020B0604020202020204" pitchFamily="34" charset="0"/>
              </a:rPr>
              <a:t>For numeric values, the results are the same as those you would expect from your high school algebra class.</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a:solidFill>
                  <a:srgbClr val="000000"/>
                </a:solidFill>
                <a:effectLst/>
                <a:latin typeface="Arial" panose="020B0604020202020204" pitchFamily="34" charset="0"/>
                <a:ea typeface="Arial" panose="020B0604020202020204" pitchFamily="34" charset="0"/>
              </a:rPr>
              <a:t>10 == 10       // true</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a:solidFill>
                  <a:srgbClr val="000000"/>
                </a:solidFill>
                <a:effectLst/>
                <a:latin typeface="Arial" panose="020B0604020202020204" pitchFamily="34" charset="0"/>
                <a:ea typeface="Arial" panose="020B0604020202020204" pitchFamily="34" charset="0"/>
              </a:rPr>
              <a:t>10 == 10.0    	// true</a:t>
            </a:r>
            <a:endParaRPr lang="en-US" sz="1800" dirty="0">
              <a:effectLst/>
              <a:latin typeface="Calibri" panose="020F0502020204030204" pitchFamily="34" charset="0"/>
              <a:ea typeface="Calibri" panose="020F0502020204030204" pitchFamily="34" charset="0"/>
            </a:endParaRPr>
          </a:p>
          <a:p>
            <a:pPr marL="0" marR="0">
              <a:lnSpc>
                <a:spcPct val="150000"/>
              </a:lnSpc>
            </a:pPr>
            <a:r>
              <a:rPr lang="en-GB" sz="1800" dirty="0">
                <a:solidFill>
                  <a:srgbClr val="000000"/>
                </a:solidFill>
                <a:effectLst/>
                <a:latin typeface="Arial" panose="020B0604020202020204" pitchFamily="34" charset="0"/>
                <a:ea typeface="Arial" panose="020B0604020202020204" pitchFamily="34" charset="0"/>
              </a:rPr>
              <a:t>9 ==10          	// false</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31266082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AAEBA76-EB0B-6D50-7A8E-03544BFD9592}"/>
              </a:ext>
            </a:extLst>
          </p:cNvPr>
          <p:cNvPicPr>
            <a:picLocks noGrp="1" noChangeAspect="1"/>
          </p:cNvPicPr>
          <p:nvPr>
            <p:ph idx="1"/>
          </p:nvPr>
        </p:nvPicPr>
        <p:blipFill>
          <a:blip r:embed="rId2"/>
          <a:stretch>
            <a:fillRect/>
          </a:stretch>
        </p:blipFill>
        <p:spPr>
          <a:xfrm>
            <a:off x="627915" y="418125"/>
            <a:ext cx="10612303" cy="5617059"/>
          </a:xfrm>
        </p:spPr>
      </p:pic>
    </p:spTree>
    <p:extLst>
      <p:ext uri="{BB962C8B-B14F-4D97-AF65-F5344CB8AC3E}">
        <p14:creationId xmlns:p14="http://schemas.microsoft.com/office/powerpoint/2010/main" val="38716801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0B7869-EEA3-B224-66E3-EB0BAD5C678F}"/>
              </a:ext>
            </a:extLst>
          </p:cNvPr>
          <p:cNvSpPr>
            <a:spLocks noGrp="1"/>
          </p:cNvSpPr>
          <p:nvPr>
            <p:ph idx="1"/>
          </p:nvPr>
        </p:nvSpPr>
        <p:spPr>
          <a:xfrm>
            <a:off x="733245" y="310551"/>
            <a:ext cx="10422435" cy="5558543"/>
          </a:xfrm>
        </p:spPr>
        <p:txBody>
          <a:bodyPr/>
          <a:lstStyle/>
          <a:p>
            <a:pPr marL="342900" marR="0" lvl="0" indent="-342900">
              <a:spcBef>
                <a:spcPts val="1200"/>
              </a:spcBef>
              <a:spcAft>
                <a:spcPts val="1200"/>
              </a:spcAft>
              <a:buFont typeface="Arial" panose="020B0604020202020204" pitchFamily="34" charset="0"/>
              <a:buChar char="➢"/>
            </a:pPr>
            <a:r>
              <a:rPr lang="en-GB" sz="1800" b="1" u="none" strike="noStrike" dirty="0">
                <a:effectLst/>
                <a:latin typeface="Arial" panose="020B0604020202020204" pitchFamily="34" charset="0"/>
                <a:ea typeface="Arial" panose="020B0604020202020204" pitchFamily="34" charset="0"/>
              </a:rPr>
              <a:t>JavaScript Bitwise Operators </a:t>
            </a:r>
            <a:endParaRPr lang="en-US" sz="1800" u="none" strike="noStrike"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solidFill>
                  <a:srgbClr val="000000"/>
                </a:solidFill>
                <a:effectLst/>
                <a:latin typeface="Arial" panose="020B0604020202020204" pitchFamily="34" charset="0"/>
                <a:ea typeface="Arial" panose="020B0604020202020204" pitchFamily="34" charset="0"/>
              </a:rPr>
              <a:t>The bitwise operator’s carryout bitwise operations on the operands. Here are the bitwise operators:</a:t>
            </a:r>
            <a:endParaRPr lang="en-US" sz="1800" dirty="0">
              <a:effectLst/>
              <a:latin typeface="Calibri" panose="020F0502020204030204" pitchFamily="34" charset="0"/>
              <a:ea typeface="Calibri" panose="020F0502020204030204" pitchFamily="34" charset="0"/>
            </a:endParaRPr>
          </a:p>
          <a:p>
            <a:endParaRPr lang="en-US" dirty="0"/>
          </a:p>
        </p:txBody>
      </p:sp>
      <p:pic>
        <p:nvPicPr>
          <p:cNvPr id="5" name="Picture 4">
            <a:extLst>
              <a:ext uri="{FF2B5EF4-FFF2-40B4-BE49-F238E27FC236}">
                <a16:creationId xmlns:a16="http://schemas.microsoft.com/office/drawing/2014/main" id="{18F2A7A6-7D5B-B1D5-325D-A26973532F41}"/>
              </a:ext>
            </a:extLst>
          </p:cNvPr>
          <p:cNvPicPr>
            <a:picLocks noChangeAspect="1"/>
          </p:cNvPicPr>
          <p:nvPr/>
        </p:nvPicPr>
        <p:blipFill>
          <a:blip r:embed="rId2"/>
          <a:stretch>
            <a:fillRect/>
          </a:stretch>
        </p:blipFill>
        <p:spPr>
          <a:xfrm>
            <a:off x="906313" y="1625810"/>
            <a:ext cx="9620250" cy="4486275"/>
          </a:xfrm>
          <a:prstGeom prst="rect">
            <a:avLst/>
          </a:prstGeom>
        </p:spPr>
      </p:pic>
    </p:spTree>
    <p:extLst>
      <p:ext uri="{BB962C8B-B14F-4D97-AF65-F5344CB8AC3E}">
        <p14:creationId xmlns:p14="http://schemas.microsoft.com/office/powerpoint/2010/main" val="14253300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B05D4BB-BB80-DA52-4341-00D2D32CB041}"/>
              </a:ext>
            </a:extLst>
          </p:cNvPr>
          <p:cNvPicPr>
            <a:picLocks noGrp="1" noChangeAspect="1"/>
          </p:cNvPicPr>
          <p:nvPr>
            <p:ph idx="1"/>
          </p:nvPr>
        </p:nvPicPr>
        <p:blipFill>
          <a:blip r:embed="rId2"/>
          <a:stretch>
            <a:fillRect/>
          </a:stretch>
        </p:blipFill>
        <p:spPr>
          <a:xfrm>
            <a:off x="581279" y="649511"/>
            <a:ext cx="11029441" cy="3116788"/>
          </a:xfrm>
        </p:spPr>
      </p:pic>
    </p:spTree>
    <p:extLst>
      <p:ext uri="{BB962C8B-B14F-4D97-AF65-F5344CB8AC3E}">
        <p14:creationId xmlns:p14="http://schemas.microsoft.com/office/powerpoint/2010/main" val="25780087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DBA278-D827-CBD8-F7B8-E4055700E979}"/>
              </a:ext>
            </a:extLst>
          </p:cNvPr>
          <p:cNvSpPr>
            <a:spLocks noGrp="1"/>
          </p:cNvSpPr>
          <p:nvPr>
            <p:ph idx="1"/>
          </p:nvPr>
        </p:nvSpPr>
        <p:spPr>
          <a:xfrm>
            <a:off x="465827" y="345057"/>
            <a:ext cx="10689854" cy="5883215"/>
          </a:xfrm>
        </p:spPr>
        <p:txBody>
          <a:bodyPr>
            <a:normAutofit fontScale="92500" lnSpcReduction="10000"/>
          </a:bodyPr>
          <a:lstStyle/>
          <a:p>
            <a:r>
              <a:rPr lang="en-GB" b="1" dirty="0">
                <a:effectLst/>
                <a:latin typeface="Calibri" panose="020F0502020204030204" pitchFamily="34" charset="0"/>
                <a:ea typeface="Calibri" panose="020F0502020204030204" pitchFamily="34" charset="0"/>
              </a:rPr>
              <a:t>1.5.2: Use the operators in </a:t>
            </a:r>
            <a:r>
              <a:rPr lang="en-GB" b="1" dirty="0" err="1">
                <a:effectLst/>
                <a:latin typeface="Calibri" panose="020F0502020204030204" pitchFamily="34" charset="0"/>
                <a:ea typeface="Calibri" panose="020F0502020204030204" pitchFamily="34" charset="0"/>
              </a:rPr>
              <a:t>Javascript</a:t>
            </a:r>
            <a:endParaRPr lang="en-GB" b="1"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b="1" dirty="0">
                <a:effectLst/>
                <a:latin typeface="Arial Unicode MS"/>
                <a:ea typeface="Arial Unicode MS"/>
                <a:cs typeface="Arial Unicode MS"/>
              </a:rPr>
              <a:t>✔ Assignment operators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&lt;!DOCTYPE 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&lt;html&gt;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&lt;h1&gt;JavaScript Assignments&lt;/h1&gt;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&lt;h2&gt;Simple Assignment&lt;/h2&gt;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&lt;h3&gt;The = Operator&lt;/h3&gt;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&lt;p id="demo"&gt;&lt;/p&gt;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&lt;script&gt;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let x = 10;</a:t>
            </a:r>
            <a:endParaRPr lang="en-US" sz="1800" dirty="0">
              <a:effectLst/>
              <a:latin typeface="Calibri" panose="020F0502020204030204" pitchFamily="34" charset="0"/>
              <a:ea typeface="Calibri" panose="020F0502020204030204" pitchFamily="34" charset="0"/>
            </a:endParaRPr>
          </a:p>
          <a:p>
            <a:pPr marL="0" marR="0"/>
            <a:r>
              <a:rPr lang="en-GB" sz="1800" dirty="0" err="1">
                <a:effectLst/>
                <a:latin typeface="Arial" panose="020B0604020202020204" pitchFamily="34" charset="0"/>
                <a:ea typeface="Arial" panose="020B0604020202020204" pitchFamily="34" charset="0"/>
              </a:rPr>
              <a:t>document.getElementById</a:t>
            </a:r>
            <a:r>
              <a:rPr lang="en-GB" sz="1800" dirty="0">
                <a:effectLst/>
                <a:latin typeface="Arial" panose="020B0604020202020204" pitchFamily="34" charset="0"/>
                <a:ea typeface="Arial" panose="020B0604020202020204" pitchFamily="34" charset="0"/>
              </a:rPr>
              <a:t>("demo").</a:t>
            </a:r>
            <a:r>
              <a:rPr lang="en-GB" sz="1800" dirty="0" err="1">
                <a:effectLst/>
                <a:latin typeface="Arial" panose="020B0604020202020204" pitchFamily="34" charset="0"/>
                <a:ea typeface="Arial" panose="020B0604020202020204" pitchFamily="34" charset="0"/>
              </a:rPr>
              <a:t>innerHTML</a:t>
            </a:r>
            <a:r>
              <a:rPr lang="en-GB" sz="1800" dirty="0">
                <a:effectLst/>
                <a:latin typeface="Arial" panose="020B0604020202020204" pitchFamily="34" charset="0"/>
                <a:ea typeface="Arial" panose="020B0604020202020204" pitchFamily="34" charset="0"/>
              </a:rPr>
              <a:t> = "Value of x is: " + x;</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&lt;/script&gt;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&lt;/body&gt;</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&lt;/html&gt;</a:t>
            </a:r>
            <a:endParaRPr lang="en-US" sz="1800" dirty="0">
              <a:effectLst/>
              <a:latin typeface="Calibri" panose="020F0502020204030204" pitchFamily="34" charset="0"/>
              <a:ea typeface="Calibri" panose="020F0502020204030204" pitchFamily="34" charset="0"/>
            </a:endParaRPr>
          </a:p>
          <a:p>
            <a:endParaRPr lang="en-US" b="1" dirty="0"/>
          </a:p>
        </p:txBody>
      </p:sp>
    </p:spTree>
    <p:extLst>
      <p:ext uri="{BB962C8B-B14F-4D97-AF65-F5344CB8AC3E}">
        <p14:creationId xmlns:p14="http://schemas.microsoft.com/office/powerpoint/2010/main" val="17835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FD3AB7-E692-51AB-D78B-0D43432BE4E7}"/>
              </a:ext>
            </a:extLst>
          </p:cNvPr>
          <p:cNvSpPr>
            <a:spLocks noGrp="1"/>
          </p:cNvSpPr>
          <p:nvPr>
            <p:ph idx="1"/>
          </p:nvPr>
        </p:nvSpPr>
        <p:spPr>
          <a:xfrm>
            <a:off x="681486" y="560717"/>
            <a:ext cx="10757139" cy="5227608"/>
          </a:xfrm>
        </p:spPr>
        <p:txBody>
          <a:bodyPr/>
          <a:lstStyle/>
          <a:p>
            <a:pPr marL="0" marR="0">
              <a:spcBef>
                <a:spcPts val="1000"/>
              </a:spcBef>
            </a:pPr>
            <a:r>
              <a:rPr lang="en-GB" sz="1800" b="1" u="sng" dirty="0">
                <a:effectLst/>
                <a:latin typeface="Arial" panose="020B0604020202020204" pitchFamily="34" charset="0"/>
                <a:ea typeface="Arial" panose="020B0604020202020204" pitchFamily="34" charset="0"/>
              </a:rPr>
              <a:t>Output: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JavaScript Assignments</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Simple Assignment</a:t>
            </a:r>
            <a:endParaRPr lang="en-US" sz="1800" dirty="0">
              <a:effectLst/>
              <a:latin typeface="Calibri" panose="020F0502020204030204" pitchFamily="34" charset="0"/>
              <a:ea typeface="Calibri" panose="020F0502020204030204" pitchFamily="34" charset="0"/>
            </a:endParaRPr>
          </a:p>
          <a:p>
            <a:pPr marL="457200" marR="0"/>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The = Operator</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Value of x is: 10</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2472783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F2DDB4-BB5E-903F-2B31-A275F6BB693D}"/>
              </a:ext>
            </a:extLst>
          </p:cNvPr>
          <p:cNvSpPr>
            <a:spLocks noGrp="1"/>
          </p:cNvSpPr>
          <p:nvPr>
            <p:ph idx="1"/>
          </p:nvPr>
        </p:nvSpPr>
        <p:spPr>
          <a:xfrm>
            <a:off x="836761" y="345057"/>
            <a:ext cx="10455215" cy="5888952"/>
          </a:xfrm>
        </p:spPr>
        <p:txBody>
          <a:bodyPr/>
          <a:lstStyle/>
          <a:p>
            <a:pPr marL="0" marR="0">
              <a:spcBef>
                <a:spcPts val="1200"/>
              </a:spcBef>
              <a:spcAft>
                <a:spcPts val="1200"/>
              </a:spcAft>
            </a:pPr>
            <a:r>
              <a:rPr lang="en-GB" sz="1800" b="1" dirty="0">
                <a:effectLst/>
                <a:latin typeface="Arial Unicode MS"/>
                <a:ea typeface="Arial Unicode MS"/>
                <a:cs typeface="Arial Unicode MS"/>
              </a:rPr>
              <a:t>✔ Arithmetic operators </a:t>
            </a:r>
            <a:endParaRPr lang="en-US" sz="18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u="sng" dirty="0">
                <a:effectLst/>
                <a:latin typeface="Arial" panose="020B0604020202020204" pitchFamily="34" charset="0"/>
                <a:ea typeface="Arial" panose="020B0604020202020204" pitchFamily="34" charset="0"/>
              </a:rPr>
              <a:t>Examples</a:t>
            </a:r>
            <a:endParaRPr lang="en-US" sz="1800" dirty="0">
              <a:effectLst/>
              <a:latin typeface="Calibri" panose="020F0502020204030204" pitchFamily="34" charset="0"/>
              <a:ea typeface="Calibri" panose="020F0502020204030204" pitchFamily="34" charset="0"/>
            </a:endParaRPr>
          </a:p>
          <a:p>
            <a:endParaRPr lang="en-US" dirty="0"/>
          </a:p>
        </p:txBody>
      </p:sp>
      <p:pic>
        <p:nvPicPr>
          <p:cNvPr id="5" name="Picture 4">
            <a:extLst>
              <a:ext uri="{FF2B5EF4-FFF2-40B4-BE49-F238E27FC236}">
                <a16:creationId xmlns:a16="http://schemas.microsoft.com/office/drawing/2014/main" id="{F37C3794-1652-73F3-F31A-8AE5A2F952A6}"/>
              </a:ext>
            </a:extLst>
          </p:cNvPr>
          <p:cNvPicPr>
            <a:picLocks noChangeAspect="1"/>
          </p:cNvPicPr>
          <p:nvPr/>
        </p:nvPicPr>
        <p:blipFill>
          <a:blip r:embed="rId2"/>
          <a:stretch>
            <a:fillRect/>
          </a:stretch>
        </p:blipFill>
        <p:spPr>
          <a:xfrm>
            <a:off x="772603" y="1227916"/>
            <a:ext cx="8164363" cy="5006093"/>
          </a:xfrm>
          <a:prstGeom prst="rect">
            <a:avLst/>
          </a:prstGeom>
        </p:spPr>
      </p:pic>
    </p:spTree>
    <p:extLst>
      <p:ext uri="{BB962C8B-B14F-4D97-AF65-F5344CB8AC3E}">
        <p14:creationId xmlns:p14="http://schemas.microsoft.com/office/powerpoint/2010/main" val="18577063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E2E275E-0696-20B1-410D-F00750F619F6}"/>
              </a:ext>
            </a:extLst>
          </p:cNvPr>
          <p:cNvPicPr>
            <a:picLocks noGrp="1" noChangeAspect="1"/>
          </p:cNvPicPr>
          <p:nvPr>
            <p:ph idx="1"/>
          </p:nvPr>
        </p:nvPicPr>
        <p:blipFill>
          <a:blip r:embed="rId2"/>
          <a:stretch>
            <a:fillRect/>
          </a:stretch>
        </p:blipFill>
        <p:spPr>
          <a:xfrm>
            <a:off x="858207" y="645748"/>
            <a:ext cx="10475585" cy="4779878"/>
          </a:xfrm>
        </p:spPr>
      </p:pic>
    </p:spTree>
    <p:extLst>
      <p:ext uri="{BB962C8B-B14F-4D97-AF65-F5344CB8AC3E}">
        <p14:creationId xmlns:p14="http://schemas.microsoft.com/office/powerpoint/2010/main" val="6625776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985D3A-B741-A222-A2DC-9BE12B5ABB06}"/>
              </a:ext>
            </a:extLst>
          </p:cNvPr>
          <p:cNvSpPr>
            <a:spLocks noGrp="1"/>
          </p:cNvSpPr>
          <p:nvPr>
            <p:ph idx="1"/>
          </p:nvPr>
        </p:nvSpPr>
        <p:spPr>
          <a:xfrm>
            <a:off x="353683" y="301925"/>
            <a:ext cx="10801997" cy="5567169"/>
          </a:xfrm>
        </p:spPr>
        <p:txBody>
          <a:bodyPr/>
          <a:lstStyle/>
          <a:p>
            <a:pPr marL="0" marR="0"/>
            <a:r>
              <a:rPr lang="en-GB" sz="1800" b="1" dirty="0">
                <a:effectLst/>
                <a:latin typeface="Arial Unicode MS"/>
                <a:ea typeface="Arial Unicode MS"/>
                <a:cs typeface="Arial Unicode MS"/>
              </a:rPr>
              <a:t>✔ String operator</a:t>
            </a:r>
            <a:endParaRPr lang="en-US" sz="1800" dirty="0">
              <a:effectLst/>
              <a:latin typeface="Calibri" panose="020F0502020204030204" pitchFamily="34" charset="0"/>
              <a:ea typeface="Calibri" panose="020F0502020204030204" pitchFamily="34" charset="0"/>
            </a:endParaRPr>
          </a:p>
          <a:p>
            <a:pPr marL="0" marR="0">
              <a:spcBef>
                <a:spcPts val="1200"/>
              </a:spcBef>
              <a:spcAft>
                <a:spcPts val="1200"/>
              </a:spcAft>
            </a:pPr>
            <a:r>
              <a:rPr lang="en-GB" sz="1800" dirty="0">
                <a:effectLst/>
                <a:latin typeface="Arial" panose="020B0604020202020204" pitchFamily="34" charset="0"/>
                <a:ea typeface="Arial" panose="020B0604020202020204" pitchFamily="34" charset="0"/>
              </a:rPr>
              <a:t>In JavaScript, you can also use the + operator to concatenate (join) two or more strings</a:t>
            </a:r>
            <a:endParaRPr lang="en-US" sz="1800" dirty="0">
              <a:effectLst/>
              <a:latin typeface="Calibri" panose="020F0502020204030204" pitchFamily="34" charset="0"/>
              <a:ea typeface="Calibri" panose="020F0502020204030204" pitchFamily="34" charset="0"/>
            </a:endParaRPr>
          </a:p>
          <a:p>
            <a:pPr marL="0" marR="0"/>
            <a:r>
              <a:rPr lang="en-GB" sz="1800" b="1" dirty="0">
                <a:effectLst/>
                <a:latin typeface="Arial" panose="020B0604020202020204" pitchFamily="34" charset="0"/>
                <a:ea typeface="Arial" panose="020B0604020202020204" pitchFamily="34" charset="0"/>
              </a:rPr>
              <a:t>Example : </a:t>
            </a:r>
            <a:endParaRPr lang="en-US" sz="1800" dirty="0">
              <a:effectLst/>
              <a:latin typeface="Calibri" panose="020F0502020204030204" pitchFamily="34" charset="0"/>
              <a:ea typeface="Calibri" panose="020F0502020204030204" pitchFamily="34" charset="0"/>
            </a:endParaRPr>
          </a:p>
          <a:p>
            <a:endParaRPr lang="en-US" dirty="0"/>
          </a:p>
        </p:txBody>
      </p:sp>
      <p:pic>
        <p:nvPicPr>
          <p:cNvPr id="5" name="Picture 4">
            <a:extLst>
              <a:ext uri="{FF2B5EF4-FFF2-40B4-BE49-F238E27FC236}">
                <a16:creationId xmlns:a16="http://schemas.microsoft.com/office/drawing/2014/main" id="{867F71FC-9F6E-CC5A-2DEF-43B827B82794}"/>
              </a:ext>
            </a:extLst>
          </p:cNvPr>
          <p:cNvPicPr>
            <a:picLocks noChangeAspect="1"/>
          </p:cNvPicPr>
          <p:nvPr/>
        </p:nvPicPr>
        <p:blipFill>
          <a:blip r:embed="rId2"/>
          <a:stretch>
            <a:fillRect/>
          </a:stretch>
        </p:blipFill>
        <p:spPr>
          <a:xfrm>
            <a:off x="353683" y="1877144"/>
            <a:ext cx="9523562" cy="4078476"/>
          </a:xfrm>
          <a:prstGeom prst="rect">
            <a:avLst/>
          </a:prstGeom>
        </p:spPr>
      </p:pic>
    </p:spTree>
    <p:extLst>
      <p:ext uri="{BB962C8B-B14F-4D97-AF65-F5344CB8AC3E}">
        <p14:creationId xmlns:p14="http://schemas.microsoft.com/office/powerpoint/2010/main" val="32343111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34305F2-7CAA-98F7-86E2-689841C4656F}"/>
              </a:ext>
            </a:extLst>
          </p:cNvPr>
          <p:cNvPicPr>
            <a:picLocks noGrp="1" noChangeAspect="1"/>
          </p:cNvPicPr>
          <p:nvPr>
            <p:ph idx="1"/>
          </p:nvPr>
        </p:nvPicPr>
        <p:blipFill>
          <a:blip r:embed="rId2"/>
          <a:stretch>
            <a:fillRect/>
          </a:stretch>
        </p:blipFill>
        <p:spPr>
          <a:xfrm>
            <a:off x="637862" y="480209"/>
            <a:ext cx="8980097" cy="5042447"/>
          </a:xfrm>
        </p:spPr>
      </p:pic>
    </p:spTree>
    <p:extLst>
      <p:ext uri="{BB962C8B-B14F-4D97-AF65-F5344CB8AC3E}">
        <p14:creationId xmlns:p14="http://schemas.microsoft.com/office/powerpoint/2010/main" val="33904607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CF6131-C69E-2728-3FC2-3E93B8FF8A96}"/>
              </a:ext>
            </a:extLst>
          </p:cNvPr>
          <p:cNvSpPr>
            <a:spLocks noGrp="1"/>
          </p:cNvSpPr>
          <p:nvPr>
            <p:ph idx="1"/>
          </p:nvPr>
        </p:nvSpPr>
        <p:spPr>
          <a:xfrm>
            <a:off x="681487" y="370936"/>
            <a:ext cx="10474193" cy="5498158"/>
          </a:xfrm>
        </p:spPr>
        <p:txBody>
          <a:bodyPr/>
          <a:lstStyle/>
          <a:p>
            <a:pPr marL="0" marR="0"/>
            <a:r>
              <a:rPr lang="en-GB" sz="1800" b="1" dirty="0">
                <a:effectLst/>
                <a:latin typeface="Arial Unicode MS"/>
                <a:ea typeface="Arial Unicode MS"/>
                <a:cs typeface="Arial Unicode MS"/>
              </a:rPr>
              <a:t>✔ Logical operators </a:t>
            </a:r>
            <a:endParaRPr lang="en-US" sz="1800" dirty="0">
              <a:effectLst/>
              <a:latin typeface="Calibri" panose="020F0502020204030204" pitchFamily="34" charset="0"/>
              <a:ea typeface="Calibri" panose="020F0502020204030204" pitchFamily="34" charset="0"/>
            </a:endParaRPr>
          </a:p>
          <a:p>
            <a:pPr marL="0" marR="0"/>
            <a:r>
              <a:rPr lang="en-GB" sz="1800" dirty="0">
                <a:effectLst/>
                <a:latin typeface="Arial" panose="020B0604020202020204" pitchFamily="34" charset="0"/>
                <a:ea typeface="Arial" panose="020B0604020202020204" pitchFamily="34" charset="0"/>
              </a:rPr>
              <a:t> Examples:</a:t>
            </a:r>
            <a:endParaRPr lang="en-US" sz="1800" dirty="0">
              <a:effectLst/>
              <a:latin typeface="Calibri" panose="020F0502020204030204" pitchFamily="34" charset="0"/>
              <a:ea typeface="Calibri" panose="020F0502020204030204" pitchFamily="34" charset="0"/>
            </a:endParaRPr>
          </a:p>
          <a:p>
            <a:endParaRPr lang="en-US" dirty="0"/>
          </a:p>
        </p:txBody>
      </p:sp>
      <p:pic>
        <p:nvPicPr>
          <p:cNvPr id="5" name="Picture 4">
            <a:extLst>
              <a:ext uri="{FF2B5EF4-FFF2-40B4-BE49-F238E27FC236}">
                <a16:creationId xmlns:a16="http://schemas.microsoft.com/office/drawing/2014/main" id="{DCEA8240-8A5D-119E-662D-8975BD44A9DA}"/>
              </a:ext>
            </a:extLst>
          </p:cNvPr>
          <p:cNvPicPr>
            <a:picLocks noChangeAspect="1"/>
          </p:cNvPicPr>
          <p:nvPr/>
        </p:nvPicPr>
        <p:blipFill>
          <a:blip r:embed="rId2"/>
          <a:stretch>
            <a:fillRect/>
          </a:stretch>
        </p:blipFill>
        <p:spPr>
          <a:xfrm>
            <a:off x="957532" y="1155941"/>
            <a:ext cx="6236991" cy="5060201"/>
          </a:xfrm>
          <a:prstGeom prst="rect">
            <a:avLst/>
          </a:prstGeom>
        </p:spPr>
      </p:pic>
    </p:spTree>
    <p:extLst>
      <p:ext uri="{BB962C8B-B14F-4D97-AF65-F5344CB8AC3E}">
        <p14:creationId xmlns:p14="http://schemas.microsoft.com/office/powerpoint/2010/main" val="37236157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ADD1C2-21DA-6AC6-A5F7-A1281D7DBC63}"/>
              </a:ext>
            </a:extLst>
          </p:cNvPr>
          <p:cNvSpPr>
            <a:spLocks noGrp="1"/>
          </p:cNvSpPr>
          <p:nvPr>
            <p:ph idx="1"/>
          </p:nvPr>
        </p:nvSpPr>
        <p:spPr>
          <a:xfrm>
            <a:off x="3905219" y="388600"/>
            <a:ext cx="6025165" cy="5524037"/>
          </a:xfrm>
        </p:spPr>
        <p:txBody>
          <a:bodyPr>
            <a:normAutofit/>
          </a:bodyPr>
          <a:lstStyle/>
          <a:p>
            <a:r>
              <a:rPr lang="en-US" sz="4000" dirty="0"/>
              <a:t>CLEVER</a:t>
            </a:r>
          </a:p>
        </p:txBody>
      </p:sp>
    </p:spTree>
    <p:extLst>
      <p:ext uri="{BB962C8B-B14F-4D97-AF65-F5344CB8AC3E}">
        <p14:creationId xmlns:p14="http://schemas.microsoft.com/office/powerpoint/2010/main" val="211025257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Ion</Template>
  <TotalTime>766</TotalTime>
  <Words>5720</Words>
  <Application>Microsoft Office PowerPoint</Application>
  <PresentationFormat>Widescreen</PresentationFormat>
  <Paragraphs>610</Paragraphs>
  <Slides>102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102</vt:i4>
      </vt:variant>
    </vt:vector>
  </HeadingPairs>
  <TitlesOfParts>
    <vt:vector size="112" baseType="lpstr">
      <vt:lpstr>Arial</vt:lpstr>
      <vt:lpstr>Arial Unicode MS</vt:lpstr>
      <vt:lpstr>Calibri</vt:lpstr>
      <vt:lpstr>Calibri Light</vt:lpstr>
      <vt:lpstr>Noto Sans Symbols</vt:lpstr>
      <vt:lpstr>Roboto</vt:lpstr>
      <vt:lpstr>Times New Roman</vt:lpstr>
      <vt:lpstr>Verdana</vt:lpstr>
      <vt:lpstr>Wingdings</vt:lpstr>
      <vt:lpstr>Retrospect</vt:lpstr>
      <vt:lpstr>MODULRE: SWDJF301 MODULE: JAVASCRIPT FUNDAMENTALS</vt:lpstr>
      <vt:lpstr> Learning Outcome 1: Apply JavaScript Basic Concepts    Indicative content 1.1:  Introduction to JavaScript </vt:lpstr>
      <vt:lpstr>PowerPoint Presentation</vt:lpstr>
      <vt:lpstr>Cont’</vt:lpstr>
      <vt:lpstr>PowerPoint Presentation</vt:lpstr>
      <vt:lpstr>Cont’</vt:lpstr>
      <vt:lpstr>PowerPoint Presentation</vt:lpstr>
      <vt:lpstr>Cont’</vt:lpstr>
      <vt:lpstr>PowerPoint Presentation</vt:lpstr>
      <vt:lpstr>JAVASCRIPT key concepts</vt:lpstr>
      <vt:lpstr>PowerPoint Presentation</vt:lpstr>
      <vt:lpstr>Cont’</vt:lpstr>
      <vt:lpstr>PowerPoint Presentation</vt:lpstr>
      <vt:lpstr>Cont’</vt:lpstr>
      <vt:lpstr>PowerPoint Presentation</vt:lpstr>
      <vt:lpstr>Cont’</vt:lpstr>
      <vt:lpstr>Cont’</vt:lpstr>
      <vt:lpstr>Cont’</vt:lpstr>
      <vt:lpstr>Cont’</vt:lpstr>
      <vt:lpstr>Cont’</vt:lpstr>
      <vt:lpstr>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JavaScript Syntax: Code between the Body Tags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MODULRE: JAVASCRIPT FUNDAMENTALS</dc:title>
  <dc:creator>user</dc:creator>
  <cp:lastModifiedBy>user</cp:lastModifiedBy>
  <cp:revision>10</cp:revision>
  <dcterms:created xsi:type="dcterms:W3CDTF">2024-09-12T08:45:59Z</dcterms:created>
  <dcterms:modified xsi:type="dcterms:W3CDTF">2025-02-11T14:15:46Z</dcterms:modified>
</cp:coreProperties>
</file>