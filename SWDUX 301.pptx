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0"/>
  </p:notesMasterIdLst>
  <p:sldIdLst>
    <p:sldId id="257" r:id="rId2"/>
    <p:sldId id="259" r:id="rId3"/>
    <p:sldId id="258" r:id="rId4"/>
    <p:sldId id="261" r:id="rId5"/>
    <p:sldId id="262" r:id="rId6"/>
    <p:sldId id="263" r:id="rId7"/>
    <p:sldId id="267" r:id="rId8"/>
    <p:sldId id="467" r:id="rId9"/>
    <p:sldId id="443" r:id="rId10"/>
    <p:sldId id="468" r:id="rId11"/>
    <p:sldId id="446" r:id="rId12"/>
    <p:sldId id="442" r:id="rId13"/>
    <p:sldId id="439" r:id="rId14"/>
    <p:sldId id="469" r:id="rId15"/>
    <p:sldId id="438" r:id="rId16"/>
    <p:sldId id="279" r:id="rId17"/>
    <p:sldId id="470" r:id="rId18"/>
    <p:sldId id="448" r:id="rId19"/>
    <p:sldId id="449" r:id="rId20"/>
    <p:sldId id="266" r:id="rId21"/>
    <p:sldId id="270" r:id="rId22"/>
    <p:sldId id="280" r:id="rId23"/>
    <p:sldId id="283" r:id="rId24"/>
    <p:sldId id="282" r:id="rId25"/>
    <p:sldId id="281" r:id="rId26"/>
    <p:sldId id="272" r:id="rId27"/>
    <p:sldId id="471" r:id="rId28"/>
    <p:sldId id="271" r:id="rId29"/>
    <p:sldId id="472" r:id="rId30"/>
    <p:sldId id="273" r:id="rId31"/>
    <p:sldId id="473" r:id="rId32"/>
    <p:sldId id="274" r:id="rId33"/>
    <p:sldId id="474" r:id="rId34"/>
    <p:sldId id="285" r:id="rId35"/>
    <p:sldId id="286" r:id="rId36"/>
    <p:sldId id="475" r:id="rId37"/>
    <p:sldId id="275" r:id="rId38"/>
    <p:sldId id="289" r:id="rId39"/>
    <p:sldId id="276" r:id="rId40"/>
    <p:sldId id="284" r:id="rId41"/>
    <p:sldId id="277" r:id="rId42"/>
    <p:sldId id="288" r:id="rId43"/>
    <p:sldId id="476" r:id="rId44"/>
    <p:sldId id="287" r:id="rId45"/>
    <p:sldId id="290" r:id="rId46"/>
    <p:sldId id="291" r:id="rId47"/>
    <p:sldId id="477" r:id="rId48"/>
    <p:sldId id="292" r:id="rId49"/>
    <p:sldId id="478" r:id="rId50"/>
    <p:sldId id="293" r:id="rId51"/>
    <p:sldId id="479" r:id="rId52"/>
    <p:sldId id="294" r:id="rId53"/>
    <p:sldId id="480" r:id="rId54"/>
    <p:sldId id="295" r:id="rId55"/>
    <p:sldId id="296" r:id="rId56"/>
    <p:sldId id="481" r:id="rId57"/>
    <p:sldId id="297" r:id="rId58"/>
    <p:sldId id="482" r:id="rId59"/>
    <p:sldId id="299" r:id="rId60"/>
    <p:sldId id="483" r:id="rId61"/>
    <p:sldId id="309" r:id="rId62"/>
    <p:sldId id="310" r:id="rId63"/>
    <p:sldId id="311" r:id="rId64"/>
    <p:sldId id="312" r:id="rId65"/>
    <p:sldId id="484" r:id="rId66"/>
    <p:sldId id="313" r:id="rId67"/>
    <p:sldId id="314" r:id="rId68"/>
    <p:sldId id="485" r:id="rId69"/>
    <p:sldId id="315" r:id="rId70"/>
    <p:sldId id="486" r:id="rId71"/>
    <p:sldId id="316" r:id="rId72"/>
    <p:sldId id="317" r:id="rId73"/>
    <p:sldId id="318" r:id="rId74"/>
    <p:sldId id="300" r:id="rId75"/>
    <p:sldId id="301" r:id="rId76"/>
    <p:sldId id="303" r:id="rId77"/>
    <p:sldId id="302" r:id="rId78"/>
    <p:sldId id="304" r:id="rId79"/>
    <p:sldId id="305" r:id="rId80"/>
    <p:sldId id="306" r:id="rId81"/>
    <p:sldId id="307" r:id="rId82"/>
    <p:sldId id="308" r:id="rId83"/>
    <p:sldId id="319" r:id="rId84"/>
    <p:sldId id="487" r:id="rId85"/>
    <p:sldId id="320" r:id="rId86"/>
    <p:sldId id="336" r:id="rId87"/>
    <p:sldId id="488" r:id="rId88"/>
    <p:sldId id="337" r:id="rId89"/>
    <p:sldId id="489" r:id="rId90"/>
    <p:sldId id="338" r:id="rId91"/>
    <p:sldId id="340" r:id="rId92"/>
    <p:sldId id="322" r:id="rId93"/>
    <p:sldId id="323" r:id="rId94"/>
    <p:sldId id="324" r:id="rId95"/>
    <p:sldId id="325" r:id="rId96"/>
    <p:sldId id="326" r:id="rId97"/>
    <p:sldId id="327" r:id="rId98"/>
    <p:sldId id="328" r:id="rId99"/>
    <p:sldId id="329" r:id="rId100"/>
    <p:sldId id="330" r:id="rId101"/>
    <p:sldId id="331" r:id="rId102"/>
    <p:sldId id="332" r:id="rId103"/>
    <p:sldId id="333" r:id="rId104"/>
    <p:sldId id="335" r:id="rId105"/>
    <p:sldId id="334" r:id="rId106"/>
    <p:sldId id="339" r:id="rId107"/>
    <p:sldId id="298" r:id="rId108"/>
    <p:sldId id="343" r:id="rId109"/>
    <p:sldId id="344" r:id="rId110"/>
    <p:sldId id="358" r:id="rId111"/>
    <p:sldId id="359" r:id="rId112"/>
    <p:sldId id="341" r:id="rId113"/>
    <p:sldId id="360" r:id="rId114"/>
    <p:sldId id="361" r:id="rId115"/>
    <p:sldId id="342" r:id="rId116"/>
    <p:sldId id="346" r:id="rId117"/>
    <p:sldId id="450" r:id="rId118"/>
    <p:sldId id="451" r:id="rId119"/>
    <p:sldId id="348" r:id="rId120"/>
    <p:sldId id="367" r:id="rId121"/>
    <p:sldId id="427" r:id="rId122"/>
    <p:sldId id="365" r:id="rId123"/>
    <p:sldId id="363" r:id="rId124"/>
    <p:sldId id="466" r:id="rId125"/>
    <p:sldId id="366" r:id="rId126"/>
    <p:sldId id="369" r:id="rId127"/>
    <p:sldId id="465" r:id="rId128"/>
    <p:sldId id="368" r:id="rId129"/>
    <p:sldId id="362" r:id="rId130"/>
    <p:sldId id="349" r:id="rId131"/>
    <p:sldId id="370" r:id="rId132"/>
    <p:sldId id="372" r:id="rId133"/>
    <p:sldId id="428" r:id="rId134"/>
    <p:sldId id="373" r:id="rId135"/>
    <p:sldId id="371" r:id="rId136"/>
    <p:sldId id="464" r:id="rId137"/>
    <p:sldId id="429" r:id="rId138"/>
    <p:sldId id="376" r:id="rId139"/>
    <p:sldId id="430" r:id="rId140"/>
    <p:sldId id="375" r:id="rId141"/>
    <p:sldId id="374" r:id="rId142"/>
    <p:sldId id="350" r:id="rId143"/>
    <p:sldId id="377" r:id="rId144"/>
    <p:sldId id="463" r:id="rId145"/>
    <p:sldId id="378" r:id="rId146"/>
    <p:sldId id="462" r:id="rId147"/>
    <p:sldId id="379" r:id="rId148"/>
    <p:sldId id="461" r:id="rId149"/>
    <p:sldId id="380" r:id="rId150"/>
    <p:sldId id="460" r:id="rId151"/>
    <p:sldId id="381" r:id="rId152"/>
    <p:sldId id="459" r:id="rId153"/>
    <p:sldId id="351" r:id="rId154"/>
    <p:sldId id="382" r:id="rId155"/>
    <p:sldId id="383" r:id="rId156"/>
    <p:sldId id="384" r:id="rId157"/>
    <p:sldId id="385" r:id="rId158"/>
    <p:sldId id="386" r:id="rId159"/>
    <p:sldId id="352" r:id="rId160"/>
    <p:sldId id="431" r:id="rId161"/>
    <p:sldId id="389" r:id="rId162"/>
    <p:sldId id="432" r:id="rId163"/>
    <p:sldId id="458" r:id="rId164"/>
    <p:sldId id="388" r:id="rId165"/>
    <p:sldId id="433" r:id="rId166"/>
    <p:sldId id="390" r:id="rId167"/>
    <p:sldId id="434" r:id="rId168"/>
    <p:sldId id="435" r:id="rId169"/>
    <p:sldId id="391" r:id="rId170"/>
    <p:sldId id="436" r:id="rId171"/>
    <p:sldId id="392" r:id="rId172"/>
    <p:sldId id="457" r:id="rId173"/>
    <p:sldId id="437" r:id="rId174"/>
    <p:sldId id="387" r:id="rId175"/>
    <p:sldId id="394" r:id="rId176"/>
    <p:sldId id="395" r:id="rId177"/>
    <p:sldId id="396" r:id="rId178"/>
    <p:sldId id="397" r:id="rId179"/>
    <p:sldId id="398" r:id="rId180"/>
    <p:sldId id="393" r:id="rId181"/>
    <p:sldId id="456" r:id="rId182"/>
    <p:sldId id="455" r:id="rId183"/>
    <p:sldId id="406" r:id="rId184"/>
    <p:sldId id="353" r:id="rId185"/>
    <p:sldId id="400" r:id="rId186"/>
    <p:sldId id="401" r:id="rId187"/>
    <p:sldId id="402" r:id="rId188"/>
    <p:sldId id="403" r:id="rId189"/>
    <p:sldId id="404" r:id="rId190"/>
    <p:sldId id="399" r:id="rId191"/>
    <p:sldId id="405" r:id="rId192"/>
    <p:sldId id="407" r:id="rId193"/>
    <p:sldId id="408" r:id="rId194"/>
    <p:sldId id="409" r:id="rId195"/>
    <p:sldId id="410" r:id="rId196"/>
    <p:sldId id="411" r:id="rId197"/>
    <p:sldId id="412" r:id="rId198"/>
    <p:sldId id="413" r:id="rId199"/>
    <p:sldId id="414" r:id="rId200"/>
    <p:sldId id="415" r:id="rId201"/>
    <p:sldId id="416" r:id="rId202"/>
    <p:sldId id="454" r:id="rId203"/>
    <p:sldId id="417" r:id="rId204"/>
    <p:sldId id="418" r:id="rId205"/>
    <p:sldId id="419" r:id="rId206"/>
    <p:sldId id="453" r:id="rId207"/>
    <p:sldId id="420" r:id="rId208"/>
    <p:sldId id="421" r:id="rId209"/>
    <p:sldId id="354" r:id="rId210"/>
    <p:sldId id="422" r:id="rId211"/>
    <p:sldId id="355" r:id="rId212"/>
    <p:sldId id="452" r:id="rId213"/>
    <p:sldId id="356" r:id="rId214"/>
    <p:sldId id="357" r:id="rId215"/>
    <p:sldId id="423" r:id="rId216"/>
    <p:sldId id="424" r:id="rId217"/>
    <p:sldId id="425" r:id="rId218"/>
    <p:sldId id="426" r:id="rId2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7" d="100"/>
          <a:sy n="57" d="100"/>
        </p:scale>
        <p:origin x="1468"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11" Type="http://schemas.openxmlformats.org/officeDocument/2006/relationships/slide" Target="slides/slide210.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01" Type="http://schemas.openxmlformats.org/officeDocument/2006/relationships/slide" Target="slides/slide200.xml"/><Relationship Id="rId222"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19" Type="http://schemas.openxmlformats.org/officeDocument/2006/relationships/slide" Target="slides/slide18.xml"/><Relationship Id="rId224" Type="http://schemas.openxmlformats.org/officeDocument/2006/relationships/tableStyles" Target="tableStyles.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presProps" Target="presProp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2EC6BA-F840-4121-B61A-8E6A0A777AD0}" type="datetimeFigureOut">
              <a:rPr lang="en-US" smtClean="0"/>
              <a:t>10/4/2024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507EDD-96D3-44D5-AD3D-3133C49E444E}" type="slidenum">
              <a:rPr lang="en-US" smtClean="0"/>
              <a:t>‹#›</a:t>
            </a:fld>
            <a:endParaRPr lang="en-US"/>
          </a:p>
        </p:txBody>
      </p:sp>
    </p:spTree>
    <p:extLst>
      <p:ext uri="{BB962C8B-B14F-4D97-AF65-F5344CB8AC3E}">
        <p14:creationId xmlns:p14="http://schemas.microsoft.com/office/powerpoint/2010/main" val="1443047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07EDD-96D3-44D5-AD3D-3133C49E444E}" type="slidenum">
              <a:rPr lang="en-US" smtClean="0"/>
              <a:t>39</a:t>
            </a:fld>
            <a:endParaRPr lang="en-US" dirty="0"/>
          </a:p>
        </p:txBody>
      </p:sp>
    </p:spTree>
    <p:extLst>
      <p:ext uri="{BB962C8B-B14F-4D97-AF65-F5344CB8AC3E}">
        <p14:creationId xmlns:p14="http://schemas.microsoft.com/office/powerpoint/2010/main" val="1938019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07EDD-96D3-44D5-AD3D-3133C49E444E}" type="slidenum">
              <a:rPr lang="en-US" smtClean="0"/>
              <a:t>107</a:t>
            </a:fld>
            <a:endParaRPr lang="en-US"/>
          </a:p>
        </p:txBody>
      </p:sp>
    </p:spTree>
    <p:extLst>
      <p:ext uri="{BB962C8B-B14F-4D97-AF65-F5344CB8AC3E}">
        <p14:creationId xmlns:p14="http://schemas.microsoft.com/office/powerpoint/2010/main" val="646582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07EDD-96D3-44D5-AD3D-3133C49E444E}" type="slidenum">
              <a:rPr lang="en-US" smtClean="0"/>
              <a:t>159</a:t>
            </a:fld>
            <a:endParaRPr lang="en-US"/>
          </a:p>
        </p:txBody>
      </p:sp>
    </p:spTree>
    <p:extLst>
      <p:ext uri="{BB962C8B-B14F-4D97-AF65-F5344CB8AC3E}">
        <p14:creationId xmlns:p14="http://schemas.microsoft.com/office/powerpoint/2010/main" val="1199518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507EDD-96D3-44D5-AD3D-3133C49E444E}" type="slidenum">
              <a:rPr lang="en-US" smtClean="0"/>
              <a:t>166</a:t>
            </a:fld>
            <a:endParaRPr lang="en-US"/>
          </a:p>
        </p:txBody>
      </p:sp>
    </p:spTree>
    <p:extLst>
      <p:ext uri="{BB962C8B-B14F-4D97-AF65-F5344CB8AC3E}">
        <p14:creationId xmlns:p14="http://schemas.microsoft.com/office/powerpoint/2010/main" val="333693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C6EE8C9-B2C2-44AB-95B4-F6B696C1F507}"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00B89-4132-4DD8-84C4-10C9434E8B01}" type="slidenum">
              <a:rPr lang="en-US" smtClean="0"/>
              <a:t>‹#›</a:t>
            </a:fld>
            <a:endParaRPr lang="en-US"/>
          </a:p>
        </p:txBody>
      </p:sp>
    </p:spTree>
    <p:extLst>
      <p:ext uri="{BB962C8B-B14F-4D97-AF65-F5344CB8AC3E}">
        <p14:creationId xmlns:p14="http://schemas.microsoft.com/office/powerpoint/2010/main" val="2064114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6EE8C9-B2C2-44AB-95B4-F6B696C1F507}"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00B89-4132-4DD8-84C4-10C9434E8B01}" type="slidenum">
              <a:rPr lang="en-US" smtClean="0"/>
              <a:t>‹#›</a:t>
            </a:fld>
            <a:endParaRPr lang="en-US"/>
          </a:p>
        </p:txBody>
      </p:sp>
    </p:spTree>
    <p:extLst>
      <p:ext uri="{BB962C8B-B14F-4D97-AF65-F5344CB8AC3E}">
        <p14:creationId xmlns:p14="http://schemas.microsoft.com/office/powerpoint/2010/main" val="276002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6EE8C9-B2C2-44AB-95B4-F6B696C1F507}"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00B89-4132-4DD8-84C4-10C9434E8B01}" type="slidenum">
              <a:rPr lang="en-US" smtClean="0"/>
              <a:t>‹#›</a:t>
            </a:fld>
            <a:endParaRPr lang="en-US"/>
          </a:p>
        </p:txBody>
      </p:sp>
    </p:spTree>
    <p:extLst>
      <p:ext uri="{BB962C8B-B14F-4D97-AF65-F5344CB8AC3E}">
        <p14:creationId xmlns:p14="http://schemas.microsoft.com/office/powerpoint/2010/main" val="1823322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C6EE8C9-B2C2-44AB-95B4-F6B696C1F507}"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100B89-4132-4DD8-84C4-10C9434E8B01}" type="slidenum">
              <a:rPr lang="en-US" smtClean="0"/>
              <a:t>‹#›</a:t>
            </a:fld>
            <a:endParaRPr lang="en-US"/>
          </a:p>
        </p:txBody>
      </p:sp>
    </p:spTree>
    <p:extLst>
      <p:ext uri="{BB962C8B-B14F-4D97-AF65-F5344CB8AC3E}">
        <p14:creationId xmlns:p14="http://schemas.microsoft.com/office/powerpoint/2010/main" val="1230567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C6EE8C9-B2C2-44AB-95B4-F6B696C1F507}" type="datetimeFigureOut">
              <a:rPr lang="en-US" smtClean="0"/>
              <a:t>10/4/2024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100B89-4132-4DD8-84C4-10C9434E8B01}" type="slidenum">
              <a:rPr lang="en-US" smtClean="0"/>
              <a:t>‹#›</a:t>
            </a:fld>
            <a:endParaRPr lang="en-US"/>
          </a:p>
        </p:txBody>
      </p:sp>
    </p:spTree>
    <p:extLst>
      <p:ext uri="{BB962C8B-B14F-4D97-AF65-F5344CB8AC3E}">
        <p14:creationId xmlns:p14="http://schemas.microsoft.com/office/powerpoint/2010/main" val="336669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C6EE8C9-B2C2-44AB-95B4-F6B696C1F507}" type="datetimeFigureOut">
              <a:rPr lang="en-US" smtClean="0"/>
              <a:t>10/4/2024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100B89-4132-4DD8-84C4-10C9434E8B01}" type="slidenum">
              <a:rPr lang="en-US" smtClean="0"/>
              <a:t>‹#›</a:t>
            </a:fld>
            <a:endParaRPr lang="en-US"/>
          </a:p>
        </p:txBody>
      </p:sp>
    </p:spTree>
    <p:extLst>
      <p:ext uri="{BB962C8B-B14F-4D97-AF65-F5344CB8AC3E}">
        <p14:creationId xmlns:p14="http://schemas.microsoft.com/office/powerpoint/2010/main" val="44553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6EE8C9-B2C2-44AB-95B4-F6B696C1F507}" type="datetimeFigureOut">
              <a:rPr lang="en-US" smtClean="0"/>
              <a:t>10/4/2024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100B89-4132-4DD8-84C4-10C9434E8B01}" type="slidenum">
              <a:rPr lang="en-US" smtClean="0"/>
              <a:t>‹#›</a:t>
            </a:fld>
            <a:endParaRPr lang="en-US"/>
          </a:p>
        </p:txBody>
      </p:sp>
    </p:spTree>
    <p:extLst>
      <p:ext uri="{BB962C8B-B14F-4D97-AF65-F5344CB8AC3E}">
        <p14:creationId xmlns:p14="http://schemas.microsoft.com/office/powerpoint/2010/main" val="2837477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6EE8C9-B2C2-44AB-95B4-F6B696C1F507}"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100B89-4132-4DD8-84C4-10C9434E8B01}" type="slidenum">
              <a:rPr lang="en-US" smtClean="0"/>
              <a:t>‹#›</a:t>
            </a:fld>
            <a:endParaRPr lang="en-US"/>
          </a:p>
        </p:txBody>
      </p:sp>
    </p:spTree>
    <p:extLst>
      <p:ext uri="{BB962C8B-B14F-4D97-AF65-F5344CB8AC3E}">
        <p14:creationId xmlns:p14="http://schemas.microsoft.com/office/powerpoint/2010/main" val="99331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6EE8C9-B2C2-44AB-95B4-F6B696C1F507}"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100B89-4132-4DD8-84C4-10C9434E8B01}" type="slidenum">
              <a:rPr lang="en-US" smtClean="0"/>
              <a:t>‹#›</a:t>
            </a:fld>
            <a:endParaRPr lang="en-US"/>
          </a:p>
        </p:txBody>
      </p:sp>
    </p:spTree>
    <p:extLst>
      <p:ext uri="{BB962C8B-B14F-4D97-AF65-F5344CB8AC3E}">
        <p14:creationId xmlns:p14="http://schemas.microsoft.com/office/powerpoint/2010/main" val="1178932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6EE8C9-B2C2-44AB-95B4-F6B696C1F507}"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00B89-4132-4DD8-84C4-10C9434E8B01}" type="slidenum">
              <a:rPr lang="en-US" smtClean="0"/>
              <a:t>‹#›</a:t>
            </a:fld>
            <a:endParaRPr lang="en-US"/>
          </a:p>
        </p:txBody>
      </p:sp>
    </p:spTree>
    <p:extLst>
      <p:ext uri="{BB962C8B-B14F-4D97-AF65-F5344CB8AC3E}">
        <p14:creationId xmlns:p14="http://schemas.microsoft.com/office/powerpoint/2010/main" val="857125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6EE8C9-B2C2-44AB-95B4-F6B696C1F507}"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00B89-4132-4DD8-84C4-10C9434E8B01}" type="slidenum">
              <a:rPr lang="en-US" smtClean="0"/>
              <a:t>‹#›</a:t>
            </a:fld>
            <a:endParaRPr lang="en-US"/>
          </a:p>
        </p:txBody>
      </p:sp>
    </p:spTree>
    <p:extLst>
      <p:ext uri="{BB962C8B-B14F-4D97-AF65-F5344CB8AC3E}">
        <p14:creationId xmlns:p14="http://schemas.microsoft.com/office/powerpoint/2010/main" val="3479821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6EE8C9-B2C2-44AB-95B4-F6B696C1F507}" type="datetimeFigureOut">
              <a:rPr lang="en-US" smtClean="0"/>
              <a:t>10/4/2024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100B89-4132-4DD8-84C4-10C9434E8B01}" type="slidenum">
              <a:rPr lang="en-US" smtClean="0"/>
              <a:t>‹#›</a:t>
            </a:fld>
            <a:endParaRPr lang="en-US"/>
          </a:p>
        </p:txBody>
      </p:sp>
    </p:spTree>
    <p:extLst>
      <p:ext uri="{BB962C8B-B14F-4D97-AF65-F5344CB8AC3E}">
        <p14:creationId xmlns:p14="http://schemas.microsoft.com/office/powerpoint/2010/main" val="1494955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collinsdictionary.com/dictionary/english/conclusion" TargetMode="External"/><Relationship Id="rId2" Type="http://schemas.openxmlformats.org/officeDocument/2006/relationships/hyperlink" Target="https://www.collinsdictionary.com/dictionary/english/get" TargetMode="External"/><Relationship Id="rId1" Type="http://schemas.openxmlformats.org/officeDocument/2006/relationships/slideLayout" Target="../slideLayouts/slideLayout2.xml"/><Relationship Id="rId6" Type="http://schemas.openxmlformats.org/officeDocument/2006/relationships/hyperlink" Target="https://www.collinsdictionary.com/dictionary/english/research" TargetMode="External"/><Relationship Id="rId5" Type="http://schemas.openxmlformats.org/officeDocument/2006/relationships/hyperlink" Target="https://www.collinsdictionary.com/dictionary/english/investigation" TargetMode="External"/><Relationship Id="rId4" Type="http://schemas.openxmlformats.org/officeDocument/2006/relationships/hyperlink" Target="https://www.collinsdictionary.com/dictionary/english/come"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www.collinsdictionary.com/dictionary/english/discover" TargetMode="External"/><Relationship Id="rId2" Type="http://schemas.openxmlformats.org/officeDocument/2006/relationships/hyperlink" Target="https://www.collinsdictionary.com/dictionary/english/try"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scribbr.com/methodology/survey-research/#step-two-decide-on-the-type-of-survey" TargetMode="External"/><Relationship Id="rId7" Type="http://schemas.openxmlformats.org/officeDocument/2006/relationships/hyperlink" Target="https://www.scribbr.com/methodology/survey-research/#step-six-write-up-the-survey-results" TargetMode="External"/><Relationship Id="rId2" Type="http://schemas.openxmlformats.org/officeDocument/2006/relationships/hyperlink" Target="https://www.scribbr.com/methodology/survey-research/#step-one-define-the-population-and-sample" TargetMode="External"/><Relationship Id="rId1" Type="http://schemas.openxmlformats.org/officeDocument/2006/relationships/slideLayout" Target="../slideLayouts/slideLayout2.xml"/><Relationship Id="rId6" Type="http://schemas.openxmlformats.org/officeDocument/2006/relationships/hyperlink" Target="https://www.scribbr.com/methodology/survey-research/#step-five-analyze-the-survey-results" TargetMode="External"/><Relationship Id="rId5" Type="http://schemas.openxmlformats.org/officeDocument/2006/relationships/hyperlink" Target="https://www.scribbr.com/methodology/survey-research/#step-four-distribute-the-survey-and-collect-responses" TargetMode="External"/><Relationship Id="rId4" Type="http://schemas.openxmlformats.org/officeDocument/2006/relationships/hyperlink" Target="https://www.scribbr.com/methodology/survey-research/#step-three-design-the-survey-question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hotjar.com/blog/lean-ux/"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99designs.com/blog/logo-branding/principles-of-successful-branding/#2" TargetMode="External"/><Relationship Id="rId7" Type="http://schemas.openxmlformats.org/officeDocument/2006/relationships/hyperlink" Target="https://99designs.com/blog/logo-branding/principles-of-successful-branding/#6" TargetMode="External"/><Relationship Id="rId2" Type="http://schemas.openxmlformats.org/officeDocument/2006/relationships/hyperlink" Target="https://99designs.com/blog/logo-branding/principles-of-successful-branding/#1" TargetMode="External"/><Relationship Id="rId1" Type="http://schemas.openxmlformats.org/officeDocument/2006/relationships/slideLayout" Target="../slideLayouts/slideLayout2.xml"/><Relationship Id="rId6" Type="http://schemas.openxmlformats.org/officeDocument/2006/relationships/hyperlink" Target="https://99designs.com/blog/logo-branding/principles-of-successful-branding/#5" TargetMode="External"/><Relationship Id="rId5" Type="http://schemas.openxmlformats.org/officeDocument/2006/relationships/hyperlink" Target="https://99designs.com/blog/logo-branding/principles-of-successful-branding/#4" TargetMode="External"/><Relationship Id="rId4" Type="http://schemas.openxmlformats.org/officeDocument/2006/relationships/hyperlink" Target="https://99designs.com/blog/logo-branding/principles-of-successful-branding/#3"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hyperlink" Target="https://99designs.com/blog/business/how-to-create-user-personas/"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hyperlink" Target="https://etereomedia.com/the-theory-of-colour-improving-brand-association-with-colours/"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hyperlink" Target="https://www.marketing91.com/types-of-products/" TargetMode="External"/><Relationship Id="rId7" Type="http://schemas.openxmlformats.org/officeDocument/2006/relationships/hyperlink" Target="https://www.marketing91.com/marketing-and-strategy-models-and-concepts/" TargetMode="External"/><Relationship Id="rId2" Type="http://schemas.openxmlformats.org/officeDocument/2006/relationships/hyperlink" Target="https://www.marketing91.com/what-is-a-brand/" TargetMode="External"/><Relationship Id="rId1" Type="http://schemas.openxmlformats.org/officeDocument/2006/relationships/slideLayout" Target="../slideLayouts/slideLayout2.xml"/><Relationship Id="rId6" Type="http://schemas.openxmlformats.org/officeDocument/2006/relationships/hyperlink" Target="https://www.marketing91.com/market-share-definition/" TargetMode="External"/><Relationship Id="rId5" Type="http://schemas.openxmlformats.org/officeDocument/2006/relationships/hyperlink" Target="https://www.marketing91.com/swot-analysis-target/" TargetMode="External"/><Relationship Id="rId4" Type="http://schemas.openxmlformats.org/officeDocument/2006/relationships/hyperlink" Target="https://www.marketing91.com/target-market-find-one/"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hyperlink" Target="https://www.marketing91.com/swot-analysis-samsung/" TargetMode="External"/><Relationship Id="rId2" Type="http://schemas.openxmlformats.org/officeDocument/2006/relationships/hyperlink" Target="https://www.marketing91.com/marketing-strategy-apple/" TargetMode="Externa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hyperlink" Target="https://www.marketing91.com/brand-strategy/" TargetMode="External"/><Relationship Id="rId2" Type="http://schemas.openxmlformats.org/officeDocument/2006/relationships/hyperlink" Target="https://www.marketing91.com/marketing-mix-oppo/" TargetMode="Externa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hyperlink" Target="https://xd.adobe.com/ideas/process/user-research/putting-personas-to-work-in-ux-design/#:~:text=User%20personas%20help%20designers%20shape%20product,to%20minimize%20the%20interaction%20cost%20.%E2%80%9D&amp;text=User%20personas%20help%20designers,the%20interaction%20cost%20.%E2%80%9D&amp;text=help%20designers%20shape%20product,to%20minimize%20the%20" TargetMode="Externa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hyperlink" Target="https://blog.airtable.com/smart-goals/" TargetMode="Externa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hyperlink" Target="https://www.wrike.com/project-management-guide/faq/what-is-definition-of-done-agile/" TargetMode="Externa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hyperlink" Target="https://www.wrike.com/agile-guide/epics-stories-tasks/" TargetMode="External"/><Relationship Id="rId2" Type="http://schemas.openxmlformats.org/officeDocument/2006/relationships/hyperlink" Target="https://www.wrike.com/blog/how-create-marketing-persona/amp/" TargetMode="Externa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hyperlink" Target="https://www.wrike.com/blog/story-mapping-tools-guide/" TargetMode="Externa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hyperlink" Target="https://xd.adobe.com/ideas/process/user-research/putting-personas-to-work-in-ux-design/" TargetMode="Externa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hyperlink" Target="https://theblog.adobe.com/design-thinking-a-manual-for-innovation" TargetMode="Externa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hyperlink" Target="https://www.nngroup.com/articles/empathy-mapping/" TargetMode="Externa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hyperlink" Target="https://www.techtarget.com/whatis/definition/social-media" TargetMode="External"/><Relationship Id="rId2" Type="http://schemas.openxmlformats.org/officeDocument/2006/relationships/hyperlink" Target="https://www.techtarget.com/searchcustomerexperience/tip/5-tips-for-creating-customer-journey-maps-from-buyer-personas" TargetMode="Externa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hyperlink" Target="https://miro.com/templates/stakeholder-map/" TargetMode="Externa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hyperlink" Target="https://miro.com/miroverse/category/research-and-design/user-research-observations-board" TargetMode="Externa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hyperlink" Target="https://www.techtarget.com/whatis/definition/GUI" TargetMode="Externa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hyperlink" Target="https://www.techtarget.com/searcherp/definition/voice-user-interface-VUI" TargetMode="Externa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hyperlink" Target="https://en.wikipedia.org/wiki/User_interface" TargetMode="External"/><Relationship Id="rId2" Type="http://schemas.openxmlformats.org/officeDocument/2006/relationships/hyperlink" Target="https://www.techtarget.com/whatis/definition/natural-language" TargetMode="Externa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hyperlink" Target="https://www.google.com/search?rlz=1C1GCEA_enRW955RW955&amp;sxsrf=APwXEddDIqjVYaKqeg252Hy4ncq0i2gbaQ:1680772396010&amp;q=inserts&amp;si=AMnBZoFHF1DJLZWpTBtQDK262RMpr-ytw4pEQvFEaRsYgNkOMngkNDzKoXRoxhDxGbIzWZVUoX-8PcvoIWmVRCITxLkPA7CT4Q==&amp;expnd=1" TargetMode="External"/><Relationship Id="rId2" Type="http://schemas.openxmlformats.org/officeDocument/2006/relationships/hyperlink" Target="https://www.google.com/search?rlz=1C1GCEA_enRW955RW955&amp;sxsrf=APwXEddDIqjVYaKqeg252Hy4ncq0i2gbaQ:1680772396010&amp;q=dispenses&amp;si=AMnBZoFEI0LGJdD1jElhAGFwRnmonJI3DcSHrxyqrVj_iebhwK_aRkc5fhMnx2rv-18SumW0NeFic-qt9e1PLZbToGypKIIylA==&amp;expnd=1" TargetMode="Externa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hyperlink" Target="http://semanticstudios.com/publications/semantics/000029.php" TargetMode="Externa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hyperlink" Target="https://xd.adobe.com/ideas/process/user-research/" TargetMode="Externa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hyperlink" Target="https://xd.adobe.com/ideas/process/ui-design/" TargetMode="External"/><Relationship Id="rId2" Type="http://schemas.openxmlformats.org/officeDocument/2006/relationships/hyperlink" Target="https://xd.adobe.com/ideas/process/information-architecture/" TargetMode="External"/><Relationship Id="rId1" Type="http://schemas.openxmlformats.org/officeDocument/2006/relationships/slideLayout" Target="../slideLayouts/slideLayout2.xml"/><Relationship Id="rId4" Type="http://schemas.openxmlformats.org/officeDocument/2006/relationships/hyperlink" Target="https://xd.adobe.com/ideas/principles/design-systems/" TargetMode="Externa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hyperlink" Target="https://www.lucidchart.com/blog/what-is-a-wireframe" TargetMode="Externa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hyperlink" Target="https://www.nngroup.com/videos/interaction-cost/" TargetMode="Externa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hyperlink" Target="https://www.techtarget.com/whatis/definition/Web-site" TargetMode="External"/><Relationship Id="rId2" Type="http://schemas.openxmlformats.org/officeDocument/2006/relationships/hyperlink" Target="https://www.techtarget.com/searchsoftwarequality/definition/application" TargetMode="External"/><Relationship Id="rId1" Type="http://schemas.openxmlformats.org/officeDocument/2006/relationships/slideLayout" Target="../slideLayouts/slideLayout2.xml"/><Relationship Id="rId5" Type="http://schemas.openxmlformats.org/officeDocument/2006/relationships/hyperlink" Target="https://www.marketing91.com/target-marketing-explained/" TargetMode="External"/><Relationship Id="rId4" Type="http://schemas.openxmlformats.org/officeDocument/2006/relationships/hyperlink" Target="https://www.marketing91.com/analyse-defeat-direct-competition/" TargetMode="Externa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hyperlink" Target="https://www.marketing91.com/types-of-products/" TargetMode="External"/><Relationship Id="rId2" Type="http://schemas.openxmlformats.org/officeDocument/2006/relationships/hyperlink" Target="https://www.marketing91.com/what-is-a-brand/" TargetMode="External"/><Relationship Id="rId1" Type="http://schemas.openxmlformats.org/officeDocument/2006/relationships/slideLayout" Target="../slideLayouts/slideLayout2.xml"/><Relationship Id="rId6" Type="http://schemas.openxmlformats.org/officeDocument/2006/relationships/hyperlink" Target="https://www.marketing91.com/market-share-definition/" TargetMode="External"/><Relationship Id="rId5" Type="http://schemas.openxmlformats.org/officeDocument/2006/relationships/hyperlink" Target="https://www.marketing91.com/swot-analysis-target/" TargetMode="External"/><Relationship Id="rId4" Type="http://schemas.openxmlformats.org/officeDocument/2006/relationships/hyperlink" Target="https://www.marketing91.com/target-market-find-on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609600"/>
            <a:ext cx="7772400" cy="1470025"/>
          </a:xfrm>
        </p:spPr>
        <p:txBody>
          <a:bodyPr/>
          <a:lstStyle/>
          <a:p>
            <a:r>
              <a:rPr lang="en-US" b="1" dirty="0">
                <a:latin typeface="Times New Roman" panose="02020603050405020304" pitchFamily="18" charset="0"/>
                <a:cs typeface="Times New Roman" panose="02020603050405020304" pitchFamily="18" charset="0"/>
              </a:rPr>
              <a:t>SWDUX 301: DESIGN UI/UX</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 y="2057400"/>
            <a:ext cx="8839200" cy="4648200"/>
          </a:xfrm>
        </p:spPr>
        <p:txBody>
          <a:bodyPr>
            <a:normAutofit/>
          </a:bodyPr>
          <a:lstStyle/>
          <a:p>
            <a:pPr algn="l"/>
            <a:r>
              <a:rPr lang="en-US" b="1" i="0" dirty="0">
                <a:solidFill>
                  <a:srgbClr val="000000"/>
                </a:solidFill>
                <a:effectLst/>
                <a:latin typeface="Times New Roman" panose="02020603050405020304" pitchFamily="18" charset="0"/>
                <a:cs typeface="Times New Roman" panose="02020603050405020304" pitchFamily="18" charset="0"/>
              </a:rPr>
              <a:t>RQF Level: </a:t>
            </a:r>
            <a:r>
              <a:rPr lang="en-US" b="1" i="0" dirty="0">
                <a:solidFill>
                  <a:srgbClr val="FFFFFF"/>
                </a:solidFill>
                <a:effectLst/>
                <a:latin typeface="Times New Roman" panose="02020603050405020304" pitchFamily="18" charset="0"/>
                <a:cs typeface="Times New Roman" panose="02020603050405020304" pitchFamily="18" charset="0"/>
              </a:rPr>
              <a:t>33</a:t>
            </a:r>
            <a:r>
              <a:rPr lang="en-US" b="1" i="0" dirty="0">
                <a:solidFill>
                  <a:schemeClr val="tx1"/>
                </a:solidFill>
                <a:effectLst/>
                <a:latin typeface="Times New Roman" panose="02020603050405020304" pitchFamily="18" charset="0"/>
                <a:cs typeface="Times New Roman" panose="02020603050405020304" pitchFamily="18" charset="0"/>
              </a:rPr>
              <a:t>3</a:t>
            </a:r>
            <a:r>
              <a:rPr lang="en-US" b="1" i="0" dirty="0">
                <a:solidFill>
                  <a:srgbClr val="FFFFFF"/>
                </a:solidFill>
                <a:effectLst/>
                <a:latin typeface="Times New Roman" panose="02020603050405020304" pitchFamily="18" charset="0"/>
                <a:cs typeface="Times New Roman" panose="02020603050405020304" pitchFamily="18" charset="0"/>
              </a:rPr>
              <a:t> Learning Hours: 150</a:t>
            </a:r>
            <a:br>
              <a:rPr lang="en-US" b="1" i="0" dirty="0">
                <a:solidFill>
                  <a:srgbClr val="FFFFFF"/>
                </a:solidFill>
                <a:effectLst/>
                <a:latin typeface="Times New Roman" panose="02020603050405020304" pitchFamily="18" charset="0"/>
                <a:cs typeface="Times New Roman" panose="02020603050405020304" pitchFamily="18" charset="0"/>
              </a:rPr>
            </a:br>
            <a:r>
              <a:rPr lang="en-US" b="1" i="0" dirty="0">
                <a:solidFill>
                  <a:srgbClr val="000000"/>
                </a:solidFill>
                <a:effectLst/>
                <a:latin typeface="Times New Roman" panose="02020603050405020304" pitchFamily="18" charset="0"/>
                <a:cs typeface="Times New Roman" panose="02020603050405020304" pitchFamily="18" charset="0"/>
              </a:rPr>
              <a:t>Credits: </a:t>
            </a:r>
            <a:r>
              <a:rPr lang="en-US" b="1" i="0" dirty="0">
                <a:solidFill>
                  <a:srgbClr val="FFFFFF"/>
                </a:solidFill>
                <a:effectLst/>
                <a:latin typeface="Times New Roman" panose="02020603050405020304" pitchFamily="18" charset="0"/>
                <a:cs typeface="Times New Roman" panose="02020603050405020304" pitchFamily="18" charset="0"/>
              </a:rPr>
              <a:t>15</a:t>
            </a:r>
            <a:r>
              <a:rPr lang="en-US" b="1" i="0" dirty="0">
                <a:solidFill>
                  <a:schemeClr val="tx1"/>
                </a:solidFill>
                <a:effectLst/>
                <a:latin typeface="Times New Roman" panose="02020603050405020304" pitchFamily="18" charset="0"/>
                <a:cs typeface="Times New Roman" panose="02020603050405020304" pitchFamily="18" charset="0"/>
              </a:rPr>
              <a:t>15</a:t>
            </a:r>
            <a:br>
              <a:rPr lang="en-US" b="1" i="0" dirty="0">
                <a:solidFill>
                  <a:srgbClr val="FFFFFF"/>
                </a:solidFill>
                <a:effectLst/>
                <a:latin typeface="Times New Roman" panose="02020603050405020304" pitchFamily="18" charset="0"/>
                <a:cs typeface="Times New Roman" panose="02020603050405020304" pitchFamily="18" charset="0"/>
              </a:rPr>
            </a:br>
            <a:r>
              <a:rPr lang="en-US" b="1" i="0" dirty="0">
                <a:solidFill>
                  <a:srgbClr val="000000"/>
                </a:solidFill>
                <a:effectLst/>
                <a:latin typeface="Times New Roman" panose="02020603050405020304" pitchFamily="18" charset="0"/>
                <a:cs typeface="Times New Roman" panose="02020603050405020304" pitchFamily="18" charset="0"/>
              </a:rPr>
              <a:t>Sector: </a:t>
            </a:r>
            <a:r>
              <a:rPr lang="en-US" b="1" i="0" dirty="0">
                <a:solidFill>
                  <a:schemeClr val="tx1"/>
                </a:solidFill>
                <a:effectLst/>
                <a:latin typeface="Times New Roman" panose="02020603050405020304" pitchFamily="18" charset="0"/>
                <a:cs typeface="Times New Roman" panose="02020603050405020304" pitchFamily="18" charset="0"/>
              </a:rPr>
              <a:t>ICT &amp; MULTIMEDIA</a:t>
            </a:r>
            <a:br>
              <a:rPr lang="en-US" b="1" i="0" dirty="0">
                <a:solidFill>
                  <a:schemeClr val="tx1"/>
                </a:solidFill>
                <a:effectLst/>
                <a:latin typeface="Times New Roman" panose="02020603050405020304" pitchFamily="18" charset="0"/>
                <a:cs typeface="Times New Roman" panose="02020603050405020304" pitchFamily="18" charset="0"/>
              </a:rPr>
            </a:br>
            <a:r>
              <a:rPr lang="en-US" b="1" i="0" dirty="0">
                <a:solidFill>
                  <a:schemeClr val="tx1"/>
                </a:solidFill>
                <a:effectLst/>
                <a:latin typeface="Times New Roman" panose="02020603050405020304" pitchFamily="18" charset="0"/>
                <a:cs typeface="Times New Roman" panose="02020603050405020304" pitchFamily="18" charset="0"/>
              </a:rPr>
              <a:t>Trade: SOFTWARE DEVELOPMENT</a:t>
            </a:r>
            <a:br>
              <a:rPr lang="en-US" b="1" i="0" dirty="0">
                <a:solidFill>
                  <a:srgbClr val="FFFFFF"/>
                </a:solidFill>
                <a:effectLst/>
                <a:latin typeface="Times New Roman" panose="02020603050405020304" pitchFamily="18" charset="0"/>
                <a:cs typeface="Times New Roman" panose="02020603050405020304" pitchFamily="18" charset="0"/>
              </a:rPr>
            </a:br>
            <a:r>
              <a:rPr lang="en-US" b="1" i="0" dirty="0">
                <a:solidFill>
                  <a:schemeClr val="tx1"/>
                </a:solidFill>
                <a:effectLst/>
                <a:latin typeface="Times New Roman" panose="02020603050405020304" pitchFamily="18" charset="0"/>
                <a:cs typeface="Times New Roman" panose="02020603050405020304" pitchFamily="18" charset="0"/>
              </a:rPr>
              <a:t>Module Type: Specific</a:t>
            </a:r>
          </a:p>
          <a:p>
            <a:pPr algn="l"/>
            <a:r>
              <a:rPr lang="en-US" b="1" dirty="0">
                <a:solidFill>
                  <a:schemeClr val="tx1"/>
                </a:solidFill>
                <a:latin typeface="Times New Roman" panose="02020603050405020304" pitchFamily="18" charset="0"/>
                <a:cs typeface="Times New Roman" panose="02020603050405020304" pitchFamily="18" charset="0"/>
              </a:rPr>
              <a:t>Trainer’s name: RWEMARIKA Jean Louis</a:t>
            </a:r>
          </a:p>
          <a:p>
            <a:pPr algn="l"/>
            <a:r>
              <a:rPr lang="en-US" b="1" dirty="0">
                <a:solidFill>
                  <a:schemeClr val="tx1"/>
                </a:solidFill>
                <a:effectLst/>
                <a:latin typeface="Times New Roman" panose="02020603050405020304" pitchFamily="18" charset="0"/>
                <a:cs typeface="Times New Roman" panose="02020603050405020304" pitchFamily="18" charset="0"/>
              </a:rPr>
              <a:t>Academic year 2024/2025</a:t>
            </a:r>
            <a:endParaRPr lang="en-US" dirty="0">
              <a:solidFill>
                <a:schemeClr val="tx1"/>
              </a:solidFill>
              <a:effectLst/>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4532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b="1" dirty="0">
                <a:latin typeface="Times New Roman" panose="02020603050405020304" pitchFamily="18" charset="0"/>
                <a:cs typeface="Times New Roman" panose="02020603050405020304" pitchFamily="18" charset="0"/>
              </a:rPr>
              <a:t>PURPOSE STATEMENT</a:t>
            </a:r>
          </a:p>
        </p:txBody>
      </p:sp>
      <p:sp>
        <p:nvSpPr>
          <p:cNvPr id="3" name="Content Placeholder 2"/>
          <p:cNvSpPr>
            <a:spLocks noGrp="1"/>
          </p:cNvSpPr>
          <p:nvPr>
            <p:ph idx="1"/>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This module describes the skills, knowledge and attitude required to</a:t>
            </a:r>
            <a:br>
              <a:rPr lang="en-US" b="0" i="0" dirty="0">
                <a:solidFill>
                  <a:srgbClr val="000000"/>
                </a:solidFill>
                <a:effectLst/>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design UI/UX. This module is intended to prepare students pursuing</a:t>
            </a:r>
            <a:br>
              <a:rPr lang="en-US" b="0" i="0" dirty="0">
                <a:solidFill>
                  <a:srgbClr val="000000"/>
                </a:solidFill>
                <a:effectLst/>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TVET Level 3 in Software Development. At the end of this module, the students will be able to Analyze User Experience, Define the User and Design Mockup.</a:t>
            </a:r>
            <a:endParaRPr lang="en-US" dirty="0">
              <a:effectLst/>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8305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4" name="Content Placeholder 3"/>
          <p:cNvGraphicFramePr>
            <a:graphicFrameLocks noGrp="1"/>
          </p:cNvGraphicFramePr>
          <p:nvPr>
            <p:ph idx="1"/>
          </p:nvPr>
        </p:nvGraphicFramePr>
        <p:xfrm>
          <a:off x="3619500" y="2354421"/>
          <a:ext cx="1905000" cy="365760"/>
        </p:xfrm>
        <a:graphic>
          <a:graphicData uri="http://schemas.openxmlformats.org/drawingml/2006/table">
            <a:tbl>
              <a:tblPr/>
              <a:tblGrid>
                <a:gridCol w="1905000">
                  <a:extLst>
                    <a:ext uri="{9D8B030D-6E8A-4147-A177-3AD203B41FA5}">
                      <a16:colId xmlns:a16="http://schemas.microsoft.com/office/drawing/2014/main" val="20000"/>
                    </a:ext>
                  </a:extLst>
                </a:gridCol>
              </a:tblGrid>
              <a:tr h="0">
                <a:tc>
                  <a:txBody>
                    <a:bodyPr/>
                    <a:lstStyle/>
                    <a:p>
                      <a:endParaRPr lang="en-US" dirty="0">
                        <a:effectLst/>
                      </a:endParaRPr>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5" name="Rectangle 1"/>
          <p:cNvSpPr>
            <a:spLocks noChangeArrowheads="1"/>
          </p:cNvSpPr>
          <p:nvPr/>
        </p:nvSpPr>
        <p:spPr bwMode="auto">
          <a:xfrm>
            <a:off x="3619500" y="2354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dirty="0">
                <a:ln>
                  <a:noFill/>
                </a:ln>
                <a:solidFill>
                  <a:schemeClr val="tx1"/>
                </a:solidFill>
                <a:effectLst/>
                <a:latin typeface="Arial" pitchFamily="34" charset="0"/>
                <a:cs typeface="Arial" pitchFamily="34" charset="0"/>
              </a:rPr>
            </a:b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57" y="152400"/>
            <a:ext cx="9183757"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944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Course outline</a:t>
            </a:r>
          </a:p>
        </p:txBody>
      </p:sp>
      <p:sp>
        <p:nvSpPr>
          <p:cNvPr id="3" name="Content Placeholder 2"/>
          <p:cNvSpPr>
            <a:spLocks noGrp="1"/>
          </p:cNvSpPr>
          <p:nvPr>
            <p:ph idx="1"/>
          </p:nvPr>
        </p:nvSpPr>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L</a:t>
            </a:r>
            <a:r>
              <a:rPr lang="en-US" b="1" i="0" dirty="0">
                <a:effectLst/>
                <a:latin typeface="Times New Roman" panose="02020603050405020304" pitchFamily="18" charset="0"/>
                <a:cs typeface="Times New Roman" panose="02020603050405020304" pitchFamily="18" charset="0"/>
              </a:rPr>
              <a:t>O1: Analyze User Experience</a:t>
            </a:r>
          </a:p>
          <a:p>
            <a:pPr marL="0" indent="0">
              <a:buNone/>
            </a:pPr>
            <a:r>
              <a:rPr lang="en-US" dirty="0">
                <a:latin typeface="Times New Roman" panose="02020603050405020304" pitchFamily="18" charset="0"/>
                <a:cs typeface="Times New Roman" panose="02020603050405020304" pitchFamily="18" charset="0"/>
              </a:rPr>
              <a:t>1.1: </a:t>
            </a:r>
            <a:r>
              <a:rPr lang="en-US" i="0" dirty="0">
                <a:solidFill>
                  <a:srgbClr val="000000"/>
                </a:solidFill>
                <a:effectLst/>
                <a:latin typeface="Times New Roman" panose="02020603050405020304" pitchFamily="18" charset="0"/>
                <a:cs typeface="Times New Roman" panose="02020603050405020304" pitchFamily="18" charset="0"/>
              </a:rPr>
              <a:t>Definition of Key Concepts</a:t>
            </a:r>
            <a:endParaRPr lang="en-US" dirty="0">
              <a:effectLst/>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1</a:t>
            </a:r>
            <a:r>
              <a:rPr lang="en-US" i="0" dirty="0">
                <a:effectLst/>
                <a:latin typeface="Times New Roman" panose="02020603050405020304" pitchFamily="18" charset="0"/>
                <a:cs typeface="Times New Roman" panose="02020603050405020304" pitchFamily="18" charset="0"/>
              </a:rPr>
              <a:t>.2: </a:t>
            </a:r>
            <a:r>
              <a:rPr lang="en-US" i="0" dirty="0">
                <a:solidFill>
                  <a:srgbClr val="000000"/>
                </a:solidFill>
                <a:effectLst/>
                <a:latin typeface="Times New Roman" panose="02020603050405020304" pitchFamily="18" charset="0"/>
                <a:cs typeface="Times New Roman" panose="02020603050405020304" pitchFamily="18" charset="0"/>
              </a:rPr>
              <a:t>Description of UX Research</a:t>
            </a:r>
            <a:endParaRPr lang="en-US" i="0" dirty="0">
              <a:effectLst/>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1</a:t>
            </a:r>
            <a:r>
              <a:rPr lang="en-US" i="0" dirty="0">
                <a:effectLst/>
                <a:latin typeface="Times New Roman" panose="02020603050405020304" pitchFamily="18" charset="0"/>
                <a:cs typeface="Times New Roman" panose="02020603050405020304" pitchFamily="18" charset="0"/>
              </a:rPr>
              <a:t>.3: </a:t>
            </a:r>
            <a:r>
              <a:rPr lang="en-US" i="0" dirty="0">
                <a:solidFill>
                  <a:srgbClr val="000000"/>
                </a:solidFill>
                <a:effectLst/>
                <a:latin typeface="Times New Roman" panose="02020603050405020304" pitchFamily="18" charset="0"/>
                <a:cs typeface="Times New Roman" panose="02020603050405020304" pitchFamily="18" charset="0"/>
              </a:rPr>
              <a:t>Analysis of Brand Identity</a:t>
            </a:r>
            <a:endParaRPr lang="en-US" dirty="0">
              <a:effectLst/>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1</a:t>
            </a:r>
            <a:r>
              <a:rPr lang="en-US" i="0" dirty="0">
                <a:effectLst/>
                <a:latin typeface="Times New Roman" panose="02020603050405020304" pitchFamily="18" charset="0"/>
                <a:cs typeface="Times New Roman" panose="02020603050405020304" pitchFamily="18" charset="0"/>
              </a:rPr>
              <a:t>.4: </a:t>
            </a:r>
            <a:r>
              <a:rPr lang="en-US" i="0" dirty="0">
                <a:solidFill>
                  <a:srgbClr val="000000"/>
                </a:solidFill>
                <a:effectLst/>
                <a:latin typeface="Times New Roman" panose="02020603050405020304" pitchFamily="18" charset="0"/>
                <a:cs typeface="Times New Roman" panose="02020603050405020304" pitchFamily="18" charset="0"/>
              </a:rPr>
              <a:t>Definition of Tasks</a:t>
            </a:r>
            <a:endParaRPr lang="en-US" i="0" dirty="0">
              <a:effectLst/>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1</a:t>
            </a:r>
            <a:r>
              <a:rPr lang="en-US" i="0" dirty="0">
                <a:effectLst/>
                <a:latin typeface="Times New Roman" panose="02020603050405020304" pitchFamily="18" charset="0"/>
                <a:cs typeface="Times New Roman" panose="02020603050405020304" pitchFamily="18" charset="0"/>
              </a:rPr>
              <a:t>.5: </a:t>
            </a:r>
            <a:r>
              <a:rPr lang="en-US" i="0" dirty="0">
                <a:solidFill>
                  <a:srgbClr val="000000"/>
                </a:solidFill>
                <a:effectLst/>
                <a:latin typeface="Times New Roman" panose="02020603050405020304" pitchFamily="18" charset="0"/>
                <a:cs typeface="Times New Roman" panose="02020603050405020304" pitchFamily="18" charset="0"/>
              </a:rPr>
              <a:t>Identification of end-user pain point</a:t>
            </a:r>
            <a:endParaRPr lang="en-US" i="0" dirty="0">
              <a:effectLst/>
              <a:latin typeface="Times New Roman" panose="02020603050405020304" pitchFamily="18" charset="0"/>
              <a:cs typeface="Times New Roman" panose="02020603050405020304" pitchFamily="18" charset="0"/>
            </a:endParaRPr>
          </a:p>
          <a:p>
            <a:pPr marL="0" indent="0">
              <a:buNone/>
            </a:pPr>
            <a:endParaRPr lang="en-US" i="0" dirty="0">
              <a:effectLst/>
              <a:latin typeface="Times New Roman" panose="02020603050405020304" pitchFamily="18" charset="0"/>
              <a:cs typeface="Times New Roman" panose="02020603050405020304" pitchFamily="18" charset="0"/>
            </a:endParaRPr>
          </a:p>
          <a:p>
            <a:pPr marL="0" indent="0">
              <a:buNone/>
            </a:pPr>
            <a:endParaRPr lang="en-US" b="1" i="0" dirty="0">
              <a:effectLst/>
              <a:latin typeface="Times New Roman" panose="02020603050405020304" pitchFamily="18" charset="0"/>
              <a:cs typeface="Times New Roman" panose="02020603050405020304" pitchFamily="18" charset="0"/>
            </a:endParaRPr>
          </a:p>
          <a:p>
            <a:pPr marL="0" indent="0">
              <a:buNone/>
            </a:pPr>
            <a:endParaRPr lang="en-US" b="1" dirty="0">
              <a:effectLst/>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484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LO 2: Define the user</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a:latin typeface="ArialMT"/>
              </a:rPr>
              <a:t>2.1. </a:t>
            </a:r>
            <a:r>
              <a:rPr lang="en-US" i="0" dirty="0">
                <a:solidFill>
                  <a:srgbClr val="000000"/>
                </a:solidFill>
                <a:effectLst/>
                <a:latin typeface="Roboto"/>
              </a:rPr>
              <a:t>Definition of key terms</a:t>
            </a:r>
          </a:p>
          <a:p>
            <a:pPr marL="0" indent="0">
              <a:buNone/>
            </a:pPr>
            <a:r>
              <a:rPr lang="en-US" dirty="0">
                <a:solidFill>
                  <a:srgbClr val="000000"/>
                </a:solidFill>
                <a:latin typeface="Roboto"/>
              </a:rPr>
              <a:t>2.2: Creation of user story</a:t>
            </a:r>
          </a:p>
          <a:p>
            <a:pPr marL="0" indent="0">
              <a:buNone/>
            </a:pPr>
            <a:r>
              <a:rPr lang="en-US" dirty="0">
                <a:solidFill>
                  <a:srgbClr val="000000"/>
                </a:solidFill>
                <a:latin typeface="Roboto"/>
              </a:rPr>
              <a:t>2.3: Identification of user person</a:t>
            </a:r>
          </a:p>
          <a:p>
            <a:pPr marL="0" indent="0">
              <a:buNone/>
              <a:tabLst>
                <a:tab pos="3717925" algn="l"/>
              </a:tabLst>
            </a:pPr>
            <a:r>
              <a:rPr lang="en-US" dirty="0">
                <a:solidFill>
                  <a:srgbClr val="000000"/>
                </a:solidFill>
                <a:latin typeface="Roboto"/>
              </a:rPr>
              <a:t>2</a:t>
            </a:r>
            <a:r>
              <a:rPr lang="en-US" dirty="0">
                <a:solidFill>
                  <a:srgbClr val="000000"/>
                </a:solidFill>
                <a:effectLst/>
                <a:latin typeface="Roboto"/>
              </a:rPr>
              <a:t>.4: Creation of user journey</a:t>
            </a:r>
          </a:p>
          <a:p>
            <a:pPr marL="0" indent="0">
              <a:buNone/>
              <a:tabLst>
                <a:tab pos="3717925" algn="l"/>
              </a:tabLst>
            </a:pPr>
            <a:r>
              <a:rPr lang="en-US" dirty="0">
                <a:solidFill>
                  <a:srgbClr val="000000"/>
                </a:solidFill>
                <a:latin typeface="Roboto"/>
              </a:rPr>
              <a:t>2. 5: Perform UX Research</a:t>
            </a:r>
            <a:endParaRPr lang="en-US" dirty="0">
              <a:effectLst/>
            </a:endParaRPr>
          </a:p>
          <a:p>
            <a:pPr marL="571500" indent="-571500">
              <a:buAutoNum type="romanUcPeriod"/>
            </a:pPr>
            <a:endParaRPr lang="en-US" b="1" i="0" dirty="0">
              <a:solidFill>
                <a:schemeClr val="tx1"/>
              </a:solidFill>
              <a:effectLst/>
              <a:latin typeface="ArialMT"/>
            </a:endParaRPr>
          </a:p>
          <a:p>
            <a:pPr marL="0" indent="0">
              <a:buNone/>
            </a:pPr>
            <a:endParaRPr lang="en-US" b="1" i="0" dirty="0">
              <a:solidFill>
                <a:schemeClr val="tx1"/>
              </a:solidFill>
              <a:effectLst/>
              <a:latin typeface="ArialMT"/>
            </a:endParaRPr>
          </a:p>
          <a:p>
            <a:pPr marL="571500" indent="-571500">
              <a:buAutoNum type="romanUcPeriod"/>
            </a:pPr>
            <a:endParaRPr lang="en-US" b="1" dirty="0">
              <a:solidFill>
                <a:schemeClr val="tx1"/>
              </a:solidFill>
              <a:effectLst/>
            </a:endParaRPr>
          </a:p>
          <a:p>
            <a:endParaRPr lang="en-US" dirty="0"/>
          </a:p>
        </p:txBody>
      </p:sp>
    </p:spTree>
    <p:extLst>
      <p:ext uri="{BB962C8B-B14F-4D97-AF65-F5344CB8AC3E}">
        <p14:creationId xmlns:p14="http://schemas.microsoft.com/office/powerpoint/2010/main" val="2118739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lstStyle/>
          <a:p>
            <a:r>
              <a:rPr lang="en-US" b="1" dirty="0">
                <a:latin typeface="Times New Roman" panose="02020603050405020304" pitchFamily="18" charset="0"/>
                <a:cs typeface="Times New Roman" panose="02020603050405020304" pitchFamily="18" charset="0"/>
              </a:rPr>
              <a:t>III. Design Mockup</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3. 1: Description of key concepts</a:t>
            </a:r>
          </a:p>
          <a:p>
            <a:pPr marL="0" indent="0">
              <a:buNone/>
            </a:pPr>
            <a:r>
              <a:rPr lang="en-US" dirty="0">
                <a:latin typeface="Times New Roman" panose="02020603050405020304" pitchFamily="18" charset="0"/>
                <a:cs typeface="Times New Roman" panose="02020603050405020304" pitchFamily="18" charset="0"/>
              </a:rPr>
              <a:t>3. 2: Use of Figma prototyping tool</a:t>
            </a:r>
          </a:p>
          <a:p>
            <a:pPr marL="0" indent="0">
              <a:buNone/>
            </a:pPr>
            <a:r>
              <a:rPr lang="en-US" dirty="0">
                <a:latin typeface="Times New Roman" panose="02020603050405020304" pitchFamily="18" charset="0"/>
                <a:cs typeface="Times New Roman" panose="02020603050405020304" pitchFamily="18" charset="0"/>
              </a:rPr>
              <a:t>3. 3: Sketch mockup</a:t>
            </a:r>
          </a:p>
          <a:p>
            <a:pPr marL="0" indent="0">
              <a:buNone/>
            </a:pPr>
            <a:r>
              <a:rPr lang="en-US" dirty="0">
                <a:latin typeface="Times New Roman" panose="02020603050405020304" pitchFamily="18" charset="0"/>
                <a:cs typeface="Times New Roman" panose="02020603050405020304" pitchFamily="18" charset="0"/>
              </a:rPr>
              <a:t>3.4: presentation of prototype</a:t>
            </a:r>
          </a:p>
        </p:txBody>
      </p:sp>
    </p:spTree>
    <p:extLst>
      <p:ext uri="{BB962C8B-B14F-4D97-AF65-F5344CB8AC3E}">
        <p14:creationId xmlns:p14="http://schemas.microsoft.com/office/powerpoint/2010/main" val="1294013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LO1.</a:t>
            </a:r>
            <a:r>
              <a:rPr lang="en-US" sz="4000" b="1" dirty="0">
                <a:latin typeface="Times New Roman" panose="02020603050405020304" pitchFamily="18" charset="0"/>
                <a:cs typeface="Times New Roman" panose="02020603050405020304" pitchFamily="18" charset="0"/>
              </a:rPr>
              <a:t>Analyze user experience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1.0 </a:t>
            </a:r>
            <a:r>
              <a:rPr lang="en-US" b="1" dirty="0">
                <a:latin typeface="Times New Roman" panose="02020603050405020304" pitchFamily="18" charset="0"/>
                <a:cs typeface="Times New Roman" panose="02020603050405020304" pitchFamily="18" charset="0"/>
              </a:rPr>
              <a:t>Introduction to User Experience (UX) Design</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User experience (UX) design refers to the user's journey(the entire process) when interacting with a product or service. </a:t>
            </a:r>
          </a:p>
          <a:p>
            <a:r>
              <a:rPr lang="en-US" dirty="0">
                <a:latin typeface="Times New Roman" panose="02020603050405020304" pitchFamily="18" charset="0"/>
                <a:cs typeface="Times New Roman" panose="02020603050405020304" pitchFamily="18" charset="0"/>
              </a:rPr>
              <a:t>UX design is the process of creating products or services that provide meaningful experiences for users, involving many different areas of product development including branding, usability, function, and design.</a:t>
            </a:r>
          </a:p>
          <a:p>
            <a:pPr marL="0" indent="0">
              <a:buNone/>
            </a:pP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88663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ADDE8B-92C5-5640-D8CC-5DC1483CE5FA}"/>
              </a:ext>
            </a:extLst>
          </p:cNvPr>
          <p:cNvSpPr>
            <a:spLocks noGrp="1"/>
          </p:cNvSpPr>
          <p:nvPr>
            <p:ph idx="1"/>
          </p:nvPr>
        </p:nvSpPr>
        <p:spPr>
          <a:xfrm>
            <a:off x="304800" y="609600"/>
            <a:ext cx="8382000" cy="5410200"/>
          </a:xfrm>
        </p:spPr>
        <p:txBody>
          <a:bodyPr/>
          <a:lstStyle/>
          <a:p>
            <a:r>
              <a:rPr lang="en-US" dirty="0">
                <a:latin typeface="Times New Roman" panose="02020603050405020304" pitchFamily="18" charset="0"/>
                <a:cs typeface="Times New Roman" panose="02020603050405020304" pitchFamily="18" charset="0"/>
              </a:rPr>
              <a:t>A UX designer’s primary goal is for each user to have a positive interaction with a product or service.</a:t>
            </a:r>
          </a:p>
          <a:p>
            <a:r>
              <a:rPr lang="en-US" dirty="0">
                <a:latin typeface="Times New Roman" panose="02020603050405020304" pitchFamily="18" charset="0"/>
                <a:cs typeface="Times New Roman" panose="02020603050405020304" pitchFamily="18" charset="0"/>
              </a:rPr>
              <a:t> In the main, the term </a:t>
            </a:r>
            <a:r>
              <a:rPr lang="en-US" i="1" dirty="0">
                <a:latin typeface="Times New Roman" panose="02020603050405020304" pitchFamily="18" charset="0"/>
                <a:cs typeface="Times New Roman" panose="02020603050405020304" pitchFamily="18" charset="0"/>
              </a:rPr>
              <a:t>user experience design </a:t>
            </a:r>
            <a:r>
              <a:rPr lang="en-US" dirty="0">
                <a:latin typeface="Times New Roman" panose="02020603050405020304" pitchFamily="18" charset="0"/>
                <a:cs typeface="Times New Roman" panose="02020603050405020304" pitchFamily="18" charset="0"/>
              </a:rPr>
              <a:t>is used in relation to websites, web applications and other software applications. </a:t>
            </a:r>
          </a:p>
          <a:p>
            <a:endParaRPr lang="en-US" dirty="0"/>
          </a:p>
        </p:txBody>
      </p:sp>
    </p:spTree>
    <p:extLst>
      <p:ext uri="{BB962C8B-B14F-4D97-AF65-F5344CB8AC3E}">
        <p14:creationId xmlns:p14="http://schemas.microsoft.com/office/powerpoint/2010/main" val="3357495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Qualities of  a good UX design</a:t>
            </a:r>
          </a:p>
        </p:txBody>
      </p:sp>
      <p:sp>
        <p:nvSpPr>
          <p:cNvPr id="3" name="Content Placeholder 2"/>
          <p:cNvSpPr>
            <a:spLocks noGrp="1"/>
          </p:cNvSpPr>
          <p:nvPr>
            <p:ph idx="1"/>
          </p:nvPr>
        </p:nvSpPr>
        <p:spPr>
          <a:xfrm>
            <a:off x="457200" y="1600200"/>
            <a:ext cx="8534400" cy="4983162"/>
          </a:xfrm>
        </p:spPr>
        <p:txBody>
          <a:bodyPr>
            <a:normAutofit/>
          </a:bodyPr>
          <a:lstStyle/>
          <a:p>
            <a:pPr marL="514350" indent="-514350">
              <a:buAutoNum type="arabicPeriod"/>
            </a:pPr>
            <a:r>
              <a:rPr lang="en-US" b="1" dirty="0">
                <a:solidFill>
                  <a:srgbClr val="242424"/>
                </a:solidFill>
                <a:latin typeface="Times New Roman" panose="02020603050405020304" pitchFamily="18" charset="0"/>
                <a:cs typeface="Times New Roman" panose="02020603050405020304" pitchFamily="18" charset="0"/>
              </a:rPr>
              <a:t>Functional</a:t>
            </a:r>
            <a:r>
              <a:rPr lang="en-US" dirty="0">
                <a:latin typeface="Times New Roman" panose="02020603050405020304" pitchFamily="18" charset="0"/>
                <a:cs typeface="Times New Roman" panose="02020603050405020304" pitchFamily="18" charset="0"/>
              </a:rPr>
              <a:t>: </a:t>
            </a:r>
            <a:r>
              <a:rPr lang="en-US" i="1" dirty="0">
                <a:solidFill>
                  <a:srgbClr val="242424"/>
                </a:solidFill>
                <a:latin typeface="Times New Roman" panose="02020603050405020304" pitchFamily="18" charset="0"/>
                <a:cs typeface="Times New Roman" panose="02020603050405020304" pitchFamily="18" charset="0"/>
              </a:rPr>
              <a:t>Does it work?</a:t>
            </a:r>
          </a:p>
          <a:p>
            <a:r>
              <a:rPr lang="en-US" i="1" dirty="0">
                <a:solidFill>
                  <a:srgbClr val="242424"/>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No bugs, errors and outages,</a:t>
            </a:r>
          </a:p>
          <a:p>
            <a:r>
              <a:rPr lang="en-US" dirty="0">
                <a:latin typeface="Times New Roman" panose="02020603050405020304" pitchFamily="18" charset="0"/>
                <a:cs typeface="Times New Roman" panose="02020603050405020304" pitchFamily="18" charset="0"/>
              </a:rPr>
              <a:t>Uses current technologies (doesn’t rely on old technologies like Flash that don’t work on phones or tablets)…..</a:t>
            </a:r>
          </a:p>
          <a:p>
            <a:pPr marL="0" indent="0">
              <a:buNone/>
            </a:pPr>
            <a:r>
              <a:rPr lang="en-US" b="1" dirty="0">
                <a:solidFill>
                  <a:srgbClr val="242424"/>
                </a:solidFill>
                <a:latin typeface="Times New Roman" panose="02020603050405020304" pitchFamily="18" charset="0"/>
                <a:cs typeface="Times New Roman" panose="02020603050405020304" pitchFamily="18" charset="0"/>
              </a:rPr>
              <a:t>2. Reliable: </a:t>
            </a:r>
            <a:r>
              <a:rPr lang="en-US" i="1" dirty="0">
                <a:solidFill>
                  <a:srgbClr val="242424"/>
                </a:solidFill>
                <a:latin typeface="Times New Roman" panose="02020603050405020304" pitchFamily="18" charset="0"/>
                <a:cs typeface="Times New Roman" panose="02020603050405020304" pitchFamily="18" charset="0"/>
              </a:rPr>
              <a:t>Is it available and accurate?</a:t>
            </a:r>
          </a:p>
          <a:p>
            <a:r>
              <a:rPr lang="en-US" dirty="0">
                <a:solidFill>
                  <a:srgbClr val="242424"/>
                </a:solidFill>
                <a:latin typeface="Times New Roman" panose="02020603050405020304" pitchFamily="18" charset="0"/>
                <a:cs typeface="Times New Roman" panose="02020603050405020304" pitchFamily="18" charset="0"/>
              </a:rPr>
              <a:t>Loads in reasonable time, even in peak periods</a:t>
            </a:r>
          </a:p>
          <a:p>
            <a:pPr marL="0" indent="0">
              <a:buNone/>
            </a:pPr>
            <a:endParaRPr lang="en-US" dirty="0">
              <a:solidFill>
                <a:srgbClr val="242424"/>
              </a:solidFill>
              <a:latin typeface="Times New Roman" panose="02020603050405020304" pitchFamily="18" charset="0"/>
              <a:cs typeface="Times New Roman" panose="02020603050405020304" pitchFamily="18" charset="0"/>
            </a:endParaRPr>
          </a:p>
          <a:p>
            <a:pPr marL="514350" indent="-514350">
              <a:buAutoNum type="arabicPeriod"/>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1881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76D7C-641E-12B8-C380-CC434F206D79}"/>
              </a:ext>
            </a:extLst>
          </p:cNvPr>
          <p:cNvSpPr>
            <a:spLocks noGrp="1"/>
          </p:cNvSpPr>
          <p:nvPr>
            <p:ph type="title"/>
          </p:nvPr>
        </p:nvSpPr>
        <p:spPr/>
        <p:txBody>
          <a:bodyPr/>
          <a:lstStyle/>
          <a:p>
            <a:pPr algn="l"/>
            <a:r>
              <a:rPr lang="en-US" b="1" dirty="0" err="1"/>
              <a:t>Cont</a:t>
            </a:r>
            <a:r>
              <a:rPr lang="en-US" b="1" dirty="0"/>
              <a:t>’</a:t>
            </a:r>
          </a:p>
        </p:txBody>
      </p:sp>
      <p:sp>
        <p:nvSpPr>
          <p:cNvPr id="3" name="Content Placeholder 2">
            <a:extLst>
              <a:ext uri="{FF2B5EF4-FFF2-40B4-BE49-F238E27FC236}">
                <a16:creationId xmlns:a16="http://schemas.microsoft.com/office/drawing/2014/main" id="{688AC883-DE35-F115-690C-17B755AAB009}"/>
              </a:ext>
            </a:extLst>
          </p:cNvPr>
          <p:cNvSpPr>
            <a:spLocks noGrp="1"/>
          </p:cNvSpPr>
          <p:nvPr>
            <p:ph idx="1"/>
          </p:nvPr>
        </p:nvSpPr>
        <p:spPr>
          <a:xfrm>
            <a:off x="152400" y="1066800"/>
            <a:ext cx="8839200" cy="5638800"/>
          </a:xfrm>
        </p:spPr>
        <p:txBody>
          <a:bodyPr>
            <a:normAutofit/>
          </a:bodyPr>
          <a:lstStyle/>
          <a:p>
            <a:r>
              <a:rPr lang="en-US" dirty="0">
                <a:solidFill>
                  <a:srgbClr val="242424"/>
                </a:solidFill>
                <a:latin typeface="Times New Roman" panose="02020603050405020304" pitchFamily="18" charset="0"/>
                <a:cs typeface="Times New Roman" panose="02020603050405020304" pitchFamily="18" charset="0"/>
              </a:rPr>
              <a:t>Content is current and accurate,</a:t>
            </a:r>
          </a:p>
          <a:p>
            <a:r>
              <a:rPr lang="en-US" dirty="0">
                <a:solidFill>
                  <a:srgbClr val="242424"/>
                </a:solidFill>
                <a:latin typeface="Times New Roman" panose="02020603050405020304" pitchFamily="18" charset="0"/>
                <a:cs typeface="Times New Roman" panose="02020603050405020304" pitchFamily="18" charset="0"/>
              </a:rPr>
              <a:t>Data is clean and reliable</a:t>
            </a:r>
          </a:p>
          <a:p>
            <a:r>
              <a:rPr lang="en-US" dirty="0">
                <a:solidFill>
                  <a:srgbClr val="242424"/>
                </a:solidFill>
                <a:latin typeface="Times New Roman" panose="02020603050405020304" pitchFamily="18" charset="0"/>
                <a:cs typeface="Times New Roman" panose="02020603050405020304" pitchFamily="18" charset="0"/>
              </a:rPr>
              <a:t> Password resets are sent/received promptly</a:t>
            </a:r>
          </a:p>
          <a:p>
            <a:r>
              <a:rPr lang="en-US" dirty="0">
                <a:solidFill>
                  <a:srgbClr val="242424"/>
                </a:solidFill>
                <a:latin typeface="Times New Roman" panose="02020603050405020304" pitchFamily="18" charset="0"/>
                <a:cs typeface="Times New Roman" panose="02020603050405020304" pitchFamily="18" charset="0"/>
              </a:rPr>
              <a:t> It can be used effectively on mobile devices and standard device types.</a:t>
            </a:r>
          </a:p>
          <a:p>
            <a:pPr marL="0" indent="0">
              <a:buNone/>
            </a:pPr>
            <a:r>
              <a:rPr lang="en-US" b="1" dirty="0">
                <a:solidFill>
                  <a:srgbClr val="242424"/>
                </a:solidFill>
                <a:latin typeface="Times New Roman" panose="02020603050405020304" pitchFamily="18" charset="0"/>
                <a:cs typeface="Times New Roman" panose="02020603050405020304" pitchFamily="18" charset="0"/>
              </a:rPr>
              <a:t>3. Usable</a:t>
            </a:r>
            <a:r>
              <a:rPr lang="en-US" dirty="0">
                <a:solidFill>
                  <a:srgbClr val="242424"/>
                </a:solidFill>
                <a:latin typeface="Times New Roman" panose="02020603050405020304" pitchFamily="18" charset="0"/>
                <a:cs typeface="Times New Roman" panose="02020603050405020304" pitchFamily="18" charset="0"/>
              </a:rPr>
              <a:t>: </a:t>
            </a:r>
            <a:r>
              <a:rPr lang="en-US" i="1" dirty="0">
                <a:solidFill>
                  <a:srgbClr val="242424"/>
                </a:solidFill>
                <a:latin typeface="Times New Roman" panose="02020603050405020304" pitchFamily="18" charset="0"/>
                <a:cs typeface="Times New Roman" panose="02020603050405020304" pitchFamily="18" charset="0"/>
              </a:rPr>
              <a:t>Can it be used without difficulty?</a:t>
            </a:r>
            <a:endParaRPr lang="en-US" dirty="0">
              <a:solidFill>
                <a:srgbClr val="242424"/>
              </a:solidFill>
              <a:latin typeface="Times New Roman" panose="02020603050405020304" pitchFamily="18" charset="0"/>
              <a:cs typeface="Times New Roman" panose="02020603050405020304" pitchFamily="18" charset="0"/>
            </a:endParaRPr>
          </a:p>
          <a:p>
            <a:r>
              <a:rPr lang="en-US" dirty="0">
                <a:solidFill>
                  <a:srgbClr val="242424"/>
                </a:solidFill>
                <a:latin typeface="Times New Roman" panose="02020603050405020304" pitchFamily="18" charset="0"/>
                <a:cs typeface="Times New Roman" panose="02020603050405020304" pitchFamily="18" charset="0"/>
              </a:rPr>
              <a:t>Users don’t get lost or confused</a:t>
            </a:r>
          </a:p>
          <a:p>
            <a:r>
              <a:rPr lang="en-US" dirty="0">
                <a:solidFill>
                  <a:srgbClr val="242424"/>
                </a:solidFill>
                <a:latin typeface="Times New Roman" panose="02020603050405020304" pitchFamily="18" charset="0"/>
                <a:cs typeface="Times New Roman" panose="02020603050405020304" pitchFamily="18" charset="0"/>
              </a:rPr>
              <a:t>Users can easily find the content or products they are interested in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5399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err="1"/>
              <a:t>Cont</a:t>
            </a:r>
            <a:r>
              <a:rPr lang="en-US" b="1" dirty="0"/>
              <a:t>’</a:t>
            </a:r>
          </a:p>
        </p:txBody>
      </p:sp>
      <p:sp>
        <p:nvSpPr>
          <p:cNvPr id="3" name="Content Placeholder 2"/>
          <p:cNvSpPr>
            <a:spLocks noGrp="1"/>
          </p:cNvSpPr>
          <p:nvPr>
            <p:ph idx="1"/>
          </p:nvPr>
        </p:nvSpPr>
        <p:spPr>
          <a:xfrm>
            <a:off x="304800" y="1295400"/>
            <a:ext cx="8686800" cy="5486400"/>
          </a:xfrm>
        </p:spPr>
        <p:txBody>
          <a:bodyPr>
            <a:normAutofit fontScale="85000" lnSpcReduction="10000"/>
          </a:bodyPr>
          <a:lstStyle/>
          <a:p>
            <a:pPr marL="0" indent="0">
              <a:buNone/>
            </a:pPr>
            <a:r>
              <a:rPr lang="en-US" b="1" dirty="0">
                <a:solidFill>
                  <a:srgbClr val="242424"/>
                </a:solidFill>
                <a:latin typeface="Times New Roman" panose="02020603050405020304" pitchFamily="18" charset="0"/>
                <a:cs typeface="Times New Roman" panose="02020603050405020304" pitchFamily="18" charset="0"/>
              </a:rPr>
              <a:t>4. Convenient</a:t>
            </a:r>
            <a:br>
              <a:rPr lang="en-US" dirty="0">
                <a:solidFill>
                  <a:srgbClr val="242424"/>
                </a:solidFill>
                <a:latin typeface="Times New Roman" panose="02020603050405020304" pitchFamily="18" charset="0"/>
                <a:cs typeface="Times New Roman" panose="02020603050405020304" pitchFamily="18" charset="0"/>
              </a:rPr>
            </a:br>
            <a:r>
              <a:rPr lang="en-US" i="1" dirty="0">
                <a:solidFill>
                  <a:srgbClr val="242424"/>
                </a:solidFill>
                <a:latin typeface="Times New Roman" panose="02020603050405020304" pitchFamily="18" charset="0"/>
                <a:cs typeface="Times New Roman" panose="02020603050405020304" pitchFamily="18" charset="0"/>
              </a:rPr>
              <a:t>Does it fit in with my life and work the way I want?</a:t>
            </a:r>
            <a:endParaRPr lang="en-US" dirty="0">
              <a:solidFill>
                <a:srgbClr val="242424"/>
              </a:solidFill>
              <a:latin typeface="Times New Roman" panose="02020603050405020304" pitchFamily="18" charset="0"/>
              <a:cs typeface="Times New Roman" panose="02020603050405020304" pitchFamily="18" charset="0"/>
            </a:endParaRPr>
          </a:p>
          <a:p>
            <a:r>
              <a:rPr lang="en-US" dirty="0">
                <a:solidFill>
                  <a:srgbClr val="242424"/>
                </a:solidFill>
                <a:latin typeface="Times New Roman" panose="02020603050405020304" pitchFamily="18" charset="0"/>
                <a:cs typeface="Times New Roman" panose="02020603050405020304" pitchFamily="18" charset="0"/>
              </a:rPr>
              <a:t>Users want to use it</a:t>
            </a:r>
          </a:p>
          <a:p>
            <a:r>
              <a:rPr lang="en-US" dirty="0">
                <a:solidFill>
                  <a:srgbClr val="242424"/>
                </a:solidFill>
                <a:latin typeface="Times New Roman" panose="02020603050405020304" pitchFamily="18" charset="0"/>
                <a:cs typeface="Times New Roman" panose="02020603050405020304" pitchFamily="18" charset="0"/>
              </a:rPr>
              <a:t>Users actively find situations and reasons to use it more</a:t>
            </a:r>
          </a:p>
          <a:p>
            <a:r>
              <a:rPr lang="en-US" dirty="0">
                <a:solidFill>
                  <a:srgbClr val="242424"/>
                </a:solidFill>
                <a:latin typeface="Times New Roman" panose="02020603050405020304" pitchFamily="18" charset="0"/>
                <a:cs typeface="Times New Roman" panose="02020603050405020304" pitchFamily="18" charset="0"/>
              </a:rPr>
              <a:t>Users recommended, up-vote and rate it</a:t>
            </a:r>
          </a:p>
          <a:p>
            <a:pPr marL="0" indent="0">
              <a:buNone/>
            </a:pPr>
            <a:r>
              <a:rPr lang="en-US" dirty="0">
                <a:solidFill>
                  <a:srgbClr val="242424"/>
                </a:solidFill>
                <a:latin typeface="Times New Roman" panose="02020603050405020304" pitchFamily="18" charset="0"/>
                <a:cs typeface="Times New Roman" panose="02020603050405020304" pitchFamily="18" charset="0"/>
              </a:rPr>
              <a:t>5. </a:t>
            </a:r>
            <a:r>
              <a:rPr lang="en-US" b="1" dirty="0">
                <a:solidFill>
                  <a:srgbClr val="242424"/>
                </a:solidFill>
                <a:latin typeface="Times New Roman" panose="02020603050405020304" pitchFamily="18" charset="0"/>
                <a:cs typeface="Times New Roman" panose="02020603050405020304" pitchFamily="18" charset="0"/>
              </a:rPr>
              <a:t>Pleasurable</a:t>
            </a:r>
            <a:br>
              <a:rPr lang="en-US" dirty="0">
                <a:solidFill>
                  <a:srgbClr val="242424"/>
                </a:solidFill>
                <a:latin typeface="Times New Roman" panose="02020603050405020304" pitchFamily="18" charset="0"/>
                <a:cs typeface="Times New Roman" panose="02020603050405020304" pitchFamily="18" charset="0"/>
              </a:rPr>
            </a:br>
            <a:r>
              <a:rPr lang="en-US" i="1" dirty="0">
                <a:solidFill>
                  <a:srgbClr val="242424"/>
                </a:solidFill>
                <a:latin typeface="Times New Roman" panose="02020603050405020304" pitchFamily="18" charset="0"/>
                <a:cs typeface="Times New Roman" panose="02020603050405020304" pitchFamily="18" charset="0"/>
              </a:rPr>
              <a:t>Is it an enjoyable experience that’s worth sharing?</a:t>
            </a:r>
            <a:endParaRPr lang="en-US" dirty="0">
              <a:solidFill>
                <a:srgbClr val="242424"/>
              </a:solidFill>
              <a:latin typeface="Times New Roman" panose="02020603050405020304" pitchFamily="18" charset="0"/>
              <a:cs typeface="Times New Roman" panose="02020603050405020304" pitchFamily="18" charset="0"/>
            </a:endParaRPr>
          </a:p>
          <a:p>
            <a:r>
              <a:rPr lang="en-US" dirty="0">
                <a:solidFill>
                  <a:srgbClr val="242424"/>
                </a:solidFill>
                <a:latin typeface="Times New Roman" panose="02020603050405020304" pitchFamily="18" charset="0"/>
                <a:cs typeface="Times New Roman" panose="02020603050405020304" pitchFamily="18" charset="0"/>
              </a:rPr>
              <a:t>Users invest themselves into it</a:t>
            </a:r>
          </a:p>
          <a:p>
            <a:r>
              <a:rPr lang="en-US" dirty="0">
                <a:solidFill>
                  <a:srgbClr val="242424"/>
                </a:solidFill>
                <a:latin typeface="Times New Roman" panose="02020603050405020304" pitchFamily="18" charset="0"/>
                <a:cs typeface="Times New Roman" panose="02020603050405020304" pitchFamily="18" charset="0"/>
              </a:rPr>
              <a:t>Users promote, share and evangelize it</a:t>
            </a:r>
          </a:p>
          <a:p>
            <a:pPr marL="0" indent="0">
              <a:buNone/>
            </a:pPr>
            <a:r>
              <a:rPr lang="en-US" b="1" dirty="0">
                <a:latin typeface="Times New Roman" panose="02020603050405020304" pitchFamily="18" charset="0"/>
                <a:cs typeface="Times New Roman" panose="02020603050405020304" pitchFamily="18" charset="0"/>
              </a:rPr>
              <a:t>6. Meaningful</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Does it have personal or social significance?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Users ❤ it; it brings meaning to their life</a:t>
            </a:r>
          </a:p>
          <a:p>
            <a:endParaRPr lang="en-US" dirty="0">
              <a:solidFill>
                <a:srgbClr val="242424"/>
              </a:solidFill>
              <a:latin typeface="Times New Roman" panose="02020603050405020304" pitchFamily="18" charset="0"/>
              <a:cs typeface="Times New Roman" panose="02020603050405020304" pitchFamily="18" charset="0"/>
            </a:endParaRPr>
          </a:p>
          <a:p>
            <a:pPr marL="0" indent="0">
              <a:buNone/>
            </a:pPr>
            <a:endParaRPr lang="en-US" dirty="0">
              <a:solidFill>
                <a:srgbClr val="242424"/>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3777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039100" cy="823118"/>
          </a:xfrm>
        </p:spPr>
        <p:txBody>
          <a:bodyPr>
            <a:normAutofit fontScale="90000"/>
          </a:bodyPr>
          <a:lstStyle/>
          <a:p>
            <a:pPr lvl="0"/>
            <a:br>
              <a:rPr lang="en-US" altLang="en-US" b="1" dirty="0">
                <a:solidFill>
                  <a:srgbClr val="242424"/>
                </a:solidFill>
                <a:latin typeface="Times New Roman" panose="02020603050405020304" pitchFamily="18" charset="0"/>
                <a:cs typeface="Times New Roman" panose="02020603050405020304" pitchFamily="18" charset="0"/>
              </a:rPr>
            </a:br>
            <a:r>
              <a:rPr lang="en-US" altLang="en-US" b="1" dirty="0">
                <a:solidFill>
                  <a:srgbClr val="242424"/>
                </a:solidFill>
                <a:latin typeface="Times New Roman" panose="02020603050405020304" pitchFamily="18" charset="0"/>
                <a:cs typeface="Times New Roman" panose="02020603050405020304" pitchFamily="18" charset="0"/>
              </a:rPr>
              <a:t>Why is UX important?</a:t>
            </a:r>
            <a:br>
              <a:rPr lang="en-US" altLang="en-US" b="1" dirty="0">
                <a:solidFill>
                  <a:srgbClr val="242424"/>
                </a:solidFill>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lvl="0" indent="0" eaLnBrk="0" fontAlgn="base" hangingPunct="0">
              <a:spcBef>
                <a:spcPct val="0"/>
              </a:spcBef>
              <a:spcAft>
                <a:spcPct val="0"/>
              </a:spcAft>
              <a:buNone/>
            </a:pPr>
            <a:r>
              <a:rPr lang="en-US" altLang="en-US" dirty="0">
                <a:solidFill>
                  <a:srgbClr val="242424"/>
                </a:solidFill>
                <a:latin typeface="Times New Roman" panose="02020603050405020304" pitchFamily="18" charset="0"/>
                <a:cs typeface="Times New Roman" panose="02020603050405020304" pitchFamily="18" charset="0"/>
              </a:rPr>
              <a:t>When it comes to designing a website or application, user experience is a crucial aspect to consider.</a:t>
            </a:r>
            <a:endParaRPr lang="en-US" altLang="en-US" sz="1200"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altLang="en-US" i="1" dirty="0">
                <a:solidFill>
                  <a:srgbClr val="242424"/>
                </a:solidFill>
                <a:latin typeface="Times New Roman" panose="02020603050405020304" pitchFamily="18" charset="0"/>
                <a:cs typeface="Times New Roman" panose="02020603050405020304" pitchFamily="18" charset="0"/>
              </a:rPr>
              <a:t>A well-designed interface should be intuitive and easy to use, making the user’s experience seamless.</a:t>
            </a:r>
            <a:endParaRPr lang="en-US" altLang="en-US" sz="36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0057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1.1 Definition of Key Concepts</a:t>
            </a:r>
          </a:p>
        </p:txBody>
      </p:sp>
      <p:sp>
        <p:nvSpPr>
          <p:cNvPr id="3" name="Content Placeholder 2"/>
          <p:cNvSpPr>
            <a:spLocks noGrp="1"/>
          </p:cNvSpPr>
          <p:nvPr>
            <p:ph idx="1"/>
          </p:nvPr>
        </p:nvSpPr>
        <p:spPr/>
        <p:txBody>
          <a:bodyPr>
            <a:normAutofit lnSpcReduction="10000"/>
          </a:bodyPr>
          <a:lstStyle/>
          <a:p>
            <a:r>
              <a:rPr lang="en-US" b="1" dirty="0"/>
              <a:t>What is UX design?</a:t>
            </a:r>
          </a:p>
          <a:p>
            <a:r>
              <a:rPr lang="en-US" b="1" dirty="0"/>
              <a:t>User experience (UX) design is the process of building products that are easy and enjoyable for people to use.</a:t>
            </a:r>
            <a:r>
              <a:rPr lang="en-US" dirty="0"/>
              <a:t> By building products to be as effortless as possible for users, you can encourage adoption, retention, and loyalty/devotion.</a:t>
            </a:r>
          </a:p>
          <a:p>
            <a:pPr>
              <a:buFont typeface="Wingdings" panose="05000000000000000000" pitchFamily="2" charset="2"/>
              <a:buChar char="Ø"/>
            </a:pPr>
            <a:r>
              <a:rPr lang="en-US" dirty="0"/>
              <a:t>Adoption: transfer between an old system to another(usually better system)</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1944266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CDEAAF-9E83-4236-6062-DB56C4FB30BD}"/>
              </a:ext>
            </a:extLst>
          </p:cNvPr>
          <p:cNvSpPr>
            <a:spLocks noGrp="1"/>
          </p:cNvSpPr>
          <p:nvPr>
            <p:ph idx="1"/>
          </p:nvPr>
        </p:nvSpPr>
        <p:spPr>
          <a:xfrm>
            <a:off x="152400" y="381000"/>
            <a:ext cx="8686800" cy="5867400"/>
          </a:xfrm>
        </p:spPr>
        <p:txBody>
          <a:bodyPr>
            <a:normAutofit/>
          </a:bodyPr>
          <a:lstStyle/>
          <a:p>
            <a:pPr>
              <a:buFont typeface="Wingdings" panose="05000000000000000000" pitchFamily="2" charset="2"/>
              <a:buChar char="Ø"/>
            </a:pPr>
            <a:r>
              <a:rPr lang="en-US" dirty="0"/>
              <a:t>Retention: Remembering</a:t>
            </a:r>
          </a:p>
          <a:p>
            <a:pPr>
              <a:buFont typeface="Wingdings" panose="05000000000000000000" pitchFamily="2" charset="2"/>
              <a:buChar char="Ø"/>
            </a:pPr>
            <a:r>
              <a:rPr lang="en-US" dirty="0"/>
              <a:t>Loyalty: devotion</a:t>
            </a:r>
          </a:p>
          <a:p>
            <a:r>
              <a:rPr lang="en-US" dirty="0"/>
              <a:t>UX design is all about solving user problems and creating relevant, easy, enjoyable, and accessible experiences. </a:t>
            </a:r>
          </a:p>
          <a:p>
            <a:r>
              <a:rPr lang="en-US" dirty="0"/>
              <a:t>The user experience relates to how a user feels whenever they interact with a product or service. It’s not a physical, tangible thing—it’s the ease and user-friendliness of the interaction as a whole.</a:t>
            </a:r>
          </a:p>
          <a:p>
            <a:endParaRPr lang="en-US" dirty="0"/>
          </a:p>
        </p:txBody>
      </p:sp>
    </p:spTree>
    <p:extLst>
      <p:ext uri="{BB962C8B-B14F-4D97-AF65-F5344CB8AC3E}">
        <p14:creationId xmlns:p14="http://schemas.microsoft.com/office/powerpoint/2010/main" val="2838582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UI Design?</a:t>
            </a:r>
          </a:p>
        </p:txBody>
      </p:sp>
      <p:sp>
        <p:nvSpPr>
          <p:cNvPr id="3" name="Content Placeholder 2"/>
          <p:cNvSpPr>
            <a:spLocks noGrp="1"/>
          </p:cNvSpPr>
          <p:nvPr>
            <p:ph idx="1"/>
          </p:nvPr>
        </p:nvSpPr>
        <p:spPr>
          <a:xfrm>
            <a:off x="228600" y="1295400"/>
            <a:ext cx="8763000" cy="5287962"/>
          </a:xfrm>
        </p:spPr>
        <p:txBody>
          <a:bodyPr>
            <a:normAutofit/>
          </a:bodyPr>
          <a:lstStyle/>
          <a:p>
            <a:r>
              <a:rPr lang="en-US" dirty="0"/>
              <a:t>User interface (UI) design is the process designers use to build interfaces in software or computerized devices, focusing on looks or style.</a:t>
            </a:r>
          </a:p>
          <a:p>
            <a:r>
              <a:rPr lang="en-US" dirty="0"/>
              <a:t> Designers aim to create interfaces which users find easy to use and pleasurable. UI design refers to graphical user interfaces.</a:t>
            </a:r>
          </a:p>
          <a:p>
            <a:r>
              <a:rPr lang="en-US" dirty="0"/>
              <a:t>The user interface relates specifically to the screens, buttons and other visual and interactive features a person uses to interact with a digital product, such as a website or app.</a:t>
            </a:r>
          </a:p>
        </p:txBody>
      </p:sp>
    </p:spTree>
    <p:extLst>
      <p:ext uri="{BB962C8B-B14F-4D97-AF65-F5344CB8AC3E}">
        <p14:creationId xmlns:p14="http://schemas.microsoft.com/office/powerpoint/2010/main" val="2184010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Quality of the user experience:</a:t>
            </a:r>
          </a:p>
        </p:txBody>
      </p:sp>
      <p:sp>
        <p:nvSpPr>
          <p:cNvPr id="3" name="Content Placeholder 2"/>
          <p:cNvSpPr>
            <a:spLocks noGrp="1"/>
          </p:cNvSpPr>
          <p:nvPr>
            <p:ph idx="1"/>
          </p:nvPr>
        </p:nvSpPr>
        <p:spPr>
          <a:xfrm>
            <a:off x="304800" y="1417638"/>
            <a:ext cx="8763000" cy="5165724"/>
          </a:xfrm>
        </p:spPr>
        <p:txBody>
          <a:bodyPr>
            <a:normAutofit lnSpcReduction="10000"/>
          </a:bodyPr>
          <a:lstStyle/>
          <a:p>
            <a:pPr fontAlgn="base"/>
            <a:r>
              <a:rPr lang="en-US" dirty="0"/>
              <a:t>a meaningful and valuable user experience, information must be:</a:t>
            </a:r>
          </a:p>
          <a:p>
            <a:pPr fontAlgn="base"/>
            <a:r>
              <a:rPr lang="en-US" b="1" dirty="0"/>
              <a:t>Useful</a:t>
            </a:r>
            <a:r>
              <a:rPr lang="en-US" dirty="0"/>
              <a:t>: Your content should be original and fulfill a need</a:t>
            </a:r>
          </a:p>
          <a:p>
            <a:pPr fontAlgn="base"/>
            <a:r>
              <a:rPr lang="en-US" b="1" dirty="0"/>
              <a:t>Usable</a:t>
            </a:r>
            <a:r>
              <a:rPr lang="en-US" dirty="0"/>
              <a:t>: Site must be easy to use</a:t>
            </a:r>
          </a:p>
          <a:p>
            <a:pPr fontAlgn="base"/>
            <a:r>
              <a:rPr lang="en-US" b="1" dirty="0"/>
              <a:t>Desirable</a:t>
            </a:r>
            <a:r>
              <a:rPr lang="en-US" dirty="0"/>
              <a:t>: Image, identity, brand, and other design elements are used to evoke emotion and appreciation</a:t>
            </a:r>
          </a:p>
          <a:p>
            <a:pPr fontAlgn="base"/>
            <a:r>
              <a:rPr lang="en-US" b="1" dirty="0"/>
              <a:t>Findable</a:t>
            </a:r>
            <a:r>
              <a:rPr lang="en-US" dirty="0"/>
              <a:t>: Content needs to be navigable and locatable onsite and offsite</a:t>
            </a:r>
          </a:p>
          <a:p>
            <a:endParaRPr lang="en-US" dirty="0"/>
          </a:p>
        </p:txBody>
      </p:sp>
    </p:spTree>
    <p:extLst>
      <p:ext uri="{BB962C8B-B14F-4D97-AF65-F5344CB8AC3E}">
        <p14:creationId xmlns:p14="http://schemas.microsoft.com/office/powerpoint/2010/main" val="2961357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749517-89C1-8F9E-54A6-A75EF8B90B5F}"/>
              </a:ext>
            </a:extLst>
          </p:cNvPr>
          <p:cNvSpPr>
            <a:spLocks noGrp="1"/>
          </p:cNvSpPr>
          <p:nvPr>
            <p:ph idx="1"/>
          </p:nvPr>
        </p:nvSpPr>
        <p:spPr>
          <a:xfrm>
            <a:off x="381000" y="381000"/>
            <a:ext cx="8534400" cy="6019800"/>
          </a:xfrm>
        </p:spPr>
        <p:txBody>
          <a:bodyPr>
            <a:normAutofit/>
          </a:bodyPr>
          <a:lstStyle/>
          <a:p>
            <a:pPr fontAlgn="base"/>
            <a:r>
              <a:rPr lang="en-US" b="1" dirty="0"/>
              <a:t>Accessible</a:t>
            </a:r>
            <a:r>
              <a:rPr lang="en-US" dirty="0"/>
              <a:t>: Content needs to be accessible to people with disabilities</a:t>
            </a:r>
          </a:p>
          <a:p>
            <a:pPr fontAlgn="base"/>
            <a:r>
              <a:rPr lang="en-US" b="1" dirty="0"/>
              <a:t>Credible</a:t>
            </a:r>
            <a:r>
              <a:rPr lang="en-US" dirty="0"/>
              <a:t>: Users must trust and believe what you tell them</a:t>
            </a:r>
            <a:endParaRPr lang="en-US" b="1" dirty="0"/>
          </a:p>
          <a:p>
            <a:r>
              <a:rPr lang="en-US" b="1" dirty="0"/>
              <a:t>Valuable.</a:t>
            </a:r>
            <a:r>
              <a:rPr lang="en-US" dirty="0"/>
              <a:t> Our sites must deliver value to our sponsors. For non-profits, the user experience must advance the mission. With for-profits, it must contribute to the bottom line and improve customer satisfaction.</a:t>
            </a:r>
          </a:p>
          <a:p>
            <a:endParaRPr lang="en-US" dirty="0"/>
          </a:p>
        </p:txBody>
      </p:sp>
    </p:spTree>
    <p:extLst>
      <p:ext uri="{BB962C8B-B14F-4D97-AF65-F5344CB8AC3E}">
        <p14:creationId xmlns:p14="http://schemas.microsoft.com/office/powerpoint/2010/main" val="3776202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686800" cy="1143000"/>
          </a:xfrm>
        </p:spPr>
        <p:txBody>
          <a:bodyPr>
            <a:normAutofit fontScale="90000"/>
          </a:bodyPr>
          <a:lstStyle/>
          <a:p>
            <a:r>
              <a:rPr lang="en-US" b="1" dirty="0">
                <a:latin typeface="Times New Roman" panose="02020603050405020304" pitchFamily="18" charset="0"/>
                <a:cs typeface="Times New Roman" panose="02020603050405020304" pitchFamily="18" charset="0"/>
              </a:rPr>
              <a:t>What is User experience (UX) research?</a:t>
            </a:r>
          </a:p>
        </p:txBody>
      </p:sp>
      <p:sp>
        <p:nvSpPr>
          <p:cNvPr id="3" name="Content Placeholder 2"/>
          <p:cNvSpPr>
            <a:spLocks noGrp="1"/>
          </p:cNvSpPr>
          <p:nvPr>
            <p:ph idx="1"/>
          </p:nvPr>
        </p:nvSpPr>
        <p:spPr>
          <a:xfrm>
            <a:off x="304800" y="1600200"/>
            <a:ext cx="8382000" cy="5105400"/>
          </a:xfrm>
        </p:spPr>
        <p:txBody>
          <a:bodyPr/>
          <a:lstStyle/>
          <a:p>
            <a:r>
              <a:rPr lang="en-US" dirty="0">
                <a:latin typeface="Times New Roman" panose="02020603050405020304" pitchFamily="18" charset="0"/>
                <a:cs typeface="Times New Roman" panose="02020603050405020304" pitchFamily="18" charset="0"/>
              </a:rPr>
              <a:t>User experience (UX) research is </a:t>
            </a:r>
            <a:r>
              <a:rPr lang="en-US" b="1" dirty="0">
                <a:solidFill>
                  <a:schemeClr val="tx2"/>
                </a:solidFill>
                <a:latin typeface="Times New Roman" panose="02020603050405020304" pitchFamily="18" charset="0"/>
                <a:cs typeface="Times New Roman" panose="02020603050405020304" pitchFamily="18" charset="0"/>
              </a:rPr>
              <a:t>the study of learning what end users of a system or product need and want, then employing those insights to enhance the design process for products, services or software. </a:t>
            </a:r>
            <a:r>
              <a:rPr lang="en-US" dirty="0">
                <a:latin typeface="Times New Roman" panose="02020603050405020304" pitchFamily="18" charset="0"/>
                <a:cs typeface="Times New Roman" panose="02020603050405020304" pitchFamily="18" charset="0"/>
              </a:rPr>
              <a:t>UX research can take different forms depending on the area of focus.</a:t>
            </a:r>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5834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are the Research findings?</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Research findings refer to the results obtained from a study or investigation conducted through a systematic and scientific approach. These findings are the outcomes of the data analysis, interpretation, and evaluation carried out during the research process.</a:t>
            </a:r>
          </a:p>
        </p:txBody>
      </p:sp>
    </p:spTree>
    <p:extLst>
      <p:ext uri="{BB962C8B-B14F-4D97-AF65-F5344CB8AC3E}">
        <p14:creationId xmlns:p14="http://schemas.microsoft.com/office/powerpoint/2010/main" val="118815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Examples of User Experience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382000" cy="4876800"/>
          </a:xfrm>
        </p:spPr>
        <p:txBody>
          <a:bodyPr>
            <a:normAutofit/>
          </a:bodyPr>
          <a:lstStyle/>
          <a:p>
            <a:r>
              <a:rPr lang="en-US" b="1" dirty="0">
                <a:latin typeface="Times New Roman" panose="02020603050405020304" pitchFamily="18" charset="0"/>
                <a:cs typeface="Times New Roman" panose="02020603050405020304" pitchFamily="18" charset="0"/>
              </a:rPr>
              <a:t>Let's take as an example an e-commerce website. </a:t>
            </a:r>
          </a:p>
          <a:p>
            <a:r>
              <a:rPr lang="en-US" dirty="0">
                <a:latin typeface="Times New Roman" panose="02020603050405020304" pitchFamily="18" charset="0"/>
                <a:cs typeface="Times New Roman" panose="02020603050405020304" pitchFamily="18" charset="0"/>
              </a:rPr>
              <a:t>If a customer finds the buying experience to be long, complex, and complicated, then her UX will be a bad one. </a:t>
            </a:r>
          </a:p>
          <a:p>
            <a:r>
              <a:rPr lang="en-US" dirty="0">
                <a:latin typeface="Times New Roman" panose="02020603050405020304" pitchFamily="18" charset="0"/>
                <a:cs typeface="Times New Roman" panose="02020603050405020304" pitchFamily="18" charset="0"/>
              </a:rPr>
              <a:t>Say instead her purchasing experience is easy and hustle-free, then the UX will be considered a good one</a:t>
            </a: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6648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What is a UX Designer?</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382000" cy="4800600"/>
          </a:xfrm>
        </p:spPr>
        <p:txBody>
          <a:bodyPr>
            <a:normAutofit/>
          </a:bodyPr>
          <a:lstStyle/>
          <a:p>
            <a:r>
              <a:rPr lang="en-US" b="1" dirty="0">
                <a:latin typeface="Times New Roman" panose="02020603050405020304" pitchFamily="18" charset="0"/>
                <a:cs typeface="Times New Roman" panose="02020603050405020304" pitchFamily="18" charset="0"/>
              </a:rPr>
              <a:t>A UX designer </a:t>
            </a:r>
            <a:r>
              <a:rPr lang="en-US" dirty="0">
                <a:latin typeface="Times New Roman" panose="02020603050405020304" pitchFamily="18" charset="0"/>
                <a:cs typeface="Times New Roman" panose="02020603050405020304" pitchFamily="18" charset="0"/>
              </a:rPr>
              <a:t>is someone who investigates and analyzes how users feel about the products he or she offers them. </a:t>
            </a:r>
          </a:p>
          <a:p>
            <a:r>
              <a:rPr lang="en-US" dirty="0">
                <a:latin typeface="Times New Roman" panose="02020603050405020304" pitchFamily="18" charset="0"/>
                <a:cs typeface="Times New Roman" panose="02020603050405020304" pitchFamily="18" charset="0"/>
              </a:rPr>
              <a:t>UX designers then apply this knowledge to product development to ensure that the user has the best possible experience with a product.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5672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Difference between UX and UI</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1000" y="1600200"/>
            <a:ext cx="8610600" cy="4983162"/>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While UX is the internal experience of customers as they interact with any aspect of a product/service, </a:t>
            </a:r>
            <a:r>
              <a:rPr lang="en-US" b="1" dirty="0">
                <a:latin typeface="Times New Roman" panose="02020603050405020304" pitchFamily="18" charset="0"/>
                <a:cs typeface="Times New Roman" panose="02020603050405020304" pitchFamily="18" charset="0"/>
              </a:rPr>
              <a:t>UI is the sum of all the visual elements</a:t>
            </a:r>
            <a:r>
              <a:rPr lang="en-US" dirty="0">
                <a:latin typeface="Times New Roman" panose="02020603050405020304" pitchFamily="18" charset="0"/>
                <a:cs typeface="Times New Roman" panose="02020603050405020304" pitchFamily="18" charset="0"/>
              </a:rPr>
              <a:t> of a product/service that you interact with when using a website, app, or other electronic device. </a:t>
            </a:r>
          </a:p>
          <a:p>
            <a:r>
              <a:rPr lang="en-US" dirty="0">
                <a:latin typeface="Times New Roman" panose="02020603050405020304" pitchFamily="18" charset="0"/>
                <a:cs typeface="Times New Roman" panose="02020603050405020304" pitchFamily="18" charset="0"/>
              </a:rPr>
              <a:t>UI is all about screens, pages, icons; it of course contributes to making an experience better (or worse) but it is just a part of the whole.</a:t>
            </a:r>
          </a:p>
          <a:p>
            <a:r>
              <a:rPr lang="en-US" dirty="0">
                <a:latin typeface="Times New Roman" panose="02020603050405020304" pitchFamily="18" charset="0"/>
                <a:cs typeface="Times New Roman" panose="02020603050405020304" pitchFamily="18" charset="0"/>
              </a:rPr>
              <a:t>UX refers to the entire interaction you have with a product, including how you feel about the interaction.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01038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81000"/>
            <a:ext cx="8763000" cy="6095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1571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Tasks and responsibilities</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610600" cy="4983162"/>
          </a:xfrm>
        </p:spPr>
        <p:txBody>
          <a:bodyPr/>
          <a:lstStyle/>
          <a:p>
            <a:r>
              <a:rPr lang="en-US" b="1" dirty="0">
                <a:latin typeface="Times New Roman" panose="02020603050405020304" pitchFamily="18" charset="0"/>
                <a:cs typeface="Times New Roman" panose="02020603050405020304" pitchFamily="18" charset="0"/>
              </a:rPr>
              <a:t>UX designers</a:t>
            </a:r>
            <a:r>
              <a:rPr lang="en-US" dirty="0">
                <a:latin typeface="Times New Roman" panose="02020603050405020304" pitchFamily="18" charset="0"/>
                <a:cs typeface="Times New Roman" panose="02020603050405020304" pitchFamily="18" charset="0"/>
              </a:rPr>
              <a:t> focus their work on the experience a user has with a product. </a:t>
            </a:r>
          </a:p>
          <a:p>
            <a:r>
              <a:rPr lang="en-US" dirty="0">
                <a:latin typeface="Times New Roman" panose="02020603050405020304" pitchFamily="18" charset="0"/>
                <a:cs typeface="Times New Roman" panose="02020603050405020304" pitchFamily="18" charset="0"/>
              </a:rPr>
              <a:t>The goal is to make products that are functional, accessible, and enjoyable to use. </a:t>
            </a:r>
          </a:p>
          <a:p>
            <a:r>
              <a:rPr lang="en-US" b="1" dirty="0">
                <a:latin typeface="Times New Roman" panose="02020603050405020304" pitchFamily="18" charset="0"/>
                <a:cs typeface="Times New Roman" panose="02020603050405020304" pitchFamily="18" charset="0"/>
              </a:rPr>
              <a:t>UI designers</a:t>
            </a:r>
            <a:r>
              <a:rPr lang="en-US" dirty="0">
                <a:latin typeface="Times New Roman" panose="02020603050405020304" pitchFamily="18" charset="0"/>
                <a:cs typeface="Times New Roman" panose="02020603050405020304" pitchFamily="18" charset="0"/>
              </a:rPr>
              <a:t> create the graphical portions of mobile apps, websites, and devices; the elements that a user directly interacts with. </a:t>
            </a:r>
          </a:p>
        </p:txBody>
      </p:sp>
    </p:spTree>
    <p:extLst>
      <p:ext uri="{BB962C8B-B14F-4D97-AF65-F5344CB8AC3E}">
        <p14:creationId xmlns:p14="http://schemas.microsoft.com/office/powerpoint/2010/main" val="15235626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endParaRPr lang="en-US" dirty="0"/>
          </a:p>
        </p:txBody>
      </p:sp>
      <p:sp>
        <p:nvSpPr>
          <p:cNvPr id="3" name="Content Placeholder 2"/>
          <p:cNvSpPr>
            <a:spLocks noGrp="1"/>
          </p:cNvSpPr>
          <p:nvPr>
            <p:ph idx="1"/>
          </p:nvPr>
        </p:nvSpPr>
        <p:spPr>
          <a:xfrm>
            <a:off x="228600" y="762000"/>
            <a:ext cx="8458200" cy="5364163"/>
          </a:xfrm>
        </p:spPr>
        <p:txBody>
          <a:bodyPr>
            <a:normAutofit/>
          </a:bodyPr>
          <a:lstStyle/>
          <a:p>
            <a:r>
              <a:rPr lang="en-US" b="1" dirty="0">
                <a:latin typeface="Times New Roman" panose="02020603050405020304" pitchFamily="18" charset="0"/>
                <a:cs typeface="Times New Roman" panose="02020603050405020304" pitchFamily="18" charset="0"/>
              </a:rPr>
              <a:t>User interface: </a:t>
            </a:r>
            <a:r>
              <a:rPr lang="en-US" dirty="0">
                <a:latin typeface="Times New Roman" panose="02020603050405020304" pitchFamily="18" charset="0"/>
                <a:cs typeface="Times New Roman" panose="02020603050405020304" pitchFamily="18" charset="0"/>
              </a:rPr>
              <a:t>The means by which a person interacts with an application or hardware device</a:t>
            </a:r>
          </a:p>
          <a:p>
            <a:r>
              <a:rPr lang="en-US" b="1" dirty="0">
                <a:latin typeface="Times New Roman" panose="02020603050405020304" pitchFamily="18" charset="0"/>
                <a:cs typeface="Times New Roman" panose="02020603050405020304" pitchFamily="18" charset="0"/>
              </a:rPr>
              <a:t>Typography:</a:t>
            </a:r>
            <a:r>
              <a:rPr lang="en-US" dirty="0">
                <a:latin typeface="Times New Roman" panose="02020603050405020304" pitchFamily="18" charset="0"/>
                <a:cs typeface="Times New Roman" panose="02020603050405020304" pitchFamily="18" charset="0"/>
              </a:rPr>
              <a:t> The style and appearance of written material; the art of making type legible, readable, and appealing</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Prototype:</a:t>
            </a:r>
            <a:r>
              <a:rPr lang="en-US" dirty="0">
                <a:latin typeface="Times New Roman" panose="02020603050405020304" pitchFamily="18" charset="0"/>
                <a:cs typeface="Times New Roman" panose="02020603050405020304" pitchFamily="18" charset="0"/>
              </a:rPr>
              <a:t> A sample or simulation of a final product used to test and gather feedback</a:t>
            </a:r>
          </a:p>
          <a:p>
            <a:r>
              <a:rPr lang="en-US" b="1" dirty="0">
                <a:latin typeface="Times New Roman" panose="02020603050405020304" pitchFamily="18" charset="0"/>
                <a:cs typeface="Times New Roman" panose="02020603050405020304" pitchFamily="18" charset="0"/>
              </a:rPr>
              <a:t>Wireframe:</a:t>
            </a:r>
            <a:r>
              <a:rPr lang="en-US" dirty="0">
                <a:latin typeface="Times New Roman" panose="02020603050405020304" pitchFamily="18" charset="0"/>
                <a:cs typeface="Times New Roman" panose="02020603050405020304" pitchFamily="18" charset="0"/>
              </a:rPr>
              <a:t> A layout displaying functional elements of an interface</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1058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1.3 Description of UX Research</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534400" cy="4983162"/>
          </a:xfrm>
        </p:spPr>
        <p:txBody>
          <a:bodyPr>
            <a:normAutofit/>
          </a:bodyPr>
          <a:lstStyle/>
          <a:p>
            <a:r>
              <a:rPr lang="en-US" dirty="0">
                <a:latin typeface="Times New Roman" panose="02020603050405020304" pitchFamily="18" charset="0"/>
                <a:cs typeface="Times New Roman" panose="02020603050405020304" pitchFamily="18" charset="0"/>
              </a:rPr>
              <a:t>User experience (UX) research is the process of collecting, processing, analyzing data, finding weak points in the product, suggesting ways to fix them, and testing solutions with the users to get real feedback.</a:t>
            </a:r>
          </a:p>
          <a:p>
            <a:r>
              <a:rPr lang="en-US" dirty="0">
                <a:latin typeface="Times New Roman" panose="02020603050405020304" pitchFamily="18" charset="0"/>
                <a:cs typeface="Times New Roman" panose="02020603050405020304" pitchFamily="18" charset="0"/>
              </a:rPr>
              <a:t>User experience (UX) design requires you to understand the pains and pleasures of your users—and user research is the way in which to do just that. </a:t>
            </a:r>
          </a:p>
        </p:txBody>
      </p:sp>
    </p:spTree>
    <p:extLst>
      <p:ext uri="{BB962C8B-B14F-4D97-AF65-F5344CB8AC3E}">
        <p14:creationId xmlns:p14="http://schemas.microsoft.com/office/powerpoint/2010/main" val="5310536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8C2EEE-C033-A4FB-C498-6463877BFC07}"/>
              </a:ext>
            </a:extLst>
          </p:cNvPr>
          <p:cNvSpPr>
            <a:spLocks noGrp="1"/>
          </p:cNvSpPr>
          <p:nvPr>
            <p:ph idx="1"/>
          </p:nvPr>
        </p:nvSpPr>
        <p:spPr>
          <a:xfrm>
            <a:off x="152400" y="533400"/>
            <a:ext cx="8534400" cy="5592763"/>
          </a:xfrm>
        </p:spPr>
        <p:txBody>
          <a:bodyPr/>
          <a:lstStyle/>
          <a:p>
            <a:r>
              <a:rPr lang="en-US" dirty="0">
                <a:latin typeface="Times New Roman" panose="02020603050405020304" pitchFamily="18" charset="0"/>
                <a:cs typeface="Times New Roman" panose="02020603050405020304" pitchFamily="18" charset="0"/>
              </a:rPr>
              <a:t>“User research is how you will know your product or service will work in the real world, with real people. It’s where you will uncover or validate the user needs which should form the basis of what you are designing.”</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495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Research findings(review)</a:t>
            </a:r>
          </a:p>
        </p:txBody>
      </p:sp>
      <p:sp>
        <p:nvSpPr>
          <p:cNvPr id="3" name="Content Placeholder 2"/>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Findings</a:t>
            </a:r>
            <a:r>
              <a:rPr lang="en-US" dirty="0">
                <a:latin typeface="Times New Roman" panose="02020603050405020304" pitchFamily="18" charset="0"/>
                <a:cs typeface="Times New Roman" panose="02020603050405020304" pitchFamily="18" charset="0"/>
              </a:rPr>
              <a:t> are basically the key outcome of the investigation. Or are the information they </a:t>
            </a:r>
            <a:r>
              <a:rPr lang="en-US" dirty="0">
                <a:latin typeface="Times New Roman" panose="02020603050405020304" pitchFamily="18" charset="0"/>
                <a:cs typeface="Times New Roman" panose="02020603050405020304" pitchFamily="18" charset="0"/>
                <a:hlinkClick r:id="rId2" tooltip="Definition of get"/>
              </a:rPr>
              <a:t>get</a:t>
            </a:r>
            <a:r>
              <a:rPr lang="en-US" dirty="0">
                <a:latin typeface="Times New Roman" panose="02020603050405020304" pitchFamily="18" charset="0"/>
                <a:cs typeface="Times New Roman" panose="02020603050405020304" pitchFamily="18" charset="0"/>
              </a:rPr>
              <a:t> or the </a:t>
            </a:r>
            <a:r>
              <a:rPr lang="en-US" dirty="0">
                <a:latin typeface="Times New Roman" panose="02020603050405020304" pitchFamily="18" charset="0"/>
                <a:cs typeface="Times New Roman" panose="02020603050405020304" pitchFamily="18" charset="0"/>
                <a:hlinkClick r:id="rId3" tooltip="Definition of conclusions"/>
              </a:rPr>
              <a:t>conclusions</a:t>
            </a:r>
            <a:r>
              <a:rPr lang="en-US" dirty="0">
                <a:latin typeface="Times New Roman" panose="02020603050405020304" pitchFamily="18" charset="0"/>
                <a:cs typeface="Times New Roman" panose="02020603050405020304" pitchFamily="18" charset="0"/>
              </a:rPr>
              <a:t> they </a:t>
            </a:r>
            <a:r>
              <a:rPr lang="en-US" dirty="0">
                <a:latin typeface="Times New Roman" panose="02020603050405020304" pitchFamily="18" charset="0"/>
                <a:cs typeface="Times New Roman" panose="02020603050405020304" pitchFamily="18" charset="0"/>
                <a:hlinkClick r:id="rId4" tooltip="Definition of come"/>
              </a:rPr>
              <a:t>come</a:t>
            </a:r>
            <a:r>
              <a:rPr lang="en-US" dirty="0">
                <a:latin typeface="Times New Roman" panose="02020603050405020304" pitchFamily="18" charset="0"/>
                <a:cs typeface="Times New Roman" panose="02020603050405020304" pitchFamily="18" charset="0"/>
              </a:rPr>
              <a:t> to as the result of an </a:t>
            </a:r>
            <a:r>
              <a:rPr lang="en-US" dirty="0">
                <a:latin typeface="Times New Roman" panose="02020603050405020304" pitchFamily="18" charset="0"/>
                <a:cs typeface="Times New Roman" panose="02020603050405020304" pitchFamily="18" charset="0"/>
                <a:hlinkClick r:id="rId5" tooltip="Definition of investigation"/>
              </a:rPr>
              <a:t>investigation</a:t>
            </a:r>
            <a:r>
              <a:rPr lang="en-US" dirty="0">
                <a:latin typeface="Times New Roman" panose="02020603050405020304" pitchFamily="18" charset="0"/>
                <a:cs typeface="Times New Roman" panose="02020603050405020304" pitchFamily="18" charset="0"/>
              </a:rPr>
              <a:t> or some </a:t>
            </a:r>
            <a:r>
              <a:rPr lang="en-US" dirty="0">
                <a:latin typeface="Times New Roman" panose="02020603050405020304" pitchFamily="18" charset="0"/>
                <a:cs typeface="Times New Roman" panose="02020603050405020304" pitchFamily="18" charset="0"/>
                <a:hlinkClick r:id="rId6" tooltip="Definition of research"/>
              </a:rPr>
              <a:t>research</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It is basically a key fact which you can discover during an investigation.</a:t>
            </a:r>
          </a:p>
        </p:txBody>
      </p:sp>
    </p:spTree>
    <p:extLst>
      <p:ext uri="{BB962C8B-B14F-4D97-AF65-F5344CB8AC3E}">
        <p14:creationId xmlns:p14="http://schemas.microsoft.com/office/powerpoint/2010/main" val="2984118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A2FCC9-EAD0-E25E-B142-0C187A1AEDB2}"/>
              </a:ext>
            </a:extLst>
          </p:cNvPr>
          <p:cNvSpPr>
            <a:spLocks noGrp="1"/>
          </p:cNvSpPr>
          <p:nvPr>
            <p:ph idx="1"/>
          </p:nvPr>
        </p:nvSpPr>
        <p:spPr>
          <a:xfrm>
            <a:off x="457200" y="533400"/>
            <a:ext cx="8077200" cy="5791200"/>
          </a:xfrm>
        </p:spPr>
        <p:txBody>
          <a:bodyPr/>
          <a:lstStyle/>
          <a:p>
            <a:r>
              <a:rPr lang="en-US" b="1" dirty="0">
                <a:latin typeface="Times New Roman" panose="02020603050405020304" pitchFamily="18" charset="0"/>
                <a:cs typeface="Times New Roman" panose="02020603050405020304" pitchFamily="18" charset="0"/>
              </a:rPr>
              <a:t>Research</a:t>
            </a:r>
            <a:r>
              <a:rPr lang="en-US" dirty="0">
                <a:latin typeface="Times New Roman" panose="02020603050405020304" pitchFamily="18" charset="0"/>
                <a:cs typeface="Times New Roman" panose="02020603050405020304" pitchFamily="18" charset="0"/>
              </a:rPr>
              <a:t> is work that involves studying something and </a:t>
            </a:r>
            <a:r>
              <a:rPr lang="en-US" dirty="0">
                <a:latin typeface="Times New Roman" panose="02020603050405020304" pitchFamily="18" charset="0"/>
                <a:cs typeface="Times New Roman" panose="02020603050405020304" pitchFamily="18" charset="0"/>
                <a:hlinkClick r:id="rId2" tooltip="Definition of trying"/>
              </a:rPr>
              <a:t>trying</a:t>
            </a:r>
            <a:r>
              <a:rPr lang="en-US" dirty="0">
                <a:latin typeface="Times New Roman" panose="02020603050405020304" pitchFamily="18" charset="0"/>
                <a:cs typeface="Times New Roman" panose="02020603050405020304" pitchFamily="18" charset="0"/>
              </a:rPr>
              <a:t> to </a:t>
            </a:r>
            <a:r>
              <a:rPr lang="en-US" dirty="0">
                <a:latin typeface="Times New Roman" panose="02020603050405020304" pitchFamily="18" charset="0"/>
                <a:cs typeface="Times New Roman" panose="02020603050405020304" pitchFamily="18" charset="0"/>
                <a:hlinkClick r:id="rId3" tooltip="Definition of discover"/>
              </a:rPr>
              <a:t>discover</a:t>
            </a:r>
            <a:r>
              <a:rPr lang="en-US" dirty="0">
                <a:latin typeface="Times New Roman" panose="02020603050405020304" pitchFamily="18" charset="0"/>
                <a:cs typeface="Times New Roman" panose="02020603050405020304" pitchFamily="18" charset="0"/>
              </a:rPr>
              <a:t> facts about it.</a:t>
            </a:r>
          </a:p>
          <a:p>
            <a:r>
              <a:rPr lang="en-US" b="1" dirty="0">
                <a:latin typeface="Times New Roman" panose="02020603050405020304" pitchFamily="18" charset="0"/>
                <a:cs typeface="Times New Roman" panose="02020603050405020304" pitchFamily="18" charset="0"/>
              </a:rPr>
              <a:t> Research findings </a:t>
            </a:r>
            <a:r>
              <a:rPr lang="en-US" dirty="0">
                <a:latin typeface="Times New Roman" panose="02020603050405020304" pitchFamily="18" charset="0"/>
                <a:cs typeface="Times New Roman" panose="02020603050405020304" pitchFamily="18" charset="0"/>
              </a:rPr>
              <a:t>are facts and phrases, observations, and experimental data resulting from research.</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69156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1.4 UX research methods and approaches</a:t>
            </a:r>
          </a:p>
        </p:txBody>
      </p:sp>
      <p:sp>
        <p:nvSpPr>
          <p:cNvPr id="3" name="Content Placeholder 2"/>
          <p:cNvSpPr>
            <a:spLocks noGrp="1"/>
          </p:cNvSpPr>
          <p:nvPr>
            <p:ph idx="1"/>
          </p:nvPr>
        </p:nvSpPr>
        <p:spPr/>
        <p:txBody>
          <a:bodyPr>
            <a:normAutofit lnSpcReduction="10000"/>
          </a:bodyPr>
          <a:lstStyle/>
          <a:p>
            <a:r>
              <a:rPr lang="en-US" dirty="0"/>
              <a:t> Common UX research methods are:</a:t>
            </a:r>
          </a:p>
          <a:p>
            <a:pPr marL="514350" indent="-514350">
              <a:buFont typeface="+mj-lt"/>
              <a:buAutoNum type="arabicPeriod"/>
            </a:pPr>
            <a:r>
              <a:rPr lang="en-US" dirty="0"/>
              <a:t> Usability testing</a:t>
            </a:r>
          </a:p>
          <a:p>
            <a:pPr marL="514350" indent="-514350">
              <a:buFont typeface="+mj-lt"/>
              <a:buAutoNum type="arabicPeriod"/>
            </a:pPr>
            <a:r>
              <a:rPr lang="en-US" dirty="0"/>
              <a:t>User interviews</a:t>
            </a:r>
          </a:p>
          <a:p>
            <a:pPr marL="514350" indent="-514350">
              <a:buFont typeface="+mj-lt"/>
              <a:buAutoNum type="arabicPeriod"/>
            </a:pPr>
            <a:r>
              <a:rPr lang="en-US" dirty="0"/>
              <a:t> Surveys</a:t>
            </a:r>
          </a:p>
          <a:p>
            <a:pPr marL="514350" indent="-514350">
              <a:buFont typeface="+mj-lt"/>
              <a:buAutoNum type="arabicPeriod"/>
            </a:pPr>
            <a:r>
              <a:rPr lang="en-US" dirty="0"/>
              <a:t>Card sorting</a:t>
            </a:r>
          </a:p>
          <a:p>
            <a:pPr marL="514350" indent="-514350">
              <a:buFont typeface="+mj-lt"/>
              <a:buAutoNum type="arabicPeriod"/>
            </a:pPr>
            <a:r>
              <a:rPr lang="en-US" dirty="0"/>
              <a:t>Tree testing</a:t>
            </a:r>
          </a:p>
          <a:p>
            <a:pPr marL="514350" indent="-514350">
              <a:buFont typeface="+mj-lt"/>
              <a:buAutoNum type="arabicPeriod"/>
            </a:pPr>
            <a:r>
              <a:rPr lang="en-US" dirty="0"/>
              <a:t> Field studies</a:t>
            </a:r>
          </a:p>
          <a:p>
            <a:pPr marL="514350" indent="-514350">
              <a:buFont typeface="+mj-lt"/>
              <a:buAutoNum type="arabicPeriod"/>
            </a:pPr>
            <a:r>
              <a:rPr lang="en-US" dirty="0"/>
              <a:t>And more.</a:t>
            </a:r>
          </a:p>
          <a:p>
            <a:pPr marL="0" indent="0">
              <a:buNone/>
            </a:pPr>
            <a:endParaRPr lang="en-US" dirty="0"/>
          </a:p>
          <a:p>
            <a:endParaRPr lang="en-US" dirty="0"/>
          </a:p>
        </p:txBody>
      </p:sp>
    </p:spTree>
    <p:extLst>
      <p:ext uri="{BB962C8B-B14F-4D97-AF65-F5344CB8AC3E}">
        <p14:creationId xmlns:p14="http://schemas.microsoft.com/office/powerpoint/2010/main" val="954836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CB0B81-CEF7-E6C6-D355-FFF463BF905D}"/>
              </a:ext>
            </a:extLst>
          </p:cNvPr>
          <p:cNvSpPr>
            <a:spLocks noGrp="1"/>
          </p:cNvSpPr>
          <p:nvPr>
            <p:ph idx="1"/>
          </p:nvPr>
        </p:nvSpPr>
        <p:spPr>
          <a:xfrm>
            <a:off x="381000" y="533400"/>
            <a:ext cx="8305800" cy="5592763"/>
          </a:xfrm>
        </p:spPr>
        <p:txBody>
          <a:bodyPr/>
          <a:lstStyle/>
          <a:p>
            <a:r>
              <a:rPr lang="en-US" dirty="0"/>
              <a:t>To choose the right UX research method for your project, you first need to understand the problem you're trying to solve and what data you need to collect to solve the problem.</a:t>
            </a:r>
            <a:br>
              <a:rPr lang="en-US" dirty="0"/>
            </a:br>
            <a:endParaRPr lang="en-US" dirty="0"/>
          </a:p>
          <a:p>
            <a:endParaRPr lang="en-US" dirty="0"/>
          </a:p>
        </p:txBody>
      </p:sp>
    </p:spTree>
    <p:extLst>
      <p:ext uri="{BB962C8B-B14F-4D97-AF65-F5344CB8AC3E}">
        <p14:creationId xmlns:p14="http://schemas.microsoft.com/office/powerpoint/2010/main" val="37077244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endParaRPr lang="en-US" dirty="0"/>
          </a:p>
        </p:txBody>
      </p:sp>
      <p:sp>
        <p:nvSpPr>
          <p:cNvPr id="3" name="Content Placeholder 2"/>
          <p:cNvSpPr>
            <a:spLocks noGrp="1"/>
          </p:cNvSpPr>
          <p:nvPr>
            <p:ph idx="1"/>
          </p:nvPr>
        </p:nvSpPr>
        <p:spPr/>
        <p:txBody>
          <a:bodyPr>
            <a:normAutofit/>
          </a:bodyPr>
          <a:lstStyle/>
          <a:p>
            <a:pPr marL="0" indent="0">
              <a:buNone/>
            </a:pPr>
            <a:r>
              <a:rPr lang="en-US" b="1" dirty="0"/>
              <a:t>1. Usability Testing: </a:t>
            </a:r>
            <a:r>
              <a:rPr lang="en-US" dirty="0"/>
              <a:t>Usability testing is the </a:t>
            </a:r>
            <a:r>
              <a:rPr lang="en-US" b="1" dirty="0">
                <a:solidFill>
                  <a:schemeClr val="tx2"/>
                </a:solidFill>
              </a:rPr>
              <a:t>observation of users trying to carry out tasks with a product.</a:t>
            </a:r>
          </a:p>
          <a:p>
            <a:pPr marL="0" indent="0">
              <a:buNone/>
            </a:pPr>
            <a:r>
              <a:rPr lang="en-US" b="1" dirty="0"/>
              <a:t>Usability Testing: </a:t>
            </a:r>
            <a:r>
              <a:rPr lang="en-US" dirty="0"/>
              <a:t>Giving test users a list of tasks to perform with a product. Users may test a product remotely or in a facility with a moderator guiding them. </a:t>
            </a:r>
          </a:p>
          <a:p>
            <a:pPr marL="0" indent="0">
              <a:buNone/>
            </a:pPr>
            <a:endParaRPr lang="en-US" dirty="0"/>
          </a:p>
        </p:txBody>
      </p:sp>
    </p:spTree>
    <p:extLst>
      <p:ext uri="{BB962C8B-B14F-4D97-AF65-F5344CB8AC3E}">
        <p14:creationId xmlns:p14="http://schemas.microsoft.com/office/powerpoint/2010/main" val="3069111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B7FBE6-B4D8-9089-7663-E3F6BF569D6C}"/>
              </a:ext>
            </a:extLst>
          </p:cNvPr>
          <p:cNvSpPr>
            <a:spLocks noGrp="1"/>
          </p:cNvSpPr>
          <p:nvPr>
            <p:ph idx="1"/>
          </p:nvPr>
        </p:nvSpPr>
        <p:spPr>
          <a:xfrm>
            <a:off x="381000" y="457200"/>
            <a:ext cx="8305800" cy="5668963"/>
          </a:xfrm>
        </p:spPr>
        <p:txBody>
          <a:bodyPr/>
          <a:lstStyle/>
          <a:p>
            <a:pPr marL="0" indent="0">
              <a:buNone/>
            </a:pPr>
            <a:r>
              <a:rPr lang="en-US" b="1" dirty="0"/>
              <a:t>2. User Interviews:</a:t>
            </a:r>
            <a:r>
              <a:rPr lang="en-US" dirty="0"/>
              <a:t> </a:t>
            </a:r>
            <a:r>
              <a:rPr lang="en-US" b="1" dirty="0">
                <a:solidFill>
                  <a:schemeClr val="tx2"/>
                </a:solidFill>
              </a:rPr>
              <a:t>Asking questions of a single user at a time to find that user’s needs, ideas, attitudes, and experience of the product or service.</a:t>
            </a:r>
          </a:p>
          <a:p>
            <a:r>
              <a:rPr lang="en-US" dirty="0"/>
              <a:t>A user interview is a UX research method during which a researcher asks one user questions about a topic of interest (e.g., use of a system, behaviors and habits) with the goal of learning about that topic. </a:t>
            </a:r>
          </a:p>
          <a:p>
            <a:endParaRPr lang="en-US" dirty="0"/>
          </a:p>
        </p:txBody>
      </p:sp>
    </p:spTree>
    <p:extLst>
      <p:ext uri="{BB962C8B-B14F-4D97-AF65-F5344CB8AC3E}">
        <p14:creationId xmlns:p14="http://schemas.microsoft.com/office/powerpoint/2010/main" val="25328914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33400"/>
            <a:ext cx="8534400" cy="5486400"/>
          </a:xfrm>
        </p:spPr>
        <p:txBody>
          <a:bodyPr>
            <a:normAutofit fontScale="92500" lnSpcReduction="20000"/>
          </a:bodyPr>
          <a:lstStyle/>
          <a:p>
            <a:pPr marL="0" indent="0">
              <a:buNone/>
            </a:pPr>
            <a:r>
              <a:rPr lang="en-US" dirty="0"/>
              <a:t>3. </a:t>
            </a:r>
            <a:r>
              <a:rPr lang="en-US" b="1" dirty="0"/>
              <a:t>Surveys:</a:t>
            </a:r>
            <a:r>
              <a:rPr lang="en-US" dirty="0"/>
              <a:t> </a:t>
            </a:r>
          </a:p>
          <a:p>
            <a:r>
              <a:rPr lang="en-US" b="1" dirty="0">
                <a:solidFill>
                  <a:schemeClr val="tx2"/>
                </a:solidFill>
              </a:rPr>
              <a:t>Survey research means collecting information about a group of people by asking them questions and analyzing the results. </a:t>
            </a:r>
            <a:r>
              <a:rPr lang="en-US" dirty="0"/>
              <a:t>To conduct an effective survey, follow these six steps:</a:t>
            </a:r>
          </a:p>
          <a:p>
            <a:r>
              <a:rPr lang="en-US" dirty="0">
                <a:hlinkClick r:id="rId2"/>
              </a:rPr>
              <a:t>Determine</a:t>
            </a:r>
            <a:r>
              <a:rPr lang="en-US" dirty="0"/>
              <a:t> who will participate in the survey</a:t>
            </a:r>
          </a:p>
          <a:p>
            <a:r>
              <a:rPr lang="en-US" dirty="0">
                <a:hlinkClick r:id="rId3"/>
              </a:rPr>
              <a:t>Decide</a:t>
            </a:r>
            <a:r>
              <a:rPr lang="en-US" dirty="0"/>
              <a:t> the type of survey (mail, online, or in-person)</a:t>
            </a:r>
          </a:p>
          <a:p>
            <a:r>
              <a:rPr lang="en-US" dirty="0">
                <a:hlinkClick r:id="rId4"/>
              </a:rPr>
              <a:t>Design</a:t>
            </a:r>
            <a:r>
              <a:rPr lang="en-US" dirty="0"/>
              <a:t> the survey questions and layout</a:t>
            </a:r>
          </a:p>
          <a:p>
            <a:r>
              <a:rPr lang="en-US" dirty="0">
                <a:hlinkClick r:id="rId5"/>
              </a:rPr>
              <a:t>Distribute</a:t>
            </a:r>
            <a:r>
              <a:rPr lang="en-US" dirty="0"/>
              <a:t> the survey</a:t>
            </a:r>
          </a:p>
          <a:p>
            <a:r>
              <a:rPr lang="en-US" dirty="0">
                <a:hlinkClick r:id="rId6"/>
              </a:rPr>
              <a:t>Analyze</a:t>
            </a:r>
            <a:r>
              <a:rPr lang="en-US" dirty="0"/>
              <a:t> the responses</a:t>
            </a:r>
          </a:p>
          <a:p>
            <a:r>
              <a:rPr lang="en-US" dirty="0">
                <a:hlinkClick r:id="rId7"/>
              </a:rPr>
              <a:t>Write up</a:t>
            </a:r>
            <a:r>
              <a:rPr lang="en-US" dirty="0"/>
              <a:t> the results</a:t>
            </a:r>
          </a:p>
          <a:p>
            <a:endParaRPr lang="en-US" dirty="0"/>
          </a:p>
        </p:txBody>
      </p:sp>
    </p:spTree>
    <p:extLst>
      <p:ext uri="{BB962C8B-B14F-4D97-AF65-F5344CB8AC3E}">
        <p14:creationId xmlns:p14="http://schemas.microsoft.com/office/powerpoint/2010/main" val="16805733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33400"/>
            <a:ext cx="8686800" cy="5410200"/>
          </a:xfrm>
        </p:spPr>
        <p:txBody>
          <a:bodyPr>
            <a:normAutofit/>
          </a:bodyPr>
          <a:lstStyle/>
          <a:p>
            <a:pPr marL="0" indent="0">
              <a:buNone/>
            </a:pPr>
            <a:r>
              <a:rPr lang="en-US" dirty="0"/>
              <a:t> 4. </a:t>
            </a:r>
            <a:r>
              <a:rPr lang="en-US" b="1" dirty="0"/>
              <a:t>Card Sorting: </a:t>
            </a:r>
            <a:r>
              <a:rPr lang="en-US" dirty="0"/>
              <a:t>Presenting users with movable pieces of a website’s information, encouraging them to rearrange the information into their preferred structure/ categories that make sense to them. </a:t>
            </a:r>
          </a:p>
          <a:p>
            <a:pPr marL="0" indent="0">
              <a:buNone/>
            </a:pPr>
            <a:r>
              <a:rPr lang="en-US" dirty="0"/>
              <a:t>Card sorting aims to get the users to group information in a way that makes sense to them. This helps you understand your users’ mental models, and thus determine the best way to organize your site content.</a:t>
            </a:r>
          </a:p>
          <a:p>
            <a:endParaRPr lang="en-US" dirty="0"/>
          </a:p>
        </p:txBody>
      </p:sp>
    </p:spTree>
    <p:extLst>
      <p:ext uri="{BB962C8B-B14F-4D97-AF65-F5344CB8AC3E}">
        <p14:creationId xmlns:p14="http://schemas.microsoft.com/office/powerpoint/2010/main" val="27820023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4B5803-9D3F-7170-C1DA-93FEEF0B13B5}"/>
              </a:ext>
            </a:extLst>
          </p:cNvPr>
          <p:cNvSpPr>
            <a:spLocks noGrp="1"/>
          </p:cNvSpPr>
          <p:nvPr>
            <p:ph idx="1"/>
          </p:nvPr>
        </p:nvSpPr>
        <p:spPr>
          <a:xfrm>
            <a:off x="228600" y="381000"/>
            <a:ext cx="8763000" cy="6096000"/>
          </a:xfrm>
        </p:spPr>
        <p:txBody>
          <a:bodyPr/>
          <a:lstStyle/>
          <a:p>
            <a:pPr marL="0" indent="0">
              <a:buNone/>
            </a:pPr>
            <a:r>
              <a:rPr lang="en-US" b="1" dirty="0"/>
              <a:t>4. Tree testing: </a:t>
            </a:r>
            <a:r>
              <a:rPr lang="en-US" dirty="0"/>
              <a:t>you present the user with a very basic visual representation of the structure of your product.</a:t>
            </a:r>
          </a:p>
          <a:p>
            <a:r>
              <a:rPr lang="en-US" dirty="0"/>
              <a:t>Tree testing in UX reveals how easy it is for visitors to access content on your website. It determines whether the structure of your website conforms to what users expect it to be.</a:t>
            </a:r>
          </a:p>
          <a:p>
            <a:r>
              <a:rPr lang="en-US" dirty="0"/>
              <a:t>In tree testing, testers are given descriptive tasks and must choose a location where they expect the answer to be.</a:t>
            </a:r>
          </a:p>
          <a:p>
            <a:endParaRPr lang="en-US" dirty="0"/>
          </a:p>
        </p:txBody>
      </p:sp>
    </p:spTree>
    <p:extLst>
      <p:ext uri="{BB962C8B-B14F-4D97-AF65-F5344CB8AC3E}">
        <p14:creationId xmlns:p14="http://schemas.microsoft.com/office/powerpoint/2010/main" val="37955170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4525963"/>
          </a:xfrm>
        </p:spPr>
        <p:txBody>
          <a:bodyPr>
            <a:normAutofit/>
          </a:bodyPr>
          <a:lstStyle/>
          <a:p>
            <a:pPr marL="0" indent="0">
              <a:buNone/>
            </a:pPr>
            <a:r>
              <a:rPr lang="en-US" b="1" dirty="0"/>
              <a:t>6. Field studies</a:t>
            </a:r>
            <a:r>
              <a:rPr lang="en-US" dirty="0"/>
              <a:t>: It aims to observe, interact and understand people while they are in a natural environment. </a:t>
            </a:r>
          </a:p>
          <a:p>
            <a:endParaRPr lang="en-US" dirty="0"/>
          </a:p>
        </p:txBody>
      </p:sp>
    </p:spTree>
    <p:extLst>
      <p:ext uri="{BB962C8B-B14F-4D97-AF65-F5344CB8AC3E}">
        <p14:creationId xmlns:p14="http://schemas.microsoft.com/office/powerpoint/2010/main" val="32786939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1.4.1 UX Research role and responsibilities</a:t>
            </a:r>
          </a:p>
        </p:txBody>
      </p:sp>
      <p:sp>
        <p:nvSpPr>
          <p:cNvPr id="3" name="Content Placeholder 2"/>
          <p:cNvSpPr>
            <a:spLocks noGrp="1"/>
          </p:cNvSpPr>
          <p:nvPr>
            <p:ph idx="1"/>
          </p:nvPr>
        </p:nvSpPr>
        <p:spPr>
          <a:xfrm>
            <a:off x="228600" y="1417638"/>
            <a:ext cx="8610600" cy="5287962"/>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UX Researcher responsibilities include:</a:t>
            </a:r>
          </a:p>
          <a:p>
            <a:r>
              <a:rPr lang="en-US" dirty="0">
                <a:latin typeface="Times New Roman" panose="02020603050405020304" pitchFamily="18" charset="0"/>
                <a:cs typeface="Times New Roman" panose="02020603050405020304" pitchFamily="18" charset="0"/>
              </a:rPr>
              <a:t>Meeting clients to gather information about their requirements and to find out what needs researching, designing, or usability testing</a:t>
            </a:r>
          </a:p>
          <a:p>
            <a:r>
              <a:rPr lang="en-US" dirty="0">
                <a:latin typeface="Times New Roman" panose="02020603050405020304" pitchFamily="18" charset="0"/>
                <a:cs typeface="Times New Roman" panose="02020603050405020304" pitchFamily="18" charset="0"/>
              </a:rPr>
              <a:t>Getting involved in sketching, prototyping, and user testing before passing the design onto the development team</a:t>
            </a:r>
          </a:p>
          <a:p>
            <a:r>
              <a:rPr lang="en-US" dirty="0">
                <a:latin typeface="Times New Roman" panose="02020603050405020304" pitchFamily="18" charset="0"/>
                <a:cs typeface="Times New Roman" panose="02020603050405020304" pitchFamily="18" charset="0"/>
              </a:rPr>
              <a:t>Applying qualitative research methods to client projects based on their needs and goals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2302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1.4.2 Benefits of UX Research</a:t>
            </a:r>
          </a:p>
        </p:txBody>
      </p:sp>
      <p:sp>
        <p:nvSpPr>
          <p:cNvPr id="3" name="Content Placeholder 2"/>
          <p:cNvSpPr>
            <a:spLocks noGrp="1"/>
          </p:cNvSpPr>
          <p:nvPr>
            <p:ph idx="1"/>
          </p:nvPr>
        </p:nvSpPr>
        <p:spPr>
          <a:xfrm>
            <a:off x="457200" y="1417638"/>
            <a:ext cx="8534400" cy="5165724"/>
          </a:xfrm>
        </p:spPr>
        <p:txBody>
          <a:bodyPr>
            <a:normAutofit fontScale="85000" lnSpcReduction="20000"/>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1. Make informed decisions based on data:</a:t>
            </a:r>
            <a:endParaRPr lang="en-US" dirty="0">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it helps you understand user behaviors and make better, more informed decisions.</a:t>
            </a:r>
          </a:p>
          <a:p>
            <a:pPr fontAlgn="base"/>
            <a:r>
              <a:rPr lang="en-US" dirty="0">
                <a:latin typeface="Times New Roman" panose="02020603050405020304" pitchFamily="18" charset="0"/>
                <a:cs typeface="Times New Roman" panose="02020603050405020304" pitchFamily="18" charset="0"/>
              </a:rPr>
              <a:t>UX research helps reduce and mitigate the risk of building the wrong thing or building the right thing in the wrong way.</a:t>
            </a:r>
          </a:p>
          <a:p>
            <a:pPr marL="0" indent="0" fontAlgn="base">
              <a:buNone/>
            </a:pPr>
            <a:r>
              <a:rPr lang="en-US" b="1" dirty="0">
                <a:latin typeface="Times New Roman" panose="02020603050405020304" pitchFamily="18" charset="0"/>
                <a:cs typeface="Times New Roman" panose="02020603050405020304" pitchFamily="18" charset="0"/>
              </a:rPr>
              <a:t>2. Remove bias from the user experience design process</a:t>
            </a:r>
          </a:p>
          <a:p>
            <a:pPr fontAlgn="base"/>
            <a:r>
              <a:rPr lang="en-US" dirty="0">
                <a:latin typeface="Times New Roman" panose="02020603050405020304" pitchFamily="18" charset="0"/>
                <a:cs typeface="Times New Roman" panose="02020603050405020304" pitchFamily="18" charset="0"/>
              </a:rPr>
              <a:t>An effective way to remove bias from the design process is to ask effective questions.</a:t>
            </a:r>
          </a:p>
          <a:p>
            <a:pPr marL="0" indent="0" fontAlgn="base">
              <a:buNone/>
            </a:pPr>
            <a:r>
              <a:rPr lang="en-US" b="1" dirty="0">
                <a:latin typeface="Times New Roman" panose="02020603050405020304" pitchFamily="18" charset="0"/>
                <a:cs typeface="Times New Roman" panose="02020603050405020304" pitchFamily="18" charset="0"/>
              </a:rPr>
              <a:t>3.  Test and validate concepts</a:t>
            </a:r>
          </a:p>
          <a:p>
            <a:pPr fontAlgn="base"/>
            <a:r>
              <a:rPr lang="en-US" dirty="0">
                <a:latin typeface="Times New Roman" panose="02020603050405020304" pitchFamily="18" charset="0"/>
                <a:cs typeface="Times New Roman" panose="02020603050405020304" pitchFamily="18" charset="0"/>
              </a:rPr>
              <a:t>UX research allows you to test and validate ideas early, without waiting for launch day to gather feedback.</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46852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33400"/>
            <a:ext cx="8382000" cy="5592763"/>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4. Work on solutions that bring real value to customers:</a:t>
            </a:r>
          </a:p>
          <a:p>
            <a:r>
              <a:rPr lang="en-US" dirty="0">
                <a:latin typeface="Times New Roman" panose="02020603050405020304" pitchFamily="18" charset="0"/>
                <a:cs typeface="Times New Roman" panose="02020603050405020304" pitchFamily="18" charset="0"/>
              </a:rPr>
              <a:t>Another main benefit of UX research is that it allows product managers to manage risks.</a:t>
            </a:r>
          </a:p>
          <a:p>
            <a:r>
              <a:rPr lang="en-US" dirty="0">
                <a:latin typeface="Times New Roman" panose="02020603050405020304" pitchFamily="18" charset="0"/>
                <a:cs typeface="Times New Roman" panose="02020603050405020304" pitchFamily="18" charset="0"/>
              </a:rPr>
              <a:t> "That is, making sure that we're using our most precious resource—time—to work on solutions that are valuable to our users,"</a:t>
            </a:r>
          </a:p>
          <a:p>
            <a:pPr marL="0" indent="0">
              <a:buNone/>
            </a:pPr>
            <a:r>
              <a:rPr lang="en-US" b="1" dirty="0">
                <a:latin typeface="Times New Roman" panose="02020603050405020304" pitchFamily="18" charset="0"/>
                <a:cs typeface="Times New Roman" panose="02020603050405020304" pitchFamily="18" charset="0"/>
              </a:rPr>
              <a:t>5. Successfully take products to market:</a:t>
            </a:r>
          </a:p>
          <a:p>
            <a:r>
              <a:rPr lang="en-US" dirty="0">
                <a:latin typeface="Times New Roman" panose="02020603050405020304" pitchFamily="18" charset="0"/>
                <a:cs typeface="Times New Roman" panose="02020603050405020304" pitchFamily="18" charset="0"/>
              </a:rPr>
              <a:t>  UX research plays a crucial role in helping product marketers understand customer needs and effectively communicate the product's value to the market.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71757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1.4.3Types of UX Data</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524000"/>
            <a:ext cx="8534400" cy="4602163"/>
          </a:xfrm>
        </p:spPr>
        <p:txBody>
          <a:bodyPr>
            <a:normAutofit/>
          </a:bodyPr>
          <a:lstStyle/>
          <a:p>
            <a:r>
              <a:rPr lang="en-US" dirty="0">
                <a:latin typeface="Times New Roman" panose="02020603050405020304" pitchFamily="18" charset="0"/>
                <a:cs typeface="Times New Roman" panose="02020603050405020304" pitchFamily="18" charset="0"/>
              </a:rPr>
              <a:t>  UX research includes two main types:</a:t>
            </a:r>
          </a:p>
          <a:p>
            <a:r>
              <a:rPr lang="en-US" b="1" dirty="0">
                <a:latin typeface="Times New Roman" panose="02020603050405020304" pitchFamily="18" charset="0"/>
                <a:cs typeface="Times New Roman" panose="02020603050405020304" pitchFamily="18" charset="0"/>
              </a:rPr>
              <a:t>Quantitative UX Data </a:t>
            </a:r>
            <a:r>
              <a:rPr lang="en-US" dirty="0">
                <a:latin typeface="Times New Roman" panose="02020603050405020304" pitchFamily="18" charset="0"/>
                <a:cs typeface="Times New Roman" panose="02020603050405020304" pitchFamily="18" charset="0"/>
              </a:rPr>
              <a:t>(statistical data): Helps you to identify what issues your users experience, and their degree of severity. </a:t>
            </a:r>
          </a:p>
          <a:p>
            <a:r>
              <a:rPr lang="en-US" b="1" dirty="0">
                <a:latin typeface="Times New Roman" panose="02020603050405020304" pitchFamily="18" charset="0"/>
                <a:cs typeface="Times New Roman" panose="02020603050405020304" pitchFamily="18" charset="0"/>
              </a:rPr>
              <a:t>Qualitative UX Data </a:t>
            </a:r>
            <a:r>
              <a:rPr lang="en-US" dirty="0">
                <a:latin typeface="Times New Roman" panose="02020603050405020304" pitchFamily="18" charset="0"/>
                <a:cs typeface="Times New Roman" panose="02020603050405020304" pitchFamily="18" charset="0"/>
              </a:rPr>
              <a:t>(insights that can be observed but not computed) : Gives you an understanding of why and how these issues affect your users, and how to fix them.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62647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Difference between Qualitative and quantitative user research methods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t>The primary differences between qualitative and quantitative UX research have to do with how the data is collected and the nature of the data itself. </a:t>
            </a:r>
            <a:endParaRPr lang="en-US" b="1" u="sng" dirty="0"/>
          </a:p>
          <a:p>
            <a:r>
              <a:rPr lang="en-US" b="1" dirty="0"/>
              <a:t>Quantitative user research</a:t>
            </a:r>
          </a:p>
          <a:p>
            <a:r>
              <a:rPr lang="en-US" dirty="0"/>
              <a:t> Is the process of collecting and analyzing objective, numerical data from various types of user testing.</a:t>
            </a:r>
          </a:p>
          <a:p>
            <a:endParaRPr lang="en-US" dirty="0"/>
          </a:p>
          <a:p>
            <a:endParaRPr lang="en-US" dirty="0"/>
          </a:p>
        </p:txBody>
      </p:sp>
    </p:spTree>
    <p:extLst>
      <p:ext uri="{BB962C8B-B14F-4D97-AF65-F5344CB8AC3E}">
        <p14:creationId xmlns:p14="http://schemas.microsoft.com/office/powerpoint/2010/main" val="17870488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77963E-FB45-1F3C-0573-AC6828E5BCC7}"/>
              </a:ext>
            </a:extLst>
          </p:cNvPr>
          <p:cNvSpPr>
            <a:spLocks noGrp="1"/>
          </p:cNvSpPr>
          <p:nvPr>
            <p:ph idx="1"/>
          </p:nvPr>
        </p:nvSpPr>
        <p:spPr>
          <a:xfrm>
            <a:off x="381000" y="381000"/>
            <a:ext cx="8610600" cy="5715000"/>
          </a:xfrm>
        </p:spPr>
        <p:txBody>
          <a:bodyPr>
            <a:normAutofit/>
          </a:bodyPr>
          <a:lstStyle/>
          <a:p>
            <a:r>
              <a:rPr lang="en-US" b="1" dirty="0">
                <a:latin typeface="Times New Roman" panose="02020603050405020304" pitchFamily="18" charset="0"/>
                <a:cs typeface="Times New Roman" panose="02020603050405020304" pitchFamily="18" charset="0"/>
              </a:rPr>
              <a:t>Quantitative UX research</a:t>
            </a:r>
            <a:r>
              <a:rPr lang="en-US" dirty="0">
                <a:latin typeface="Times New Roman" panose="02020603050405020304" pitchFamily="18" charset="0"/>
                <a:cs typeface="Times New Roman" panose="02020603050405020304" pitchFamily="18" charset="0"/>
              </a:rPr>
              <a:t>, usually involves collecting data from a much larger group of people in order to quantify a problem by answering the questions, “How much?” and “How many?”</a:t>
            </a:r>
          </a:p>
          <a:p>
            <a:r>
              <a:rPr lang="en-US" b="1" dirty="0">
                <a:latin typeface="Times New Roman" panose="02020603050405020304" pitchFamily="18" charset="0"/>
                <a:cs typeface="Times New Roman" panose="02020603050405020304" pitchFamily="18" charset="0"/>
              </a:rPr>
              <a:t>Qualitative UX research </a:t>
            </a:r>
            <a:r>
              <a:rPr lang="en-US" dirty="0">
                <a:latin typeface="Times New Roman" panose="02020603050405020304" pitchFamily="18" charset="0"/>
                <a:cs typeface="Times New Roman" panose="02020603050405020304" pitchFamily="18" charset="0"/>
              </a:rPr>
              <a:t>typically involves collecting data through direct observation of a small group of people in order to assess behavior and answer the question: “Why?” </a:t>
            </a:r>
          </a:p>
          <a:p>
            <a:endParaRPr lang="en-US" dirty="0"/>
          </a:p>
        </p:txBody>
      </p:sp>
    </p:spTree>
    <p:extLst>
      <p:ext uri="{BB962C8B-B14F-4D97-AF65-F5344CB8AC3E}">
        <p14:creationId xmlns:p14="http://schemas.microsoft.com/office/powerpoint/2010/main" val="41716947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Steps of UX analysis Identification of user issues</a:t>
            </a:r>
          </a:p>
        </p:txBody>
      </p:sp>
      <p:sp>
        <p:nvSpPr>
          <p:cNvPr id="3" name="Content Placeholder 2"/>
          <p:cNvSpPr>
            <a:spLocks noGrp="1"/>
          </p:cNvSpPr>
          <p:nvPr>
            <p:ph idx="1"/>
          </p:nvPr>
        </p:nvSpPr>
        <p:spPr>
          <a:xfrm>
            <a:off x="457200" y="1600200"/>
            <a:ext cx="8458200" cy="4983162"/>
          </a:xfrm>
        </p:spPr>
        <p:txBody>
          <a:bodyPr>
            <a:normAutofit lnSpcReduction="10000"/>
          </a:bodyPr>
          <a:lstStyle/>
          <a:p>
            <a:r>
              <a:rPr lang="en-US" b="1" dirty="0">
                <a:latin typeface="Times New Roman" panose="02020603050405020304" pitchFamily="18" charset="0"/>
                <a:cs typeface="Times New Roman" panose="02020603050405020304" pitchFamily="18" charset="0"/>
              </a:rPr>
              <a:t>UX analysis is all about organizing your data and looking for patterns and recurring issues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Six steps to UX analysis:</a:t>
            </a:r>
          </a:p>
          <a:p>
            <a:pPr marL="514350" indent="-514350">
              <a:buAutoNum type="arabicPeriod"/>
            </a:pPr>
            <a:r>
              <a:rPr lang="en-US" dirty="0">
                <a:latin typeface="Times New Roman" panose="02020603050405020304" pitchFamily="18" charset="0"/>
                <a:cs typeface="Times New Roman" panose="02020603050405020304" pitchFamily="18" charset="0"/>
              </a:rPr>
              <a:t>Identify user issues</a:t>
            </a:r>
          </a:p>
          <a:p>
            <a:pPr marL="514350" indent="-514350">
              <a:buAutoNum type="arabicPeriod" startAt="2"/>
            </a:pPr>
            <a:r>
              <a:rPr lang="en-US" dirty="0">
                <a:latin typeface="Times New Roman" panose="02020603050405020304" pitchFamily="18" charset="0"/>
                <a:cs typeface="Times New Roman" panose="02020603050405020304" pitchFamily="18" charset="0"/>
              </a:rPr>
              <a:t>Organize your UX data</a:t>
            </a:r>
          </a:p>
          <a:p>
            <a:pPr marL="514350" indent="-514350">
              <a:buFont typeface="Arial" pitchFamily="34" charset="0"/>
              <a:buAutoNum type="arabicPeriod" startAt="2"/>
            </a:pPr>
            <a:r>
              <a:rPr lang="en-US" dirty="0">
                <a:latin typeface="Times New Roman" panose="02020603050405020304" pitchFamily="18" charset="0"/>
                <a:cs typeface="Times New Roman" panose="02020603050405020304" pitchFamily="18" charset="0"/>
              </a:rPr>
              <a:t>Look for recurring issues</a:t>
            </a:r>
          </a:p>
          <a:p>
            <a:pPr marL="514350" indent="-514350">
              <a:buFont typeface="Arial" pitchFamily="34" charset="0"/>
              <a:buAutoNum type="arabicPeriod" startAt="2"/>
            </a:pPr>
            <a:r>
              <a:rPr lang="en-US" dirty="0">
                <a:latin typeface="Times New Roman" panose="02020603050405020304" pitchFamily="18" charset="0"/>
                <a:cs typeface="Times New Roman" panose="02020603050405020304" pitchFamily="18" charset="0"/>
              </a:rPr>
              <a:t>Prioritize fixes</a:t>
            </a:r>
          </a:p>
          <a:p>
            <a:pPr marL="514350" indent="-514350">
              <a:buFont typeface="Arial" pitchFamily="34" charset="0"/>
              <a:buAutoNum type="arabicPeriod" startAt="2"/>
            </a:pPr>
            <a:r>
              <a:rPr lang="en-US" dirty="0">
                <a:latin typeface="Times New Roman" panose="02020603050405020304" pitchFamily="18" charset="0"/>
                <a:cs typeface="Times New Roman" panose="02020603050405020304" pitchFamily="18" charset="0"/>
              </a:rPr>
              <a:t>Share your findings and recommendations</a:t>
            </a:r>
          </a:p>
          <a:p>
            <a:pPr marL="514350" indent="-514350">
              <a:buFont typeface="Arial" pitchFamily="34" charset="0"/>
              <a:buAutoNum type="arabicPeriod" startAt="2"/>
            </a:pPr>
            <a:r>
              <a:rPr lang="en-US" dirty="0">
                <a:latin typeface="Times New Roman" panose="02020603050405020304" pitchFamily="18" charset="0"/>
                <a:cs typeface="Times New Roman" panose="02020603050405020304" pitchFamily="18" charset="0"/>
              </a:rPr>
              <a:t>Build and test new features</a:t>
            </a:r>
          </a:p>
          <a:p>
            <a:pPr marL="514350" indent="-514350">
              <a:buFont typeface="Arial" pitchFamily="34" charset="0"/>
              <a:buAutoNum type="arabicPeriod" startAt="2"/>
            </a:pPr>
            <a:endParaRPr lang="en-US" dirty="0">
              <a:latin typeface="Times New Roman" panose="02020603050405020304" pitchFamily="18" charset="0"/>
              <a:cs typeface="Times New Roman" panose="02020603050405020304" pitchFamily="18" charset="0"/>
            </a:endParaRPr>
          </a:p>
          <a:p>
            <a:pPr marL="514350" indent="-514350">
              <a:buFont typeface="Arial" pitchFamily="34" charset="0"/>
              <a:buAutoNum type="arabicPeriod" startAt="2"/>
            </a:pPr>
            <a:endParaRPr lang="en-US" b="1" dirty="0">
              <a:latin typeface="Times New Roman" panose="02020603050405020304" pitchFamily="18" charset="0"/>
              <a:cs typeface="Times New Roman" panose="02020603050405020304" pitchFamily="18" charset="0"/>
            </a:endParaRPr>
          </a:p>
          <a:p>
            <a:pPr marL="514350" indent="-514350">
              <a:buAutoNum type="arabicPeriod" startAt="2"/>
            </a:pPr>
            <a:endParaRPr lang="en-US" b="1" dirty="0">
              <a:latin typeface="Times New Roman" panose="02020603050405020304" pitchFamily="18" charset="0"/>
              <a:cs typeface="Times New Roman" panose="02020603050405020304" pitchFamily="18" charset="0"/>
            </a:endParaRPr>
          </a:p>
          <a:p>
            <a:pPr marL="514350" indent="-514350">
              <a:buAutoNum type="arabicPeriod"/>
            </a:pPr>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37166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Step 1:Identify user issues</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686800" cy="4983162"/>
          </a:xfrm>
        </p:spPr>
        <p:txBody>
          <a:bodyPr>
            <a:normAutofit/>
          </a:bodyPr>
          <a:lstStyle/>
          <a:p>
            <a:r>
              <a:rPr lang="en-US" dirty="0">
                <a:latin typeface="Times New Roman" panose="02020603050405020304" pitchFamily="18" charset="0"/>
                <a:cs typeface="Times New Roman" panose="02020603050405020304" pitchFamily="18" charset="0"/>
              </a:rPr>
              <a:t>When you first review your UX data you’ll be looking at hundreds, possibly thousands of data points. Qualitative data will help you to identify the most common user issues.</a:t>
            </a:r>
          </a:p>
          <a:p>
            <a:r>
              <a:rPr lang="en-US" dirty="0">
                <a:latin typeface="Times New Roman" panose="02020603050405020304" pitchFamily="18" charset="0"/>
                <a:cs typeface="Times New Roman" panose="02020603050405020304" pitchFamily="18" charset="0"/>
              </a:rPr>
              <a:t>Here are three examples of issues you might want to focus on:</a:t>
            </a:r>
          </a:p>
          <a:p>
            <a:pPr lvl="0"/>
            <a:r>
              <a:rPr lang="en-US" dirty="0">
                <a:latin typeface="Times New Roman" panose="02020603050405020304" pitchFamily="18" charset="0"/>
                <a:cs typeface="Times New Roman" panose="02020603050405020304" pitchFamily="18" charset="0"/>
              </a:rPr>
              <a:t>Being unable to complete user onboarding</a:t>
            </a:r>
          </a:p>
          <a:p>
            <a:pPr lvl="0"/>
            <a:r>
              <a:rPr lang="en-US" dirty="0">
                <a:latin typeface="Times New Roman" panose="02020603050405020304" pitchFamily="18" charset="0"/>
                <a:cs typeface="Times New Roman" panose="02020603050405020304" pitchFamily="18" charset="0"/>
              </a:rPr>
              <a:t>Not knowing how to upgrade to a paid plan</a:t>
            </a:r>
          </a:p>
          <a:p>
            <a:pPr lvl="0"/>
            <a:r>
              <a:rPr lang="en-US" dirty="0">
                <a:latin typeface="Times New Roman" panose="02020603050405020304" pitchFamily="18" charset="0"/>
                <a:cs typeface="Times New Roman" panose="02020603050405020304" pitchFamily="18" charset="0"/>
              </a:rPr>
              <a:t>Difficulty accessing a product feature</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92362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normAutofit fontScale="90000"/>
          </a:bodyPr>
          <a:lstStyle/>
          <a:p>
            <a:r>
              <a:rPr lang="en-US" b="1" dirty="0">
                <a:latin typeface="Times New Roman" panose="02020603050405020304" pitchFamily="18" charset="0"/>
                <a:cs typeface="Times New Roman" panose="02020603050405020304" pitchFamily="18" charset="0"/>
              </a:rPr>
              <a:t>Step 2. Organize your UX data</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66018"/>
            <a:ext cx="8458200" cy="5082382"/>
          </a:xfrm>
        </p:spPr>
        <p:txBody>
          <a:bodyPr>
            <a:normAutofit/>
          </a:bodyPr>
          <a:lstStyle/>
          <a:p>
            <a:r>
              <a:rPr lang="en-US" dirty="0">
                <a:latin typeface="Times New Roman" panose="02020603050405020304" pitchFamily="18" charset="0"/>
                <a:cs typeface="Times New Roman" panose="02020603050405020304" pitchFamily="18" charset="0"/>
              </a:rPr>
              <a:t>Organize your UX data around issues your users encountered while performing certain tasks. These issues could include getting frustrated and abandoning a half-completed profile, not being able to process a payment, or feeling confused when navigating a product page.</a:t>
            </a:r>
          </a:p>
          <a:p>
            <a:r>
              <a:rPr lang="en-US" b="1" dirty="0">
                <a:latin typeface="Times New Roman" panose="02020603050405020304" pitchFamily="18" charset="0"/>
                <a:cs typeface="Times New Roman" panose="02020603050405020304" pitchFamily="18" charset="0"/>
              </a:rPr>
              <a:t>Find out:</a:t>
            </a:r>
          </a:p>
          <a:p>
            <a:pPr lvl="0"/>
            <a:r>
              <a:rPr lang="en-US" dirty="0">
                <a:latin typeface="Times New Roman" panose="02020603050405020304" pitchFamily="18" charset="0"/>
                <a:cs typeface="Times New Roman" panose="02020603050405020304" pitchFamily="18" charset="0"/>
              </a:rPr>
              <a:t>What was the issue?</a:t>
            </a:r>
          </a:p>
          <a:p>
            <a:pPr lvl="0"/>
            <a:r>
              <a:rPr lang="en-US" dirty="0">
                <a:latin typeface="Times New Roman" panose="02020603050405020304" pitchFamily="18" charset="0"/>
                <a:cs typeface="Times New Roman" panose="02020603050405020304" pitchFamily="18" charset="0"/>
              </a:rPr>
              <a:t>What actions did they take?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46021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7F4E10-8FEA-C22B-4630-289F07E9BAEB}"/>
              </a:ext>
            </a:extLst>
          </p:cNvPr>
          <p:cNvSpPr>
            <a:spLocks noGrp="1"/>
          </p:cNvSpPr>
          <p:nvPr>
            <p:ph idx="1"/>
          </p:nvPr>
        </p:nvSpPr>
        <p:spPr>
          <a:xfrm>
            <a:off x="304800" y="609600"/>
            <a:ext cx="8382000" cy="5516563"/>
          </a:xfrm>
        </p:spPr>
        <p:txBody>
          <a:bodyPr/>
          <a:lstStyle/>
          <a:p>
            <a:pPr lvl="0"/>
            <a:r>
              <a:rPr lang="en-US" dirty="0">
                <a:latin typeface="Times New Roman" panose="02020603050405020304" pitchFamily="18" charset="0"/>
                <a:cs typeface="Times New Roman" panose="02020603050405020304" pitchFamily="18" charset="0"/>
              </a:rPr>
              <a:t>What feedback did they give?</a:t>
            </a:r>
          </a:p>
          <a:p>
            <a:pPr marL="0" indent="0">
              <a:buNone/>
            </a:pPr>
            <a:r>
              <a:rPr lang="en-US" dirty="0">
                <a:latin typeface="Times New Roman" panose="02020603050405020304" pitchFamily="18" charset="0"/>
                <a:cs typeface="Times New Roman" panose="02020603050405020304" pitchFamily="18" charset="0"/>
              </a:rPr>
              <a:t>Add categories and tags so you can sort and filter your data. </a:t>
            </a:r>
            <a:r>
              <a:rPr lang="en-US" b="1" dirty="0">
                <a:latin typeface="Times New Roman" panose="02020603050405020304" pitchFamily="18" charset="0"/>
                <a:cs typeface="Times New Roman" panose="02020603050405020304" pitchFamily="18" charset="0"/>
              </a:rPr>
              <a:t>For example:</a:t>
            </a:r>
          </a:p>
          <a:p>
            <a:pPr lvl="0"/>
            <a:r>
              <a:rPr lang="en-US" b="1" dirty="0">
                <a:latin typeface="Times New Roman" panose="02020603050405020304" pitchFamily="18" charset="0"/>
                <a:cs typeface="Times New Roman" panose="02020603050405020304" pitchFamily="18" charset="0"/>
              </a:rPr>
              <a:t>Category (location): </a:t>
            </a:r>
            <a:r>
              <a:rPr lang="en-US" dirty="0">
                <a:latin typeface="Times New Roman" panose="02020603050405020304" pitchFamily="18" charset="0"/>
                <a:cs typeface="Times New Roman" panose="02020603050405020304" pitchFamily="18" charset="0"/>
              </a:rPr>
              <a:t>payment, onboarding, upgrading,</a:t>
            </a:r>
          </a:p>
          <a:p>
            <a:pPr lvl="0"/>
            <a:r>
              <a:rPr lang="en-US" b="1" dirty="0">
                <a:latin typeface="Times New Roman" panose="02020603050405020304" pitchFamily="18" charset="0"/>
                <a:cs typeface="Times New Roman" panose="02020603050405020304" pitchFamily="18" charset="0"/>
              </a:rPr>
              <a:t>Tag 1 (element): </a:t>
            </a:r>
            <a:r>
              <a:rPr lang="en-US" dirty="0">
                <a:latin typeface="Times New Roman" panose="02020603050405020304" pitchFamily="18" charset="0"/>
                <a:cs typeface="Times New Roman" panose="02020603050405020304" pitchFamily="18" charset="0"/>
              </a:rPr>
              <a:t>payment, icons, menu</a:t>
            </a:r>
          </a:p>
          <a:p>
            <a:pPr lvl="0"/>
            <a:r>
              <a:rPr lang="en-US" b="1" dirty="0">
                <a:latin typeface="Times New Roman" panose="02020603050405020304" pitchFamily="18" charset="0"/>
                <a:cs typeface="Times New Roman" panose="02020603050405020304" pitchFamily="18" charset="0"/>
              </a:rPr>
              <a:t>Tag 2 (experience): </a:t>
            </a:r>
            <a:r>
              <a:rPr lang="en-US" dirty="0">
                <a:latin typeface="Times New Roman" panose="02020603050405020304" pitchFamily="18" charset="0"/>
                <a:cs typeface="Times New Roman" panose="02020603050405020304" pitchFamily="18" charset="0"/>
              </a:rPr>
              <a:t>confusion, disappointment, hesitation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97781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Step 3: Look for recurring issues</a:t>
            </a:r>
            <a:br>
              <a:rPr lang="en-US" b="1" dirty="0"/>
            </a:br>
            <a:endParaRPr lang="en-US" dirty="0"/>
          </a:p>
        </p:txBody>
      </p:sp>
      <p:sp>
        <p:nvSpPr>
          <p:cNvPr id="3" name="Content Placeholder 2"/>
          <p:cNvSpPr>
            <a:spLocks noGrp="1"/>
          </p:cNvSpPr>
          <p:nvPr>
            <p:ph idx="1"/>
          </p:nvPr>
        </p:nvSpPr>
        <p:spPr/>
        <p:txBody>
          <a:bodyPr>
            <a:normAutofit/>
          </a:bodyPr>
          <a:lstStyle/>
          <a:p>
            <a:r>
              <a:rPr lang="en-US" dirty="0"/>
              <a:t>Your UX data and user feedback will point you towards common user issues. </a:t>
            </a:r>
          </a:p>
          <a:p>
            <a:r>
              <a:rPr lang="en-US" dirty="0"/>
              <a:t>Analyze session recordings to understand why these issues exist then:</a:t>
            </a:r>
          </a:p>
          <a:p>
            <a:pPr lvl="0"/>
            <a:r>
              <a:rPr lang="en-US" dirty="0"/>
              <a:t>Group issues involving the same tasks, like completing a profile, processing a payment, or navigating a menu.</a:t>
            </a:r>
          </a:p>
          <a:p>
            <a:endParaRPr lang="en-US" dirty="0"/>
          </a:p>
        </p:txBody>
      </p:sp>
    </p:spTree>
    <p:extLst>
      <p:ext uri="{BB962C8B-B14F-4D97-AF65-F5344CB8AC3E}">
        <p14:creationId xmlns:p14="http://schemas.microsoft.com/office/powerpoint/2010/main" val="25610545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F1D654-E051-D632-F4B0-9EB72CAFE47A}"/>
              </a:ext>
            </a:extLst>
          </p:cNvPr>
          <p:cNvSpPr>
            <a:spLocks noGrp="1"/>
          </p:cNvSpPr>
          <p:nvPr>
            <p:ph idx="1"/>
          </p:nvPr>
        </p:nvSpPr>
        <p:spPr>
          <a:xfrm>
            <a:off x="228600" y="533400"/>
            <a:ext cx="8458200" cy="5592763"/>
          </a:xfrm>
        </p:spPr>
        <p:txBody>
          <a:bodyPr/>
          <a:lstStyle/>
          <a:p>
            <a:pPr lvl="0"/>
            <a:r>
              <a:rPr lang="en-US" dirty="0"/>
              <a:t>Tally (scores/votes) the number of users experiencing identical or closely related issues.</a:t>
            </a:r>
          </a:p>
          <a:p>
            <a:pPr lvl="0"/>
            <a:r>
              <a:rPr lang="en-US" dirty="0"/>
              <a:t>Look for patterns and repetition to identify recurring issues. If you notice that some users couldn’t find your support center and other users found it hard to find your email address, you might conclude that your contact details are hard to find.</a:t>
            </a:r>
          </a:p>
          <a:p>
            <a:endParaRPr lang="en-US" dirty="0"/>
          </a:p>
        </p:txBody>
      </p:sp>
    </p:spTree>
    <p:extLst>
      <p:ext uri="{BB962C8B-B14F-4D97-AF65-F5344CB8AC3E}">
        <p14:creationId xmlns:p14="http://schemas.microsoft.com/office/powerpoint/2010/main" val="19702196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Step 4. Prioritize fixes</a:t>
            </a:r>
            <a:br>
              <a:rPr lang="en-US" b="1" dirty="0"/>
            </a:br>
            <a:endParaRPr lang="en-US" dirty="0"/>
          </a:p>
        </p:txBody>
      </p:sp>
      <p:sp>
        <p:nvSpPr>
          <p:cNvPr id="3" name="Content Placeholder 2"/>
          <p:cNvSpPr>
            <a:spLocks noGrp="1"/>
          </p:cNvSpPr>
          <p:nvPr>
            <p:ph idx="1"/>
          </p:nvPr>
        </p:nvSpPr>
        <p:spPr>
          <a:xfrm>
            <a:off x="457200" y="1166018"/>
            <a:ext cx="8534400" cy="5310982"/>
          </a:xfrm>
        </p:spPr>
        <p:txBody>
          <a:bodyPr>
            <a:normAutofit/>
          </a:bodyPr>
          <a:lstStyle/>
          <a:p>
            <a:r>
              <a:rPr lang="en-US" dirty="0">
                <a:latin typeface="Times New Roman" panose="02020603050405020304" pitchFamily="18" charset="0"/>
                <a:cs typeface="Times New Roman" panose="02020603050405020304" pitchFamily="18" charset="0"/>
              </a:rPr>
              <a:t>Now you have a list of issues with your product and you know what's causing friction in the user experience, it's time to categorize and prioritize fixes.</a:t>
            </a:r>
          </a:p>
          <a:p>
            <a:pPr marL="0" indent="0">
              <a:buNone/>
            </a:pPr>
            <a:r>
              <a:rPr lang="en-US" b="1" dirty="0">
                <a:latin typeface="Times New Roman" panose="02020603050405020304" pitchFamily="18" charset="0"/>
                <a:cs typeface="Times New Roman" panose="02020603050405020304" pitchFamily="18" charset="0"/>
              </a:rPr>
              <a:t>Use a system like this one:</a:t>
            </a:r>
          </a:p>
          <a:p>
            <a:pPr lvl="0"/>
            <a:r>
              <a:rPr lang="en-US" b="1" dirty="0">
                <a:latin typeface="Times New Roman" panose="02020603050405020304" pitchFamily="18" charset="0"/>
                <a:cs typeface="Times New Roman" panose="02020603050405020304" pitchFamily="18" charset="0"/>
              </a:rPr>
              <a:t>Critical: </a:t>
            </a:r>
            <a:r>
              <a:rPr lang="en-US" dirty="0">
                <a:latin typeface="Times New Roman" panose="02020603050405020304" pitchFamily="18" charset="0"/>
                <a:cs typeface="Times New Roman" panose="02020603050405020304" pitchFamily="18" charset="0"/>
              </a:rPr>
              <a:t>users find it impossible to complete tasks</a:t>
            </a:r>
          </a:p>
          <a:p>
            <a:pPr lvl="0"/>
            <a:r>
              <a:rPr lang="en-US" b="1" dirty="0">
                <a:latin typeface="Times New Roman" panose="02020603050405020304" pitchFamily="18" charset="0"/>
                <a:cs typeface="Times New Roman" panose="02020603050405020304" pitchFamily="18" charset="0"/>
              </a:rPr>
              <a:t>Serious: </a:t>
            </a:r>
            <a:r>
              <a:rPr lang="en-US" dirty="0">
                <a:latin typeface="Times New Roman" panose="02020603050405020304" pitchFamily="18" charset="0"/>
                <a:cs typeface="Times New Roman" panose="02020603050405020304" pitchFamily="18" charset="0"/>
              </a:rPr>
              <a:t>users are frustrated with their experience and are quitting their tasks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07996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8FA2E9-ADDA-E1DE-F0A1-5E864895E57F}"/>
              </a:ext>
            </a:extLst>
          </p:cNvPr>
          <p:cNvSpPr>
            <a:spLocks noGrp="1"/>
          </p:cNvSpPr>
          <p:nvPr>
            <p:ph idx="1"/>
          </p:nvPr>
        </p:nvSpPr>
        <p:spPr>
          <a:xfrm>
            <a:off x="381000" y="533400"/>
            <a:ext cx="8305800" cy="5592763"/>
          </a:xfrm>
        </p:spPr>
        <p:txBody>
          <a:bodyPr/>
          <a:lstStyle/>
          <a:p>
            <a:pPr lvl="0"/>
            <a:r>
              <a:rPr lang="en-US" b="1" dirty="0">
                <a:latin typeface="Times New Roman" panose="02020603050405020304" pitchFamily="18" charset="0"/>
                <a:cs typeface="Times New Roman" panose="02020603050405020304" pitchFamily="18" charset="0"/>
              </a:rPr>
              <a:t>Minor: </a:t>
            </a:r>
            <a:r>
              <a:rPr lang="en-US" dirty="0">
                <a:latin typeface="Times New Roman" panose="02020603050405020304" pitchFamily="18" charset="0"/>
                <a:cs typeface="Times New Roman" panose="02020603050405020304" pitchFamily="18" charset="0"/>
              </a:rPr>
              <a:t>users are annoyed, but not enough to quit</a:t>
            </a:r>
          </a:p>
          <a:p>
            <a:r>
              <a:rPr lang="en-US" dirty="0">
                <a:latin typeface="Times New Roman" panose="02020603050405020304" pitchFamily="18" charset="0"/>
                <a:cs typeface="Times New Roman" panose="02020603050405020304" pitchFamily="18" charset="0"/>
              </a:rPr>
              <a:t>Decide which indicators that show whether your product design strategy is working or not(UX METRICS)  you want to prioritize. </a:t>
            </a:r>
          </a:p>
          <a:p>
            <a:r>
              <a:rPr lang="en-US" b="1" dirty="0">
                <a:latin typeface="Times New Roman" panose="02020603050405020304" pitchFamily="18" charset="0"/>
                <a:cs typeface="Times New Roman" panose="02020603050405020304" pitchFamily="18" charset="0"/>
              </a:rPr>
              <a:t>Example:</a:t>
            </a:r>
          </a:p>
          <a:p>
            <a:r>
              <a:rPr lang="en-US" dirty="0">
                <a:latin typeface="Times New Roman" panose="02020603050405020304" pitchFamily="18" charset="0"/>
                <a:cs typeface="Times New Roman" panose="02020603050405020304" pitchFamily="18" charset="0"/>
              </a:rPr>
              <a:t>Being unable to complete payments is more urgent than disliking the product design.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22439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3100" b="1" dirty="0">
                <a:latin typeface="Times New Roman" panose="02020603050405020304" pitchFamily="18" charset="0"/>
                <a:cs typeface="Times New Roman" panose="02020603050405020304" pitchFamily="18" charset="0"/>
              </a:rPr>
              <a:t>Step 5. Share your findings and recommendations</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66018"/>
            <a:ext cx="8534400" cy="5310982"/>
          </a:xfrm>
        </p:spPr>
        <p:txBody>
          <a:bodyPr>
            <a:normAutofit/>
          </a:bodyPr>
          <a:lstStyle/>
          <a:p>
            <a:r>
              <a:rPr lang="en-US" dirty="0">
                <a:latin typeface="Times New Roman" panose="02020603050405020304" pitchFamily="18" charset="0"/>
                <a:cs typeface="Times New Roman" panose="02020603050405020304" pitchFamily="18" charset="0"/>
              </a:rPr>
              <a:t>You’ve evaluated your UX data and have prioritized the most urgent issues. Now it's time to compile a report to begin testing improvements, and share your findings with your product team.</a:t>
            </a:r>
          </a:p>
          <a:p>
            <a:pPr marL="0" indent="0">
              <a:buNone/>
            </a:pPr>
            <a:r>
              <a:rPr lang="en-US" b="1" dirty="0">
                <a:latin typeface="Times New Roman" panose="02020603050405020304" pitchFamily="18" charset="0"/>
                <a:cs typeface="Times New Roman" panose="02020603050405020304" pitchFamily="18" charset="0"/>
              </a:rPr>
              <a:t>A good UX analysis report should:</a:t>
            </a:r>
          </a:p>
          <a:p>
            <a:pPr lvl="0"/>
            <a:r>
              <a:rPr lang="en-US" dirty="0">
                <a:latin typeface="Times New Roman" panose="02020603050405020304" pitchFamily="18" charset="0"/>
                <a:cs typeface="Times New Roman" panose="02020603050405020304" pitchFamily="18" charset="0"/>
              </a:rPr>
              <a:t>Highlight the most urgent issues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72754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DFB654-82E1-24BF-E76F-A2CAD7CD8979}"/>
              </a:ext>
            </a:extLst>
          </p:cNvPr>
          <p:cNvSpPr>
            <a:spLocks noGrp="1"/>
          </p:cNvSpPr>
          <p:nvPr>
            <p:ph idx="1"/>
          </p:nvPr>
        </p:nvSpPr>
        <p:spPr>
          <a:xfrm>
            <a:off x="381000" y="609600"/>
            <a:ext cx="8305800" cy="5516563"/>
          </a:xfrm>
        </p:spPr>
        <p:txBody>
          <a:bodyPr/>
          <a:lstStyle/>
          <a:p>
            <a:pPr lvl="0"/>
            <a:r>
              <a:rPr lang="en-US" dirty="0">
                <a:latin typeface="Times New Roman" panose="02020603050405020304" pitchFamily="18" charset="0"/>
                <a:cs typeface="Times New Roman" panose="02020603050405020304" pitchFamily="18" charset="0"/>
              </a:rPr>
              <a:t>Be specific about the nature of each issue</a:t>
            </a:r>
          </a:p>
          <a:p>
            <a:pPr lvl="0"/>
            <a:r>
              <a:rPr lang="en-US" dirty="0">
                <a:latin typeface="Times New Roman" panose="02020603050405020304" pitchFamily="18" charset="0"/>
                <a:cs typeface="Times New Roman" panose="02020603050405020304" pitchFamily="18" charset="0"/>
              </a:rPr>
              <a:t>Include evidence like videos, screenshots, and transcripts</a:t>
            </a:r>
          </a:p>
          <a:p>
            <a:pPr lvl="0"/>
            <a:r>
              <a:rPr lang="en-US" dirty="0">
                <a:latin typeface="Times New Roman" panose="02020603050405020304" pitchFamily="18" charset="0"/>
                <a:cs typeface="Times New Roman" panose="02020603050405020304" pitchFamily="18" charset="0"/>
              </a:rPr>
              <a:t>Recommend solutions that are effective and efficient</a:t>
            </a:r>
          </a:p>
          <a:p>
            <a:pPr lvl="0"/>
            <a:r>
              <a:rPr lang="en-US" dirty="0">
                <a:latin typeface="Times New Roman" panose="02020603050405020304" pitchFamily="18" charset="0"/>
                <a:cs typeface="Times New Roman" panose="02020603050405020304" pitchFamily="18" charset="0"/>
              </a:rPr>
              <a:t>Include positive findings to let your team know what’s working well.</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7566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6. Build and test new features</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534400" cy="5105400"/>
          </a:xfrm>
        </p:spPr>
        <p:txBody>
          <a:bodyPr>
            <a:normAutofit/>
          </a:bodyPr>
          <a:lstStyle/>
          <a:p>
            <a:r>
              <a:rPr lang="en-US" dirty="0">
                <a:latin typeface="Times New Roman" panose="02020603050405020304" pitchFamily="18" charset="0"/>
                <a:cs typeface="Times New Roman" panose="02020603050405020304" pitchFamily="18" charset="0"/>
              </a:rPr>
              <a:t>The </a:t>
            </a:r>
            <a:r>
              <a:rPr lang="en-US" u="sng" dirty="0">
                <a:latin typeface="Times New Roman" panose="02020603050405020304" pitchFamily="18" charset="0"/>
                <a:cs typeface="Times New Roman" panose="02020603050405020304" pitchFamily="18" charset="0"/>
                <a:hlinkClick r:id="rId2"/>
              </a:rPr>
              <a:t>Lean UX model</a:t>
            </a:r>
            <a:r>
              <a:rPr lang="en-US" dirty="0">
                <a:latin typeface="Times New Roman" panose="02020603050405020304" pitchFamily="18" charset="0"/>
                <a:cs typeface="Times New Roman" panose="02020603050405020304" pitchFamily="18" charset="0"/>
              </a:rPr>
              <a:t> is a three-phase approach for processing UX feedback:</a:t>
            </a:r>
          </a:p>
          <a:p>
            <a:pPr lvl="0"/>
            <a:r>
              <a:rPr lang="en-US" b="1" dirty="0">
                <a:latin typeface="Times New Roman" panose="02020603050405020304" pitchFamily="18" charset="0"/>
                <a:cs typeface="Times New Roman" panose="02020603050405020304" pitchFamily="18" charset="0"/>
              </a:rPr>
              <a:t>THINK: </a:t>
            </a:r>
            <a:r>
              <a:rPr lang="en-US" dirty="0">
                <a:latin typeface="Times New Roman" panose="02020603050405020304" pitchFamily="18" charset="0"/>
                <a:cs typeface="Times New Roman" panose="02020603050405020304" pitchFamily="18" charset="0"/>
              </a:rPr>
              <a:t>product teams brainstorm possible areas of improvement based on</a:t>
            </a:r>
          </a:p>
          <a:p>
            <a:pPr lvl="0"/>
            <a:r>
              <a:rPr lang="en-US" b="1" dirty="0">
                <a:latin typeface="Times New Roman" panose="02020603050405020304" pitchFamily="18" charset="0"/>
                <a:cs typeface="Times New Roman" panose="02020603050405020304" pitchFamily="18" charset="0"/>
              </a:rPr>
              <a:t>MAKE: </a:t>
            </a:r>
            <a:r>
              <a:rPr lang="en-US" dirty="0">
                <a:latin typeface="Times New Roman" panose="02020603050405020304" pitchFamily="18" charset="0"/>
                <a:cs typeface="Times New Roman" panose="02020603050405020304" pitchFamily="18" charset="0"/>
              </a:rPr>
              <a:t>product designers and developers build a new feature to solve a user problem</a:t>
            </a:r>
          </a:p>
          <a:p>
            <a:pPr lvl="0"/>
            <a:r>
              <a:rPr lang="en-US" b="1" dirty="0">
                <a:latin typeface="Times New Roman" panose="02020603050405020304" pitchFamily="18" charset="0"/>
                <a:cs typeface="Times New Roman" panose="02020603050405020304" pitchFamily="18" charset="0"/>
              </a:rPr>
              <a:t>CHECK: </a:t>
            </a:r>
            <a:r>
              <a:rPr lang="en-US" dirty="0">
                <a:latin typeface="Times New Roman" panose="02020603050405020304" pitchFamily="18" charset="0"/>
                <a:cs typeface="Times New Roman" panose="02020603050405020304" pitchFamily="18" charset="0"/>
              </a:rPr>
              <a:t>product teams test the new feature with surveys and to figure out if users respond well to it.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19054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Analysis of brand identity</a:t>
            </a:r>
            <a:br>
              <a:rPr lang="en-US" dirty="0"/>
            </a:br>
            <a:endParaRPr lang="en-US" dirty="0"/>
          </a:p>
        </p:txBody>
      </p:sp>
      <p:sp>
        <p:nvSpPr>
          <p:cNvPr id="3" name="Content Placeholder 2"/>
          <p:cNvSpPr>
            <a:spLocks noGrp="1"/>
          </p:cNvSpPr>
          <p:nvPr>
            <p:ph idx="1"/>
          </p:nvPr>
        </p:nvSpPr>
        <p:spPr>
          <a:xfrm>
            <a:off x="381000" y="1066800"/>
            <a:ext cx="8305800" cy="5257800"/>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Definitions</a:t>
            </a:r>
          </a:p>
          <a:p>
            <a:r>
              <a:rPr lang="en-US" b="1" dirty="0">
                <a:latin typeface="Times New Roman" panose="02020603050405020304" pitchFamily="18" charset="0"/>
                <a:cs typeface="Times New Roman" panose="02020603050405020304" pitchFamily="18" charset="0"/>
              </a:rPr>
              <a:t>A brand </a:t>
            </a:r>
            <a:r>
              <a:rPr lang="en-US" dirty="0">
                <a:latin typeface="Times New Roman" panose="02020603050405020304" pitchFamily="18" charset="0"/>
                <a:cs typeface="Times New Roman" panose="02020603050405020304" pitchFamily="18" charset="0"/>
              </a:rPr>
              <a:t>is the set of expectations, memories, stories and relationships that taken together, account for a consumer’s decision to choose one product or service over another.</a:t>
            </a:r>
          </a:p>
          <a:p>
            <a:r>
              <a:rPr lang="en-US" b="1" dirty="0">
                <a:latin typeface="Times New Roman" panose="02020603050405020304" pitchFamily="18" charset="0"/>
                <a:cs typeface="Times New Roman" panose="02020603050405020304" pitchFamily="18" charset="0"/>
              </a:rPr>
              <a:t>Identity: </a:t>
            </a:r>
            <a:r>
              <a:rPr lang="en-US" dirty="0">
                <a:latin typeface="Times New Roman" panose="02020603050405020304" pitchFamily="18" charset="0"/>
                <a:cs typeface="Times New Roman" panose="02020603050405020304" pitchFamily="18" charset="0"/>
              </a:rPr>
              <a:t>The visual components used to represent the firm’s philosophies, beliefs and vision form the identity of the company.</a:t>
            </a:r>
          </a:p>
        </p:txBody>
      </p:sp>
    </p:spTree>
    <p:extLst>
      <p:ext uri="{BB962C8B-B14F-4D97-AF65-F5344CB8AC3E}">
        <p14:creationId xmlns:p14="http://schemas.microsoft.com/office/powerpoint/2010/main" val="34394900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05336C-3C6F-CE70-D642-57CC1C4296BA}"/>
              </a:ext>
            </a:extLst>
          </p:cNvPr>
          <p:cNvSpPr>
            <a:spLocks noGrp="1"/>
          </p:cNvSpPr>
          <p:nvPr>
            <p:ph idx="1"/>
          </p:nvPr>
        </p:nvSpPr>
        <p:spPr>
          <a:xfrm>
            <a:off x="533400" y="838200"/>
            <a:ext cx="8153400" cy="5029200"/>
          </a:xfrm>
        </p:spPr>
        <p:txBody>
          <a:bodyPr/>
          <a:lstStyle/>
          <a:p>
            <a:r>
              <a:rPr lang="en-US" b="1" dirty="0"/>
              <a:t>Brand identity: </a:t>
            </a:r>
            <a:r>
              <a:rPr lang="en-US" dirty="0"/>
              <a:t>Is the visible elements of a brand, such as color, design, and logo that identify and distinguish the brand in consumers' minds.</a:t>
            </a:r>
          </a:p>
          <a:p>
            <a:pPr lvl="0">
              <a:buFont typeface="Wingdings" pitchFamily="2" charset="2"/>
              <a:buChar char="Ø"/>
            </a:pPr>
            <a:r>
              <a:rPr lang="en-US" dirty="0"/>
              <a:t>Brand identity in many ways is the visual (symbol or illustration) aspect of a brand. </a:t>
            </a:r>
          </a:p>
          <a:p>
            <a:endParaRPr lang="en-US" dirty="0"/>
          </a:p>
        </p:txBody>
      </p:sp>
    </p:spTree>
    <p:extLst>
      <p:ext uri="{BB962C8B-B14F-4D97-AF65-F5344CB8AC3E}">
        <p14:creationId xmlns:p14="http://schemas.microsoft.com/office/powerpoint/2010/main" val="23776264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Is a Brand? </a:t>
            </a:r>
            <a:br>
              <a:rPr lang="en-US" b="1" dirty="0"/>
            </a:br>
            <a:endParaRPr lang="en-US" b="1" dirty="0"/>
          </a:p>
        </p:txBody>
      </p:sp>
      <p:sp>
        <p:nvSpPr>
          <p:cNvPr id="3" name="Content Placeholder 2"/>
          <p:cNvSpPr>
            <a:spLocks noGrp="1"/>
          </p:cNvSpPr>
          <p:nvPr>
            <p:ph idx="1"/>
          </p:nvPr>
        </p:nvSpPr>
        <p:spPr/>
        <p:txBody>
          <a:bodyPr>
            <a:normAutofit/>
          </a:bodyPr>
          <a:lstStyle/>
          <a:p>
            <a:r>
              <a:rPr lang="en-US" dirty="0"/>
              <a:t>The term brand refers to a business and marketing concept that helps people identify a particular company, product, or individual.</a:t>
            </a:r>
          </a:p>
          <a:p>
            <a:r>
              <a:rPr lang="en-US" dirty="0"/>
              <a:t> Brands are intangible, which means you can't actually touch or see them. As such, they help shape people's perceptions of companies, their products, or individuals.</a:t>
            </a:r>
          </a:p>
          <a:p>
            <a:endParaRPr lang="en-US" dirty="0"/>
          </a:p>
        </p:txBody>
      </p:sp>
    </p:spTree>
    <p:extLst>
      <p:ext uri="{BB962C8B-B14F-4D97-AF65-F5344CB8AC3E}">
        <p14:creationId xmlns:p14="http://schemas.microsoft.com/office/powerpoint/2010/main" val="37812811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7D3058-1248-78D6-1111-37EBB08F8439}"/>
              </a:ext>
            </a:extLst>
          </p:cNvPr>
          <p:cNvSpPr>
            <a:spLocks noGrp="1"/>
          </p:cNvSpPr>
          <p:nvPr>
            <p:ph idx="1"/>
          </p:nvPr>
        </p:nvSpPr>
        <p:spPr>
          <a:xfrm>
            <a:off x="381000" y="685800"/>
            <a:ext cx="8305800" cy="5440363"/>
          </a:xfrm>
        </p:spPr>
        <p:txBody>
          <a:bodyPr/>
          <a:lstStyle/>
          <a:p>
            <a:r>
              <a:rPr lang="en-US" dirty="0">
                <a:latin typeface="Times New Roman" panose="02020603050405020304" pitchFamily="18" charset="0"/>
                <a:cs typeface="Times New Roman" panose="02020603050405020304" pitchFamily="18" charset="0"/>
              </a:rPr>
              <a:t> A brand is the way a product, company, or individual is perceived by those who experience it. Much more than just a name or a logo, a brand is the recognizable feeling these assets evoke.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7784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305800" cy="5592763"/>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To cultivate a certain image in consumers' minds:</a:t>
            </a:r>
          </a:p>
          <a:p>
            <a:pPr lvl="0"/>
            <a:r>
              <a:rPr lang="en-US" dirty="0">
                <a:latin typeface="Times New Roman" panose="02020603050405020304" pitchFamily="18" charset="0"/>
                <a:cs typeface="Times New Roman" panose="02020603050405020304" pitchFamily="18" charset="0"/>
              </a:rPr>
              <a:t>Chooses its name</a:t>
            </a:r>
          </a:p>
          <a:p>
            <a:pPr lvl="0"/>
            <a:r>
              <a:rPr lang="en-US" dirty="0">
                <a:latin typeface="Times New Roman" panose="02020603050405020304" pitchFamily="18" charset="0"/>
                <a:cs typeface="Times New Roman" panose="02020603050405020304" pitchFamily="18" charset="0"/>
              </a:rPr>
              <a:t>Designs its logo.</a:t>
            </a:r>
          </a:p>
          <a:p>
            <a:pPr lvl="0"/>
            <a:r>
              <a:rPr lang="en-US" dirty="0">
                <a:latin typeface="Times New Roman" panose="02020603050405020304" pitchFamily="18" charset="0"/>
                <a:cs typeface="Times New Roman" panose="02020603050405020304" pitchFamily="18" charset="0"/>
              </a:rPr>
              <a:t>Uses colors, shapes, and other visual elements in its products and promotions</a:t>
            </a:r>
          </a:p>
          <a:p>
            <a:pPr lvl="0"/>
            <a:r>
              <a:rPr lang="en-US" dirty="0">
                <a:latin typeface="Times New Roman" panose="02020603050405020304" pitchFamily="18" charset="0"/>
                <a:cs typeface="Times New Roman" panose="02020603050405020304" pitchFamily="18" charset="0"/>
              </a:rPr>
              <a:t>Crafts the language in its advertisements</a:t>
            </a:r>
          </a:p>
          <a:p>
            <a:pPr lvl="0"/>
            <a:r>
              <a:rPr lang="en-US" dirty="0">
                <a:latin typeface="Times New Roman" panose="02020603050405020304" pitchFamily="18" charset="0"/>
                <a:cs typeface="Times New Roman" panose="02020603050405020304" pitchFamily="18" charset="0"/>
              </a:rPr>
              <a:t>Trains employees to interact with customers</a:t>
            </a:r>
          </a:p>
          <a:p>
            <a:pPr marL="0" indent="0">
              <a:buNone/>
            </a:pPr>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50291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680DF5-F6E2-DF7F-F7CB-BAB673FCB1F4}"/>
              </a:ext>
            </a:extLst>
          </p:cNvPr>
          <p:cNvSpPr>
            <a:spLocks noGrp="1"/>
          </p:cNvSpPr>
          <p:nvPr>
            <p:ph idx="1"/>
          </p:nvPr>
        </p:nvSpPr>
        <p:spPr>
          <a:xfrm>
            <a:off x="342900" y="533400"/>
            <a:ext cx="8458200" cy="5592763"/>
          </a:xfrm>
        </p:spPr>
        <p:txBody>
          <a:bodyPr/>
          <a:lstStyle/>
          <a:p>
            <a:r>
              <a:rPr lang="en-US" dirty="0">
                <a:latin typeface="Times New Roman" panose="02020603050405020304" pitchFamily="18" charset="0"/>
                <a:cs typeface="Times New Roman" panose="02020603050405020304" pitchFamily="18" charset="0"/>
              </a:rPr>
              <a:t>Brand image is the actual result of these efforts, successful or unsuccessful. </a:t>
            </a:r>
          </a:p>
          <a:p>
            <a:pPr marL="0" indent="0">
              <a:buNone/>
            </a:pPr>
            <a:r>
              <a:rPr lang="en-US" b="1" dirty="0">
                <a:latin typeface="Times New Roman" panose="02020603050405020304" pitchFamily="18" charset="0"/>
                <a:cs typeface="Times New Roman" panose="02020603050405020304" pitchFamily="18" charset="0"/>
              </a:rPr>
              <a:t>Brand image is the actual result of these efforts, successful or unsuccessful. </a:t>
            </a:r>
          </a:p>
          <a:p>
            <a:pPr>
              <a:buFont typeface="Wingdings" pitchFamily="2" charset="2"/>
              <a:buChar char="Ø"/>
            </a:pPr>
            <a:r>
              <a:rPr lang="en-US" dirty="0">
                <a:latin typeface="Times New Roman" panose="02020603050405020304" pitchFamily="18" charset="0"/>
                <a:cs typeface="Times New Roman" panose="02020603050405020304" pitchFamily="18" charset="0"/>
              </a:rPr>
              <a:t>A strong brand identity strengthens a company's popularity and presence in a competitive market.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44773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6 principles for successful branding</a:t>
            </a:r>
          </a:p>
        </p:txBody>
      </p:sp>
      <p:sp>
        <p:nvSpPr>
          <p:cNvPr id="3" name="Content Placeholder 2"/>
          <p:cNvSpPr>
            <a:spLocks noGrp="1"/>
          </p:cNvSpPr>
          <p:nvPr>
            <p:ph idx="1"/>
          </p:nvPr>
        </p:nvSpPr>
        <p:spPr/>
        <p:txBody>
          <a:bodyPr>
            <a:normAutofit/>
          </a:bodyPr>
          <a:lstStyle/>
          <a:p>
            <a:r>
              <a:rPr lang="en-US" b="1" u="sng" dirty="0">
                <a:latin typeface="Times New Roman" panose="02020603050405020304" pitchFamily="18" charset="0"/>
                <a:cs typeface="Times New Roman" panose="02020603050405020304" pitchFamily="18" charset="0"/>
                <a:hlinkClick r:id="rId2"/>
              </a:rPr>
              <a:t>Ask yourself why?</a:t>
            </a:r>
            <a:endParaRPr lang="en-US" b="1" u="sng"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hlinkClick r:id="rId3"/>
              </a:rPr>
              <a:t>Brand vision</a:t>
            </a:r>
            <a:endParaRPr lang="en-US" b="1" u="sng"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hlinkClick r:id="rId4"/>
              </a:rPr>
              <a:t>Check your competition and find your unique selling point</a:t>
            </a:r>
            <a:endParaRPr lang="en-US" b="1" u="sng"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hlinkClick r:id="rId5"/>
              </a:rPr>
              <a:t>Personality counts</a:t>
            </a:r>
            <a:endParaRPr lang="en-US" b="1" u="sng"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hlinkClick r:id="rId6"/>
              </a:rPr>
              <a:t>Pitch perfect</a:t>
            </a:r>
            <a:endParaRPr lang="en-US" b="1" u="sng"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hlinkClick r:id="rId7"/>
              </a:rPr>
              <a:t>Creating brand guidelines</a:t>
            </a:r>
            <a:endParaRPr lang="en-US" b="1" u="sng" dirty="0">
              <a:latin typeface="Times New Roman" panose="02020603050405020304" pitchFamily="18" charset="0"/>
              <a:cs typeface="Times New Roman" panose="02020603050405020304" pitchFamily="18" charset="0"/>
            </a:endParaRPr>
          </a:p>
          <a:p>
            <a:endParaRPr lang="en-US"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50286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Ask yourself why?</a:t>
            </a:r>
          </a:p>
        </p:txBody>
      </p:sp>
      <p:sp>
        <p:nvSpPr>
          <p:cNvPr id="3" name="Content Placeholder 2"/>
          <p:cNvSpPr>
            <a:spLocks noGrp="1"/>
          </p:cNvSpPr>
          <p:nvPr>
            <p:ph idx="1"/>
          </p:nvPr>
        </p:nvSpPr>
        <p:spPr/>
        <p:txBody>
          <a:bodyPr>
            <a:normAutofit lnSpcReduction="10000"/>
          </a:bodyPr>
          <a:lstStyle/>
          <a:p>
            <a:r>
              <a:rPr lang="en-US" dirty="0"/>
              <a:t>Why are you doing what you are doing? Answering this question will define your brand’s values, purpose and mandate. </a:t>
            </a:r>
          </a:p>
          <a:p>
            <a:r>
              <a:rPr lang="en-US" dirty="0"/>
              <a:t>And having a successful purpose-driven brand will create a strong bond with your target audience.</a:t>
            </a:r>
          </a:p>
          <a:p>
            <a:r>
              <a:rPr lang="en-US" dirty="0"/>
              <a:t>Ask yourself these three key questions. Starting with WHY you are doing what you are doing, and moving on to HOW, then WHAT.</a:t>
            </a:r>
          </a:p>
          <a:p>
            <a:endParaRPr lang="en-US" dirty="0"/>
          </a:p>
        </p:txBody>
      </p:sp>
    </p:spTree>
    <p:extLst>
      <p:ext uri="{BB962C8B-B14F-4D97-AF65-F5344CB8AC3E}">
        <p14:creationId xmlns:p14="http://schemas.microsoft.com/office/powerpoint/2010/main" val="31674069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1200150"/>
            <a:ext cx="8162925" cy="489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80067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Brand vision</a:t>
            </a:r>
          </a:p>
        </p:txBody>
      </p:sp>
      <p:sp>
        <p:nvSpPr>
          <p:cNvPr id="3" name="Content Placeholder 2"/>
          <p:cNvSpPr>
            <a:spLocks noGrp="1"/>
          </p:cNvSpPr>
          <p:nvPr>
            <p:ph idx="1"/>
          </p:nvPr>
        </p:nvSpPr>
        <p:spPr/>
        <p:txBody>
          <a:bodyPr>
            <a:normAutofit lnSpcReduction="10000"/>
          </a:bodyPr>
          <a:lstStyle/>
          <a:p>
            <a:r>
              <a:rPr lang="en-US" dirty="0"/>
              <a:t>Once you have your “why” it’s time to determine a vision statement. This defines what it is you want to achieve.</a:t>
            </a:r>
          </a:p>
          <a:p>
            <a:r>
              <a:rPr lang="en-US" dirty="0"/>
              <a:t>So, grab a pen and paper and get scribbling some answers to these helpful questions:</a:t>
            </a:r>
          </a:p>
          <a:p>
            <a:r>
              <a:rPr lang="en-US" dirty="0"/>
              <a:t>Think about where you would like your business to be in five to ten years</a:t>
            </a:r>
          </a:p>
          <a:p>
            <a:r>
              <a:rPr lang="en-US" dirty="0"/>
              <a:t>Write the statement based on your “why” and your business’ values</a:t>
            </a:r>
          </a:p>
          <a:p>
            <a:endParaRPr lang="en-US" dirty="0"/>
          </a:p>
        </p:txBody>
      </p:sp>
    </p:spTree>
    <p:extLst>
      <p:ext uri="{BB962C8B-B14F-4D97-AF65-F5344CB8AC3E}">
        <p14:creationId xmlns:p14="http://schemas.microsoft.com/office/powerpoint/2010/main" val="2352583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13B6CE-7E60-D634-731C-0FD6634E878F}"/>
              </a:ext>
            </a:extLst>
          </p:cNvPr>
          <p:cNvSpPr>
            <a:spLocks noGrp="1"/>
          </p:cNvSpPr>
          <p:nvPr>
            <p:ph idx="1"/>
          </p:nvPr>
        </p:nvSpPr>
        <p:spPr>
          <a:xfrm>
            <a:off x="304800" y="838200"/>
            <a:ext cx="8610600" cy="5410200"/>
          </a:xfrm>
        </p:spPr>
        <p:txBody>
          <a:bodyPr>
            <a:normAutofit/>
          </a:bodyPr>
          <a:lstStyle/>
          <a:p>
            <a:r>
              <a:rPr lang="en-US" dirty="0"/>
              <a:t>Make sure that your statement implies a clear focus for your business</a:t>
            </a:r>
          </a:p>
          <a:p>
            <a:r>
              <a:rPr lang="en-US" dirty="0"/>
              <a:t>Write your vision statement in the present tense</a:t>
            </a:r>
          </a:p>
          <a:p>
            <a:r>
              <a:rPr lang="en-US" dirty="0"/>
              <a:t>Distill your statement into clear and concise language</a:t>
            </a:r>
          </a:p>
          <a:p>
            <a:r>
              <a:rPr lang="en-US" dirty="0"/>
              <a:t>Make sure the statement is easily understood. </a:t>
            </a:r>
          </a:p>
          <a:p>
            <a:r>
              <a:rPr lang="en-US" dirty="0"/>
              <a:t>Check with friends and family that your vision is clear</a:t>
            </a:r>
          </a:p>
          <a:p>
            <a:endParaRPr lang="en-US" dirty="0"/>
          </a:p>
        </p:txBody>
      </p:sp>
    </p:spTree>
    <p:extLst>
      <p:ext uri="{BB962C8B-B14F-4D97-AF65-F5344CB8AC3E}">
        <p14:creationId xmlns:p14="http://schemas.microsoft.com/office/powerpoint/2010/main" val="9972378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3. Check your competition and find your unique selling point</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From your competition, research them and work out what it is that sets your brand or company apart.</a:t>
            </a:r>
          </a:p>
          <a:p>
            <a:r>
              <a:rPr lang="en-US" dirty="0">
                <a:latin typeface="Times New Roman" panose="02020603050405020304" pitchFamily="18" charset="0"/>
                <a:cs typeface="Times New Roman" panose="02020603050405020304" pitchFamily="18" charset="0"/>
              </a:rPr>
              <a:t> Your unique selling point (USP) comes from positioning yourself differently from your competitors.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67360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458200" cy="5791200"/>
          </a:xfrm>
        </p:spPr>
        <p:txBody>
          <a:bodyPr>
            <a:normAutofit/>
          </a:bodyPr>
          <a:lstStyle/>
          <a:p>
            <a:r>
              <a:rPr lang="en-US" b="1" dirty="0">
                <a:latin typeface="Times New Roman" panose="02020603050405020304" pitchFamily="18" charset="0"/>
                <a:cs typeface="Times New Roman" panose="02020603050405020304" pitchFamily="18" charset="0"/>
              </a:rPr>
              <a:t>A handy checklist for finding your USP:</a:t>
            </a:r>
          </a:p>
          <a:p>
            <a:r>
              <a:rPr lang="en-US" dirty="0">
                <a:latin typeface="Times New Roman" panose="02020603050405020304" pitchFamily="18" charset="0"/>
                <a:cs typeface="Times New Roman" panose="02020603050405020304" pitchFamily="18" charset="0"/>
              </a:rPr>
              <a:t>Make a list that includes all the features and benefits that are unique about your product or service.</a:t>
            </a:r>
          </a:p>
          <a:p>
            <a:r>
              <a:rPr lang="en-US" dirty="0">
                <a:latin typeface="Times New Roman" panose="02020603050405020304" pitchFamily="18" charset="0"/>
                <a:cs typeface="Times New Roman" panose="02020603050405020304" pitchFamily="18" charset="0"/>
              </a:rPr>
              <a:t>Google your competitors and compare your features and benefits, then you can get a clearer picture of what small thing (or big thing) sets you apart.</a:t>
            </a:r>
          </a:p>
          <a:p>
            <a:r>
              <a:rPr lang="en-US" dirty="0">
                <a:latin typeface="Times New Roman" panose="02020603050405020304" pitchFamily="18" charset="0"/>
                <a:cs typeface="Times New Roman" panose="02020603050405020304" pitchFamily="18" charset="0"/>
              </a:rPr>
              <a:t>Think about an emotional need that will be met by your product or service.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88711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04C509-A740-25CA-A574-C3E7906E7785}"/>
              </a:ext>
            </a:extLst>
          </p:cNvPr>
          <p:cNvSpPr>
            <a:spLocks noGrp="1"/>
          </p:cNvSpPr>
          <p:nvPr>
            <p:ph idx="1"/>
          </p:nvPr>
        </p:nvSpPr>
        <p:spPr>
          <a:xfrm>
            <a:off x="381000" y="381000"/>
            <a:ext cx="8305800" cy="5745163"/>
          </a:xfrm>
        </p:spPr>
        <p:txBody>
          <a:bodyPr/>
          <a:lstStyle/>
          <a:p>
            <a:r>
              <a:rPr lang="en-US" dirty="0">
                <a:latin typeface="Times New Roman" panose="02020603050405020304" pitchFamily="18" charset="0"/>
                <a:cs typeface="Times New Roman" panose="02020603050405020304" pitchFamily="18" charset="0"/>
              </a:rPr>
              <a:t>Look at it from your customer’s point of view and note down everything that springs to mind.</a:t>
            </a:r>
          </a:p>
          <a:p>
            <a:r>
              <a:rPr lang="en-US" dirty="0">
                <a:latin typeface="Times New Roman" panose="02020603050405020304" pitchFamily="18" charset="0"/>
                <a:cs typeface="Times New Roman" panose="02020603050405020304" pitchFamily="18" charset="0"/>
              </a:rPr>
              <a:t>Identify aspects of your product or service that your competitors cannot imitate.</a:t>
            </a:r>
          </a:p>
          <a:p>
            <a:r>
              <a:rPr lang="en-US" dirty="0">
                <a:latin typeface="Times New Roman" panose="02020603050405020304" pitchFamily="18" charset="0"/>
                <a:cs typeface="Times New Roman" panose="02020603050405020304" pitchFamily="18" charset="0"/>
              </a:rPr>
              <a:t>Underline anything that cannot be easily duplicated, reproduced, or copied.</a:t>
            </a:r>
          </a:p>
          <a:p>
            <a:r>
              <a:rPr lang="en-US" dirty="0">
                <a:latin typeface="Times New Roman" panose="02020603050405020304" pitchFamily="18" charset="0"/>
                <a:cs typeface="Times New Roman" panose="02020603050405020304" pitchFamily="18" charset="0"/>
              </a:rPr>
              <a:t>Think of phrases about your unique product or service, keep them clear and concise.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61422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Personality counts</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Establishing the right personality for your brand will help prospective customers decide on whether you are the right brand for them. </a:t>
            </a:r>
          </a:p>
          <a:p>
            <a:r>
              <a:rPr lang="en-US" dirty="0">
                <a:latin typeface="Times New Roman" panose="02020603050405020304" pitchFamily="18" charset="0"/>
                <a:cs typeface="Times New Roman" panose="02020603050405020304" pitchFamily="18" charset="0"/>
              </a:rPr>
              <a:t>Personality should be reflected throughout your communications from the tone of voice and language to the type font and colors you choose.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46907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44CA86-F5BF-322E-98A4-7F30C5B97911}"/>
              </a:ext>
            </a:extLst>
          </p:cNvPr>
          <p:cNvSpPr>
            <a:spLocks noGrp="1"/>
          </p:cNvSpPr>
          <p:nvPr>
            <p:ph idx="1"/>
          </p:nvPr>
        </p:nvSpPr>
        <p:spPr>
          <a:xfrm>
            <a:off x="228600" y="609601"/>
            <a:ext cx="8458200" cy="5486400"/>
          </a:xfrm>
        </p:spPr>
        <p:txBody>
          <a:bodyPr/>
          <a:lstStyle/>
          <a:p>
            <a:r>
              <a:rPr lang="en-US" dirty="0">
                <a:latin typeface="Times New Roman" panose="02020603050405020304" pitchFamily="18" charset="0"/>
                <a:cs typeface="Times New Roman" panose="02020603050405020304" pitchFamily="18" charset="0"/>
              </a:rPr>
              <a:t>All of this will be reflective of your brand values and ultimately your prospective customers’ values.</a:t>
            </a:r>
          </a:p>
          <a:p>
            <a:r>
              <a:rPr lang="en-US" dirty="0">
                <a:latin typeface="Times New Roman" panose="02020603050405020304" pitchFamily="18" charset="0"/>
                <a:cs typeface="Times New Roman" panose="02020603050405020304" pitchFamily="18" charset="0"/>
              </a:rPr>
              <a:t>Brand creation relies on truly </a:t>
            </a:r>
            <a:r>
              <a:rPr lang="en-US" dirty="0">
                <a:latin typeface="Times New Roman" panose="02020603050405020304" pitchFamily="18" charset="0"/>
                <a:cs typeface="Times New Roman" panose="02020603050405020304" pitchFamily="18" charset="0"/>
                <a:hlinkClick r:id="rId2"/>
              </a:rPr>
              <a:t>understanding the buyer persona</a:t>
            </a:r>
            <a:r>
              <a:rPr lang="en-US" dirty="0">
                <a:latin typeface="Times New Roman" panose="02020603050405020304" pitchFamily="18" charset="0"/>
                <a:cs typeface="Times New Roman" panose="02020603050405020304" pitchFamily="18" charset="0"/>
              </a:rPr>
              <a:t>. It helps visualize your target customers and their demographics, like age, gender, location, income.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35332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382000" cy="5440363"/>
          </a:xfrm>
        </p:spPr>
        <p:txBody>
          <a:bodyPr>
            <a:normAutofit/>
          </a:bodyPr>
          <a:lstStyle/>
          <a:p>
            <a:r>
              <a:rPr lang="en-US" dirty="0">
                <a:latin typeface="Times New Roman" panose="02020603050405020304" pitchFamily="18" charset="0"/>
                <a:cs typeface="Times New Roman" panose="02020603050405020304" pitchFamily="18" charset="0"/>
              </a:rPr>
              <a:t>To get even more definition for your brand’s buyer persona, you can explore these details:</a:t>
            </a:r>
          </a:p>
          <a:p>
            <a:pPr>
              <a:buFont typeface="Wingdings" pitchFamily="2" charset="2"/>
              <a:buChar char="Ø"/>
            </a:pPr>
            <a:r>
              <a:rPr lang="en-US" dirty="0">
                <a:latin typeface="Times New Roman" panose="02020603050405020304" pitchFamily="18" charset="0"/>
                <a:cs typeface="Times New Roman" panose="02020603050405020304" pitchFamily="18" charset="0"/>
              </a:rPr>
              <a:t>Motivations</a:t>
            </a:r>
          </a:p>
          <a:p>
            <a:pPr>
              <a:buFont typeface="Wingdings" pitchFamily="2" charset="2"/>
              <a:buChar char="Ø"/>
            </a:pPr>
            <a:r>
              <a:rPr lang="en-US" dirty="0">
                <a:latin typeface="Times New Roman" panose="02020603050405020304" pitchFamily="18" charset="0"/>
                <a:cs typeface="Times New Roman" panose="02020603050405020304" pitchFamily="18" charset="0"/>
              </a:rPr>
              <a:t>Goals</a:t>
            </a:r>
          </a:p>
          <a:p>
            <a:pPr>
              <a:buFont typeface="Wingdings" pitchFamily="2" charset="2"/>
              <a:buChar char="Ø"/>
            </a:pPr>
            <a:r>
              <a:rPr lang="en-US" dirty="0">
                <a:latin typeface="Times New Roman" panose="02020603050405020304" pitchFamily="18" charset="0"/>
                <a:cs typeface="Times New Roman" panose="02020603050405020304" pitchFamily="18" charset="0"/>
              </a:rPr>
              <a:t>Fears</a:t>
            </a:r>
          </a:p>
          <a:p>
            <a:pPr>
              <a:buFont typeface="Wingdings" pitchFamily="2" charset="2"/>
              <a:buChar char="Ø"/>
            </a:pPr>
            <a:r>
              <a:rPr lang="en-US" dirty="0">
                <a:latin typeface="Times New Roman" panose="02020603050405020304" pitchFamily="18" charset="0"/>
                <a:cs typeface="Times New Roman" panose="02020603050405020304" pitchFamily="18" charset="0"/>
              </a:rPr>
              <a:t>Desires</a:t>
            </a:r>
          </a:p>
          <a:p>
            <a:pPr>
              <a:buFont typeface="Wingdings" pitchFamily="2" charset="2"/>
              <a:buChar char="Ø"/>
            </a:pPr>
            <a:r>
              <a:rPr lang="en-US" dirty="0">
                <a:latin typeface="Times New Roman" panose="02020603050405020304" pitchFamily="18" charset="0"/>
                <a:cs typeface="Times New Roman" panose="02020603050405020304" pitchFamily="18" charset="0"/>
              </a:rPr>
              <a:t>Influencers</a:t>
            </a:r>
          </a:p>
          <a:p>
            <a:pPr>
              <a:buFont typeface="Wingdings" pitchFamily="2" charset="2"/>
              <a:buChar char="Ø"/>
            </a:pPr>
            <a:r>
              <a:rPr lang="en-US" dirty="0">
                <a:latin typeface="Times New Roman" panose="02020603050405020304" pitchFamily="18" charset="0"/>
                <a:cs typeface="Times New Roman" panose="02020603050405020304" pitchFamily="18" charset="0"/>
              </a:rPr>
              <a:t>Brand affinities</a:t>
            </a:r>
          </a:p>
          <a:p>
            <a:pPr>
              <a:buFont typeface="Wingdings" pitchFamily="2" charset="2"/>
              <a:buChar char="Ø"/>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96015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5</a:t>
            </a:r>
            <a:r>
              <a:rPr lang="en-US" b="1" dirty="0">
                <a:latin typeface="Times New Roman" panose="02020603050405020304" pitchFamily="18" charset="0"/>
                <a:cs typeface="Times New Roman" panose="02020603050405020304" pitchFamily="18" charset="0"/>
              </a:rPr>
              <a:t>. Pitch perfect</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Referring to your tone of voice with this principle, your communications with your target audience must speak to them directly and connect with them.</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22776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6. Creating brand guidelines</a:t>
            </a:r>
            <a:br>
              <a:rPr lang="en-US" b="1" dirty="0"/>
            </a:br>
            <a:endParaRPr lang="en-US" dirty="0"/>
          </a:p>
        </p:txBody>
      </p:sp>
      <p:sp>
        <p:nvSpPr>
          <p:cNvPr id="3" name="Content Placeholder 2"/>
          <p:cNvSpPr>
            <a:spLocks noGrp="1"/>
          </p:cNvSpPr>
          <p:nvPr>
            <p:ph idx="1"/>
          </p:nvPr>
        </p:nvSpPr>
        <p:spPr>
          <a:xfrm>
            <a:off x="0" y="990600"/>
            <a:ext cx="8763000" cy="5715000"/>
          </a:xfrm>
        </p:spPr>
        <p:txBody>
          <a:bodyPr>
            <a:normAutofit/>
          </a:bodyPr>
          <a:lstStyle/>
          <a:p>
            <a:r>
              <a:rPr lang="en-US" dirty="0"/>
              <a:t>Time for the final principle, now you have thoroughly researched and worked out your unique offer, it’s time to create brand guidelines. </a:t>
            </a:r>
          </a:p>
          <a:p>
            <a:r>
              <a:rPr lang="en-US" dirty="0"/>
              <a:t>So, here’s what your brand guidelines should include:</a:t>
            </a:r>
          </a:p>
          <a:p>
            <a:pPr>
              <a:buFont typeface="Wingdings" pitchFamily="2" charset="2"/>
              <a:buChar char="Ø"/>
            </a:pPr>
            <a:r>
              <a:rPr lang="en-US" dirty="0"/>
              <a:t>Company logo and strapline</a:t>
            </a:r>
          </a:p>
          <a:p>
            <a:pPr>
              <a:buFont typeface="Wingdings" pitchFamily="2" charset="2"/>
              <a:buChar char="Ø"/>
            </a:pPr>
            <a:r>
              <a:rPr lang="en-US" dirty="0"/>
              <a:t>Color palette</a:t>
            </a:r>
          </a:p>
          <a:p>
            <a:pPr>
              <a:buFont typeface="Wingdings" pitchFamily="2" charset="2"/>
              <a:buChar char="Ø"/>
            </a:pPr>
            <a:r>
              <a:rPr lang="en-US" dirty="0"/>
              <a:t>Typography</a:t>
            </a:r>
          </a:p>
          <a:p>
            <a:pPr>
              <a:buFont typeface="Wingdings" pitchFamily="2" charset="2"/>
              <a:buChar char="Ø"/>
            </a:pPr>
            <a:r>
              <a:rPr lang="en-US" dirty="0"/>
              <a:t>Document styling</a:t>
            </a:r>
          </a:p>
          <a:p>
            <a:pPr>
              <a:buFont typeface="Wingdings" pitchFamily="2" charset="2"/>
              <a:buChar char="Ø"/>
            </a:pPr>
            <a:r>
              <a:rPr lang="en-US" dirty="0"/>
              <a:t>Digital styling</a:t>
            </a:r>
          </a:p>
          <a:p>
            <a:endParaRPr lang="en-US" dirty="0"/>
          </a:p>
        </p:txBody>
      </p:sp>
    </p:spTree>
    <p:extLst>
      <p:ext uri="{BB962C8B-B14F-4D97-AF65-F5344CB8AC3E}">
        <p14:creationId xmlns:p14="http://schemas.microsoft.com/office/powerpoint/2010/main" val="6984628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solidFill>
                  <a:srgbClr val="000000"/>
                </a:solidFill>
                <a:latin typeface="Times New Roman" panose="02020603050405020304" pitchFamily="18" charset="0"/>
                <a:cs typeface="Times New Roman" panose="02020603050405020304" pitchFamily="18" charset="0"/>
              </a:rPr>
            </a:br>
            <a:r>
              <a:rPr lang="en-US" b="1" dirty="0">
                <a:solidFill>
                  <a:srgbClr val="000000"/>
                </a:solidFill>
                <a:latin typeface="Times New Roman" panose="02020603050405020304" pitchFamily="18" charset="0"/>
                <a:cs typeface="Times New Roman" panose="02020603050405020304" pitchFamily="18" charset="0"/>
              </a:rPr>
              <a:t>Identification of brand design principles</a:t>
            </a:r>
            <a:br>
              <a:rPr lang="en-US" b="1" dirty="0">
                <a:solidFill>
                  <a:srgbClr val="000000"/>
                </a:solidFill>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endParaRPr lang="en-US" sz="2800" dirty="0">
              <a:solidFill>
                <a:srgbClr val="00000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There are certain fundamental principles that branding agencies adhere to while creating the visual and style guidelines of a brand. There are as follows: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1. Research, Vision and Design Brief</a:t>
            </a:r>
          </a:p>
          <a:p>
            <a:pPr marL="0" indent="0">
              <a:buNone/>
            </a:pPr>
            <a:r>
              <a:rPr lang="en-US" sz="2800" dirty="0">
                <a:solidFill>
                  <a:srgbClr val="000000"/>
                </a:solidFill>
                <a:latin typeface="Times New Roman" panose="02020603050405020304" pitchFamily="18" charset="0"/>
                <a:cs typeface="Times New Roman" panose="02020603050405020304" pitchFamily="18" charset="0"/>
              </a:rPr>
              <a:t>2. </a:t>
            </a:r>
            <a:r>
              <a:rPr lang="en-US" sz="2800" dirty="0">
                <a:latin typeface="Times New Roman" panose="02020603050405020304" pitchFamily="18" charset="0"/>
                <a:cs typeface="Times New Roman" panose="02020603050405020304" pitchFamily="18" charset="0"/>
              </a:rPr>
              <a:t>Logo, Identity &amp; Guidelines</a:t>
            </a:r>
          </a:p>
          <a:p>
            <a:pPr marL="0" indent="0">
              <a:buNone/>
            </a:pPr>
            <a:r>
              <a:rPr lang="en-US" sz="2800" dirty="0">
                <a:solidFill>
                  <a:srgbClr val="000000"/>
                </a:solidFill>
                <a:latin typeface="Times New Roman" panose="02020603050405020304" pitchFamily="18" charset="0"/>
                <a:cs typeface="Times New Roman" panose="02020603050405020304" pitchFamily="18" charset="0"/>
              </a:rPr>
              <a:t>3. </a:t>
            </a:r>
            <a:r>
              <a:rPr lang="en-US" sz="2800" dirty="0">
                <a:latin typeface="Times New Roman" panose="02020603050405020304" pitchFamily="18" charset="0"/>
                <a:cs typeface="Times New Roman" panose="02020603050405020304" pitchFamily="18" charset="0"/>
              </a:rPr>
              <a:t>Monitoring and Rebranding</a:t>
            </a:r>
            <a:br>
              <a:rPr lang="en-US" sz="2800" dirty="0">
                <a:solidFill>
                  <a:srgbClr val="000000"/>
                </a:solidFill>
                <a:latin typeface="Times New Roman" panose="02020603050405020304" pitchFamily="18" charset="0"/>
                <a:cs typeface="Times New Roman" panose="02020603050405020304" pitchFamily="18" charset="0"/>
              </a:rPr>
            </a:br>
            <a:br>
              <a:rPr lang="en-US" sz="2800" dirty="0">
                <a:solidFill>
                  <a:srgbClr val="000000"/>
                </a:solidFill>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77108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rmAutofit fontScale="90000"/>
          </a:bodyPr>
          <a:lstStyle/>
          <a:p>
            <a:br>
              <a:rPr lang="en-US" b="1" dirty="0"/>
            </a:br>
            <a:r>
              <a:rPr lang="en-US" b="1" dirty="0"/>
              <a:t>1. Research, Vision and Design Brief</a:t>
            </a:r>
            <a:br>
              <a:rPr lang="en-US" dirty="0"/>
            </a:br>
            <a:endParaRPr lang="en-US" dirty="0"/>
          </a:p>
        </p:txBody>
      </p:sp>
      <p:sp>
        <p:nvSpPr>
          <p:cNvPr id="3" name="Content Placeholder 2"/>
          <p:cNvSpPr>
            <a:spLocks noGrp="1"/>
          </p:cNvSpPr>
          <p:nvPr>
            <p:ph idx="1"/>
          </p:nvPr>
        </p:nvSpPr>
        <p:spPr>
          <a:xfrm>
            <a:off x="304800" y="990600"/>
            <a:ext cx="8839200" cy="586740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What are the seven fundamental questions to help you towards a killer design brief? </a:t>
            </a:r>
          </a:p>
          <a:p>
            <a:pPr marL="514350" indent="-514350">
              <a:buFont typeface="+mj-lt"/>
              <a:buAutoNum type="arabicPeriod"/>
            </a:pP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How is the brand perceived against competitors? </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What is the positioning statement of the brand? </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What is the heritage of your product type and the origins of its ingredients and fabrication? </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Who is your audience? </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Where will the company have contact with them? </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What values and beliefs should the brand have about the business and it’s mission in the world? </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What benefits do you want customers to associate with your brand?</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91893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458200" cy="5486400"/>
          </a:xfrm>
        </p:spPr>
        <p:txBody>
          <a:bodyPr>
            <a:normAutofit/>
          </a:bodyPr>
          <a:lstStyle/>
          <a:p>
            <a:r>
              <a:rPr lang="en-US" sz="2800" b="1" dirty="0">
                <a:latin typeface="Times New Roman" panose="02020603050405020304" pitchFamily="18" charset="0"/>
                <a:cs typeface="Times New Roman" panose="02020603050405020304" pitchFamily="18" charset="0"/>
              </a:rPr>
              <a:t>Once agencies have the answers to these questions they proceed from the research phase to the theoretical phase, which includes the following points: </a:t>
            </a:r>
          </a:p>
          <a:p>
            <a:pPr marL="0" indent="0">
              <a:buNone/>
            </a:pPr>
            <a:r>
              <a:rPr lang="en-US" sz="2800" b="1" dirty="0">
                <a:latin typeface="Times New Roman" panose="02020603050405020304" pitchFamily="18" charset="0"/>
                <a:cs typeface="Times New Roman" panose="02020603050405020304" pitchFamily="18" charset="0"/>
              </a:rPr>
              <a:t>1. </a:t>
            </a:r>
            <a:r>
              <a:rPr lang="en-US" sz="2800" dirty="0">
                <a:latin typeface="Times New Roman" panose="02020603050405020304" pitchFamily="18" charset="0"/>
                <a:cs typeface="Times New Roman" panose="02020603050405020304" pitchFamily="18" charset="0"/>
              </a:rPr>
              <a:t>Who is the target audience? </a:t>
            </a:r>
          </a:p>
          <a:p>
            <a:pPr marL="0" indent="0">
              <a:buNone/>
            </a:pPr>
            <a:r>
              <a:rPr lang="en-US" sz="2800" dirty="0">
                <a:latin typeface="Times New Roman" panose="02020603050405020304" pitchFamily="18" charset="0"/>
                <a:cs typeface="Times New Roman" panose="02020603050405020304" pitchFamily="18" charset="0"/>
              </a:rPr>
              <a:t>2. What are the messaging objectives? </a:t>
            </a:r>
          </a:p>
          <a:p>
            <a:pPr marL="0" indent="0">
              <a:buNone/>
            </a:pPr>
            <a:r>
              <a:rPr lang="en-US" sz="2800" dirty="0">
                <a:latin typeface="Times New Roman" panose="02020603050405020304" pitchFamily="18" charset="0"/>
                <a:cs typeface="Times New Roman" panose="02020603050405020304" pitchFamily="18" charset="0"/>
              </a:rPr>
              <a:t>3. What are the values of the brand? </a:t>
            </a:r>
          </a:p>
          <a:p>
            <a:pPr marL="0" indent="0">
              <a:buNone/>
            </a:pPr>
            <a:r>
              <a:rPr lang="en-US" sz="2800" dirty="0">
                <a:latin typeface="Times New Roman" panose="02020603050405020304" pitchFamily="18" charset="0"/>
                <a:cs typeface="Times New Roman" panose="02020603050405020304" pitchFamily="18" charset="0"/>
              </a:rPr>
              <a:t>4. What are the brand’s offerings? </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6092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534400" cy="5867400"/>
          </a:xfrm>
        </p:spPr>
        <p:txBody>
          <a:bodyPr/>
          <a:lstStyle/>
          <a:p>
            <a:r>
              <a:rPr lang="en-US" b="1" dirty="0">
                <a:latin typeface="Times New Roman" panose="02020603050405020304" pitchFamily="18" charset="0"/>
                <a:cs typeface="Times New Roman" panose="02020603050405020304" pitchFamily="18" charset="0"/>
              </a:rPr>
              <a:t>The best branding companies also ensure to understand the external factors such as: </a:t>
            </a:r>
          </a:p>
          <a:p>
            <a:pPr marL="0" indent="0">
              <a:buNone/>
            </a:pPr>
            <a:r>
              <a:rPr lang="en-US" dirty="0">
                <a:latin typeface="Times New Roman" panose="02020603050405020304" pitchFamily="18" charset="0"/>
                <a:cs typeface="Times New Roman" panose="02020603050405020304" pitchFamily="18" charset="0"/>
              </a:rPr>
              <a:t>1.</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Budget for building the brand identity </a:t>
            </a:r>
          </a:p>
          <a:p>
            <a:pPr marL="0" indent="0">
              <a:buNone/>
            </a:pPr>
            <a:r>
              <a:rPr lang="en-US" dirty="0">
                <a:latin typeface="Times New Roman" panose="02020603050405020304" pitchFamily="18" charset="0"/>
                <a:cs typeface="Times New Roman" panose="02020603050405020304" pitchFamily="18" charset="0"/>
              </a:rPr>
              <a:t>2. The timelines and schedule of the project </a:t>
            </a:r>
          </a:p>
          <a:p>
            <a:pPr marL="0" indent="0">
              <a:buNone/>
            </a:pPr>
            <a:r>
              <a:rPr lang="en-US" dirty="0">
                <a:latin typeface="Times New Roman" panose="02020603050405020304" pitchFamily="18" charset="0"/>
                <a:cs typeface="Times New Roman" panose="02020603050405020304" pitchFamily="18" charset="0"/>
              </a:rPr>
              <a:t>3. The compatible formats and color schemes </a:t>
            </a:r>
          </a:p>
          <a:p>
            <a:pPr marL="0" indent="0">
              <a:buNone/>
            </a:pPr>
            <a:r>
              <a:rPr lang="en-US" dirty="0">
                <a:latin typeface="Times New Roman" panose="02020603050405020304" pitchFamily="18" charset="0"/>
                <a:cs typeface="Times New Roman" panose="02020603050405020304" pitchFamily="18" charset="0"/>
              </a:rPr>
              <a:t>4. Other practical needs</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60545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00"/>
                </a:solidFill>
                <a:latin typeface="Roboto"/>
              </a:rPr>
              <a:t>2</a:t>
            </a:r>
            <a:r>
              <a:rPr lang="en-US" b="1" dirty="0">
                <a:solidFill>
                  <a:srgbClr val="000000"/>
                </a:solidFill>
                <a:latin typeface="Roboto"/>
              </a:rPr>
              <a:t>. </a:t>
            </a:r>
            <a:r>
              <a:rPr lang="en-US" b="1" dirty="0"/>
              <a:t>Logo, Identity &amp; Guidelines</a:t>
            </a:r>
            <a:br>
              <a:rPr lang="en-US" dirty="0"/>
            </a:br>
            <a:endParaRPr lang="en-US" dirty="0"/>
          </a:p>
        </p:txBody>
      </p:sp>
      <p:sp>
        <p:nvSpPr>
          <p:cNvPr id="3" name="Content Placeholder 2"/>
          <p:cNvSpPr>
            <a:spLocks noGrp="1"/>
          </p:cNvSpPr>
          <p:nvPr>
            <p:ph idx="1"/>
          </p:nvPr>
        </p:nvSpPr>
        <p:spPr>
          <a:xfrm>
            <a:off x="0" y="1143000"/>
            <a:ext cx="8915400" cy="5440362"/>
          </a:xfrm>
        </p:spPr>
        <p:txBody>
          <a:bodyPr>
            <a:normAutofit/>
          </a:bodyPr>
          <a:lstStyle/>
          <a:p>
            <a:r>
              <a:rPr lang="en-US" sz="2800" dirty="0">
                <a:latin typeface="Times New Roman" panose="02020603050405020304" pitchFamily="18" charset="0"/>
                <a:cs typeface="Times New Roman" panose="02020603050405020304" pitchFamily="18" charset="0"/>
              </a:rPr>
              <a:t>Once the brand consultant is clear with the findings from the research, he or she will work with the designer to establish the logo and other important identity. </a:t>
            </a:r>
          </a:p>
          <a:p>
            <a:r>
              <a:rPr lang="en-US" sz="2800" dirty="0">
                <a:latin typeface="Times New Roman" panose="02020603050405020304" pitchFamily="18" charset="0"/>
                <a:cs typeface="Times New Roman" panose="02020603050405020304" pitchFamily="18" charset="0"/>
              </a:rPr>
              <a:t>The logo is the central, identifiable visual element that helps customers discover, share and remember a company’s brand.</a:t>
            </a:r>
          </a:p>
          <a:p>
            <a:r>
              <a:rPr lang="en-US" sz="2800" dirty="0">
                <a:latin typeface="Times New Roman" panose="02020603050405020304" pitchFamily="18" charset="0"/>
                <a:cs typeface="Times New Roman" panose="02020603050405020304" pitchFamily="18" charset="0"/>
              </a:rPr>
              <a:t>The style guidelines is a visual document that prescribes the logo usage rules, typeface system, color palette, layout guidelines and more.</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22620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00"/>
                </a:solidFill>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Monitoring and Rebranding</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Brand identity is a living, breathing thing that might need to evolve as it interacts with consumers. </a:t>
            </a:r>
          </a:p>
          <a:p>
            <a:r>
              <a:rPr lang="en-US" dirty="0">
                <a:latin typeface="Times New Roman" panose="02020603050405020304" pitchFamily="18" charset="0"/>
                <a:cs typeface="Times New Roman" panose="02020603050405020304" pitchFamily="18" charset="0"/>
              </a:rPr>
              <a:t>The challenge with rebranding is to maintain familiarity and consistency so that your customers remember you.</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77558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Eight Design Principles</a:t>
            </a:r>
            <a:br>
              <a:rPr lang="en-US" dirty="0"/>
            </a:b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83820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88327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686800" cy="6400800"/>
          </a:xfrm>
        </p:spPr>
        <p:txBody>
          <a:bodyPr>
            <a:noAutofit/>
          </a:bodyPr>
          <a:lstStyle/>
          <a:p>
            <a:pPr fontAlgn="base"/>
            <a:r>
              <a:rPr lang="en-US" sz="2600" dirty="0">
                <a:latin typeface="Times New Roman" panose="02020603050405020304" pitchFamily="18" charset="0"/>
                <a:cs typeface="Times New Roman" panose="02020603050405020304" pitchFamily="18" charset="0"/>
              </a:rPr>
              <a:t>Eight basic principles of design exist to help designers create amazing work :</a:t>
            </a:r>
            <a:endParaRPr lang="en-US" sz="2600" b="1" dirty="0">
              <a:latin typeface="Times New Roman" panose="02020603050405020304" pitchFamily="18" charset="0"/>
              <a:cs typeface="Times New Roman" panose="02020603050405020304" pitchFamily="18" charset="0"/>
            </a:endParaRPr>
          </a:p>
          <a:p>
            <a:pPr fontAlgn="base"/>
            <a:r>
              <a:rPr lang="en-US" sz="2600" b="1" dirty="0">
                <a:latin typeface="Times New Roman" panose="02020603050405020304" pitchFamily="18" charset="0"/>
                <a:cs typeface="Times New Roman" panose="02020603050405020304" pitchFamily="18" charset="0"/>
              </a:rPr>
              <a:t>Alignment: </a:t>
            </a:r>
            <a:r>
              <a:rPr lang="en-US" sz="2600" dirty="0">
                <a:latin typeface="Times New Roman" panose="02020603050405020304" pitchFamily="18" charset="0"/>
                <a:cs typeface="Times New Roman" panose="02020603050405020304" pitchFamily="18" charset="0"/>
              </a:rPr>
              <a:t>Creating a sharp, ordered appearance for elements to connect with each other.</a:t>
            </a:r>
          </a:p>
          <a:p>
            <a:pPr fontAlgn="base"/>
            <a:r>
              <a:rPr lang="en-US" sz="2600" b="1" dirty="0">
                <a:latin typeface="Times New Roman" panose="02020603050405020304" pitchFamily="18" charset="0"/>
                <a:cs typeface="Times New Roman" panose="02020603050405020304" pitchFamily="18" charset="0"/>
              </a:rPr>
              <a:t>Hierarchy: </a:t>
            </a:r>
            <a:r>
              <a:rPr lang="en-US" sz="2600" dirty="0">
                <a:latin typeface="Times New Roman" panose="02020603050405020304" pitchFamily="18" charset="0"/>
                <a:cs typeface="Times New Roman" panose="02020603050405020304" pitchFamily="18" charset="0"/>
              </a:rPr>
              <a:t>Ordering elements in terms of big, medium, and small to give extra visual weight to the most important message.</a:t>
            </a:r>
          </a:p>
          <a:p>
            <a:pPr fontAlgn="base"/>
            <a:r>
              <a:rPr lang="en-US" sz="2600" b="1" dirty="0">
                <a:latin typeface="Times New Roman" panose="02020603050405020304" pitchFamily="18" charset="0"/>
                <a:cs typeface="Times New Roman" panose="02020603050405020304" pitchFamily="18" charset="0"/>
              </a:rPr>
              <a:t>Contrast: </a:t>
            </a:r>
            <a:r>
              <a:rPr lang="en-US" sz="2600" dirty="0">
                <a:latin typeface="Times New Roman" panose="02020603050405020304" pitchFamily="18" charset="0"/>
                <a:cs typeface="Times New Roman" panose="02020603050405020304" pitchFamily="18" charset="0"/>
              </a:rPr>
              <a:t>Drawing out important elements of design to add emphasis. For example, black and white, thick and thin, modern and traditional.</a:t>
            </a:r>
          </a:p>
          <a:p>
            <a:pPr fontAlgn="base"/>
            <a:r>
              <a:rPr lang="en-US" sz="2600" b="1" dirty="0">
                <a:latin typeface="Times New Roman" panose="02020603050405020304" pitchFamily="18" charset="0"/>
                <a:cs typeface="Times New Roman" panose="02020603050405020304" pitchFamily="18" charset="0"/>
              </a:rPr>
              <a:t>Repetition: </a:t>
            </a:r>
            <a:r>
              <a:rPr lang="en-US" sz="2600" dirty="0">
                <a:latin typeface="Times New Roman" panose="02020603050405020304" pitchFamily="18" charset="0"/>
                <a:cs typeface="Times New Roman" panose="02020603050405020304" pitchFamily="18" charset="0"/>
              </a:rPr>
              <a:t>Tying design and overall look together, which helps people remember brands and important information better. Consistent fonts, </a:t>
            </a:r>
            <a:r>
              <a:rPr lang="en-US" sz="2600" dirty="0" err="1">
                <a:latin typeface="Times New Roman" panose="02020603050405020304" pitchFamily="18" charset="0"/>
                <a:cs typeface="Times New Roman" panose="02020603050405020304" pitchFamily="18" charset="0"/>
              </a:rPr>
              <a:t>colours</a:t>
            </a:r>
            <a:r>
              <a:rPr lang="en-US" sz="2600" dirty="0">
                <a:latin typeface="Times New Roman" panose="02020603050405020304" pitchFamily="18" charset="0"/>
                <a:cs typeface="Times New Roman" panose="02020603050405020304" pitchFamily="18" charset="0"/>
              </a:rPr>
              <a:t>, and brand imagery fall under this category.</a:t>
            </a:r>
          </a:p>
        </p:txBody>
      </p:sp>
    </p:spTree>
    <p:extLst>
      <p:ext uri="{BB962C8B-B14F-4D97-AF65-F5344CB8AC3E}">
        <p14:creationId xmlns:p14="http://schemas.microsoft.com/office/powerpoint/2010/main" val="13970737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839200" cy="6248400"/>
          </a:xfrm>
        </p:spPr>
        <p:txBody>
          <a:bodyPr>
            <a:normAutofit/>
          </a:bodyPr>
          <a:lstStyle/>
          <a:p>
            <a:pPr fontAlgn="base"/>
            <a:r>
              <a:rPr lang="en-US" sz="2600" b="1" dirty="0">
                <a:latin typeface="Times New Roman" panose="02020603050405020304" pitchFamily="18" charset="0"/>
                <a:cs typeface="Times New Roman" panose="02020603050405020304" pitchFamily="18" charset="0"/>
              </a:rPr>
              <a:t>Proximity: </a:t>
            </a:r>
            <a:r>
              <a:rPr lang="en-US" sz="2600" dirty="0">
                <a:latin typeface="Times New Roman" panose="02020603050405020304" pitchFamily="18" charset="0"/>
                <a:cs typeface="Times New Roman" panose="02020603050405020304" pitchFamily="18" charset="0"/>
              </a:rPr>
              <a:t>Space between elements, or group of elements to create a relationship between the designs.</a:t>
            </a:r>
          </a:p>
          <a:p>
            <a:pPr fontAlgn="base"/>
            <a:r>
              <a:rPr lang="en-US" sz="2600" b="1" dirty="0">
                <a:latin typeface="Times New Roman" panose="02020603050405020304" pitchFamily="18" charset="0"/>
                <a:cs typeface="Times New Roman" panose="02020603050405020304" pitchFamily="18" charset="0"/>
              </a:rPr>
              <a:t>Balance: </a:t>
            </a:r>
            <a:r>
              <a:rPr lang="en-US" sz="2600" dirty="0">
                <a:latin typeface="Times New Roman" panose="02020603050405020304" pitchFamily="18" charset="0"/>
                <a:cs typeface="Times New Roman" panose="02020603050405020304" pitchFamily="18" charset="0"/>
              </a:rPr>
              <a:t>Helping viewers look through content in a way that aids comprehension – balance can be achieved symmetrically, while asymmetrical balance uses contrast to even out the flow of the design.</a:t>
            </a:r>
          </a:p>
          <a:p>
            <a:pPr fontAlgn="base"/>
            <a:r>
              <a:rPr lang="en-US" sz="2600" b="1" dirty="0" err="1">
                <a:latin typeface="Times New Roman" panose="02020603050405020304" pitchFamily="18" charset="0"/>
                <a:cs typeface="Times New Roman" panose="02020603050405020304" pitchFamily="18" charset="0"/>
              </a:rPr>
              <a:t>Colour</a:t>
            </a:r>
            <a:r>
              <a:rPr lang="en-US" sz="2600" b="1"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Colour</a:t>
            </a:r>
            <a:r>
              <a:rPr lang="en-US" sz="2600" dirty="0">
                <a:latin typeface="Times New Roman" panose="02020603050405020304" pitchFamily="18" charset="0"/>
                <a:cs typeface="Times New Roman" panose="02020603050405020304" pitchFamily="18" charset="0"/>
              </a:rPr>
              <a:t> theory helps connect your brand to users on an emotional and subconscious level. For our article on </a:t>
            </a:r>
            <a:r>
              <a:rPr lang="en-US" sz="2600" dirty="0" err="1">
                <a:latin typeface="Times New Roman" panose="02020603050405020304" pitchFamily="18" charset="0"/>
                <a:cs typeface="Times New Roman" panose="02020603050405020304" pitchFamily="18" charset="0"/>
              </a:rPr>
              <a:t>colour</a:t>
            </a:r>
            <a:r>
              <a:rPr lang="en-US" sz="2600" dirty="0">
                <a:latin typeface="Times New Roman" panose="02020603050405020304" pitchFamily="18" charset="0"/>
                <a:cs typeface="Times New Roman" panose="02020603050405020304" pitchFamily="18" charset="0"/>
              </a:rPr>
              <a:t> theory, please click </a:t>
            </a:r>
            <a:r>
              <a:rPr lang="en-US" sz="2600" b="1" dirty="0">
                <a:latin typeface="Times New Roman" panose="02020603050405020304" pitchFamily="18" charset="0"/>
                <a:cs typeface="Times New Roman" panose="02020603050405020304" pitchFamily="18" charset="0"/>
                <a:hlinkClick r:id="rId2"/>
              </a:rPr>
              <a:t>here</a:t>
            </a:r>
            <a:r>
              <a:rPr lang="en-US" sz="2600" dirty="0">
                <a:latin typeface="Times New Roman" panose="02020603050405020304" pitchFamily="18" charset="0"/>
                <a:cs typeface="Times New Roman" panose="02020603050405020304" pitchFamily="18" charset="0"/>
              </a:rPr>
              <a:t>.</a:t>
            </a:r>
          </a:p>
          <a:p>
            <a:pPr fontAlgn="base"/>
            <a:r>
              <a:rPr lang="en-US" sz="2600" b="1" dirty="0">
                <a:latin typeface="Times New Roman" panose="02020603050405020304" pitchFamily="18" charset="0"/>
                <a:cs typeface="Times New Roman" panose="02020603050405020304" pitchFamily="18" charset="0"/>
              </a:rPr>
              <a:t>Space: </a:t>
            </a:r>
            <a:r>
              <a:rPr lang="en-US" sz="2600" dirty="0">
                <a:latin typeface="Times New Roman" panose="02020603050405020304" pitchFamily="18" charset="0"/>
                <a:cs typeface="Times New Roman" panose="02020603050405020304" pitchFamily="18" charset="0"/>
              </a:rPr>
              <a:t>The activeness of the “passive” white space, which helps create space and breathability to highlight important information.</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70679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0000"/>
                </a:solidFill>
                <a:latin typeface="Times New Roman" panose="02020603050405020304" pitchFamily="18" charset="0"/>
                <a:cs typeface="Times New Roman" panose="02020603050405020304" pitchFamily="18" charset="0"/>
              </a:rPr>
              <a:t>Identification of Brand Personas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534400" cy="4983162"/>
          </a:xfrm>
        </p:spPr>
        <p:txBody>
          <a:bodyPr>
            <a:noAutofit/>
          </a:bodyPr>
          <a:lstStyle/>
          <a:p>
            <a:r>
              <a:rPr lang="en-US" sz="2800" b="1" dirty="0">
                <a:latin typeface="Times New Roman" panose="02020603050405020304" pitchFamily="18" charset="0"/>
                <a:cs typeface="Times New Roman" panose="02020603050405020304" pitchFamily="18" charset="0"/>
              </a:rPr>
              <a:t>A brand persona </a:t>
            </a:r>
            <a:r>
              <a:rPr lang="en-US" sz="2800" dirty="0">
                <a:latin typeface="Times New Roman" panose="02020603050405020304" pitchFamily="18" charset="0"/>
                <a:cs typeface="Times New Roman" panose="02020603050405020304" pitchFamily="18" charset="0"/>
              </a:rPr>
              <a:t>is a collection of personality traits, attitudes and values that your brand showcases on a regular basis to help connect with a certain audience segment. A brand persona can be a person, character, mascot or idea.</a:t>
            </a:r>
          </a:p>
          <a:p>
            <a:pPr fontAlgn="base"/>
            <a:r>
              <a:rPr lang="en-US" sz="2800" b="1" dirty="0">
                <a:latin typeface="Times New Roman" panose="02020603050405020304" pitchFamily="18" charset="0"/>
                <a:cs typeface="Times New Roman" panose="02020603050405020304" pitchFamily="18" charset="0"/>
              </a:rPr>
              <a:t>5 Key Branding Personas</a:t>
            </a:r>
          </a:p>
          <a:p>
            <a:pPr fontAlgn="base"/>
            <a:r>
              <a:rPr lang="en-US" sz="2800" dirty="0">
                <a:latin typeface="Times New Roman" panose="02020603050405020304" pitchFamily="18" charset="0"/>
                <a:cs typeface="Times New Roman" panose="02020603050405020304" pitchFamily="18" charset="0"/>
              </a:rPr>
              <a:t>Historically, brand personas fit into several different “buckets" based on human behavior. If you are new to personas, this is a good place to start.</a:t>
            </a:r>
          </a:p>
          <a:p>
            <a:pPr fontAlgn="base"/>
            <a:r>
              <a:rPr lang="en-US" sz="2800" b="1" dirty="0">
                <a:latin typeface="Times New Roman" panose="02020603050405020304" pitchFamily="18" charset="0"/>
                <a:cs typeface="Times New Roman" panose="02020603050405020304" pitchFamily="18" charset="0"/>
              </a:rPr>
              <a:t>Caregiver:</a:t>
            </a:r>
            <a:r>
              <a:rPr lang="en-US" sz="2800" dirty="0">
                <a:latin typeface="Times New Roman" panose="02020603050405020304" pitchFamily="18" charset="0"/>
                <a:cs typeface="Times New Roman" panose="02020603050405020304" pitchFamily="18" charset="0"/>
              </a:rPr>
              <a:t> This nurturing persona is empathetic and kind.</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11202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0A6648-8F9C-DFC5-6066-165CF990CA73}"/>
              </a:ext>
            </a:extLst>
          </p:cNvPr>
          <p:cNvSpPr>
            <a:spLocks noGrp="1"/>
          </p:cNvSpPr>
          <p:nvPr>
            <p:ph idx="1"/>
          </p:nvPr>
        </p:nvSpPr>
        <p:spPr>
          <a:xfrm>
            <a:off x="381000" y="381000"/>
            <a:ext cx="8305800" cy="5745163"/>
          </a:xfrm>
        </p:spPr>
        <p:txBody>
          <a:bodyPr>
            <a:normAutofit/>
          </a:bodyPr>
          <a:lstStyle/>
          <a:p>
            <a:pPr fontAlgn="base"/>
            <a:r>
              <a:rPr lang="en-US" b="1" dirty="0">
                <a:latin typeface="Times New Roman" panose="02020603050405020304" pitchFamily="18" charset="0"/>
                <a:cs typeface="Times New Roman" panose="02020603050405020304" pitchFamily="18" charset="0"/>
              </a:rPr>
              <a:t>Competent:</a:t>
            </a:r>
            <a:r>
              <a:rPr lang="en-US" dirty="0">
                <a:latin typeface="Times New Roman" panose="02020603050405020304" pitchFamily="18" charset="0"/>
                <a:cs typeface="Times New Roman" panose="02020603050405020304" pitchFamily="18" charset="0"/>
              </a:rPr>
              <a:t> This persona is an influential leader that can help users or sway them to act.</a:t>
            </a:r>
          </a:p>
          <a:p>
            <a:pPr fontAlgn="base"/>
            <a:r>
              <a:rPr lang="en-US" b="1" dirty="0">
                <a:latin typeface="Times New Roman" panose="02020603050405020304" pitchFamily="18" charset="0"/>
                <a:cs typeface="Times New Roman" panose="02020603050405020304" pitchFamily="18" charset="0"/>
              </a:rPr>
              <a:t>Excited:</a:t>
            </a:r>
            <a:r>
              <a:rPr lang="en-US" dirty="0">
                <a:latin typeface="Times New Roman" panose="02020603050405020304" pitchFamily="18" charset="0"/>
                <a:cs typeface="Times New Roman" panose="02020603050405020304" pitchFamily="18" charset="0"/>
              </a:rPr>
              <a:t> This spirited persona is happy to do just about anything and embarks on adventures with ease.</a:t>
            </a:r>
          </a:p>
          <a:p>
            <a:pPr fontAlgn="base"/>
            <a:r>
              <a:rPr lang="en-US" b="1" dirty="0">
                <a:latin typeface="Times New Roman" panose="02020603050405020304" pitchFamily="18" charset="0"/>
                <a:cs typeface="Times New Roman" panose="02020603050405020304" pitchFamily="18" charset="0"/>
              </a:rPr>
              <a:t>Rugged:</a:t>
            </a:r>
            <a:r>
              <a:rPr lang="en-US" dirty="0">
                <a:latin typeface="Times New Roman" panose="02020603050405020304" pitchFamily="18" charset="0"/>
                <a:cs typeface="Times New Roman" panose="02020603050405020304" pitchFamily="18" charset="0"/>
              </a:rPr>
              <a:t> This more muscular persona is athletic and tough.</a:t>
            </a:r>
          </a:p>
          <a:p>
            <a:pPr fontAlgn="base"/>
            <a:r>
              <a:rPr lang="en-US" b="1" dirty="0">
                <a:latin typeface="Times New Roman" panose="02020603050405020304" pitchFamily="18" charset="0"/>
                <a:cs typeface="Times New Roman" panose="02020603050405020304" pitchFamily="18" charset="0"/>
              </a:rPr>
              <a:t>Sophisticated:</a:t>
            </a:r>
            <a:r>
              <a:rPr lang="en-US" dirty="0">
                <a:latin typeface="Times New Roman" panose="02020603050405020304" pitchFamily="18" charset="0"/>
                <a:cs typeface="Times New Roman" panose="02020603050405020304" pitchFamily="18" charset="0"/>
              </a:rPr>
              <a:t> This persona exudes elegance, style and prestige.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440185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00"/>
                </a:solidFill>
                <a:latin typeface="Times New Roman" panose="02020603050405020304" pitchFamily="18" charset="0"/>
                <a:cs typeface="Times New Roman" panose="02020603050405020304" pitchFamily="18" charset="0"/>
              </a:rPr>
              <a:t> </a:t>
            </a:r>
            <a:br>
              <a:rPr lang="en-US" dirty="0">
                <a:solidFill>
                  <a:srgbClr val="000000"/>
                </a:solidFill>
                <a:latin typeface="Times New Roman" panose="02020603050405020304" pitchFamily="18" charset="0"/>
                <a:cs typeface="Times New Roman" panose="02020603050405020304" pitchFamily="18" charset="0"/>
              </a:rPr>
            </a:br>
            <a:r>
              <a:rPr lang="en-US" b="1" dirty="0">
                <a:solidFill>
                  <a:srgbClr val="000000"/>
                </a:solidFill>
                <a:latin typeface="Times New Roman" panose="02020603050405020304" pitchFamily="18" charset="0"/>
                <a:cs typeface="Times New Roman" panose="02020603050405020304" pitchFamily="18" charset="0"/>
              </a:rPr>
              <a:t>Identification of Brand Competition</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1219200"/>
            <a:ext cx="8915400" cy="5364162"/>
          </a:xfrm>
        </p:spPr>
        <p:txBody>
          <a:bodyPr>
            <a:normAutofit lnSpcReduction="10000"/>
          </a:bodyPr>
          <a:lstStyle/>
          <a:p>
            <a:r>
              <a:rPr lang="en-US" b="1" dirty="0">
                <a:latin typeface="Times New Roman" panose="02020603050405020304" pitchFamily="18" charset="0"/>
                <a:cs typeface="Times New Roman" panose="02020603050405020304" pitchFamily="18" charset="0"/>
              </a:rPr>
              <a:t>Competitors</a:t>
            </a:r>
            <a:r>
              <a:rPr lang="en-US" dirty="0">
                <a:latin typeface="Times New Roman" panose="02020603050405020304" pitchFamily="18" charset="0"/>
                <a:cs typeface="Times New Roman" panose="02020603050405020304" pitchFamily="18" charset="0"/>
              </a:rPr>
              <a:t> are other businesses who can offer the same or similar goods and services to your customers.</a:t>
            </a:r>
          </a:p>
          <a:p>
            <a:r>
              <a:rPr lang="en-US" dirty="0">
                <a:latin typeface="Times New Roman" panose="02020603050405020304" pitchFamily="18" charset="0"/>
                <a:cs typeface="Times New Roman" panose="02020603050405020304" pitchFamily="18" charset="0"/>
              </a:rPr>
              <a:t>Brand competition is </a:t>
            </a:r>
            <a:r>
              <a:rPr lang="en-US" b="1" dirty="0">
                <a:latin typeface="Times New Roman" panose="02020603050405020304" pitchFamily="18" charset="0"/>
                <a:cs typeface="Times New Roman" panose="02020603050405020304" pitchFamily="18" charset="0"/>
              </a:rPr>
              <a:t>the competition between companies or organizations that offer similar products or services in the same market</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These companies compete to achieve higher revenue, market share or growth. </a:t>
            </a:r>
          </a:p>
          <a:p>
            <a:r>
              <a:rPr lang="en-US" dirty="0">
                <a:latin typeface="Times New Roman" panose="02020603050405020304" pitchFamily="18" charset="0"/>
                <a:cs typeface="Times New Roman" panose="02020603050405020304" pitchFamily="18" charset="0"/>
              </a:rPr>
              <a:t>Identifying the brands that you compete with influences your marketing and overall business strategies.</a:t>
            </a:r>
          </a:p>
        </p:txBody>
      </p:sp>
    </p:spTree>
    <p:extLst>
      <p:ext uri="{BB962C8B-B14F-4D97-AF65-F5344CB8AC3E}">
        <p14:creationId xmlns:p14="http://schemas.microsoft.com/office/powerpoint/2010/main" val="416092732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638"/>
            <a:ext cx="8153400" cy="639762"/>
          </a:xfrm>
        </p:spPr>
        <p:txBody>
          <a:bodyPr>
            <a:normAutofit fontScale="90000"/>
          </a:bodyPr>
          <a:lstStyle/>
          <a:p>
            <a:pPr lvl="0"/>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Principles of branding design:  </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2400" y="1143000"/>
            <a:ext cx="8534400" cy="5440362"/>
          </a:xfrm>
        </p:spPr>
        <p:txBody>
          <a:bodyPr>
            <a:normAutofit/>
          </a:bodyPr>
          <a:lstStyle/>
          <a:p>
            <a:pPr marL="0" lvl="0" indent="0">
              <a:buNone/>
            </a:pPr>
            <a:r>
              <a:rPr lang="en-US" b="1" dirty="0">
                <a:latin typeface="Times New Roman" panose="02020603050405020304" pitchFamily="18" charset="0"/>
                <a:cs typeface="Times New Roman" panose="02020603050405020304" pitchFamily="18" charset="0"/>
              </a:rPr>
              <a:t>1. Design is brand: </a:t>
            </a:r>
            <a:r>
              <a:rPr lang="en-US" dirty="0">
                <a:latin typeface="Times New Roman" panose="02020603050405020304" pitchFamily="18" charset="0"/>
                <a:cs typeface="Times New Roman" panose="02020603050405020304" pitchFamily="18" charset="0"/>
              </a:rPr>
              <a:t>This sentence has never been truer than now. In 2016, when the majority of big brands take the social media call, branding and design became so close that they are now inseparable </a:t>
            </a:r>
          </a:p>
          <a:p>
            <a:pPr marL="0" indent="0">
              <a:buNone/>
            </a:pPr>
            <a:r>
              <a:rPr lang="en-US" b="1" dirty="0">
                <a:latin typeface="Times New Roman" panose="02020603050405020304" pitchFamily="18" charset="0"/>
                <a:cs typeface="Times New Roman" panose="02020603050405020304" pitchFamily="18" charset="0"/>
              </a:rPr>
              <a:t>2.  Integration: </a:t>
            </a:r>
            <a:r>
              <a:rPr lang="en-US" dirty="0">
                <a:latin typeface="Times New Roman" panose="02020603050405020304" pitchFamily="18" charset="0"/>
                <a:cs typeface="Times New Roman" panose="02020603050405020304" pitchFamily="18" charset="0"/>
              </a:rPr>
              <a:t>Even though they emerged as two different disciplines, design and branding need to be integrated if you want them to be effective.</a:t>
            </a:r>
          </a:p>
          <a:p>
            <a:pPr lvl="1">
              <a:buFont typeface="Wingdings" pitchFamily="2" charset="2"/>
              <a:buChar char="Ø"/>
            </a:pPr>
            <a:r>
              <a:rPr lang="en-US" dirty="0">
                <a:latin typeface="Times New Roman" panose="02020603050405020304" pitchFamily="18" charset="0"/>
                <a:cs typeface="Times New Roman" panose="02020603050405020304" pitchFamily="18" charset="0"/>
              </a:rPr>
              <a:t> A product cannot do without its brand image, and brand image is nothing without design. </a:t>
            </a:r>
          </a:p>
        </p:txBody>
      </p:sp>
    </p:spTree>
    <p:extLst>
      <p:ext uri="{BB962C8B-B14F-4D97-AF65-F5344CB8AC3E}">
        <p14:creationId xmlns:p14="http://schemas.microsoft.com/office/powerpoint/2010/main" val="5815492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E8CD4E-D2CE-988A-4317-152B47A3A1E9}"/>
              </a:ext>
            </a:extLst>
          </p:cNvPr>
          <p:cNvSpPr>
            <a:spLocks noGrp="1"/>
          </p:cNvSpPr>
          <p:nvPr>
            <p:ph idx="1"/>
          </p:nvPr>
        </p:nvSpPr>
        <p:spPr>
          <a:xfrm>
            <a:off x="228600" y="304800"/>
            <a:ext cx="8763000" cy="6096000"/>
          </a:xfrm>
        </p:spPr>
        <p:txBody>
          <a:bodyPr/>
          <a:lstStyle/>
          <a:p>
            <a:pPr marL="0" indent="0">
              <a:buNone/>
            </a:pPr>
            <a:r>
              <a:rPr lang="en-US" b="1" dirty="0">
                <a:latin typeface="Times New Roman" panose="02020603050405020304" pitchFamily="18" charset="0"/>
                <a:cs typeface="Times New Roman" panose="02020603050405020304" pitchFamily="18" charset="0"/>
              </a:rPr>
              <a:t>3.  Understanding the brand: </a:t>
            </a:r>
            <a:r>
              <a:rPr lang="en-US" dirty="0">
                <a:latin typeface="Times New Roman" panose="02020603050405020304" pitchFamily="18" charset="0"/>
                <a:cs typeface="Times New Roman" panose="02020603050405020304" pitchFamily="18" charset="0"/>
              </a:rPr>
              <a:t>The more you know, the better you are as an expert. This is true when it comes to the design process. </a:t>
            </a:r>
          </a:p>
          <a:p>
            <a:pPr lvl="1">
              <a:buFont typeface="Wingdings" pitchFamily="2" charset="2"/>
              <a:buChar char="Ø"/>
            </a:pPr>
            <a:r>
              <a:rPr lang="en-US" dirty="0">
                <a:latin typeface="Times New Roman" panose="02020603050405020304" pitchFamily="18" charset="0"/>
                <a:cs typeface="Times New Roman" panose="02020603050405020304" pitchFamily="18" charset="0"/>
              </a:rPr>
              <a:t>If a designer does not understand your company’s core values, your deepest origins and the mission of your product or service, the design process and the end-product might fall short of a great story behind it.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348473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57200"/>
            <a:ext cx="8382000" cy="5668963"/>
          </a:xfrm>
        </p:spPr>
        <p:txBody>
          <a:bodyPr>
            <a:normAutofit/>
          </a:bodyPr>
          <a:lstStyle/>
          <a:p>
            <a:pPr marL="0" indent="0">
              <a:buNone/>
            </a:pPr>
            <a:r>
              <a:rPr lang="en-US" b="1" dirty="0"/>
              <a:t>4.  Relationships: </a:t>
            </a:r>
            <a:r>
              <a:rPr lang="en-US" dirty="0"/>
              <a:t>People respond to emotion. If they cannot connect with a brand or make a relationship happen, you know it will not work for either side. </a:t>
            </a:r>
          </a:p>
          <a:p>
            <a:pPr lvl="1">
              <a:buFont typeface="Wingdings" pitchFamily="2" charset="2"/>
              <a:buChar char="Ø"/>
            </a:pPr>
            <a:r>
              <a:rPr lang="en-US" dirty="0"/>
              <a:t>It is a designer’s responsibility to make an emotion-evoking design, similarly to what Apple has done with their products </a:t>
            </a:r>
          </a:p>
          <a:p>
            <a:pPr lvl="1">
              <a:buFont typeface="Wingdings" pitchFamily="2" charset="2"/>
              <a:buChar char="Ø"/>
            </a:pPr>
            <a:r>
              <a:rPr lang="en-US" dirty="0"/>
              <a:t>with which their users feel a deep connection. iPhones, and that is something that would not work without a good branding design. </a:t>
            </a:r>
          </a:p>
        </p:txBody>
      </p:sp>
    </p:spTree>
    <p:extLst>
      <p:ext uri="{BB962C8B-B14F-4D97-AF65-F5344CB8AC3E}">
        <p14:creationId xmlns:p14="http://schemas.microsoft.com/office/powerpoint/2010/main" val="31566673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94E5BA-89CD-64CF-1282-4031D89F7C3B}"/>
              </a:ext>
            </a:extLst>
          </p:cNvPr>
          <p:cNvSpPr>
            <a:spLocks noGrp="1"/>
          </p:cNvSpPr>
          <p:nvPr>
            <p:ph idx="1"/>
          </p:nvPr>
        </p:nvSpPr>
        <p:spPr>
          <a:xfrm>
            <a:off x="76200" y="304800"/>
            <a:ext cx="9067800" cy="6400800"/>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5.  Strategy: </a:t>
            </a:r>
            <a:r>
              <a:rPr lang="en-US" dirty="0">
                <a:latin typeface="Times New Roman" panose="02020603050405020304" pitchFamily="18" charset="0"/>
                <a:cs typeface="Times New Roman" panose="02020603050405020304" pitchFamily="18" charset="0"/>
              </a:rPr>
              <a:t>What many startups and small companies do not realize is that they need to employ a branding strategy early on, from the very founding of the company. </a:t>
            </a:r>
          </a:p>
          <a:p>
            <a:pPr marL="0" indent="0">
              <a:buNone/>
            </a:pPr>
            <a:r>
              <a:rPr lang="en-US" b="1" dirty="0">
                <a:latin typeface="Times New Roman" panose="02020603050405020304" pitchFamily="18" charset="0"/>
                <a:cs typeface="Times New Roman" panose="02020603050405020304" pitchFamily="18" charset="0"/>
              </a:rPr>
              <a:t>6. Innovative solutions: </a:t>
            </a:r>
            <a:r>
              <a:rPr lang="en-US" dirty="0">
                <a:latin typeface="Times New Roman" panose="02020603050405020304" pitchFamily="18" charset="0"/>
                <a:cs typeface="Times New Roman" panose="02020603050405020304" pitchFamily="18" charset="0"/>
              </a:rPr>
              <a:t>In a world where almost every product and every service are the same as another, it is hard not to have similar ideas and use the same concepts for certain work. </a:t>
            </a:r>
          </a:p>
          <a:p>
            <a:pPr lvl="1">
              <a:buFont typeface="Wingdings" pitchFamily="2" charset="2"/>
              <a:buChar char="Ø"/>
            </a:pPr>
            <a:r>
              <a:rPr lang="en-US" dirty="0">
                <a:latin typeface="Times New Roman" panose="02020603050405020304" pitchFamily="18" charset="0"/>
                <a:cs typeface="Times New Roman" panose="02020603050405020304" pitchFamily="18" charset="0"/>
              </a:rPr>
              <a:t>The designers, however, need to be there to make things different from one another and offer innovative design solutions that will leave their competition behind.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109474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57200"/>
            <a:ext cx="8686800" cy="609600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7. Reinvention: </a:t>
            </a:r>
            <a:r>
              <a:rPr lang="en-US" dirty="0">
                <a:latin typeface="Times New Roman" panose="02020603050405020304" pitchFamily="18" charset="0"/>
                <a:cs typeface="Times New Roman" panose="02020603050405020304" pitchFamily="18" charset="0"/>
              </a:rPr>
              <a:t>Many companies today use their branding options to reinvent the brand and yet retain the same image in the eyes of their audience. </a:t>
            </a:r>
          </a:p>
          <a:p>
            <a:pPr marL="0" indent="0">
              <a:buNone/>
            </a:pPr>
            <a:r>
              <a:rPr lang="en-US" b="1" dirty="0">
                <a:latin typeface="Times New Roman" panose="02020603050405020304" pitchFamily="18" charset="0"/>
                <a:cs typeface="Times New Roman" panose="02020603050405020304" pitchFamily="18" charset="0"/>
              </a:rPr>
              <a:t>8.  Do not overdesign: </a:t>
            </a:r>
            <a:r>
              <a:rPr lang="en-US" dirty="0">
                <a:latin typeface="Times New Roman" panose="02020603050405020304" pitchFamily="18" charset="0"/>
                <a:cs typeface="Times New Roman" panose="02020603050405020304" pitchFamily="18" charset="0"/>
              </a:rPr>
              <a:t>When one starts the creative process, it is very difficult not to get carried away and do more than required, even to the point of ruining the entire concept. </a:t>
            </a:r>
          </a:p>
          <a:p>
            <a:pPr marL="0" indent="0">
              <a:buNone/>
            </a:pPr>
            <a:r>
              <a:rPr lang="en-US" b="1" dirty="0">
                <a:latin typeface="Times New Roman" panose="02020603050405020304" pitchFamily="18" charset="0"/>
                <a:cs typeface="Times New Roman" panose="02020603050405020304" pitchFamily="18" charset="0"/>
              </a:rPr>
              <a:t>9.  Making a difference: </a:t>
            </a:r>
            <a:r>
              <a:rPr lang="en-US" dirty="0">
                <a:latin typeface="Times New Roman" panose="02020603050405020304" pitchFamily="18" charset="0"/>
                <a:cs typeface="Times New Roman" panose="02020603050405020304" pitchFamily="18" charset="0"/>
              </a:rPr>
              <a:t>Many people forget about this important thing, but this principle relies on being different than everyone else. </a:t>
            </a:r>
          </a:p>
          <a:p>
            <a:pPr lvl="1">
              <a:buFont typeface="Wingdings" pitchFamily="2" charset="2"/>
              <a:buChar char="Ø"/>
            </a:pPr>
            <a:r>
              <a:rPr lang="en-US" dirty="0">
                <a:latin typeface="Times New Roman" panose="02020603050405020304" pitchFamily="18" charset="0"/>
                <a:cs typeface="Times New Roman" panose="02020603050405020304" pitchFamily="18" charset="0"/>
              </a:rPr>
              <a:t>No matter if you work on the local or global market, you have got to have what it takes to step out and say: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940337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473" y="76200"/>
            <a:ext cx="8246327" cy="1036637"/>
          </a:xfrm>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Identification of Brand Competition</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2400" y="1219200"/>
            <a:ext cx="8839200" cy="5410200"/>
          </a:xfrm>
        </p:spPr>
        <p:txBody>
          <a:bodyPr>
            <a:normAutofit lnSpcReduction="10000"/>
          </a:bodyPr>
          <a:lstStyle/>
          <a:p>
            <a:r>
              <a:rPr lang="en-US" b="1" dirty="0">
                <a:latin typeface="Times New Roman" panose="02020603050405020304" pitchFamily="18" charset="0"/>
                <a:cs typeface="Times New Roman" panose="02020603050405020304" pitchFamily="18" charset="0"/>
                <a:hlinkClick r:id="rId2"/>
              </a:rPr>
              <a:t>Brand Co</a:t>
            </a:r>
            <a:r>
              <a:rPr lang="en-US" b="1" dirty="0">
                <a:latin typeface="Times New Roman" panose="02020603050405020304" pitchFamily="18" charset="0"/>
                <a:cs typeface="Times New Roman" panose="02020603050405020304" pitchFamily="18" charset="0"/>
              </a:rPr>
              <a:t>mpetition</a:t>
            </a:r>
            <a:r>
              <a:rPr lang="en-US" dirty="0">
                <a:latin typeface="Times New Roman" panose="02020603050405020304" pitchFamily="18" charset="0"/>
                <a:cs typeface="Times New Roman" panose="02020603050405020304" pitchFamily="18" charset="0"/>
              </a:rPr>
              <a:t> can be defined as the conflict between the companies offering the similar line of</a:t>
            </a:r>
            <a:r>
              <a:rPr lang="en-US" dirty="0">
                <a:latin typeface="Times New Roman" panose="02020603050405020304" pitchFamily="18" charset="0"/>
                <a:cs typeface="Times New Roman" panose="02020603050405020304" pitchFamily="18" charset="0"/>
                <a:hlinkClick r:id="rId3"/>
              </a:rPr>
              <a:t> products or</a:t>
            </a:r>
            <a:r>
              <a:rPr lang="en-US" dirty="0">
                <a:latin typeface="Times New Roman" panose="02020603050405020304" pitchFamily="18" charset="0"/>
                <a:cs typeface="Times New Roman" panose="02020603050405020304" pitchFamily="18" charset="0"/>
              </a:rPr>
              <a:t> services in the same</a:t>
            </a:r>
            <a:r>
              <a:rPr lang="en-US" dirty="0">
                <a:latin typeface="Times New Roman" panose="02020603050405020304" pitchFamily="18" charset="0"/>
                <a:cs typeface="Times New Roman" panose="02020603050405020304" pitchFamily="18" charset="0"/>
                <a:hlinkClick r:id="rId4"/>
              </a:rPr>
              <a:t> target market an</a:t>
            </a:r>
            <a:r>
              <a:rPr lang="en-US" dirty="0">
                <a:latin typeface="Times New Roman" panose="02020603050405020304" pitchFamily="18" charset="0"/>
                <a:cs typeface="Times New Roman" panose="02020603050405020304" pitchFamily="18" charset="0"/>
              </a:rPr>
              <a:t>d to the same</a:t>
            </a:r>
            <a:r>
              <a:rPr lang="en-US" dirty="0">
                <a:latin typeface="Times New Roman" panose="02020603050405020304" pitchFamily="18" charset="0"/>
                <a:cs typeface="Times New Roman" panose="02020603050405020304" pitchFamily="18" charset="0"/>
                <a:hlinkClick r:id="rId5"/>
              </a:rPr>
              <a:t> target au</a:t>
            </a:r>
            <a:r>
              <a:rPr lang="en-US" dirty="0">
                <a:latin typeface="Times New Roman" panose="02020603050405020304" pitchFamily="18" charset="0"/>
                <a:cs typeface="Times New Roman" panose="02020603050405020304" pitchFamily="18" charset="0"/>
              </a:rPr>
              <a:t>dience with the goal to have the higher</a:t>
            </a:r>
            <a:r>
              <a:rPr lang="en-US" dirty="0">
                <a:latin typeface="Times New Roman" panose="02020603050405020304" pitchFamily="18" charset="0"/>
                <a:cs typeface="Times New Roman" panose="02020603050405020304" pitchFamily="18" charset="0"/>
                <a:hlinkClick r:id="rId6"/>
              </a:rPr>
              <a:t> market share, i</a:t>
            </a:r>
            <a:r>
              <a:rPr lang="en-US" dirty="0">
                <a:latin typeface="Times New Roman" panose="02020603050405020304" pitchFamily="18" charset="0"/>
                <a:cs typeface="Times New Roman" panose="02020603050405020304" pitchFamily="18" charset="0"/>
              </a:rPr>
              <a:t>ncreased revenues, huge profits, and growth as compared to the contemporary brand at the marketplace. </a:t>
            </a:r>
          </a:p>
          <a:p>
            <a:r>
              <a:rPr lang="en-US" dirty="0">
                <a:latin typeface="Times New Roman" panose="02020603050405020304" pitchFamily="18" charset="0"/>
                <a:cs typeface="Times New Roman" panose="02020603050405020304" pitchFamily="18" charset="0"/>
              </a:rPr>
              <a:t>Knowing and astutely understanding the competitors of your brand is one of the crucial steps to plan and execute a successful business</a:t>
            </a:r>
            <a:r>
              <a:rPr lang="en-US" dirty="0">
                <a:latin typeface="Times New Roman" panose="02020603050405020304" pitchFamily="18" charset="0"/>
                <a:cs typeface="Times New Roman" panose="02020603050405020304" pitchFamily="18" charset="0"/>
                <a:hlinkClick r:id="rId7"/>
              </a:rPr>
              <a:t> strategy.</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705880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Types of brand competition</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295400"/>
            <a:ext cx="8229600" cy="4525963"/>
          </a:xfrm>
        </p:spPr>
        <p:txBody>
          <a:bodyPr/>
          <a:lstStyle/>
          <a:p>
            <a:r>
              <a:rPr lang="en-US" dirty="0">
                <a:latin typeface="Times New Roman" panose="02020603050405020304" pitchFamily="18" charset="0"/>
                <a:cs typeface="Times New Roman" panose="02020603050405020304" pitchFamily="18" charset="0"/>
              </a:rPr>
              <a:t>Here are some common types of brand competition:</a:t>
            </a:r>
          </a:p>
          <a:p>
            <a:pPr marL="0" indent="0">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Direct competition</a:t>
            </a:r>
          </a:p>
          <a:p>
            <a:pPr marL="0" indent="0">
              <a:buNone/>
            </a:pPr>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Indirect competition</a:t>
            </a:r>
          </a:p>
          <a:p>
            <a:pPr marL="0" indent="0">
              <a:buNone/>
            </a:pPr>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Replacement competition</a:t>
            </a:r>
          </a:p>
          <a:p>
            <a:pPr marL="0" indent="0">
              <a:buNone/>
            </a:pPr>
            <a:r>
              <a:rPr lang="en-US" dirty="0">
                <a:latin typeface="Times New Roman" panose="02020603050405020304" pitchFamily="18" charset="0"/>
                <a:cs typeface="Times New Roman" panose="02020603050405020304" pitchFamily="18" charset="0"/>
              </a:rPr>
              <a:t>4. </a:t>
            </a:r>
            <a:r>
              <a:rPr lang="en-US" b="1" dirty="0">
                <a:latin typeface="Times New Roman" panose="02020603050405020304" pitchFamily="18" charset="0"/>
                <a:cs typeface="Times New Roman" panose="02020603050405020304" pitchFamily="18" charset="0"/>
              </a:rPr>
              <a:t>Intra-brand competition</a:t>
            </a:r>
          </a:p>
        </p:txBody>
      </p:sp>
    </p:spTree>
    <p:extLst>
      <p:ext uri="{BB962C8B-B14F-4D97-AF65-F5344CB8AC3E}">
        <p14:creationId xmlns:p14="http://schemas.microsoft.com/office/powerpoint/2010/main" val="40822879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1. </a:t>
            </a:r>
            <a:r>
              <a:rPr lang="en-US" b="1" dirty="0"/>
              <a:t>Direct competition</a:t>
            </a:r>
            <a:br>
              <a:rPr lang="en-US" b="1"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t>Direct competition occurs when companies within a market have comparable features and benefits and present their products or services to the same target demographic of customers. </a:t>
            </a:r>
          </a:p>
          <a:p>
            <a:r>
              <a:rPr lang="en-US" dirty="0"/>
              <a:t>This kind of competition typically involves two companies that follow similar marketing strategies and sales goals.</a:t>
            </a:r>
          </a:p>
          <a:p>
            <a:r>
              <a:rPr lang="en-US" dirty="0"/>
              <a:t> A brand can distinguish itself from a direct competitor by highlighting the advantages of its product or the reputation of its brand.</a:t>
            </a:r>
          </a:p>
          <a:p>
            <a:r>
              <a:rPr lang="en-US" b="1" dirty="0"/>
              <a:t>When 2 or more businesses offer the same products or services and competent for the same potential market.</a:t>
            </a:r>
          </a:p>
        </p:txBody>
      </p:sp>
    </p:spTree>
    <p:extLst>
      <p:ext uri="{BB962C8B-B14F-4D97-AF65-F5344CB8AC3E}">
        <p14:creationId xmlns:p14="http://schemas.microsoft.com/office/powerpoint/2010/main" val="384607891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Direct competition example</a:t>
            </a:r>
            <a:br>
              <a:rPr lang="en-US" b="1" dirty="0"/>
            </a:br>
            <a:endParaRPr lang="en-US" dirty="0"/>
          </a:p>
        </p:txBody>
      </p:sp>
      <p:sp>
        <p:nvSpPr>
          <p:cNvPr id="3" name="Content Placeholder 2"/>
          <p:cNvSpPr>
            <a:spLocks noGrp="1"/>
          </p:cNvSpPr>
          <p:nvPr>
            <p:ph idx="1"/>
          </p:nvPr>
        </p:nvSpPr>
        <p:spPr/>
        <p:txBody>
          <a:bodyPr>
            <a:normAutofit fontScale="92500"/>
          </a:bodyPr>
          <a:lstStyle/>
          <a:p>
            <a:r>
              <a:rPr lang="en-US" dirty="0"/>
              <a:t> There is always a direct competition between the two smartphone mobile companies namely </a:t>
            </a:r>
            <a:r>
              <a:rPr lang="en-US" dirty="0">
                <a:hlinkClick r:id="rId2"/>
              </a:rPr>
              <a:t>Apple</a:t>
            </a:r>
            <a:r>
              <a:rPr lang="en-US" dirty="0"/>
              <a:t> and </a:t>
            </a:r>
            <a:r>
              <a:rPr lang="en-US" dirty="0">
                <a:hlinkClick r:id="rId3"/>
              </a:rPr>
              <a:t>Samsung</a:t>
            </a:r>
            <a:r>
              <a:rPr lang="en-US" dirty="0"/>
              <a:t> and the even the customers of both the brand are always at an argument endorsing the mobile brand that they are loyal to. </a:t>
            </a:r>
          </a:p>
          <a:p>
            <a:r>
              <a:rPr lang="en-US" dirty="0"/>
              <a:t>There is always a competition between the two brands on the facets of mobile interface, design aesthetics, and the overall user experience.</a:t>
            </a:r>
          </a:p>
          <a:p>
            <a:endParaRPr lang="en-US" dirty="0"/>
          </a:p>
        </p:txBody>
      </p:sp>
    </p:spTree>
    <p:extLst>
      <p:ext uri="{BB962C8B-B14F-4D97-AF65-F5344CB8AC3E}">
        <p14:creationId xmlns:p14="http://schemas.microsoft.com/office/powerpoint/2010/main" val="334529129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a:t>
            </a:r>
            <a:r>
              <a:rPr lang="en-US" b="1" dirty="0"/>
              <a:t>Indirect competition</a:t>
            </a:r>
            <a:br>
              <a:rPr lang="en-US" b="1"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t>Indirect competition refers to the competition between two companies that offer similar products or services but emphasize unique features and benefits. </a:t>
            </a:r>
          </a:p>
          <a:p>
            <a:r>
              <a:rPr lang="en-US" dirty="0"/>
              <a:t>The indirect competition also includes companies </a:t>
            </a:r>
            <a:r>
              <a:rPr lang="en-US" b="1" dirty="0"/>
              <a:t>that utilize separate marketing strategies. </a:t>
            </a:r>
          </a:p>
          <a:p>
            <a:r>
              <a:rPr lang="en-US" dirty="0"/>
              <a:t>This type of competition is less prominent than direct competition, but it's still important for a company to identify forms of indirect competition to gain an understanding of the features that influence a customer's decision.</a:t>
            </a:r>
          </a:p>
          <a:p>
            <a:r>
              <a:rPr lang="en-US" b="1" dirty="0"/>
              <a:t> Indirect competitors are businesses in the same category that sell different products or services to solve the same problem.</a:t>
            </a:r>
          </a:p>
        </p:txBody>
      </p:sp>
    </p:spTree>
    <p:extLst>
      <p:ext uri="{BB962C8B-B14F-4D97-AF65-F5344CB8AC3E}">
        <p14:creationId xmlns:p14="http://schemas.microsoft.com/office/powerpoint/2010/main" val="174723533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Indirect competition example</a:t>
            </a:r>
            <a:br>
              <a:rPr lang="en-US" b="1" dirty="0"/>
            </a:br>
            <a:endParaRPr lang="en-US" dirty="0"/>
          </a:p>
        </p:txBody>
      </p:sp>
      <p:sp>
        <p:nvSpPr>
          <p:cNvPr id="3" name="Content Placeholder 2"/>
          <p:cNvSpPr>
            <a:spLocks noGrp="1"/>
          </p:cNvSpPr>
          <p:nvPr>
            <p:ph idx="1"/>
          </p:nvPr>
        </p:nvSpPr>
        <p:spPr/>
        <p:txBody>
          <a:bodyPr>
            <a:normAutofit/>
          </a:bodyPr>
          <a:lstStyle/>
          <a:p>
            <a:r>
              <a:rPr lang="en-US" dirty="0"/>
              <a:t>Mobile brands Apple and </a:t>
            </a:r>
            <a:r>
              <a:rPr lang="en-US" dirty="0" err="1">
                <a:hlinkClick r:id="rId2"/>
              </a:rPr>
              <a:t>Oppo</a:t>
            </a:r>
            <a:r>
              <a:rPr lang="en-US" dirty="0"/>
              <a:t> are the indirect competitors of each other as Apple is majorly into luxury segment and </a:t>
            </a:r>
            <a:r>
              <a:rPr lang="en-US" dirty="0" err="1"/>
              <a:t>Oppo</a:t>
            </a:r>
            <a:r>
              <a:rPr lang="en-US" dirty="0"/>
              <a:t> offer the affordable range of cell phones. </a:t>
            </a:r>
          </a:p>
          <a:p>
            <a:r>
              <a:rPr lang="en-US" dirty="0"/>
              <a:t>Their </a:t>
            </a:r>
            <a:r>
              <a:rPr lang="en-US" dirty="0">
                <a:hlinkClick r:id="rId3"/>
              </a:rPr>
              <a:t>brand strategies</a:t>
            </a:r>
            <a:r>
              <a:rPr lang="en-US" dirty="0"/>
              <a:t>, target audience, and business goals are also different.</a:t>
            </a:r>
          </a:p>
          <a:p>
            <a:endParaRPr lang="en-US" dirty="0"/>
          </a:p>
        </p:txBody>
      </p:sp>
    </p:spTree>
    <p:extLst>
      <p:ext uri="{BB962C8B-B14F-4D97-AF65-F5344CB8AC3E}">
        <p14:creationId xmlns:p14="http://schemas.microsoft.com/office/powerpoint/2010/main" val="379669682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 </a:t>
            </a:r>
            <a:r>
              <a:rPr lang="en-US" b="1" dirty="0"/>
              <a:t>Replacement competition</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Replacement competition is when a company's customers purchase from competitors. </a:t>
            </a:r>
          </a:p>
          <a:p>
            <a:r>
              <a:rPr lang="en-US" dirty="0"/>
              <a:t>This occurs when customers who were previously loyal to your brand give their business elsewhere. </a:t>
            </a:r>
          </a:p>
          <a:p>
            <a:r>
              <a:rPr lang="en-US" dirty="0"/>
              <a:t>Replacement competition includes companies that make products that differ from each other but serve the same customer purpose.</a:t>
            </a:r>
          </a:p>
          <a:p>
            <a:r>
              <a:rPr lang="en-US" b="1" i="1" dirty="0"/>
              <a:t>A replacement competitor offers an alternative to the product or service that you offer. You both seek to solve the same pain points, but the means are different.</a:t>
            </a:r>
          </a:p>
          <a:p>
            <a:endParaRPr lang="en-US" dirty="0"/>
          </a:p>
        </p:txBody>
      </p:sp>
    </p:spTree>
    <p:extLst>
      <p:ext uri="{BB962C8B-B14F-4D97-AF65-F5344CB8AC3E}">
        <p14:creationId xmlns:p14="http://schemas.microsoft.com/office/powerpoint/2010/main" val="249398998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Replacement competition example</a:t>
            </a:r>
            <a:br>
              <a:rPr lang="en-US" b="1" dirty="0"/>
            </a:br>
            <a:endParaRPr lang="en-US" dirty="0"/>
          </a:p>
        </p:txBody>
      </p:sp>
      <p:sp>
        <p:nvSpPr>
          <p:cNvPr id="3" name="Content Placeholder 2"/>
          <p:cNvSpPr>
            <a:spLocks noGrp="1"/>
          </p:cNvSpPr>
          <p:nvPr>
            <p:ph idx="1"/>
          </p:nvPr>
        </p:nvSpPr>
        <p:spPr/>
        <p:txBody>
          <a:bodyPr>
            <a:normAutofit fontScale="70000" lnSpcReduction="20000"/>
          </a:bodyPr>
          <a:lstStyle/>
          <a:p>
            <a:r>
              <a:rPr lang="en-US" i="1" dirty="0"/>
              <a:t>Oakville Cable realizes that there is a decrease in its rate of new customer acquisition and that existing customers have been canceling their accounts. </a:t>
            </a:r>
          </a:p>
          <a:p>
            <a:r>
              <a:rPr lang="en-US" i="1" dirty="0"/>
              <a:t>After conducting research, Oakville Cable determines that this is because Lamplight Streaming, a digital streaming platform, has become more popular and has seen an increase in its customer accounts.</a:t>
            </a:r>
            <a:endParaRPr lang="en-US" dirty="0"/>
          </a:p>
          <a:p>
            <a:r>
              <a:rPr lang="en-US" i="1" dirty="0"/>
              <a:t>Both companies provide television and movie programs, but Lamplight Streaming has a wider variety and does not include advertisements or commercials in its content. </a:t>
            </a:r>
          </a:p>
          <a:p>
            <a:r>
              <a:rPr lang="en-US" i="1" dirty="0"/>
              <a:t>To address this competition and bring in new customers, Oakville Cable decides to partner with an internet provider to offer bundled cable and internet services to customers at an affordable price.</a:t>
            </a:r>
          </a:p>
        </p:txBody>
      </p:sp>
    </p:spTree>
    <p:extLst>
      <p:ext uri="{BB962C8B-B14F-4D97-AF65-F5344CB8AC3E}">
        <p14:creationId xmlns:p14="http://schemas.microsoft.com/office/powerpoint/2010/main" val="386665326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4. Intra-brand competition</a:t>
            </a:r>
            <a:br>
              <a:rPr lang="en-US" b="1" dirty="0"/>
            </a:br>
            <a:endParaRPr lang="en-US" dirty="0"/>
          </a:p>
        </p:txBody>
      </p:sp>
      <p:sp>
        <p:nvSpPr>
          <p:cNvPr id="3" name="Content Placeholder 2"/>
          <p:cNvSpPr>
            <a:spLocks noGrp="1"/>
          </p:cNvSpPr>
          <p:nvPr>
            <p:ph idx="1"/>
          </p:nvPr>
        </p:nvSpPr>
        <p:spPr/>
        <p:txBody>
          <a:bodyPr>
            <a:normAutofit lnSpcReduction="10000"/>
          </a:bodyPr>
          <a:lstStyle/>
          <a:p>
            <a:r>
              <a:rPr lang="en-US" dirty="0"/>
              <a:t>Intra-brand competition occurs when separate retailers or distributors sell products of the same brand. </a:t>
            </a:r>
          </a:p>
          <a:p>
            <a:r>
              <a:rPr lang="en-US" dirty="0"/>
              <a:t>This competition is between the providers rather than the brands. </a:t>
            </a:r>
          </a:p>
          <a:p>
            <a:r>
              <a:rPr lang="en-US" dirty="0"/>
              <a:t>Retailers or distributors may use promotional prices, marketing strategies or customer service skills to reach higher sales numbers or larger profits.</a:t>
            </a:r>
          </a:p>
          <a:p>
            <a:endParaRPr lang="en-US" dirty="0"/>
          </a:p>
        </p:txBody>
      </p:sp>
    </p:spTree>
    <p:extLst>
      <p:ext uri="{BB962C8B-B14F-4D97-AF65-F5344CB8AC3E}">
        <p14:creationId xmlns:p14="http://schemas.microsoft.com/office/powerpoint/2010/main" val="370792162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Intra-brand competition example</a:t>
            </a:r>
            <a:br>
              <a:rPr lang="en-US" b="1" dirty="0"/>
            </a:br>
            <a:endParaRPr lang="en-US" dirty="0"/>
          </a:p>
        </p:txBody>
      </p:sp>
      <p:sp>
        <p:nvSpPr>
          <p:cNvPr id="3" name="Content Placeholder 2"/>
          <p:cNvSpPr>
            <a:spLocks noGrp="1"/>
          </p:cNvSpPr>
          <p:nvPr>
            <p:ph idx="1"/>
          </p:nvPr>
        </p:nvSpPr>
        <p:spPr/>
        <p:txBody>
          <a:bodyPr>
            <a:normAutofit fontScale="70000" lnSpcReduction="20000"/>
          </a:bodyPr>
          <a:lstStyle/>
          <a:p>
            <a:r>
              <a:rPr lang="en-US" i="1" dirty="0"/>
              <a:t>Favorite Jeans is a brand of women's denim pants and products. Jeans Online is an online retailer that sells multiple brands of jeans, including Favorite Jeans, at a discount. </a:t>
            </a:r>
          </a:p>
          <a:p>
            <a:r>
              <a:rPr lang="en-US" i="1" dirty="0"/>
              <a:t>Total-Mart department store also sells Favorite Jeans in its women's department at normal retail prices.</a:t>
            </a:r>
            <a:endParaRPr lang="en-US" dirty="0"/>
          </a:p>
          <a:p>
            <a:r>
              <a:rPr lang="en-US" i="1" dirty="0"/>
              <a:t>Both stores sell the same product from the same brand, but Jeans Online may have limited stock and sizing options, even though customers can conveniently shop at home. </a:t>
            </a:r>
          </a:p>
          <a:p>
            <a:r>
              <a:rPr lang="en-US" i="1" dirty="0"/>
              <a:t>Conversely, Total-Mart has an in-person shopping environment and may be able to hold more inventory. </a:t>
            </a:r>
          </a:p>
          <a:p>
            <a:r>
              <a:rPr lang="en-US" i="1" dirty="0"/>
              <a:t>The two retailers compete to sell the same product by emphasizing distinct advantages and environments for consumers.</a:t>
            </a:r>
            <a:endParaRPr lang="en-US" dirty="0"/>
          </a:p>
          <a:p>
            <a:endParaRPr lang="en-US" dirty="0"/>
          </a:p>
        </p:txBody>
      </p:sp>
    </p:spTree>
    <p:extLst>
      <p:ext uri="{BB962C8B-B14F-4D97-AF65-F5344CB8AC3E}">
        <p14:creationId xmlns:p14="http://schemas.microsoft.com/office/powerpoint/2010/main" val="72428023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Tips for addressing brand competition</a:t>
            </a:r>
            <a:br>
              <a:rPr lang="en-US" b="1" dirty="0"/>
            </a:br>
            <a:endParaRPr lang="en-US" dirty="0"/>
          </a:p>
        </p:txBody>
      </p:sp>
      <p:sp>
        <p:nvSpPr>
          <p:cNvPr id="3" name="Content Placeholder 2"/>
          <p:cNvSpPr>
            <a:spLocks noGrp="1"/>
          </p:cNvSpPr>
          <p:nvPr>
            <p:ph idx="1"/>
          </p:nvPr>
        </p:nvSpPr>
        <p:spPr/>
        <p:txBody>
          <a:bodyPr>
            <a:normAutofit lnSpcReduction="10000"/>
          </a:bodyPr>
          <a:lstStyle/>
          <a:p>
            <a:r>
              <a:rPr lang="en-US" dirty="0"/>
              <a:t>Here are some tips an organization may use to address brand competition and promote customer retention:</a:t>
            </a:r>
          </a:p>
          <a:p>
            <a:r>
              <a:rPr lang="en-US" b="1" dirty="0"/>
              <a:t>Researching competitors</a:t>
            </a:r>
          </a:p>
          <a:p>
            <a:r>
              <a:rPr lang="en-US" dirty="0"/>
              <a:t>Knowing the features and benefits of other brands in your target market improves your ability to meet the needs of customers or to develop new features that provide a competitive advantage.</a:t>
            </a:r>
          </a:p>
          <a:p>
            <a:endParaRPr lang="en-US" dirty="0"/>
          </a:p>
        </p:txBody>
      </p:sp>
    </p:spTree>
    <p:extLst>
      <p:ext uri="{BB962C8B-B14F-4D97-AF65-F5344CB8AC3E}">
        <p14:creationId xmlns:p14="http://schemas.microsoft.com/office/powerpoint/2010/main" val="407041402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Analyzing the customer's purchasing process helps you find an effective marketing strategy. </a:t>
            </a:r>
          </a:p>
          <a:p>
            <a:r>
              <a:rPr lang="en-US" dirty="0"/>
              <a:t>Once you understand what the customer desires from a product, you can show them why your brand is the best option for their specific purposes. </a:t>
            </a:r>
          </a:p>
          <a:p>
            <a:r>
              <a:rPr lang="en-US" dirty="0"/>
              <a:t>Understanding why a customer purchases from a competitor can also highlight where your brand can improve to offer a better experience for customers.</a:t>
            </a:r>
          </a:p>
        </p:txBody>
      </p:sp>
    </p:spTree>
    <p:extLst>
      <p:ext uri="{BB962C8B-B14F-4D97-AF65-F5344CB8AC3E}">
        <p14:creationId xmlns:p14="http://schemas.microsoft.com/office/powerpoint/2010/main" val="156213627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Observing and improving marketing strategies</a:t>
            </a:r>
            <a:br>
              <a:rPr lang="en-US" b="1"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t>When another brand that offers a similar product is more successful, it may be because of its marketing. </a:t>
            </a:r>
          </a:p>
          <a:p>
            <a:r>
              <a:rPr lang="en-US" dirty="0"/>
              <a:t>Effective marketing identifies and targets the key groups of consumers most likely to purchase or use a product or service. </a:t>
            </a:r>
          </a:p>
          <a:p>
            <a:r>
              <a:rPr lang="en-US" dirty="0"/>
              <a:t>Creating marketing that reaches and excites your audience can influence them to purchase your products or services and remain loyal to the company. </a:t>
            </a:r>
          </a:p>
          <a:p>
            <a:r>
              <a:rPr lang="en-US" dirty="0"/>
              <a:t>Observing the successful components of a competitor's marketing messages can help you identify strategies and features that generate positive customer responses and can translate into the company's own marketing practices.</a:t>
            </a:r>
          </a:p>
          <a:p>
            <a:endParaRPr lang="en-US" dirty="0"/>
          </a:p>
        </p:txBody>
      </p:sp>
    </p:spTree>
    <p:extLst>
      <p:ext uri="{BB962C8B-B14F-4D97-AF65-F5344CB8AC3E}">
        <p14:creationId xmlns:p14="http://schemas.microsoft.com/office/powerpoint/2010/main" val="81890418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Definition of tasks</a:t>
            </a:r>
          </a:p>
        </p:txBody>
      </p:sp>
      <p:sp>
        <p:nvSpPr>
          <p:cNvPr id="3" name="Content Placeholder 2"/>
          <p:cNvSpPr>
            <a:spLocks noGrp="1"/>
          </p:cNvSpPr>
          <p:nvPr>
            <p:ph idx="1"/>
          </p:nvPr>
        </p:nvSpPr>
        <p:spPr/>
        <p:txBody>
          <a:bodyPr>
            <a:normAutofit fontScale="70000" lnSpcReduction="20000"/>
          </a:bodyPr>
          <a:lstStyle/>
          <a:p>
            <a:r>
              <a:rPr lang="en-US" dirty="0"/>
              <a:t>“a task refers to any activity that is usually observable and has a start and an end point.” </a:t>
            </a:r>
          </a:p>
          <a:p>
            <a:r>
              <a:rPr lang="en-US" dirty="0"/>
              <a:t>So, in task analysis, UX designers first research how users complete tasks by asking them to perform a specific activity and observing how they do so—from start to finish.</a:t>
            </a:r>
          </a:p>
          <a:p>
            <a:pPr marL="514350" indent="-514350">
              <a:buAutoNum type="arabicPeriod"/>
            </a:pPr>
            <a:r>
              <a:rPr lang="en-US" dirty="0">
                <a:solidFill>
                  <a:srgbClr val="000000"/>
                </a:solidFill>
                <a:latin typeface="Roboto"/>
              </a:rPr>
              <a:t>Understand product specifications and user psychology</a:t>
            </a:r>
          </a:p>
          <a:p>
            <a:pPr marL="514350" indent="-514350">
              <a:buAutoNum type="arabicPeriod"/>
            </a:pPr>
            <a:r>
              <a:rPr lang="en-US" dirty="0">
                <a:solidFill>
                  <a:srgbClr val="000000"/>
                </a:solidFill>
                <a:latin typeface="Roboto"/>
              </a:rPr>
              <a:t>Interpret data and qualitative feedback</a:t>
            </a:r>
          </a:p>
          <a:p>
            <a:pPr marL="514350" indent="-514350">
              <a:buAutoNum type="arabicPeriod"/>
            </a:pPr>
            <a:r>
              <a:rPr lang="en-US" dirty="0">
                <a:solidFill>
                  <a:srgbClr val="000000"/>
                </a:solidFill>
                <a:latin typeface="Roboto"/>
              </a:rPr>
              <a:t>Create user stories, personas, and storyboards</a:t>
            </a:r>
            <a:endParaRPr lang="en-US" dirty="0">
              <a:solidFill>
                <a:srgbClr val="000000"/>
              </a:solidFill>
              <a:latin typeface="Wingdings-Regular"/>
            </a:endParaRPr>
          </a:p>
          <a:p>
            <a:pPr marL="514350" indent="-514350">
              <a:buAutoNum type="arabicPeriod"/>
            </a:pPr>
            <a:r>
              <a:rPr lang="en-US" dirty="0">
                <a:solidFill>
                  <a:srgbClr val="000000"/>
                </a:solidFill>
                <a:latin typeface="Roboto"/>
              </a:rPr>
              <a:t>Define the right interaction model and evaluate its success</a:t>
            </a:r>
          </a:p>
          <a:p>
            <a:pPr marL="514350" indent="-514350">
              <a:buAutoNum type="arabicPeriod"/>
            </a:pPr>
            <a:r>
              <a:rPr lang="en-US" dirty="0">
                <a:solidFill>
                  <a:srgbClr val="000000"/>
                </a:solidFill>
                <a:latin typeface="Roboto"/>
              </a:rPr>
              <a:t>Develop wireframes and prototypes around customer needs</a:t>
            </a:r>
            <a:endParaRPr lang="en-US" dirty="0">
              <a:solidFill>
                <a:srgbClr val="000000"/>
              </a:solidFill>
              <a:latin typeface="Wingdings-Regular"/>
            </a:endParaRPr>
          </a:p>
          <a:p>
            <a:pPr marL="514350" indent="-514350">
              <a:buAutoNum type="arabicPeriod"/>
            </a:pPr>
            <a:r>
              <a:rPr lang="en-US" dirty="0">
                <a:solidFill>
                  <a:srgbClr val="000000"/>
                </a:solidFill>
                <a:latin typeface="Wingdings-Regular"/>
              </a:rPr>
              <a:t> </a:t>
            </a:r>
            <a:r>
              <a:rPr lang="en-US" dirty="0">
                <a:solidFill>
                  <a:srgbClr val="000000"/>
                </a:solidFill>
                <a:latin typeface="Roboto"/>
              </a:rPr>
              <a:t>Find creative ways to solve UX problems (e.g. usability, </a:t>
            </a:r>
            <a:r>
              <a:rPr lang="en-US" dirty="0" err="1">
                <a:solidFill>
                  <a:srgbClr val="000000"/>
                </a:solidFill>
                <a:latin typeface="Roboto"/>
              </a:rPr>
              <a:t>findability</a:t>
            </a:r>
            <a:r>
              <a:rPr lang="en-US" dirty="0">
                <a:solidFill>
                  <a:srgbClr val="000000"/>
                </a:solidFill>
                <a:latin typeface="Roboto"/>
              </a:rPr>
              <a:t>)</a:t>
            </a:r>
            <a:endParaRPr lang="en-US" dirty="0">
              <a:solidFill>
                <a:srgbClr val="000000"/>
              </a:solidFill>
              <a:latin typeface="Wingdings-Regular"/>
            </a:endParaRPr>
          </a:p>
          <a:p>
            <a:pPr marL="514350" indent="-514350">
              <a:buAutoNum type="arabicPeriod"/>
            </a:pPr>
            <a:r>
              <a:rPr lang="en-US" dirty="0">
                <a:solidFill>
                  <a:srgbClr val="000000"/>
                </a:solidFill>
                <a:latin typeface="Wingdings-Regular"/>
              </a:rPr>
              <a:t> </a:t>
            </a:r>
            <a:r>
              <a:rPr lang="en-US" dirty="0">
                <a:solidFill>
                  <a:srgbClr val="000000"/>
                </a:solidFill>
                <a:latin typeface="Roboto"/>
              </a:rPr>
              <a:t>Work with UI designers to implement attractive designs</a:t>
            </a:r>
          </a:p>
          <a:p>
            <a:pPr marL="514350" indent="-514350">
              <a:buAutoNum type="arabicPeriod"/>
            </a:pPr>
            <a:r>
              <a:rPr lang="en-US" dirty="0">
                <a:solidFill>
                  <a:srgbClr val="000000"/>
                </a:solidFill>
                <a:latin typeface="Wingdings-Regular"/>
              </a:rPr>
              <a:t> </a:t>
            </a:r>
            <a:r>
              <a:rPr lang="en-US" dirty="0">
                <a:solidFill>
                  <a:srgbClr val="000000"/>
                </a:solidFill>
                <a:latin typeface="Roboto"/>
              </a:rPr>
              <a:t>Communicate design ideas and prototypes to developers</a:t>
            </a:r>
            <a:endParaRPr lang="en-US" dirty="0"/>
          </a:p>
          <a:p>
            <a:endParaRPr lang="en-US" dirty="0"/>
          </a:p>
          <a:p>
            <a:endParaRPr lang="en-US" dirty="0"/>
          </a:p>
        </p:txBody>
      </p:sp>
      <p:graphicFrame>
        <p:nvGraphicFramePr>
          <p:cNvPr id="4" name="Table 3"/>
          <p:cNvGraphicFramePr>
            <a:graphicFrameLocks noGrp="1"/>
          </p:cNvGraphicFramePr>
          <p:nvPr/>
        </p:nvGraphicFramePr>
        <p:xfrm>
          <a:off x="3619500" y="1897221"/>
          <a:ext cx="1905000" cy="365760"/>
        </p:xfrm>
        <a:graphic>
          <a:graphicData uri="http://schemas.openxmlformats.org/drawingml/2006/table">
            <a:tbl>
              <a:tblPr/>
              <a:tblGrid>
                <a:gridCol w="1905000">
                  <a:extLst>
                    <a:ext uri="{9D8B030D-6E8A-4147-A177-3AD203B41FA5}">
                      <a16:colId xmlns:a16="http://schemas.microsoft.com/office/drawing/2014/main" val="20000"/>
                    </a:ext>
                  </a:extLst>
                </a:gridCol>
              </a:tblGrid>
              <a:tr h="0">
                <a:tc>
                  <a:txBody>
                    <a:bodyPr/>
                    <a:lstStyle/>
                    <a:p>
                      <a:endParaRPr lang="en-US" dirty="0">
                        <a:effectLst/>
                      </a:endParaRPr>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5" name="Rectangle 1"/>
          <p:cNvSpPr>
            <a:spLocks noChangeArrowheads="1"/>
          </p:cNvSpPr>
          <p:nvPr/>
        </p:nvSpPr>
        <p:spPr bwMode="auto">
          <a:xfrm>
            <a:off x="3619500" y="1897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73494548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Maintaining brand quality</a:t>
            </a:r>
            <a:br>
              <a:rPr lang="en-US" b="1" dirty="0"/>
            </a:br>
            <a:endParaRPr lang="en-US" dirty="0"/>
          </a:p>
        </p:txBody>
      </p:sp>
      <p:sp>
        <p:nvSpPr>
          <p:cNvPr id="3" name="Content Placeholder 2"/>
          <p:cNvSpPr>
            <a:spLocks noGrp="1"/>
          </p:cNvSpPr>
          <p:nvPr>
            <p:ph idx="1"/>
          </p:nvPr>
        </p:nvSpPr>
        <p:spPr/>
        <p:txBody>
          <a:bodyPr>
            <a:normAutofit fontScale="92500"/>
          </a:bodyPr>
          <a:lstStyle/>
          <a:p>
            <a:r>
              <a:rPr lang="en-US" dirty="0"/>
              <a:t>Ensuring that a brand maintains the quality of its products and services can encourage customers to continue making purchases. </a:t>
            </a:r>
          </a:p>
          <a:p>
            <a:r>
              <a:rPr lang="en-US" dirty="0"/>
              <a:t>Product and customer service quality can boost sales and promote a positive brand reputation. </a:t>
            </a:r>
          </a:p>
          <a:p>
            <a:r>
              <a:rPr lang="en-US" dirty="0"/>
              <a:t>This sense of satisfaction and consistency can also aid in gaining new customers through word-of-mouth marketing and overall brand recognition.</a:t>
            </a:r>
          </a:p>
          <a:p>
            <a:endParaRPr lang="en-US" dirty="0"/>
          </a:p>
        </p:txBody>
      </p:sp>
    </p:spTree>
    <p:extLst>
      <p:ext uri="{BB962C8B-B14F-4D97-AF65-F5344CB8AC3E}">
        <p14:creationId xmlns:p14="http://schemas.microsoft.com/office/powerpoint/2010/main" val="220188795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r>
              <a:rPr lang="en-US" b="1" dirty="0"/>
              <a:t>Identification of Brand Personas</a:t>
            </a:r>
            <a:r>
              <a:rPr lang="en-US" dirty="0"/>
              <a:t> </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r>
              <a:rPr lang="en-US" b="1" dirty="0"/>
              <a:t>Personas</a:t>
            </a:r>
            <a:r>
              <a:rPr lang="en-US" dirty="0"/>
              <a:t> are fictional(imagined) characters, which you create based upon your research in order to represent the different user types that might use your service, product, site, or brand in a similar way.</a:t>
            </a:r>
            <a:r>
              <a:rPr lang="en-US" b="1" dirty="0"/>
              <a:t> </a:t>
            </a:r>
          </a:p>
          <a:p>
            <a:r>
              <a:rPr lang="en-US" b="1" dirty="0"/>
              <a:t>Personas</a:t>
            </a:r>
            <a:r>
              <a:rPr lang="en-US" dirty="0"/>
              <a:t> help</a:t>
            </a:r>
            <a:r>
              <a:rPr lang="en-US" b="1" dirty="0"/>
              <a:t> designers</a:t>
            </a:r>
            <a:r>
              <a:rPr lang="en-US" dirty="0"/>
              <a:t> to create understanding and empathy with the end users.</a:t>
            </a:r>
            <a:r>
              <a:rPr lang="en-US" b="1" dirty="0">
                <a:hlinkClick r:id="rId2"/>
              </a:rPr>
              <a:t> </a:t>
            </a:r>
            <a:r>
              <a:rPr lang="en-US" dirty="0">
                <a:hlinkClick r:id="rId2"/>
              </a:rPr>
              <a:t>  </a:t>
            </a:r>
            <a:endParaRPr lang="en-US" dirty="0"/>
          </a:p>
          <a:p>
            <a:r>
              <a:rPr lang="en-US" dirty="0">
                <a:hlinkClick r:id="rId2"/>
              </a:rPr>
              <a:t> User personas </a:t>
            </a:r>
            <a:r>
              <a:rPr lang="en-US" u="sng" dirty="0">
                <a:hlinkClick r:id="rId2"/>
              </a:rPr>
              <a:t>help designers shape product strategy and accompany during the usability testing sessions.   </a:t>
            </a:r>
            <a:endParaRPr lang="en-US" u="sng" dirty="0"/>
          </a:p>
          <a:p>
            <a:r>
              <a:rPr lang="en-US" dirty="0"/>
              <a:t>User Personas: A technique that supports designing and engineering interactive systems with focus on the end-users. The common understanding of the personas technique is that a persona is a description of a fictitious person based on data collected about the target user group. </a:t>
            </a:r>
          </a:p>
        </p:txBody>
      </p:sp>
    </p:spTree>
    <p:extLst>
      <p:ext uri="{BB962C8B-B14F-4D97-AF65-F5344CB8AC3E}">
        <p14:creationId xmlns:p14="http://schemas.microsoft.com/office/powerpoint/2010/main" val="219119327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Identification of end user Pain Points</a:t>
            </a:r>
            <a:r>
              <a:rPr lang="en-US" dirty="0"/>
              <a:t>  </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r>
              <a:rPr lang="en-US" b="1" dirty="0"/>
              <a:t>Definition</a:t>
            </a:r>
            <a:r>
              <a:rPr lang="en-US" dirty="0"/>
              <a:t>   </a:t>
            </a:r>
          </a:p>
          <a:p>
            <a:r>
              <a:rPr lang="en-US" dirty="0"/>
              <a:t> </a:t>
            </a:r>
            <a:r>
              <a:rPr lang="en-US" b="1" dirty="0"/>
              <a:t>Pain points:</a:t>
            </a:r>
            <a:r>
              <a:rPr lang="en-US" dirty="0"/>
              <a:t> Pain points are areas of difficulty or frustration that users experience with a product or service. </a:t>
            </a:r>
          </a:p>
          <a:p>
            <a:r>
              <a:rPr lang="en-US" dirty="0"/>
              <a:t>They can be related to usability, customer service, pricing, or any other aspect of the user experience. </a:t>
            </a:r>
          </a:p>
          <a:p>
            <a:r>
              <a:rPr lang="en-US" dirty="0"/>
              <a:t>Pain points can have a significant impact on the user experience, and understanding them is essential for creating a successful product.</a:t>
            </a:r>
          </a:p>
          <a:p>
            <a:r>
              <a:rPr lang="en-US" dirty="0"/>
              <a:t> </a:t>
            </a:r>
            <a:r>
              <a:rPr lang="en-US" b="1" dirty="0"/>
              <a:t>Pain points: </a:t>
            </a:r>
            <a:r>
              <a:rPr lang="en-US" dirty="0"/>
              <a:t>are a specific problem that customers or prospective customers of your business are experiencing in the marketplace. They are essentially any problem</a:t>
            </a:r>
            <a:r>
              <a:rPr lang="en-US" i="1" dirty="0"/>
              <a:t>s that the customer may experience along their customer journey.</a:t>
            </a:r>
          </a:p>
          <a:p>
            <a:r>
              <a:rPr lang="en-US" dirty="0"/>
              <a:t> </a:t>
            </a:r>
            <a:r>
              <a:rPr lang="en-US" b="1" dirty="0"/>
              <a:t>Pain points: </a:t>
            </a:r>
            <a:r>
              <a:rPr lang="en-US" i="1" dirty="0"/>
              <a:t>are problems that occur at the different levels of the customer experience: interaction level, customer-journey level, or relationship level.   </a:t>
            </a:r>
            <a:endParaRPr lang="en-US" dirty="0"/>
          </a:p>
          <a:p>
            <a:endParaRPr lang="en-US" dirty="0"/>
          </a:p>
        </p:txBody>
      </p:sp>
      <p:sp>
        <p:nvSpPr>
          <p:cNvPr id="5" name="Rectangle 1"/>
          <p:cNvSpPr>
            <a:spLocks noChangeArrowheads="1"/>
          </p:cNvSpPr>
          <p:nvPr/>
        </p:nvSpPr>
        <p:spPr bwMode="auto">
          <a:xfrm>
            <a:off x="3619500" y="3451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01362013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Common types of pain points</a:t>
            </a:r>
            <a:br>
              <a:rPr lang="en-US" b="1" dirty="0"/>
            </a:br>
            <a:endParaRPr lang="en-US" b="1" dirty="0"/>
          </a:p>
        </p:txBody>
      </p:sp>
      <p:sp>
        <p:nvSpPr>
          <p:cNvPr id="3" name="Content Placeholder 2"/>
          <p:cNvSpPr>
            <a:spLocks noGrp="1"/>
          </p:cNvSpPr>
          <p:nvPr>
            <p:ph idx="1"/>
          </p:nvPr>
        </p:nvSpPr>
        <p:spPr/>
        <p:txBody>
          <a:bodyPr>
            <a:normAutofit fontScale="92500" lnSpcReduction="20000"/>
          </a:bodyPr>
          <a:lstStyle/>
          <a:p>
            <a:r>
              <a:rPr lang="en-US" dirty="0"/>
              <a:t>Pain points can be divided into two main categories: </a:t>
            </a:r>
            <a:r>
              <a:rPr lang="en-US" b="1" dirty="0"/>
              <a:t>usability</a:t>
            </a:r>
            <a:r>
              <a:rPr lang="en-US" dirty="0"/>
              <a:t> pain points and </a:t>
            </a:r>
            <a:r>
              <a:rPr lang="en-US" b="1" dirty="0"/>
              <a:t>customer service</a:t>
            </a:r>
            <a:r>
              <a:rPr lang="en-US" dirty="0"/>
              <a:t> pain points.</a:t>
            </a:r>
          </a:p>
          <a:p>
            <a:r>
              <a:rPr lang="en-US" b="1" dirty="0"/>
              <a:t>Usability pain points </a:t>
            </a:r>
            <a:r>
              <a:rPr lang="en-US" dirty="0"/>
              <a:t>are related to the usability of a product or service, such as </a:t>
            </a:r>
            <a:r>
              <a:rPr lang="en-US" b="1" i="1" dirty="0"/>
              <a:t>difficulty navigating the website, slow loading times, or confusing navigation menus.</a:t>
            </a:r>
          </a:p>
          <a:p>
            <a:r>
              <a:rPr lang="en-US" b="1" dirty="0"/>
              <a:t>Customer service pain points </a:t>
            </a:r>
            <a:r>
              <a:rPr lang="en-US" dirty="0"/>
              <a:t>are related to customer service, such as </a:t>
            </a:r>
            <a:r>
              <a:rPr lang="en-US" b="1" i="1" dirty="0"/>
              <a:t>long wait times, unhelpful customer service agents, or lack of response to customer inquiries.</a:t>
            </a:r>
          </a:p>
          <a:p>
            <a:endParaRPr lang="en-US" dirty="0"/>
          </a:p>
        </p:txBody>
      </p:sp>
    </p:spTree>
    <p:extLst>
      <p:ext uri="{BB962C8B-B14F-4D97-AF65-F5344CB8AC3E}">
        <p14:creationId xmlns:p14="http://schemas.microsoft.com/office/powerpoint/2010/main" val="297129849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a:t>Three Levels of Pain Points   </a:t>
            </a:r>
            <a:br>
              <a:rPr lang="en-US" b="1" dirty="0"/>
            </a:br>
            <a:endParaRPr lang="en-US" dirty="0"/>
          </a:p>
        </p:txBody>
      </p:sp>
      <p:sp>
        <p:nvSpPr>
          <p:cNvPr id="3" name="Content Placeholder 2"/>
          <p:cNvSpPr>
            <a:spLocks noGrp="1"/>
          </p:cNvSpPr>
          <p:nvPr>
            <p:ph idx="1"/>
          </p:nvPr>
        </p:nvSpPr>
        <p:spPr/>
        <p:txBody>
          <a:bodyPr>
            <a:normAutofit fontScale="55000" lnSpcReduction="20000"/>
          </a:bodyPr>
          <a:lstStyle/>
          <a:p>
            <a:pPr lvl="0" fontAlgn="base"/>
            <a:r>
              <a:rPr lang="en-US" b="1" dirty="0"/>
              <a:t>Interaction-level pain point: </a:t>
            </a:r>
            <a:r>
              <a:rPr lang="en-US" dirty="0"/>
              <a:t>A user is passed from support person to support person. </a:t>
            </a:r>
          </a:p>
          <a:p>
            <a:pPr lvl="0" fontAlgn="base"/>
            <a:r>
              <a:rPr lang="en-US" dirty="0"/>
              <a:t>Customer pain points at the interaction level are related to interactions with the products of an organization and its employees. </a:t>
            </a:r>
          </a:p>
          <a:p>
            <a:r>
              <a:rPr lang="en-US" dirty="0"/>
              <a:t>A key example of an interaction-level pain point is a customer not having an issue dealt with in a timely manner because they are directed to multiple departments who might not be equipped with the resources or knowledge to rectify it. </a:t>
            </a:r>
          </a:p>
          <a:p>
            <a:r>
              <a:rPr lang="en-US" dirty="0"/>
              <a:t>As a result, this confuses the customer and ultimately wastes their time.</a:t>
            </a:r>
          </a:p>
          <a:p>
            <a:pPr lvl="0" fontAlgn="base"/>
            <a:r>
              <a:rPr lang="en-US" b="1" dirty="0"/>
              <a:t>Journey-level pain point</a:t>
            </a:r>
            <a:r>
              <a:rPr lang="en-US" dirty="0"/>
              <a:t>: A user places an order and does not receive it for months.   </a:t>
            </a:r>
          </a:p>
          <a:p>
            <a:pPr lvl="0" fontAlgn="base"/>
            <a:r>
              <a:rPr lang="en-US" dirty="0"/>
              <a:t>Journey-level pain points refer to friction and frustration encountered by customers when they are attempting to get from point A to B. </a:t>
            </a:r>
          </a:p>
          <a:p>
            <a:pPr lvl="0" fontAlgn="base"/>
            <a:r>
              <a:rPr lang="en-US" dirty="0"/>
              <a:t>Examples of pain points relating to customer journeys include customer support wait times, slow communication, and long durations between critical points of the </a:t>
            </a:r>
            <a:r>
              <a:rPr lang="en-US" b="1" dirty="0"/>
              <a:t>customer journey</a:t>
            </a:r>
            <a:r>
              <a:rPr lang="en-US" dirty="0"/>
              <a:t>. </a:t>
            </a:r>
          </a:p>
          <a:p>
            <a:pPr lvl="0" fontAlgn="base"/>
            <a:r>
              <a:rPr lang="en-US" b="1" dirty="0"/>
              <a:t>Relationship-level pain point: </a:t>
            </a:r>
            <a:r>
              <a:rPr lang="en-US" dirty="0"/>
              <a:t>A user pays for a service but still has to watch ads.   </a:t>
            </a:r>
            <a:endParaRPr lang="en-US" b="1" dirty="0"/>
          </a:p>
          <a:p>
            <a:r>
              <a:rPr lang="en-US" dirty="0"/>
              <a:t>Lastly, relationship-level pain points comprise the issues experienced by customers that are long-term and concern their feelings towards the brand or organization. </a:t>
            </a:r>
          </a:p>
          <a:p>
            <a:endParaRPr lang="en-US" dirty="0"/>
          </a:p>
        </p:txBody>
      </p:sp>
    </p:spTree>
    <p:extLst>
      <p:ext uri="{BB962C8B-B14F-4D97-AF65-F5344CB8AC3E}">
        <p14:creationId xmlns:p14="http://schemas.microsoft.com/office/powerpoint/2010/main" val="52320917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three levels of user pain points(summary)</a:t>
            </a:r>
          </a:p>
        </p:txBody>
      </p:sp>
      <p:sp>
        <p:nvSpPr>
          <p:cNvPr id="3" name="Content Placeholder 2"/>
          <p:cNvSpPr>
            <a:spLocks noGrp="1"/>
          </p:cNvSpPr>
          <p:nvPr>
            <p:ph idx="1"/>
          </p:nvPr>
        </p:nvSpPr>
        <p:spPr/>
        <p:txBody>
          <a:bodyPr/>
          <a:lstStyle/>
          <a:p>
            <a:r>
              <a:rPr lang="en-US" b="1" dirty="0"/>
              <a:t>Interaction-level:</a:t>
            </a:r>
            <a:r>
              <a:rPr lang="en-US" dirty="0"/>
              <a:t> pain points relating to interactions with an organization’s products and team members.</a:t>
            </a:r>
          </a:p>
          <a:p>
            <a:r>
              <a:rPr lang="en-US" b="1" dirty="0"/>
              <a:t>Journey-level:</a:t>
            </a:r>
            <a:r>
              <a:rPr lang="en-US" dirty="0"/>
              <a:t> pain points pertaining to customer and user journeys.</a:t>
            </a:r>
          </a:p>
          <a:p>
            <a:r>
              <a:rPr lang="en-US" b="1" dirty="0"/>
              <a:t>Relationship-level:</a:t>
            </a:r>
            <a:r>
              <a:rPr lang="en-US" dirty="0"/>
              <a:t> pain points customer experience during their lifetime with a brand.</a:t>
            </a:r>
          </a:p>
          <a:p>
            <a:endParaRPr lang="en-US" dirty="0"/>
          </a:p>
        </p:txBody>
      </p:sp>
    </p:spTree>
    <p:extLst>
      <p:ext uri="{BB962C8B-B14F-4D97-AF65-F5344CB8AC3E}">
        <p14:creationId xmlns:p14="http://schemas.microsoft.com/office/powerpoint/2010/main" val="217797643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Effects of Pain Points on Users   </a:t>
            </a:r>
            <a:br>
              <a:rPr lang="en-US" b="1" dirty="0"/>
            </a:br>
            <a:endParaRPr lang="en-US" b="1" dirty="0"/>
          </a:p>
        </p:txBody>
      </p:sp>
      <p:sp>
        <p:nvSpPr>
          <p:cNvPr id="3" name="Content Placeholder 2"/>
          <p:cNvSpPr>
            <a:spLocks noGrp="1"/>
          </p:cNvSpPr>
          <p:nvPr>
            <p:ph idx="1"/>
          </p:nvPr>
        </p:nvSpPr>
        <p:spPr/>
        <p:txBody>
          <a:bodyPr>
            <a:normAutofit lnSpcReduction="10000"/>
          </a:bodyPr>
          <a:lstStyle/>
          <a:p>
            <a:pPr lvl="2" fontAlgn="base"/>
            <a:r>
              <a:rPr lang="en-US" dirty="0"/>
              <a:t>All pain points incur:</a:t>
            </a:r>
            <a:endParaRPr lang="en-US" b="1" dirty="0"/>
          </a:p>
          <a:p>
            <a:pPr lvl="2" fontAlgn="base"/>
            <a:r>
              <a:rPr lang="en-US" b="1" dirty="0"/>
              <a:t>a cost to users </a:t>
            </a:r>
            <a:r>
              <a:rPr lang="en-US" dirty="0"/>
              <a:t>:  Example, the interface may be so complicated that the user may need to call for assistance (and thus experience an increase in interaction cost).    </a:t>
            </a:r>
          </a:p>
          <a:p>
            <a:pPr lvl="2" fontAlgn="base"/>
            <a:r>
              <a:rPr lang="en-US" b="1" dirty="0"/>
              <a:t>a time cost  : </a:t>
            </a:r>
            <a:r>
              <a:rPr lang="en-US" dirty="0"/>
              <a:t>for instance, if the user needs to wait for a long time for a process to complete. </a:t>
            </a:r>
            <a:endParaRPr lang="en-US" b="1" dirty="0"/>
          </a:p>
          <a:p>
            <a:pPr lvl="2" fontAlgn="base"/>
            <a:r>
              <a:rPr lang="en-US" b="1" dirty="0"/>
              <a:t>There is also a financial cost to the user: </a:t>
            </a:r>
            <a:r>
              <a:rPr lang="en-US" dirty="0"/>
              <a:t>For example, if an internet provider has frequent outages,  users may be forced to use their cellphones as hotspots and incur extra data costs.</a:t>
            </a:r>
            <a:endParaRPr lang="en-US" b="1" dirty="0"/>
          </a:p>
          <a:p>
            <a:pPr marL="0" indent="0">
              <a:buNone/>
            </a:pPr>
            <a:r>
              <a:rPr lang="en-US" b="1" dirty="0"/>
              <a:t>   </a:t>
            </a:r>
          </a:p>
          <a:p>
            <a:endParaRPr lang="en-US" dirty="0"/>
          </a:p>
        </p:txBody>
      </p:sp>
    </p:spTree>
    <p:extLst>
      <p:ext uri="{BB962C8B-B14F-4D97-AF65-F5344CB8AC3E}">
        <p14:creationId xmlns:p14="http://schemas.microsoft.com/office/powerpoint/2010/main" val="29937913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Definition of Tasks</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 Task analysis is a process that helps UX designers learn how users actually go about completing tasks with a product.   </a:t>
            </a:r>
          </a:p>
          <a:p>
            <a:r>
              <a:rPr lang="en-US" dirty="0"/>
              <a:t>  A user experience (UX) designer is responsible for improving user interaction with a product, whether a website or application, by helping users achieve their goals quickly and smoothly. </a:t>
            </a:r>
          </a:p>
          <a:p>
            <a:r>
              <a:rPr lang="en-US" dirty="0"/>
              <a:t>UX designers use task analysis when developing their product to gain insight and receive feedback from users. </a:t>
            </a:r>
          </a:p>
        </p:txBody>
      </p:sp>
    </p:spTree>
    <p:extLst>
      <p:ext uri="{BB962C8B-B14F-4D97-AF65-F5344CB8AC3E}">
        <p14:creationId xmlns:p14="http://schemas.microsoft.com/office/powerpoint/2010/main" val="293907498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52400"/>
            <a:ext cx="8153399"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481745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76200"/>
            <a:ext cx="90678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828" y="3499338"/>
            <a:ext cx="8748486"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989095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steps </a:t>
            </a:r>
            <a:r>
              <a:rPr lang="en-US" dirty="0"/>
              <a:t>  </a:t>
            </a:r>
            <a:br>
              <a:rPr lang="en-US" dirty="0"/>
            </a:br>
            <a:endParaRPr lang="en-US" dirty="0"/>
          </a:p>
        </p:txBody>
      </p:sp>
      <p:sp>
        <p:nvSpPr>
          <p:cNvPr id="3" name="Content Placeholder 2"/>
          <p:cNvSpPr>
            <a:spLocks noGrp="1"/>
          </p:cNvSpPr>
          <p:nvPr>
            <p:ph idx="1"/>
          </p:nvPr>
        </p:nvSpPr>
        <p:spPr>
          <a:xfrm>
            <a:off x="457200" y="990600"/>
            <a:ext cx="8229600" cy="5715000"/>
          </a:xfrm>
        </p:spPr>
        <p:txBody>
          <a:bodyPr>
            <a:normAutofit fontScale="92500" lnSpcReduction="10000"/>
          </a:bodyPr>
          <a:lstStyle/>
          <a:p>
            <a:pPr lvl="1" fontAlgn="base"/>
            <a:r>
              <a:rPr lang="en-US" dirty="0"/>
              <a:t>Understand product specifications and user psychology   </a:t>
            </a:r>
          </a:p>
          <a:p>
            <a:pPr lvl="1" fontAlgn="base"/>
            <a:r>
              <a:rPr lang="en-US" dirty="0"/>
              <a:t>Interpret data and qualitative feedback   </a:t>
            </a:r>
          </a:p>
          <a:p>
            <a:pPr lvl="1" fontAlgn="base"/>
            <a:r>
              <a:rPr lang="en-US" dirty="0"/>
              <a:t>Create user stories, personas, and storyboards   </a:t>
            </a:r>
          </a:p>
          <a:p>
            <a:pPr lvl="1" fontAlgn="base"/>
            <a:r>
              <a:rPr lang="en-US" dirty="0"/>
              <a:t>Define the right interaction model and evaluate its success   </a:t>
            </a:r>
          </a:p>
          <a:p>
            <a:pPr lvl="1" fontAlgn="base"/>
            <a:r>
              <a:rPr lang="en-US" dirty="0"/>
              <a:t>Develop wireframes and prototypes around customer needs   </a:t>
            </a:r>
          </a:p>
          <a:p>
            <a:pPr lvl="1" fontAlgn="base"/>
            <a:r>
              <a:rPr lang="en-US" dirty="0"/>
              <a:t>Find creative ways to solve UX problems (e.g. usability, find ability)   </a:t>
            </a:r>
          </a:p>
          <a:p>
            <a:pPr lvl="1" fontAlgn="base"/>
            <a:r>
              <a:rPr lang="en-US" dirty="0"/>
              <a:t>Work with UI designers to implement attractive designs  </a:t>
            </a:r>
          </a:p>
          <a:p>
            <a:pPr lvl="1" fontAlgn="base"/>
            <a:r>
              <a:rPr lang="en-US" dirty="0"/>
              <a:t> Communicate design ideas and prototypes to developers </a:t>
            </a:r>
          </a:p>
        </p:txBody>
      </p:sp>
    </p:spTree>
    <p:extLst>
      <p:ext uri="{BB962C8B-B14F-4D97-AF65-F5344CB8AC3E}">
        <p14:creationId xmlns:p14="http://schemas.microsoft.com/office/powerpoint/2010/main" val="197115110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Learning outcome 2.  Define User </a:t>
            </a:r>
            <a:br>
              <a:rPr lang="en-US" b="1" dirty="0"/>
            </a:br>
            <a:endParaRPr lang="en-US" dirty="0"/>
          </a:p>
        </p:txBody>
      </p:sp>
      <p:sp>
        <p:nvSpPr>
          <p:cNvPr id="3" name="Content Placeholder 2"/>
          <p:cNvSpPr>
            <a:spLocks noGrp="1"/>
          </p:cNvSpPr>
          <p:nvPr>
            <p:ph idx="1"/>
          </p:nvPr>
        </p:nvSpPr>
        <p:spPr>
          <a:xfrm>
            <a:off x="381000" y="1143000"/>
            <a:ext cx="8229600" cy="5486400"/>
          </a:xfrm>
        </p:spPr>
        <p:txBody>
          <a:bodyPr>
            <a:normAutofit fontScale="40000" lnSpcReduction="20000"/>
          </a:bodyPr>
          <a:lstStyle/>
          <a:p>
            <a:r>
              <a:rPr lang="en-US" sz="7200" b="1" dirty="0">
                <a:solidFill>
                  <a:srgbClr val="000000"/>
                </a:solidFill>
                <a:latin typeface="Roboto"/>
              </a:rPr>
              <a:t>Definition of key terms:</a:t>
            </a:r>
          </a:p>
          <a:p>
            <a:r>
              <a:rPr lang="en-US" sz="7200" b="1" dirty="0">
                <a:solidFill>
                  <a:srgbClr val="000000"/>
                </a:solidFill>
                <a:latin typeface="Wingdings-Regular"/>
              </a:rPr>
              <a:t> </a:t>
            </a:r>
            <a:r>
              <a:rPr lang="en-US" sz="7200" b="1" dirty="0">
                <a:solidFill>
                  <a:srgbClr val="000000"/>
                </a:solidFill>
                <a:latin typeface="Roboto"/>
              </a:rPr>
              <a:t>User story: </a:t>
            </a:r>
            <a:r>
              <a:rPr lang="en-US" sz="7200" b="1" dirty="0"/>
              <a:t>A </a:t>
            </a:r>
            <a:r>
              <a:rPr lang="en-US" sz="7200" dirty="0"/>
              <a:t>user story is a well-formed, short and simple description of a software requirement from the perspective of an end-user, written in an informal and natural language.</a:t>
            </a:r>
          </a:p>
          <a:p>
            <a:r>
              <a:rPr lang="en-US" sz="7200" dirty="0"/>
              <a:t>A user story describes the type of user, what they want and why. </a:t>
            </a:r>
          </a:p>
          <a:p>
            <a:r>
              <a:rPr lang="en-US" sz="7200" dirty="0"/>
              <a:t>A user story helps to create a simplified description of a requirement.</a:t>
            </a:r>
          </a:p>
          <a:p>
            <a:pPr marL="0" indent="0">
              <a:buNone/>
            </a:pPr>
            <a:r>
              <a:rPr lang="en-US" sz="7200" dirty="0"/>
              <a:t>User story: A tool in Agile software development used to capture a description of a software feature from a user's perspective. The user story describes the type of user, what they want and why. A user story helps to create a simplified description of a requirement. </a:t>
            </a:r>
            <a:endParaRPr lang="en-US" sz="7200" dirty="0">
              <a:solidFill>
                <a:srgbClr val="000000"/>
              </a:solidFill>
              <a:latin typeface="Roboto"/>
            </a:endParaRPr>
          </a:p>
          <a:p>
            <a:pPr marL="0" indent="0">
              <a:buNone/>
            </a:pPr>
            <a:endParaRPr lang="en-US" dirty="0"/>
          </a:p>
          <a:p>
            <a:endParaRPr lang="en-US" dirty="0"/>
          </a:p>
        </p:txBody>
      </p:sp>
    </p:spTree>
    <p:extLst>
      <p:ext uri="{BB962C8B-B14F-4D97-AF65-F5344CB8AC3E}">
        <p14:creationId xmlns:p14="http://schemas.microsoft.com/office/powerpoint/2010/main" val="22673667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lvl="0" fontAlgn="base"/>
            <a:r>
              <a:rPr lang="en-US" b="1" dirty="0">
                <a:solidFill>
                  <a:srgbClr val="000000"/>
                </a:solidFill>
                <a:latin typeface="Roboto"/>
              </a:rPr>
              <a:t>User personas</a:t>
            </a:r>
            <a:r>
              <a:rPr lang="en-US" dirty="0">
                <a:solidFill>
                  <a:srgbClr val="000000"/>
                </a:solidFill>
                <a:latin typeface="Roboto"/>
              </a:rPr>
              <a:t>: </a:t>
            </a:r>
            <a:r>
              <a:rPr lang="en-US" dirty="0"/>
              <a:t>  User personas are</a:t>
            </a:r>
            <a:r>
              <a:rPr lang="en-US" b="1" dirty="0"/>
              <a:t> representations of an app or Web site’s various user groups</a:t>
            </a:r>
            <a:r>
              <a:rPr lang="en-US" dirty="0"/>
              <a:t>. </a:t>
            </a:r>
          </a:p>
          <a:p>
            <a:pPr lvl="0" fontAlgn="base"/>
            <a:r>
              <a:rPr lang="en-US" dirty="0"/>
              <a:t>UX designers and product teams use them to help them create the best possible user experience. </a:t>
            </a:r>
          </a:p>
          <a:p>
            <a:r>
              <a:rPr lang="en-US" dirty="0"/>
              <a:t>The personas they create should represent the types of people that would most likely utilize an app or Web site.   </a:t>
            </a:r>
            <a:endParaRPr lang="en-US" dirty="0">
              <a:solidFill>
                <a:srgbClr val="000000"/>
              </a:solidFill>
              <a:latin typeface="Roboto"/>
            </a:endParaRPr>
          </a:p>
        </p:txBody>
      </p:sp>
    </p:spTree>
    <p:extLst>
      <p:ext uri="{BB962C8B-B14F-4D97-AF65-F5344CB8AC3E}">
        <p14:creationId xmlns:p14="http://schemas.microsoft.com/office/powerpoint/2010/main" val="255571625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305800" cy="6096000"/>
          </a:xfrm>
        </p:spPr>
        <p:txBody>
          <a:bodyPr>
            <a:normAutofit fontScale="92500" lnSpcReduction="20000"/>
          </a:bodyPr>
          <a:lstStyle/>
          <a:p>
            <a:r>
              <a:rPr lang="en-US" b="1" dirty="0">
                <a:solidFill>
                  <a:srgbClr val="000000"/>
                </a:solidFill>
                <a:latin typeface="Roboto"/>
              </a:rPr>
              <a:t>User journey: </a:t>
            </a:r>
            <a:r>
              <a:rPr lang="en-US" dirty="0"/>
              <a:t>A </a:t>
            </a:r>
            <a:r>
              <a:rPr lang="en-US" b="1" dirty="0"/>
              <a:t>user</a:t>
            </a:r>
            <a:r>
              <a:rPr lang="en-US" dirty="0"/>
              <a:t> </a:t>
            </a:r>
            <a:r>
              <a:rPr lang="en-US" b="1" dirty="0"/>
              <a:t>journey</a:t>
            </a:r>
            <a:r>
              <a:rPr lang="en-US" dirty="0"/>
              <a:t> map is an excellent tool for </a:t>
            </a:r>
            <a:r>
              <a:rPr lang="en-US" b="1" dirty="0"/>
              <a:t>UX</a:t>
            </a:r>
            <a:r>
              <a:rPr lang="en-US" dirty="0"/>
              <a:t> </a:t>
            </a:r>
            <a:r>
              <a:rPr lang="en-US" b="1" dirty="0"/>
              <a:t>designers</a:t>
            </a:r>
            <a:r>
              <a:rPr lang="en-US" dirty="0"/>
              <a:t> because it visualizes how a user interacts with a product and allows designers to see a product from a user’s point of view.   </a:t>
            </a:r>
          </a:p>
          <a:p>
            <a:r>
              <a:rPr lang="en-US" dirty="0"/>
              <a:t>User Journey: A path a user may take to reach their goal when using a particular website. </a:t>
            </a:r>
            <a:endParaRPr lang="en-US" dirty="0">
              <a:solidFill>
                <a:srgbClr val="000000"/>
              </a:solidFill>
              <a:latin typeface="Roboto"/>
            </a:endParaRPr>
          </a:p>
          <a:p>
            <a:r>
              <a:rPr lang="en-US" b="1" dirty="0">
                <a:solidFill>
                  <a:srgbClr val="000000"/>
                </a:solidFill>
                <a:latin typeface="Wingdings-Regular"/>
              </a:rPr>
              <a:t> </a:t>
            </a:r>
            <a:r>
              <a:rPr lang="en-US" b="1" dirty="0">
                <a:solidFill>
                  <a:srgbClr val="000000"/>
                </a:solidFill>
                <a:latin typeface="Roboto"/>
              </a:rPr>
              <a:t>UX brief (UX project brief):</a:t>
            </a:r>
            <a:r>
              <a:rPr lang="en-US" dirty="0">
                <a:solidFill>
                  <a:srgbClr val="000000"/>
                </a:solidFill>
                <a:latin typeface="Roboto"/>
              </a:rPr>
              <a:t> </a:t>
            </a:r>
            <a:r>
              <a:rPr lang="en-US" b="1" dirty="0"/>
              <a:t>A UX project brief: </a:t>
            </a:r>
            <a:r>
              <a:rPr lang="en-US" dirty="0"/>
              <a:t>is different from a traditional</a:t>
            </a:r>
            <a:r>
              <a:rPr lang="en-US" b="1" dirty="0"/>
              <a:t> creative brief</a:t>
            </a:r>
            <a:r>
              <a:rPr lang="en-US" dirty="0"/>
              <a:t>. Instead of dictating project expectations, the team creates a project brief at the kickoff (start or beginning) meeting. </a:t>
            </a:r>
          </a:p>
          <a:p>
            <a:r>
              <a:rPr lang="en-US" dirty="0"/>
              <a:t>This process creates a useful document to help get everyone aligned on a project’s intended goals and outcomes   </a:t>
            </a:r>
          </a:p>
        </p:txBody>
      </p:sp>
    </p:spTree>
    <p:extLst>
      <p:ext uri="{BB962C8B-B14F-4D97-AF65-F5344CB8AC3E}">
        <p14:creationId xmlns:p14="http://schemas.microsoft.com/office/powerpoint/2010/main" val="220739984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00"/>
                </a:solidFill>
                <a:latin typeface="Roboto"/>
              </a:rPr>
              <a:t>Creation of user story</a:t>
            </a:r>
            <a:endParaRPr lang="en-US" dirty="0"/>
          </a:p>
        </p:txBody>
      </p:sp>
      <p:sp>
        <p:nvSpPr>
          <p:cNvPr id="3" name="Content Placeholder 2"/>
          <p:cNvSpPr>
            <a:spLocks noGrp="1"/>
          </p:cNvSpPr>
          <p:nvPr>
            <p:ph idx="1"/>
          </p:nvPr>
        </p:nvSpPr>
        <p:spPr>
          <a:xfrm>
            <a:off x="457200" y="1219200"/>
            <a:ext cx="8229600" cy="5410200"/>
          </a:xfrm>
        </p:spPr>
        <p:txBody>
          <a:bodyPr>
            <a:normAutofit fontScale="92500" lnSpcReduction="10000"/>
          </a:bodyPr>
          <a:lstStyle/>
          <a:p>
            <a:pPr marL="0" indent="0">
              <a:buNone/>
            </a:pPr>
            <a:r>
              <a:rPr lang="en-US" b="1" dirty="0">
                <a:solidFill>
                  <a:srgbClr val="000000"/>
                </a:solidFill>
                <a:latin typeface="Wingdings-Regular"/>
              </a:rPr>
              <a:t>1. </a:t>
            </a:r>
            <a:r>
              <a:rPr lang="en-US" b="1" dirty="0">
                <a:solidFill>
                  <a:srgbClr val="000000"/>
                </a:solidFill>
                <a:latin typeface="Roboto"/>
              </a:rPr>
              <a:t>Characteristics of user story</a:t>
            </a:r>
          </a:p>
          <a:p>
            <a:r>
              <a:rPr lang="en-US" dirty="0"/>
              <a:t>To build a good user story, we focus on six characteristics. A good story should have characteristics. </a:t>
            </a:r>
          </a:p>
          <a:p>
            <a:r>
              <a:rPr lang="en-US" dirty="0"/>
              <a:t>Bill Wake described six characteristics of a good user story. We entitle his formula as “INVEST”.   </a:t>
            </a:r>
          </a:p>
          <a:p>
            <a:pPr lvl="2"/>
            <a:r>
              <a:rPr lang="en-US" b="1" dirty="0"/>
              <a:t> I)</a:t>
            </a:r>
            <a:r>
              <a:rPr lang="en-US" dirty="0"/>
              <a:t> Independent   </a:t>
            </a:r>
          </a:p>
          <a:p>
            <a:pPr lvl="2"/>
            <a:r>
              <a:rPr lang="en-US" dirty="0"/>
              <a:t> </a:t>
            </a:r>
            <a:r>
              <a:rPr lang="en-US" b="1" dirty="0"/>
              <a:t>N)</a:t>
            </a:r>
            <a:r>
              <a:rPr lang="en-US" dirty="0"/>
              <a:t> Negotiable   </a:t>
            </a:r>
          </a:p>
          <a:p>
            <a:pPr lvl="2"/>
            <a:r>
              <a:rPr lang="en-US" dirty="0"/>
              <a:t> </a:t>
            </a:r>
            <a:r>
              <a:rPr lang="en-US" b="1" dirty="0"/>
              <a:t>V)</a:t>
            </a:r>
            <a:r>
              <a:rPr lang="en-US" dirty="0"/>
              <a:t> Valuable   </a:t>
            </a:r>
          </a:p>
          <a:p>
            <a:pPr lvl="2"/>
            <a:r>
              <a:rPr lang="en-US" dirty="0"/>
              <a:t> </a:t>
            </a:r>
            <a:r>
              <a:rPr lang="en-US" b="1" dirty="0"/>
              <a:t>E) </a:t>
            </a:r>
            <a:r>
              <a:rPr lang="en-US" dirty="0"/>
              <a:t>Estimable   </a:t>
            </a:r>
          </a:p>
          <a:p>
            <a:pPr lvl="2"/>
            <a:r>
              <a:rPr lang="en-US" dirty="0"/>
              <a:t> </a:t>
            </a:r>
            <a:r>
              <a:rPr lang="en-US" b="1" dirty="0"/>
              <a:t>S) </a:t>
            </a:r>
            <a:r>
              <a:rPr lang="en-US" dirty="0"/>
              <a:t>Small   </a:t>
            </a:r>
          </a:p>
          <a:p>
            <a:pPr lvl="2"/>
            <a:r>
              <a:rPr lang="en-US" dirty="0"/>
              <a:t> </a:t>
            </a:r>
            <a:r>
              <a:rPr lang="en-US" b="1" dirty="0"/>
              <a:t>T) </a:t>
            </a:r>
            <a:r>
              <a:rPr lang="en-US" dirty="0"/>
              <a:t>Testable   </a:t>
            </a:r>
          </a:p>
          <a:p>
            <a:endParaRPr lang="en-US" dirty="0"/>
          </a:p>
          <a:p>
            <a:pPr marL="0" indent="0">
              <a:buNone/>
            </a:pPr>
            <a:endParaRPr lang="en-US" dirty="0">
              <a:solidFill>
                <a:srgbClr val="000000"/>
              </a:solidFill>
              <a:latin typeface="Roboto"/>
            </a:endParaRPr>
          </a:p>
          <a:p>
            <a:pPr marL="0" indent="0">
              <a:buNone/>
            </a:pPr>
            <a:endParaRPr lang="en-US" dirty="0"/>
          </a:p>
        </p:txBody>
      </p:sp>
    </p:spTree>
    <p:extLst>
      <p:ext uri="{BB962C8B-B14F-4D97-AF65-F5344CB8AC3E}">
        <p14:creationId xmlns:p14="http://schemas.microsoft.com/office/powerpoint/2010/main" val="419145562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382000" cy="6248400"/>
          </a:xfrm>
        </p:spPr>
        <p:txBody>
          <a:bodyPr>
            <a:normAutofit fontScale="32500" lnSpcReduction="20000"/>
          </a:bodyPr>
          <a:lstStyle/>
          <a:p>
            <a:r>
              <a:rPr lang="en-US" sz="7400" b="1" dirty="0"/>
              <a:t>Independent:</a:t>
            </a:r>
            <a:r>
              <a:rPr lang="en-US" sz="7400" dirty="0"/>
              <a:t> The user story should be independent of all others. Because they are not connected, they can be worked on in any order.</a:t>
            </a:r>
          </a:p>
          <a:p>
            <a:pPr lvl="1">
              <a:buFont typeface="Wingdings" pitchFamily="2" charset="2"/>
              <a:buChar char="Ø"/>
            </a:pPr>
            <a:r>
              <a:rPr lang="en-US" sz="7400" dirty="0"/>
              <a:t>Don’t build in unnecessary or overly complicated contingencies between stories</a:t>
            </a:r>
          </a:p>
          <a:p>
            <a:r>
              <a:rPr lang="en-US" sz="7400" b="1" dirty="0"/>
              <a:t>Negotiable: </a:t>
            </a:r>
            <a:r>
              <a:rPr lang="en-US" sz="7400" dirty="0"/>
              <a:t>A user story should be flexible enough to allow for negotiation between the customer and product owner.</a:t>
            </a:r>
          </a:p>
          <a:p>
            <a:pPr lvl="1">
              <a:buFont typeface="Wingdings" pitchFamily="2" charset="2"/>
              <a:buChar char="Ø"/>
            </a:pPr>
            <a:r>
              <a:rPr lang="en-US" sz="7400" dirty="0"/>
              <a:t>Don’t add too much detail to stories, because they should be works in progress</a:t>
            </a:r>
          </a:p>
          <a:p>
            <a:pPr marL="0" indent="0">
              <a:buNone/>
            </a:pPr>
            <a:endParaRPr lang="en-US" sz="7400" dirty="0"/>
          </a:p>
          <a:p>
            <a:r>
              <a:rPr lang="en-US" sz="7400" b="1" dirty="0"/>
              <a:t>Valuable: </a:t>
            </a:r>
            <a:r>
              <a:rPr lang="en-US" sz="7400" dirty="0"/>
              <a:t>What value does the user story bring? If you cannot find any value, the story should not be completed.</a:t>
            </a:r>
          </a:p>
          <a:p>
            <a:pPr lvl="1">
              <a:buFont typeface="Wingdings" pitchFamily="2" charset="2"/>
              <a:buChar char="Ø"/>
            </a:pPr>
            <a:r>
              <a:rPr lang="en-US" sz="7400" dirty="0"/>
              <a:t>The basic act of writing a story should prove its business value to the user.</a:t>
            </a:r>
          </a:p>
          <a:p>
            <a:pPr lvl="1">
              <a:buFont typeface="Wingdings" pitchFamily="2" charset="2"/>
              <a:buChar char="Ø"/>
            </a:pPr>
            <a:r>
              <a:rPr lang="en-US" sz="7400" dirty="0"/>
              <a:t>User Stories should clearly reflect the values of the user or customers; the best approach is to allow customers to write the story. </a:t>
            </a:r>
          </a:p>
          <a:p>
            <a:pPr marL="457200" lvl="1" indent="0">
              <a:buNone/>
            </a:pPr>
            <a:endParaRPr lang="en-US" dirty="0"/>
          </a:p>
        </p:txBody>
      </p:sp>
    </p:spTree>
    <p:extLst>
      <p:ext uri="{BB962C8B-B14F-4D97-AF65-F5344CB8AC3E}">
        <p14:creationId xmlns:p14="http://schemas.microsoft.com/office/powerpoint/2010/main" val="850969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6400800"/>
          </a:xfrm>
        </p:spPr>
        <p:txBody>
          <a:bodyPr>
            <a:normAutofit fontScale="77500" lnSpcReduction="20000"/>
          </a:bodyPr>
          <a:lstStyle/>
          <a:p>
            <a:r>
              <a:rPr lang="en-US" b="1" dirty="0"/>
              <a:t>Estimable: </a:t>
            </a:r>
            <a:r>
              <a:rPr lang="en-US" dirty="0"/>
              <a:t>You should be able to estimate how long a user story will take so that you can effectively manage your time.</a:t>
            </a:r>
          </a:p>
          <a:p>
            <a:pPr lvl="1">
              <a:buFont typeface="Wingdings" pitchFamily="2" charset="2"/>
              <a:buChar char="Ø"/>
            </a:pPr>
            <a:r>
              <a:rPr lang="en-US" dirty="0"/>
              <a:t>Development team needs to estimate a user story in order to determine priorities, workload scheduling. </a:t>
            </a:r>
          </a:p>
          <a:p>
            <a:pPr lvl="1">
              <a:buFont typeface="Wingdings" pitchFamily="2" charset="2"/>
              <a:buChar char="Ø"/>
            </a:pPr>
            <a:r>
              <a:rPr lang="en-US" dirty="0"/>
              <a:t>Write stories so that developers can break them down into smaller stories and doable(feasible) tasks.</a:t>
            </a:r>
          </a:p>
          <a:p>
            <a:endParaRPr lang="en-US" dirty="0"/>
          </a:p>
          <a:p>
            <a:r>
              <a:rPr lang="en-US" b="1" dirty="0"/>
              <a:t>Small: </a:t>
            </a:r>
            <a:r>
              <a:rPr lang="en-US" dirty="0"/>
              <a:t>The user story must be small enough to be completed within a single sprint.</a:t>
            </a:r>
          </a:p>
          <a:p>
            <a:pPr lvl="1">
              <a:buFont typeface="Wingdings" pitchFamily="2" charset="2"/>
              <a:buChar char="Ø"/>
            </a:pPr>
            <a:r>
              <a:rPr lang="en-US" dirty="0"/>
              <a:t>A good story on the amount of work to be as small as possible, preferably not more than 10 people over the workload / day, at least make sure that in one iteration or Sprint that can be completed.</a:t>
            </a:r>
          </a:p>
          <a:p>
            <a:pPr lvl="1">
              <a:buFont typeface="Wingdings" pitchFamily="2" charset="2"/>
              <a:buChar char="Ø"/>
            </a:pPr>
            <a:endParaRPr lang="en-US" dirty="0"/>
          </a:p>
          <a:p>
            <a:r>
              <a:rPr lang="en-US" b="1" dirty="0"/>
              <a:t>Testable: </a:t>
            </a:r>
            <a:r>
              <a:rPr lang="en-US" dirty="0"/>
              <a:t>You must be able to test your user story in line with quality assurance standards.</a:t>
            </a:r>
          </a:p>
          <a:p>
            <a:pPr lvl="1">
              <a:buFont typeface="Wingdings" pitchFamily="2" charset="2"/>
              <a:buChar char="Ø"/>
            </a:pPr>
            <a:r>
              <a:rPr lang="en-US" dirty="0"/>
              <a:t>The story must be testable. Successfully passed the test developers can prove that correctly implements the story. </a:t>
            </a:r>
          </a:p>
          <a:p>
            <a:pPr marL="0" indent="0">
              <a:buNone/>
            </a:pPr>
            <a:endParaRPr lang="en-US" dirty="0"/>
          </a:p>
          <a:p>
            <a:endParaRPr lang="en-US" dirty="0"/>
          </a:p>
        </p:txBody>
      </p:sp>
    </p:spTree>
    <p:extLst>
      <p:ext uri="{BB962C8B-B14F-4D97-AF65-F5344CB8AC3E}">
        <p14:creationId xmlns:p14="http://schemas.microsoft.com/office/powerpoint/2010/main" val="394769724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Another system, </a:t>
            </a:r>
            <a:r>
              <a:rPr lang="en-US" u="sng" dirty="0">
                <a:hlinkClick r:id="rId2"/>
              </a:rPr>
              <a:t>SMART</a:t>
            </a:r>
            <a:r>
              <a:rPr lang="en-US" dirty="0"/>
              <a:t>, means stories should be:</a:t>
            </a:r>
          </a:p>
        </p:txBody>
      </p:sp>
      <p:sp>
        <p:nvSpPr>
          <p:cNvPr id="3" name="Content Placeholder 2"/>
          <p:cNvSpPr>
            <a:spLocks noGrp="1"/>
          </p:cNvSpPr>
          <p:nvPr>
            <p:ph idx="1"/>
          </p:nvPr>
        </p:nvSpPr>
        <p:spPr>
          <a:xfrm>
            <a:off x="457200" y="1417638"/>
            <a:ext cx="8534400" cy="5287962"/>
          </a:xfrm>
        </p:spPr>
        <p:txBody>
          <a:bodyPr>
            <a:normAutofit fontScale="62500" lnSpcReduction="20000"/>
          </a:bodyPr>
          <a:lstStyle/>
          <a:p>
            <a:r>
              <a:rPr lang="en-US" sz="3800" b="1" dirty="0"/>
              <a:t>Specific</a:t>
            </a:r>
            <a:r>
              <a:rPr lang="en-US" sz="3800" dirty="0"/>
              <a:t> : A task needs to be specific enough so that everyone can understand it.</a:t>
            </a:r>
          </a:p>
          <a:p>
            <a:r>
              <a:rPr lang="en-US" sz="3800" dirty="0"/>
              <a:t> Everyone should easily understand the goals.</a:t>
            </a:r>
          </a:p>
          <a:p>
            <a:r>
              <a:rPr lang="en-US" sz="3800" b="1" dirty="0"/>
              <a:t>Measurable </a:t>
            </a:r>
            <a:r>
              <a:rPr lang="en-US" sz="3800" dirty="0"/>
              <a:t>: The key of measure is, “can we mark it as done?”</a:t>
            </a:r>
          </a:p>
          <a:p>
            <a:r>
              <a:rPr lang="en-US" sz="3800" dirty="0"/>
              <a:t> With objective ways of measuring whether the story is done.</a:t>
            </a:r>
          </a:p>
          <a:p>
            <a:r>
              <a:rPr lang="en-US" sz="3800" b="1" dirty="0"/>
              <a:t>Achievable: </a:t>
            </a:r>
            <a:r>
              <a:rPr lang="en-US" sz="3800" dirty="0"/>
              <a:t>The task owner must be able to achieve task.  </a:t>
            </a:r>
          </a:p>
          <a:p>
            <a:r>
              <a:rPr lang="en-US" sz="3800" dirty="0"/>
              <a:t>Acceptance criteria are agreed-upon in advance.</a:t>
            </a:r>
          </a:p>
          <a:p>
            <a:r>
              <a:rPr lang="en-US" sz="3800" b="1" dirty="0"/>
              <a:t>Realistic/relevant</a:t>
            </a:r>
            <a:r>
              <a:rPr lang="en-US" sz="3800" dirty="0"/>
              <a:t>: Every task must be relevant and story contributing </a:t>
            </a:r>
          </a:p>
          <a:p>
            <a:r>
              <a:rPr lang="en-US" sz="3800" dirty="0"/>
              <a:t>The story can be achieved, given the resources at hand</a:t>
            </a:r>
          </a:p>
          <a:p>
            <a:r>
              <a:rPr lang="en-US" sz="3800" b="1" dirty="0"/>
              <a:t>Time-based/time boxed: </a:t>
            </a:r>
            <a:r>
              <a:rPr lang="en-US" sz="3800" dirty="0"/>
              <a:t>Every task must be relevant and story contributing. </a:t>
            </a:r>
          </a:p>
          <a:p>
            <a:r>
              <a:rPr lang="en-US" sz="3800" dirty="0"/>
              <a:t>There is enough time to build it.</a:t>
            </a:r>
          </a:p>
          <a:p>
            <a:endParaRPr lang="en-US" dirty="0"/>
          </a:p>
        </p:txBody>
      </p:sp>
    </p:spTree>
    <p:extLst>
      <p:ext uri="{BB962C8B-B14F-4D97-AF65-F5344CB8AC3E}">
        <p14:creationId xmlns:p14="http://schemas.microsoft.com/office/powerpoint/2010/main" val="106335968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0000"/>
                </a:solidFill>
                <a:latin typeface="Roboto"/>
              </a:rPr>
              <a:t>2. Benefits of user stories</a:t>
            </a:r>
            <a:br>
              <a:rPr lang="en-US" dirty="0">
                <a:solidFill>
                  <a:srgbClr val="000000"/>
                </a:solidFill>
                <a:latin typeface="Roboto"/>
              </a:rPr>
            </a:br>
            <a:endParaRPr lang="en-US" dirty="0"/>
          </a:p>
        </p:txBody>
      </p:sp>
      <p:sp>
        <p:nvSpPr>
          <p:cNvPr id="3" name="Content Placeholder 2"/>
          <p:cNvSpPr>
            <a:spLocks noGrp="1"/>
          </p:cNvSpPr>
          <p:nvPr>
            <p:ph idx="1"/>
          </p:nvPr>
        </p:nvSpPr>
        <p:spPr/>
        <p:txBody>
          <a:bodyPr>
            <a:normAutofit fontScale="92500"/>
          </a:bodyPr>
          <a:lstStyle/>
          <a:p>
            <a:pPr lvl="0"/>
            <a:r>
              <a:rPr lang="en-US" b="1" dirty="0"/>
              <a:t>User stories serve a number of key benefits:   </a:t>
            </a:r>
          </a:p>
          <a:p>
            <a:pPr marL="0" lvl="0" indent="0" fontAlgn="base">
              <a:buNone/>
            </a:pPr>
            <a:r>
              <a:rPr lang="en-US" b="1" dirty="0"/>
              <a:t>1. Stories keep the focus on the user.</a:t>
            </a:r>
            <a:r>
              <a:rPr lang="en-US" dirty="0"/>
              <a:t> A to-do list keeps the team focused on tasks that need to be checked off, but a collection of stories keeps the team focused on solving problems for real users.   </a:t>
            </a:r>
          </a:p>
          <a:p>
            <a:pPr marL="0" lvl="0" indent="0" fontAlgn="base">
              <a:buNone/>
            </a:pPr>
            <a:r>
              <a:rPr lang="en-US" b="1" dirty="0"/>
              <a:t>2. Stories enable collaboration.</a:t>
            </a:r>
            <a:r>
              <a:rPr lang="en-US" dirty="0"/>
              <a:t> With the end goal defined, the team can work together to decide how best to serve the user and meet that goal.   </a:t>
            </a:r>
          </a:p>
          <a:p>
            <a:pPr marL="0" lvl="0" indent="0" fontAlgn="base">
              <a:buNone/>
            </a:pPr>
            <a:endParaRPr lang="en-US" dirty="0"/>
          </a:p>
        </p:txBody>
      </p:sp>
    </p:spTree>
    <p:extLst>
      <p:ext uri="{BB962C8B-B14F-4D97-AF65-F5344CB8AC3E}">
        <p14:creationId xmlns:p14="http://schemas.microsoft.com/office/powerpoint/2010/main" val="257246460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lvl="0" indent="0" fontAlgn="base">
              <a:buNone/>
            </a:pPr>
            <a:r>
              <a:rPr lang="en-US" b="1" dirty="0"/>
              <a:t>3. Stories drive creative solutions.</a:t>
            </a:r>
            <a:r>
              <a:rPr lang="en-US" dirty="0"/>
              <a:t> Stories encourage the team to think critically and creatively about how to best solve for an end goal.   </a:t>
            </a:r>
          </a:p>
          <a:p>
            <a:pPr marL="0" lvl="0" indent="0" fontAlgn="base">
              <a:buNone/>
            </a:pPr>
            <a:r>
              <a:rPr lang="en-US" b="1" dirty="0"/>
              <a:t>4. Stories create momentum.</a:t>
            </a:r>
            <a:r>
              <a:rPr lang="en-US" dirty="0"/>
              <a:t> With each passing story, the development team enjoys a small challenge and a small win, driving momentum.</a:t>
            </a:r>
          </a:p>
          <a:p>
            <a:pPr fontAlgn="base"/>
            <a:r>
              <a:rPr lang="en-US" dirty="0"/>
              <a:t>Momentum: Momentum is just about </a:t>
            </a:r>
            <a:r>
              <a:rPr lang="en-US" b="1" dirty="0"/>
              <a:t>every activity that involves motion</a:t>
            </a:r>
            <a:r>
              <a:rPr lang="en-US" dirty="0"/>
              <a:t>.</a:t>
            </a:r>
          </a:p>
        </p:txBody>
      </p:sp>
    </p:spTree>
    <p:extLst>
      <p:ext uri="{BB962C8B-B14F-4D97-AF65-F5344CB8AC3E}">
        <p14:creationId xmlns:p14="http://schemas.microsoft.com/office/powerpoint/2010/main" val="165384888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0000"/>
                </a:solidFill>
                <a:latin typeface="Roboto"/>
              </a:rPr>
              <a:t>3. Create user story</a:t>
            </a:r>
            <a:br>
              <a:rPr lang="en-US" b="1" dirty="0">
                <a:solidFill>
                  <a:srgbClr val="000000"/>
                </a:solidFill>
                <a:latin typeface="Roboto"/>
              </a:rPr>
            </a:br>
            <a:endParaRPr lang="en-US" b="1" dirty="0"/>
          </a:p>
        </p:txBody>
      </p:sp>
      <p:sp>
        <p:nvSpPr>
          <p:cNvPr id="3" name="Content Placeholder 2"/>
          <p:cNvSpPr>
            <a:spLocks noGrp="1"/>
          </p:cNvSpPr>
          <p:nvPr>
            <p:ph idx="1"/>
          </p:nvPr>
        </p:nvSpPr>
        <p:spPr/>
        <p:txBody>
          <a:bodyPr>
            <a:normAutofit fontScale="92500" lnSpcReduction="20000"/>
          </a:bodyPr>
          <a:lstStyle/>
          <a:p>
            <a:pPr marL="0" indent="0">
              <a:buNone/>
            </a:pPr>
            <a:endParaRPr lang="en-US" dirty="0">
              <a:solidFill>
                <a:srgbClr val="000000"/>
              </a:solidFill>
              <a:latin typeface="Wingdings-Regular"/>
            </a:endParaRPr>
          </a:p>
          <a:p>
            <a:r>
              <a:rPr lang="en-US" b="1" dirty="0"/>
              <a:t>Five steps for writing user stories</a:t>
            </a:r>
          </a:p>
          <a:p>
            <a:r>
              <a:rPr lang="en-US" dirty="0"/>
              <a:t>Want some practical advice on how to write user stories? Use these five steps as a guide:</a:t>
            </a:r>
          </a:p>
          <a:p>
            <a:r>
              <a:rPr lang="en-US" b="1" dirty="0"/>
              <a:t>Step 1: Outline acceptance criteria</a:t>
            </a:r>
          </a:p>
          <a:p>
            <a:r>
              <a:rPr lang="en-US" dirty="0"/>
              <a:t>The </a:t>
            </a:r>
            <a:r>
              <a:rPr lang="en-US" dirty="0">
                <a:hlinkClick r:id="rId2"/>
              </a:rPr>
              <a:t>definition of done</a:t>
            </a:r>
            <a:r>
              <a:rPr lang="en-US" dirty="0"/>
              <a:t> is the set of criteria that needs to be fulfilled for your user story to be considered complete.</a:t>
            </a:r>
          </a:p>
          <a:p>
            <a:r>
              <a:rPr lang="en-US" dirty="0"/>
              <a:t> Define the specific acceptance criteria for each user story and use it as a checklist.</a:t>
            </a:r>
          </a:p>
          <a:p>
            <a:endParaRPr lang="en-US" dirty="0"/>
          </a:p>
          <a:p>
            <a:endParaRPr lang="en-US" dirty="0"/>
          </a:p>
        </p:txBody>
      </p:sp>
    </p:spTree>
    <p:extLst>
      <p:ext uri="{BB962C8B-B14F-4D97-AF65-F5344CB8AC3E}">
        <p14:creationId xmlns:p14="http://schemas.microsoft.com/office/powerpoint/2010/main" val="320225695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Step 2: Decide on user personas</a:t>
            </a:r>
          </a:p>
        </p:txBody>
      </p:sp>
      <p:sp>
        <p:nvSpPr>
          <p:cNvPr id="3" name="Content Placeholder 2"/>
          <p:cNvSpPr>
            <a:spLocks noGrp="1"/>
          </p:cNvSpPr>
          <p:nvPr>
            <p:ph idx="1"/>
          </p:nvPr>
        </p:nvSpPr>
        <p:spPr/>
        <p:txBody>
          <a:bodyPr>
            <a:normAutofit fontScale="85000" lnSpcReduction="10000"/>
          </a:bodyPr>
          <a:lstStyle/>
          <a:p>
            <a:r>
              <a:rPr lang="en-US" dirty="0"/>
              <a:t>Conduct extensive user research by creating surveys, hosting focus groups, and reading user forums. </a:t>
            </a:r>
          </a:p>
          <a:p>
            <a:r>
              <a:rPr lang="en-US" dirty="0"/>
              <a:t>Analyze your data and search for patterns to identify your key </a:t>
            </a:r>
            <a:r>
              <a:rPr lang="en-US" dirty="0">
                <a:hlinkClick r:id="rId2"/>
              </a:rPr>
              <a:t>personas</a:t>
            </a:r>
            <a:r>
              <a:rPr lang="en-US" dirty="0"/>
              <a:t>.</a:t>
            </a:r>
          </a:p>
          <a:p>
            <a:r>
              <a:rPr lang="en-US" b="1" dirty="0"/>
              <a:t>Step 3: Create tasks</a:t>
            </a:r>
            <a:br>
              <a:rPr lang="en-US" b="1" dirty="0"/>
            </a:br>
            <a:endParaRPr lang="en-US" dirty="0"/>
          </a:p>
          <a:p>
            <a:r>
              <a:rPr lang="en-US" dirty="0"/>
              <a:t>Break your user story down into numerous </a:t>
            </a:r>
            <a:r>
              <a:rPr lang="en-US" dirty="0">
                <a:hlinkClick r:id="rId3"/>
              </a:rPr>
              <a:t>tasks</a:t>
            </a:r>
            <a:r>
              <a:rPr lang="en-US" dirty="0"/>
              <a:t> to make it more manageable. If it is a complex requirement, you can also add subtasks.</a:t>
            </a:r>
          </a:p>
          <a:p>
            <a:r>
              <a:rPr lang="en-US" dirty="0"/>
              <a:t> Include detailed descriptions, so your team is aligned on what each task requires.</a:t>
            </a:r>
          </a:p>
          <a:p>
            <a:endParaRPr lang="en-US" dirty="0"/>
          </a:p>
        </p:txBody>
      </p:sp>
    </p:spTree>
    <p:extLst>
      <p:ext uri="{BB962C8B-B14F-4D97-AF65-F5344CB8AC3E}">
        <p14:creationId xmlns:p14="http://schemas.microsoft.com/office/powerpoint/2010/main" val="61256895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Step 4: Map stories </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Use </a:t>
            </a:r>
            <a:r>
              <a:rPr lang="en-US" dirty="0">
                <a:hlinkClick r:id="rId2"/>
              </a:rPr>
              <a:t>story mapping</a:t>
            </a:r>
            <a:r>
              <a:rPr lang="en-US" dirty="0"/>
              <a:t> to structure work in a large process. </a:t>
            </a:r>
          </a:p>
          <a:p>
            <a:r>
              <a:rPr lang="en-US" dirty="0"/>
              <a:t>In this case, your user stories will take the form of ordered steps.</a:t>
            </a:r>
          </a:p>
          <a:p>
            <a:r>
              <a:rPr lang="en-US" b="1" dirty="0"/>
              <a:t>Step 5: Request feedback</a:t>
            </a:r>
          </a:p>
          <a:p>
            <a:r>
              <a:rPr lang="en-US" dirty="0"/>
              <a:t>Speak to users and potential customers to find out what they want. </a:t>
            </a:r>
          </a:p>
          <a:p>
            <a:r>
              <a:rPr lang="en-US" dirty="0"/>
              <a:t>Ask them for their opinions on existing products or if they have suggestions for new features. Incorporate this feedback into your user story.</a:t>
            </a:r>
            <a:br>
              <a:rPr lang="en-US" dirty="0"/>
            </a:br>
            <a:endParaRPr lang="en-US" b="1" dirty="0"/>
          </a:p>
        </p:txBody>
      </p:sp>
    </p:spTree>
    <p:extLst>
      <p:ext uri="{BB962C8B-B14F-4D97-AF65-F5344CB8AC3E}">
        <p14:creationId xmlns:p14="http://schemas.microsoft.com/office/powerpoint/2010/main" val="19346977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User story examples</a:t>
            </a:r>
            <a:endParaRPr lang="en-US" dirty="0"/>
          </a:p>
        </p:txBody>
      </p:sp>
      <p:sp>
        <p:nvSpPr>
          <p:cNvPr id="3" name="Content Placeholder 2"/>
          <p:cNvSpPr>
            <a:spLocks noGrp="1"/>
          </p:cNvSpPr>
          <p:nvPr>
            <p:ph idx="1"/>
          </p:nvPr>
        </p:nvSpPr>
        <p:spPr/>
        <p:txBody>
          <a:bodyPr>
            <a:normAutofit/>
          </a:bodyPr>
          <a:lstStyle/>
          <a:p>
            <a:r>
              <a:rPr lang="en-US" dirty="0"/>
              <a:t>Most user statements take the form of: “As a [persona], I want to [their goal], so that [the reason for their goal].”</a:t>
            </a:r>
          </a:p>
          <a:p>
            <a:r>
              <a:rPr lang="en-US" dirty="0"/>
              <a:t>In this concise format, they explain:</a:t>
            </a:r>
          </a:p>
          <a:p>
            <a:r>
              <a:rPr lang="en-US" dirty="0"/>
              <a:t>Who the user is</a:t>
            </a:r>
          </a:p>
          <a:p>
            <a:r>
              <a:rPr lang="en-US" dirty="0"/>
              <a:t>What the user is trying to do</a:t>
            </a:r>
          </a:p>
          <a:p>
            <a:r>
              <a:rPr lang="en-US" dirty="0"/>
              <a:t>Why do they want to do it.</a:t>
            </a:r>
          </a:p>
        </p:txBody>
      </p:sp>
    </p:spTree>
    <p:extLst>
      <p:ext uri="{BB962C8B-B14F-4D97-AF65-F5344CB8AC3E}">
        <p14:creationId xmlns:p14="http://schemas.microsoft.com/office/powerpoint/2010/main" val="15705194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User story example  1</a:t>
            </a:r>
            <a:br>
              <a:rPr lang="en-US" b="1" dirty="0"/>
            </a:br>
            <a:endParaRPr lang="en-US" b="1" dirty="0"/>
          </a:p>
        </p:txBody>
      </p:sp>
      <p:sp>
        <p:nvSpPr>
          <p:cNvPr id="3" name="Content Placeholder 2"/>
          <p:cNvSpPr>
            <a:spLocks noGrp="1"/>
          </p:cNvSpPr>
          <p:nvPr>
            <p:ph idx="1"/>
          </p:nvPr>
        </p:nvSpPr>
        <p:spPr/>
        <p:txBody>
          <a:bodyPr>
            <a:normAutofit fontScale="85000" lnSpcReduction="10000"/>
          </a:bodyPr>
          <a:lstStyle/>
          <a:p>
            <a:r>
              <a:rPr lang="en-US" b="1" dirty="0"/>
              <a:t>As a banking customer</a:t>
            </a:r>
            <a:r>
              <a:rPr lang="en-US" dirty="0"/>
              <a:t>, I want to transfer money from one account to another on my phone so I don’t have to do it on a computer.</a:t>
            </a:r>
          </a:p>
          <a:p>
            <a:r>
              <a:rPr lang="en-US" b="1" dirty="0"/>
              <a:t>Who the user is</a:t>
            </a:r>
            <a:r>
              <a:rPr lang="en-US" dirty="0"/>
              <a:t>: A banking customer</a:t>
            </a:r>
          </a:p>
          <a:p>
            <a:r>
              <a:rPr lang="en-US" b="1" dirty="0"/>
              <a:t>What they’re trying to do</a:t>
            </a:r>
            <a:r>
              <a:rPr lang="en-US" dirty="0"/>
              <a:t>: Transfer money between accounts on a mobile app</a:t>
            </a:r>
          </a:p>
          <a:p>
            <a:r>
              <a:rPr lang="en-US" b="1" dirty="0"/>
              <a:t>Why they want to do it:</a:t>
            </a:r>
            <a:r>
              <a:rPr lang="en-US" dirty="0"/>
              <a:t> Make money transfers more easily, especially on the go </a:t>
            </a:r>
          </a:p>
          <a:p>
            <a:r>
              <a:rPr lang="en-US" b="1" dirty="0"/>
              <a:t>Developers now know that</a:t>
            </a:r>
            <a:r>
              <a:rPr lang="en-US" dirty="0"/>
              <a:t>, from a user’s perspective, speed and convenience are important, and a simple mobile interface will be key.</a:t>
            </a:r>
          </a:p>
          <a:p>
            <a:endParaRPr lang="en-US" dirty="0"/>
          </a:p>
        </p:txBody>
      </p:sp>
    </p:spTree>
    <p:extLst>
      <p:ext uri="{BB962C8B-B14F-4D97-AF65-F5344CB8AC3E}">
        <p14:creationId xmlns:p14="http://schemas.microsoft.com/office/powerpoint/2010/main" val="73086428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0000"/>
                </a:solidFill>
                <a:latin typeface="Roboto"/>
              </a:rPr>
              <a:t>Identification of user personas</a:t>
            </a:r>
            <a:endParaRPr lang="en-US" dirty="0"/>
          </a:p>
        </p:txBody>
      </p:sp>
      <p:sp>
        <p:nvSpPr>
          <p:cNvPr id="3" name="Content Placeholder 2"/>
          <p:cNvSpPr>
            <a:spLocks noGrp="1"/>
          </p:cNvSpPr>
          <p:nvPr>
            <p:ph idx="1"/>
          </p:nvPr>
        </p:nvSpPr>
        <p:spPr>
          <a:xfrm>
            <a:off x="457200" y="1219200"/>
            <a:ext cx="8229600" cy="5410200"/>
          </a:xfrm>
        </p:spPr>
        <p:txBody>
          <a:bodyPr>
            <a:normAutofit fontScale="85000" lnSpcReduction="10000"/>
          </a:bodyPr>
          <a:lstStyle/>
          <a:p>
            <a:pPr marL="0" indent="0">
              <a:buNone/>
            </a:pPr>
            <a:r>
              <a:rPr lang="en-US" dirty="0">
                <a:solidFill>
                  <a:srgbClr val="000000"/>
                </a:solidFill>
                <a:latin typeface="Wingdings-Regular"/>
              </a:rPr>
              <a:t>✓ </a:t>
            </a:r>
            <a:r>
              <a:rPr lang="en-US" dirty="0">
                <a:solidFill>
                  <a:srgbClr val="000000"/>
                </a:solidFill>
                <a:latin typeface="Roboto"/>
              </a:rPr>
              <a:t>Importance of user personas</a:t>
            </a:r>
          </a:p>
          <a:p>
            <a:pPr lvl="0"/>
            <a:r>
              <a:rPr lang="en-US" sz="2800" b="1" u="sng" dirty="0">
                <a:hlinkClick r:id="rId2"/>
              </a:rPr>
              <a:t>User personas help designers shape product strategy and accompany during the usability testing sessions. </a:t>
            </a:r>
            <a:endParaRPr lang="en-US" sz="2800" u="sng" dirty="0"/>
          </a:p>
          <a:p>
            <a:pPr lvl="0"/>
            <a:r>
              <a:rPr lang="en-US" sz="2800" b="1" u="sng" dirty="0">
                <a:hlinkClick r:id="rId2"/>
              </a:rPr>
              <a:t>Personas generate empathy; and empathy is essential to the DNA of UX design. </a:t>
            </a:r>
            <a:endParaRPr lang="en-US" sz="2800" u="sng" dirty="0"/>
          </a:p>
          <a:p>
            <a:pPr lvl="0"/>
            <a:r>
              <a:rPr lang="en-US" sz="2800" b="1" u="sng" dirty="0">
                <a:hlinkClick r:id="rId2"/>
              </a:rPr>
              <a:t>Personas allow you to look at a personal representation of your users and come to a better understanding of what your real users’ needs and goals look like in real moments of their lives. </a:t>
            </a:r>
            <a:endParaRPr lang="en-US" sz="2800" b="1" u="sng" dirty="0"/>
          </a:p>
          <a:p>
            <a:pPr lvl="2"/>
            <a:r>
              <a:rPr lang="en-US" sz="3100" b="1" dirty="0">
                <a:hlinkClick r:id="rId2"/>
              </a:rPr>
              <a:t>empathy </a:t>
            </a:r>
            <a:r>
              <a:rPr lang="en-US" sz="3100" b="1" dirty="0"/>
              <a:t>:</a:t>
            </a:r>
            <a:r>
              <a:rPr lang="en-US" sz="3100" dirty="0"/>
              <a:t>the ability to understand and share the feelings of another.</a:t>
            </a:r>
          </a:p>
          <a:p>
            <a:pPr lvl="2"/>
            <a:r>
              <a:rPr lang="en-US" sz="3100" b="1" dirty="0">
                <a:solidFill>
                  <a:schemeClr val="tx2"/>
                </a:solidFill>
              </a:rPr>
              <a:t>Deoxyribonucleic acid (abbreviated DNA) </a:t>
            </a:r>
            <a:r>
              <a:rPr lang="en-US" sz="3100" dirty="0"/>
              <a:t>is the molecule that carries genetic information for the development and functioning of an organism. </a:t>
            </a:r>
          </a:p>
        </p:txBody>
      </p:sp>
      <p:sp>
        <p:nvSpPr>
          <p:cNvPr id="5" name="Rectangle 1"/>
          <p:cNvSpPr>
            <a:spLocks noChangeArrowheads="1"/>
          </p:cNvSpPr>
          <p:nvPr/>
        </p:nvSpPr>
        <p:spPr bwMode="auto">
          <a:xfrm>
            <a:off x="3619500" y="3086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74597006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Characteristics of user personas</a:t>
            </a:r>
          </a:p>
        </p:txBody>
      </p:sp>
      <p:sp>
        <p:nvSpPr>
          <p:cNvPr id="3" name="Content Placeholder 2"/>
          <p:cNvSpPr>
            <a:spLocks noGrp="1"/>
          </p:cNvSpPr>
          <p:nvPr>
            <p:ph idx="1"/>
          </p:nvPr>
        </p:nvSpPr>
        <p:spPr>
          <a:xfrm>
            <a:off x="457200" y="1417638"/>
            <a:ext cx="8229600" cy="5211762"/>
          </a:xfrm>
        </p:spPr>
        <p:txBody>
          <a:bodyPr>
            <a:normAutofit fontScale="62500" lnSpcReduction="20000"/>
          </a:bodyPr>
          <a:lstStyle/>
          <a:p>
            <a:r>
              <a:rPr lang="en-US" sz="4000" b="1" dirty="0"/>
              <a:t>Here are a few characteristics of a good persona: </a:t>
            </a:r>
            <a:r>
              <a:rPr lang="en-US" sz="4000" dirty="0"/>
              <a:t>  </a:t>
            </a:r>
          </a:p>
          <a:p>
            <a:pPr marL="514350" indent="-514350">
              <a:buAutoNum type="arabicPeriod"/>
            </a:pPr>
            <a:r>
              <a:rPr lang="en-US" sz="4000" b="1" dirty="0"/>
              <a:t>Personas aren’t fictional guesses at what a target user thinks. </a:t>
            </a:r>
          </a:p>
          <a:p>
            <a:r>
              <a:rPr lang="en-US" sz="4000" dirty="0"/>
              <a:t>Every aspect of a persona’s description should be tied back to real data (observed and researched).</a:t>
            </a:r>
          </a:p>
          <a:p>
            <a:pPr marL="0" indent="0">
              <a:buNone/>
            </a:pPr>
            <a:r>
              <a:rPr lang="en-US" sz="4000" dirty="0"/>
              <a:t>2. </a:t>
            </a:r>
            <a:r>
              <a:rPr lang="en-US" sz="4000" b="1" dirty="0"/>
              <a:t>Personas reflect real user patterns, not different user roles.</a:t>
            </a:r>
          </a:p>
          <a:p>
            <a:r>
              <a:rPr lang="en-US" sz="4000" b="1" dirty="0"/>
              <a:t> </a:t>
            </a:r>
            <a:r>
              <a:rPr lang="en-US" sz="4000" dirty="0"/>
              <a:t>Personas aren’t a reflection of roles within a system.</a:t>
            </a:r>
          </a:p>
          <a:p>
            <a:pPr marL="0" indent="0">
              <a:buNone/>
            </a:pPr>
            <a:r>
              <a:rPr lang="en-US" sz="4000" dirty="0"/>
              <a:t>3. </a:t>
            </a:r>
            <a:r>
              <a:rPr lang="en-US" sz="4000" b="1" dirty="0"/>
              <a:t>A persona focuses on the current state (how users interact with a product), not the future (how users will interact with a product).</a:t>
            </a:r>
          </a:p>
          <a:p>
            <a:pPr marL="0" indent="0">
              <a:buNone/>
            </a:pPr>
            <a:r>
              <a:rPr lang="en-US" sz="4000" dirty="0"/>
              <a:t>4</a:t>
            </a:r>
            <a:r>
              <a:rPr lang="en-US" sz="4000" b="1" dirty="0"/>
              <a:t>. A persona is context-specific </a:t>
            </a:r>
            <a:r>
              <a:rPr lang="en-US" sz="4000" dirty="0"/>
              <a:t>(it’s focused on the behaviors and goals related to the specific domain of a product).</a:t>
            </a:r>
          </a:p>
          <a:p>
            <a:pPr marL="0" indent="0">
              <a:buNone/>
            </a:pPr>
            <a:endParaRPr lang="en-US" dirty="0"/>
          </a:p>
          <a:p>
            <a:endParaRPr lang="en-US" dirty="0"/>
          </a:p>
        </p:txBody>
      </p:sp>
    </p:spTree>
    <p:extLst>
      <p:ext uri="{BB962C8B-B14F-4D97-AF65-F5344CB8AC3E}">
        <p14:creationId xmlns:p14="http://schemas.microsoft.com/office/powerpoint/2010/main" val="375375920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User personas in design process  </a:t>
            </a:r>
            <a:br>
              <a:rPr lang="en-US" dirty="0"/>
            </a:br>
            <a:endParaRPr lang="en-US" dirty="0"/>
          </a:p>
        </p:txBody>
      </p:sp>
      <p:sp>
        <p:nvSpPr>
          <p:cNvPr id="3" name="Content Placeholder 2"/>
          <p:cNvSpPr>
            <a:spLocks noGrp="1"/>
          </p:cNvSpPr>
          <p:nvPr>
            <p:ph idx="1"/>
          </p:nvPr>
        </p:nvSpPr>
        <p:spPr>
          <a:xfrm>
            <a:off x="457200" y="1066800"/>
            <a:ext cx="8229600" cy="5486400"/>
          </a:xfrm>
        </p:spPr>
        <p:txBody>
          <a:bodyPr>
            <a:normAutofit fontScale="62500" lnSpcReduction="20000"/>
          </a:bodyPr>
          <a:lstStyle/>
          <a:p>
            <a:r>
              <a:rPr lang="en-US" sz="4000" b="1" dirty="0"/>
              <a:t>How do user personas help the design process?   </a:t>
            </a:r>
          </a:p>
          <a:p>
            <a:r>
              <a:rPr lang="en-US" sz="4000" dirty="0"/>
              <a:t>User personas can be used in lots of ways across different departments in an organization. There are 3 key reasons to use them though that provide value.   </a:t>
            </a:r>
          </a:p>
          <a:p>
            <a:r>
              <a:rPr lang="en-US" sz="4000" dirty="0"/>
              <a:t> </a:t>
            </a:r>
            <a:r>
              <a:rPr lang="en-US" sz="4000" b="1" dirty="0"/>
              <a:t>Firstly,</a:t>
            </a:r>
            <a:r>
              <a:rPr lang="en-US" sz="4000" dirty="0"/>
              <a:t> the original reason personas were developed is </a:t>
            </a:r>
            <a:r>
              <a:rPr lang="en-US" sz="4000" b="1" dirty="0"/>
              <a:t>to give us a point of reference for who we’re designing for. </a:t>
            </a:r>
          </a:p>
          <a:p>
            <a:r>
              <a:rPr lang="en-US" sz="4000" dirty="0"/>
              <a:t>If you don’t understand your users when designing a website, the work you do is really just guesswork (albeit based on experience and expertise) but how can you be sure you are meeting the user’s actual needs? </a:t>
            </a:r>
          </a:p>
          <a:p>
            <a:r>
              <a:rPr lang="en-US" sz="4000" dirty="0"/>
              <a:t>If your personas are accurate, you can make informed decisions about what users are trying to do, what features you need to include and the priority of information they are looking for, which in turn helps you plan content architecture.   </a:t>
            </a:r>
          </a:p>
        </p:txBody>
      </p:sp>
    </p:spTree>
    <p:extLst>
      <p:ext uri="{BB962C8B-B14F-4D97-AF65-F5344CB8AC3E}">
        <p14:creationId xmlns:p14="http://schemas.microsoft.com/office/powerpoint/2010/main" val="161221506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32500" lnSpcReduction="20000"/>
          </a:bodyPr>
          <a:lstStyle/>
          <a:p>
            <a:r>
              <a:rPr lang="en-US" sz="7400" b="1" dirty="0"/>
              <a:t>Secondly</a:t>
            </a:r>
            <a:r>
              <a:rPr lang="en-US" sz="7400" dirty="0"/>
              <a:t>, it gives project stakeholders something tangible to consider. </a:t>
            </a:r>
          </a:p>
          <a:p>
            <a:r>
              <a:rPr lang="en-US" sz="7400" dirty="0"/>
              <a:t>When working with an organization that has a middle management structure, it can sometimes be difficult to sell the value of UX Design, especially when dealing with non-creative people.   </a:t>
            </a:r>
          </a:p>
          <a:p>
            <a:r>
              <a:rPr lang="en-US" sz="7400" dirty="0"/>
              <a:t> </a:t>
            </a:r>
            <a:r>
              <a:rPr lang="en-US" sz="7400" b="1" dirty="0"/>
              <a:t>Lastly</a:t>
            </a:r>
            <a:r>
              <a:rPr lang="en-US" sz="7400" dirty="0"/>
              <a:t>, it gives us something to test against. </a:t>
            </a:r>
          </a:p>
          <a:p>
            <a:r>
              <a:rPr lang="en-US" sz="7400" dirty="0"/>
              <a:t>A user persona is really only useful if you use it to define outcomes. And a defined outcome can only provide value if you later come back to it and review your goals. </a:t>
            </a:r>
          </a:p>
          <a:p>
            <a:r>
              <a:rPr lang="en-US" sz="7400" dirty="0"/>
              <a:t>When a project is completed, in order to review its success, you need to look at whether you have improved things for the user. Your user persona is therefore a great artifact for this.</a:t>
            </a:r>
            <a:endParaRPr lang="en-US" sz="7400" dirty="0">
              <a:solidFill>
                <a:srgbClr val="000000"/>
              </a:solidFill>
              <a:latin typeface="Roboto"/>
            </a:endParaRPr>
          </a:p>
          <a:p>
            <a:pPr marL="0" indent="0">
              <a:buNone/>
            </a:pPr>
            <a:endParaRPr lang="en-US" dirty="0">
              <a:solidFill>
                <a:srgbClr val="000000"/>
              </a:solidFill>
              <a:latin typeface="Roboto"/>
            </a:endParaRPr>
          </a:p>
          <a:p>
            <a:endParaRPr lang="en-US" dirty="0"/>
          </a:p>
          <a:p>
            <a:endParaRPr lang="en-US" dirty="0"/>
          </a:p>
        </p:txBody>
      </p:sp>
    </p:spTree>
    <p:extLst>
      <p:ext uri="{BB962C8B-B14F-4D97-AF65-F5344CB8AC3E}">
        <p14:creationId xmlns:p14="http://schemas.microsoft.com/office/powerpoint/2010/main" val="376731110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Creating user personas in design process</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The research that goes into forming user personas usually happens early in the design process. </a:t>
            </a:r>
          </a:p>
          <a:p>
            <a:r>
              <a:rPr lang="en-US" dirty="0"/>
              <a:t>In the </a:t>
            </a:r>
            <a:r>
              <a:rPr lang="en-US" dirty="0">
                <a:hlinkClick r:id="rId2"/>
              </a:rPr>
              <a:t>Design Thinking</a:t>
            </a:r>
            <a:r>
              <a:rPr lang="en-US" dirty="0"/>
              <a:t> process, designers often start creating personas during the second phase, the Define phase. </a:t>
            </a:r>
          </a:p>
          <a:p>
            <a:r>
              <a:rPr lang="en-US" dirty="0"/>
              <a:t>Like most design elements, personas can be developed iteratively. </a:t>
            </a:r>
          </a:p>
          <a:p>
            <a:r>
              <a:rPr lang="en-US" dirty="0"/>
              <a:t>Personas will be used during all later phases of a design process to inform design decisions made by the team.</a:t>
            </a:r>
          </a:p>
        </p:txBody>
      </p:sp>
    </p:spTree>
    <p:extLst>
      <p:ext uri="{BB962C8B-B14F-4D97-AF65-F5344CB8AC3E}">
        <p14:creationId xmlns:p14="http://schemas.microsoft.com/office/powerpoint/2010/main" val="170368355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00"/>
                </a:solidFill>
                <a:latin typeface="Roboto"/>
              </a:rPr>
              <a:t>User personas in design process</a:t>
            </a:r>
            <a:br>
              <a:rPr lang="en-US" dirty="0">
                <a:solidFill>
                  <a:srgbClr val="000000"/>
                </a:solidFill>
                <a:latin typeface="Roboto"/>
              </a:rPr>
            </a:br>
            <a:endParaRPr lang="en-US" dirty="0"/>
          </a:p>
        </p:txBody>
      </p:sp>
      <p:sp>
        <p:nvSpPr>
          <p:cNvPr id="3" name="Content Placeholder 2"/>
          <p:cNvSpPr>
            <a:spLocks noGrp="1"/>
          </p:cNvSpPr>
          <p:nvPr>
            <p:ph idx="1"/>
          </p:nvPr>
        </p:nvSpPr>
        <p:spPr/>
        <p:txBody>
          <a:bodyPr>
            <a:normAutofit/>
          </a:bodyPr>
          <a:lstStyle/>
          <a:p>
            <a:pPr marL="0" indent="0">
              <a:buNone/>
            </a:pPr>
            <a:r>
              <a:rPr lang="en-US" dirty="0">
                <a:solidFill>
                  <a:srgbClr val="000000"/>
                </a:solidFill>
                <a:latin typeface="Wingdings-Regular"/>
              </a:rPr>
              <a:t>✓ </a:t>
            </a:r>
            <a:r>
              <a:rPr lang="en-US" dirty="0"/>
              <a:t>The design-thinking framework follows an overall flow of </a:t>
            </a:r>
          </a:p>
          <a:p>
            <a:pPr marL="514350" indent="-514350">
              <a:buAutoNum type="arabicParenR"/>
            </a:pPr>
            <a:r>
              <a:rPr lang="en-US" dirty="0"/>
              <a:t>understand,</a:t>
            </a:r>
          </a:p>
          <a:p>
            <a:pPr marL="514350" indent="-514350">
              <a:buAutoNum type="arabicParenR"/>
            </a:pPr>
            <a:r>
              <a:rPr lang="en-US" dirty="0"/>
              <a:t> explore, and </a:t>
            </a:r>
          </a:p>
          <a:p>
            <a:pPr marL="514350" indent="-514350">
              <a:buAutoNum type="arabicParenR"/>
            </a:pPr>
            <a:r>
              <a:rPr lang="en-US" dirty="0"/>
              <a:t> materialize. </a:t>
            </a:r>
          </a:p>
          <a:p>
            <a:r>
              <a:rPr lang="en-US" dirty="0"/>
              <a:t>Within these larger buckets fall the 6 phases: empathize, define, ideate, prototype, test, and implement.</a:t>
            </a:r>
            <a:endParaRPr lang="en-US" dirty="0">
              <a:solidFill>
                <a:srgbClr val="000000"/>
              </a:solidFill>
              <a:latin typeface="Roboto"/>
            </a:endParaRPr>
          </a:p>
        </p:txBody>
      </p:sp>
    </p:spTree>
    <p:extLst>
      <p:ext uri="{BB962C8B-B14F-4D97-AF65-F5344CB8AC3E}">
        <p14:creationId xmlns:p14="http://schemas.microsoft.com/office/powerpoint/2010/main" val="330314705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457200" lvl="1" indent="0"/>
            <a:r>
              <a:rPr lang="en-US" sz="3300" b="1" dirty="0">
                <a:solidFill>
                  <a:srgbClr val="000000"/>
                </a:solidFill>
                <a:latin typeface="Roboto"/>
              </a:rPr>
              <a:t>1. Understand (Empathize, Define)</a:t>
            </a:r>
          </a:p>
        </p:txBody>
      </p:sp>
      <p:sp>
        <p:nvSpPr>
          <p:cNvPr id="3" name="Content Placeholder 2"/>
          <p:cNvSpPr>
            <a:spLocks noGrp="1"/>
          </p:cNvSpPr>
          <p:nvPr>
            <p:ph idx="1"/>
          </p:nvPr>
        </p:nvSpPr>
        <p:spPr/>
        <p:txBody>
          <a:bodyPr/>
          <a:lstStyle/>
          <a:p>
            <a:pPr lvl="1"/>
            <a:r>
              <a:rPr lang="en-US" b="1" dirty="0"/>
              <a:t>Empathize</a:t>
            </a:r>
            <a:r>
              <a:rPr lang="en-US" dirty="0"/>
              <a:t>: Conduct research in order to develop knowledge about what your users </a:t>
            </a:r>
            <a:r>
              <a:rPr lang="en-US" u="sng" dirty="0">
                <a:hlinkClick r:id="rId2"/>
              </a:rPr>
              <a:t>do, say, think, and feel</a:t>
            </a:r>
            <a:r>
              <a:rPr lang="en-US" dirty="0"/>
              <a:t>.</a:t>
            </a:r>
          </a:p>
          <a:p>
            <a:pPr lvl="1"/>
            <a:r>
              <a:rPr lang="en-US" b="1" dirty="0"/>
              <a:t>Define</a:t>
            </a:r>
            <a:r>
              <a:rPr lang="en-US" dirty="0"/>
              <a:t>: Combine all your research and observe where your users’ problems exist. In pinpointing your users’ needs, begin to highlight opportunities for innovation.</a:t>
            </a:r>
          </a:p>
        </p:txBody>
      </p:sp>
    </p:spTree>
    <p:extLst>
      <p:ext uri="{BB962C8B-B14F-4D97-AF65-F5344CB8AC3E}">
        <p14:creationId xmlns:p14="http://schemas.microsoft.com/office/powerpoint/2010/main" val="16661095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400050" lvl="2" indent="0"/>
            <a:r>
              <a:rPr lang="en-US" sz="3300" b="1" dirty="0">
                <a:solidFill>
                  <a:srgbClr val="000000"/>
                </a:solidFill>
                <a:latin typeface="Roboto"/>
              </a:rPr>
              <a:t>2. Explore (Ideate, Prototype)</a:t>
            </a:r>
            <a:endParaRPr lang="en-US" sz="3300" b="1" dirty="0"/>
          </a:p>
        </p:txBody>
      </p:sp>
      <p:sp>
        <p:nvSpPr>
          <p:cNvPr id="3" name="Content Placeholder 2"/>
          <p:cNvSpPr>
            <a:spLocks noGrp="1"/>
          </p:cNvSpPr>
          <p:nvPr>
            <p:ph idx="1"/>
          </p:nvPr>
        </p:nvSpPr>
        <p:spPr/>
        <p:txBody>
          <a:bodyPr>
            <a:normAutofit fontScale="92500" lnSpcReduction="10000"/>
          </a:bodyPr>
          <a:lstStyle/>
          <a:p>
            <a:r>
              <a:rPr lang="en-US" b="1" dirty="0"/>
              <a:t>Ideate</a:t>
            </a:r>
            <a:r>
              <a:rPr lang="en-US" dirty="0"/>
              <a:t>: Brainstorm a range of crazy, creative ideas that address the unmet user needs identified in the define phase. </a:t>
            </a:r>
          </a:p>
          <a:p>
            <a:r>
              <a:rPr lang="en-US" dirty="0"/>
              <a:t>Give yourself and your team total freedom; no idea is too farfetched and quantity supersedes quality.</a:t>
            </a:r>
          </a:p>
          <a:p>
            <a:r>
              <a:rPr lang="en-US" dirty="0"/>
              <a:t>At this phase, bring your team members together and sketch out many different ideas. </a:t>
            </a:r>
          </a:p>
          <a:p>
            <a:r>
              <a:rPr lang="en-US" dirty="0"/>
              <a:t>Then, have them share ideas with one another, mixing and remixing, building on others' ideas.</a:t>
            </a:r>
          </a:p>
          <a:p>
            <a:endParaRPr lang="en-US" dirty="0"/>
          </a:p>
        </p:txBody>
      </p:sp>
    </p:spTree>
    <p:extLst>
      <p:ext uri="{BB962C8B-B14F-4D97-AF65-F5344CB8AC3E}">
        <p14:creationId xmlns:p14="http://schemas.microsoft.com/office/powerpoint/2010/main" val="259923796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a:t>Prototype</a:t>
            </a:r>
            <a:r>
              <a:rPr lang="en-US" dirty="0"/>
              <a:t>: Build real, tactile representations for a subset of your ideas. </a:t>
            </a:r>
          </a:p>
          <a:p>
            <a:r>
              <a:rPr lang="en-US" dirty="0"/>
              <a:t>The goal of this phase is to understand what components of your ideas work, and which do not.</a:t>
            </a:r>
          </a:p>
          <a:p>
            <a:r>
              <a:rPr lang="en-US" dirty="0"/>
              <a:t> In this phase you begin to weigh the impact vs. feasibility of your ideas through feedback on your prototypes.</a:t>
            </a:r>
          </a:p>
          <a:p>
            <a:pPr marL="0" indent="0">
              <a:buNone/>
            </a:pPr>
            <a:endParaRPr lang="en-US" dirty="0"/>
          </a:p>
        </p:txBody>
      </p:sp>
    </p:spTree>
    <p:extLst>
      <p:ext uri="{BB962C8B-B14F-4D97-AF65-F5344CB8AC3E}">
        <p14:creationId xmlns:p14="http://schemas.microsoft.com/office/powerpoint/2010/main" val="177782684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lvl="1" indent="0"/>
            <a:r>
              <a:rPr lang="en-US" sz="2800" b="1" dirty="0">
                <a:solidFill>
                  <a:srgbClr val="000000"/>
                </a:solidFill>
                <a:latin typeface="Roboto"/>
              </a:rPr>
              <a:t>3. Materialize (Test, Implement)</a:t>
            </a:r>
            <a:endParaRPr lang="en-US" sz="2800" b="1" dirty="0"/>
          </a:p>
        </p:txBody>
      </p:sp>
      <p:sp>
        <p:nvSpPr>
          <p:cNvPr id="3" name="Content Placeholder 2"/>
          <p:cNvSpPr>
            <a:spLocks noGrp="1"/>
          </p:cNvSpPr>
          <p:nvPr>
            <p:ph idx="1"/>
          </p:nvPr>
        </p:nvSpPr>
        <p:spPr/>
        <p:txBody>
          <a:bodyPr/>
          <a:lstStyle/>
          <a:p>
            <a:r>
              <a:rPr lang="en-US" b="1" dirty="0"/>
              <a:t>Test</a:t>
            </a:r>
            <a:r>
              <a:rPr lang="en-US" dirty="0"/>
              <a:t>: Return to your users for feedback. Ask yourself ‘Does this solution meet users’ needs?’ and ‘Has it improved how they feel, think, or do their tasks?’</a:t>
            </a:r>
          </a:p>
          <a:p>
            <a:r>
              <a:rPr lang="en-US" b="1" dirty="0"/>
              <a:t>Implement</a:t>
            </a:r>
            <a:r>
              <a:rPr lang="en-US" dirty="0"/>
              <a:t>: Put the vision into effect. Ensure that your solution is materialized and touches the lives of your end users.</a:t>
            </a:r>
            <a:endParaRPr lang="en-US" dirty="0">
              <a:solidFill>
                <a:srgbClr val="000000"/>
              </a:solidFill>
              <a:latin typeface="Roboto"/>
            </a:endParaRPr>
          </a:p>
          <a:p>
            <a:endParaRPr lang="en-US" dirty="0"/>
          </a:p>
        </p:txBody>
      </p:sp>
    </p:spTree>
    <p:extLst>
      <p:ext uri="{BB962C8B-B14F-4D97-AF65-F5344CB8AC3E}">
        <p14:creationId xmlns:p14="http://schemas.microsoft.com/office/powerpoint/2010/main" val="138245857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093" y="562708"/>
            <a:ext cx="8806507" cy="5533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133600" y="262431"/>
            <a:ext cx="5715000" cy="461665"/>
          </a:xfrm>
          <a:prstGeom prst="rect">
            <a:avLst/>
          </a:prstGeom>
        </p:spPr>
        <p:txBody>
          <a:bodyPr wrap="square">
            <a:spAutoFit/>
          </a:bodyPr>
          <a:lstStyle/>
          <a:p>
            <a:r>
              <a:rPr lang="en-US" dirty="0">
                <a:solidFill>
                  <a:srgbClr val="000000"/>
                </a:solidFill>
                <a:latin typeface="Wingdings-Regular"/>
              </a:rPr>
              <a:t> </a:t>
            </a:r>
            <a:r>
              <a:rPr lang="en-US" sz="2400" b="1" dirty="0">
                <a:solidFill>
                  <a:srgbClr val="000000"/>
                </a:solidFill>
                <a:latin typeface="Roboto"/>
              </a:rPr>
              <a:t>Steps of creating user personas</a:t>
            </a:r>
            <a:endParaRPr lang="en-US" b="1" dirty="0"/>
          </a:p>
        </p:txBody>
      </p:sp>
    </p:spTree>
    <p:extLst>
      <p:ext uri="{BB962C8B-B14F-4D97-AF65-F5344CB8AC3E}">
        <p14:creationId xmlns:p14="http://schemas.microsoft.com/office/powerpoint/2010/main" val="206421244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0"/>
            <a:ext cx="7391401" cy="6850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475129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00"/>
                </a:solidFill>
                <a:latin typeface="Roboto"/>
              </a:rPr>
              <a:t>Creation of user journey</a:t>
            </a:r>
            <a:endParaRPr lang="en-US" dirty="0"/>
          </a:p>
        </p:txBody>
      </p:sp>
      <p:sp>
        <p:nvSpPr>
          <p:cNvPr id="3" name="Content Placeholder 2"/>
          <p:cNvSpPr>
            <a:spLocks noGrp="1"/>
          </p:cNvSpPr>
          <p:nvPr>
            <p:ph idx="1"/>
          </p:nvPr>
        </p:nvSpPr>
        <p:spPr>
          <a:xfrm>
            <a:off x="762000" y="1417638"/>
            <a:ext cx="7924800" cy="5211762"/>
          </a:xfrm>
        </p:spPr>
        <p:txBody>
          <a:bodyPr>
            <a:normAutofit fontScale="70000" lnSpcReduction="20000"/>
          </a:bodyPr>
          <a:lstStyle/>
          <a:p>
            <a:pPr marL="0" indent="0">
              <a:buNone/>
            </a:pPr>
            <a:endParaRPr lang="en-US" dirty="0">
              <a:solidFill>
                <a:srgbClr val="000000"/>
              </a:solidFill>
              <a:latin typeface="Wingdings-Regular"/>
            </a:endParaRPr>
          </a:p>
          <a:p>
            <a:pPr marL="0" indent="0">
              <a:buNone/>
            </a:pPr>
            <a:r>
              <a:rPr lang="en-US" sz="3400" b="1" dirty="0">
                <a:solidFill>
                  <a:srgbClr val="000000"/>
                </a:solidFill>
                <a:latin typeface="Roboto"/>
              </a:rPr>
              <a:t>Types of user journey map</a:t>
            </a:r>
          </a:p>
          <a:p>
            <a:r>
              <a:rPr lang="en-US" sz="3400" dirty="0"/>
              <a:t>A user journey map gives a visual representation of a customer’s experience. </a:t>
            </a:r>
          </a:p>
          <a:p>
            <a:r>
              <a:rPr lang="en-US" sz="3400" dirty="0"/>
              <a:t>This visualization might cover a customer’s entire relationship with a brand or focus on a select experience they might have while interacting with an app or website.   </a:t>
            </a:r>
            <a:endParaRPr lang="en-US" sz="3400" dirty="0">
              <a:solidFill>
                <a:srgbClr val="000000"/>
              </a:solidFill>
              <a:latin typeface="Roboto"/>
            </a:endParaRPr>
          </a:p>
          <a:p>
            <a:pPr marL="0" indent="0">
              <a:buNone/>
            </a:pPr>
            <a:r>
              <a:rPr lang="en-US" sz="3400" b="1" dirty="0">
                <a:solidFill>
                  <a:srgbClr val="000000"/>
                </a:solidFill>
                <a:latin typeface="Roboto"/>
              </a:rPr>
              <a:t>1. UX journey map: </a:t>
            </a:r>
            <a:endParaRPr lang="en-US" sz="3400" dirty="0"/>
          </a:p>
          <a:p>
            <a:r>
              <a:rPr lang="en-US" sz="3400" dirty="0"/>
              <a:t>Journey Maps are a UX visualization document that showcases the steps that a user takes in a process to accomplish a goal. </a:t>
            </a:r>
          </a:p>
          <a:p>
            <a:r>
              <a:rPr lang="en-US" sz="3400" dirty="0"/>
              <a:t>Personas are created with information gathered from user and stakeholder interviews. </a:t>
            </a:r>
          </a:p>
          <a:p>
            <a:r>
              <a:rPr lang="en-US" sz="3400" dirty="0"/>
              <a:t>As a result of these activities, you can identify the most important functionality an audience needs.</a:t>
            </a:r>
          </a:p>
          <a:p>
            <a:pPr marL="457200" lvl="1" indent="0">
              <a:buNone/>
            </a:pPr>
            <a:endParaRPr lang="en-US" dirty="0">
              <a:solidFill>
                <a:srgbClr val="000000"/>
              </a:solidFill>
              <a:latin typeface="Roboto"/>
            </a:endParaRPr>
          </a:p>
        </p:txBody>
      </p:sp>
    </p:spTree>
    <p:extLst>
      <p:ext uri="{BB962C8B-B14F-4D97-AF65-F5344CB8AC3E}">
        <p14:creationId xmlns:p14="http://schemas.microsoft.com/office/powerpoint/2010/main" val="403608312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fontScale="77500" lnSpcReduction="20000"/>
          </a:bodyPr>
          <a:lstStyle/>
          <a:p>
            <a:pPr marL="0" indent="0">
              <a:buNone/>
            </a:pPr>
            <a:r>
              <a:rPr lang="en-US" b="1" dirty="0">
                <a:solidFill>
                  <a:srgbClr val="000000"/>
                </a:solidFill>
                <a:latin typeface="Roboto"/>
              </a:rPr>
              <a:t>2. Sales journey map: </a:t>
            </a:r>
            <a:r>
              <a:rPr lang="en-US" dirty="0"/>
              <a:t>A journey map </a:t>
            </a:r>
            <a:r>
              <a:rPr lang="en-US" b="1" dirty="0"/>
              <a:t>lays out all touch points that your customer may have with your brand</a:t>
            </a:r>
            <a:r>
              <a:rPr lang="en-US" dirty="0"/>
              <a:t> – from how they first heard of you through social media or brand advertising, to their direct interactions with your product, website, or support team – and includes all of the actions your customer takes to complete an objective across ...</a:t>
            </a:r>
          </a:p>
          <a:p>
            <a:pPr marL="0" indent="0">
              <a:buNone/>
            </a:pPr>
            <a:r>
              <a:rPr lang="en-US" b="1" dirty="0">
                <a:solidFill>
                  <a:srgbClr val="000000"/>
                </a:solidFill>
                <a:latin typeface="Roboto"/>
              </a:rPr>
              <a:t>3. Customer experience journey map:</a:t>
            </a:r>
          </a:p>
          <a:p>
            <a:pPr fontAlgn="base"/>
            <a:r>
              <a:rPr lang="en-US" dirty="0"/>
              <a:t>A </a:t>
            </a:r>
            <a:r>
              <a:rPr lang="en-US" b="1" dirty="0"/>
              <a:t>customer journey map</a:t>
            </a:r>
            <a:r>
              <a:rPr lang="en-US" dirty="0"/>
              <a:t> is a visual storyline of every engagement a customer has with a service, brand, or product. </a:t>
            </a:r>
          </a:p>
          <a:p>
            <a:pPr fontAlgn="base"/>
            <a:r>
              <a:rPr lang="en-US" dirty="0"/>
              <a:t>The creation of a journey map puts the organization directly in the mind of the consumer, so they can see and understand their customer’s processes, needs, and perceptions.</a:t>
            </a:r>
          </a:p>
          <a:p>
            <a:pPr fontAlgn="base"/>
            <a:r>
              <a:rPr lang="en-US" dirty="0"/>
              <a:t>OR</a:t>
            </a:r>
          </a:p>
        </p:txBody>
      </p:sp>
    </p:spTree>
    <p:extLst>
      <p:ext uri="{BB962C8B-B14F-4D97-AF65-F5344CB8AC3E}">
        <p14:creationId xmlns:p14="http://schemas.microsoft.com/office/powerpoint/2010/main" val="323110727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fontAlgn="base"/>
            <a:r>
              <a:rPr lang="en-US" dirty="0"/>
              <a:t>A customer journey map is a diagram (or several diagrams) that depict </a:t>
            </a:r>
            <a:r>
              <a:rPr lang="en-US" u="sng" dirty="0">
                <a:hlinkClick r:id="rId2"/>
              </a:rPr>
              <a:t>the stages customers go through</a:t>
            </a:r>
            <a:r>
              <a:rPr lang="en-US" dirty="0"/>
              <a:t> when interacting with a company, from buying products online to accessing customer service on the phone to airing grievances on </a:t>
            </a:r>
            <a:r>
              <a:rPr lang="en-US" u="sng" dirty="0">
                <a:hlinkClick r:id="rId3"/>
              </a:rPr>
              <a:t>social media</a:t>
            </a:r>
            <a:r>
              <a:rPr lang="en-US" dirty="0"/>
              <a:t>.</a:t>
            </a:r>
            <a:br>
              <a:rPr lang="en-US" dirty="0"/>
            </a:br>
            <a:r>
              <a:rPr lang="en-US" dirty="0"/>
              <a:t>         Depict:</a:t>
            </a:r>
            <a:r>
              <a:rPr lang="en-US" b="1" dirty="0"/>
              <a:t> illustrate, represent, characterize, detail,…</a:t>
            </a:r>
          </a:p>
          <a:p>
            <a:pPr lvl="2" fontAlgn="base"/>
            <a:r>
              <a:rPr lang="en-US" b="1" dirty="0">
                <a:solidFill>
                  <a:srgbClr val="000000"/>
                </a:solidFill>
                <a:latin typeface="Roboto"/>
              </a:rPr>
              <a:t> Airing: </a:t>
            </a:r>
            <a:r>
              <a:rPr lang="en-US" dirty="0">
                <a:solidFill>
                  <a:srgbClr val="000000"/>
                </a:solidFill>
                <a:latin typeface="Roboto"/>
              </a:rPr>
              <a:t>transmission</a:t>
            </a:r>
          </a:p>
          <a:p>
            <a:pPr lvl="2" fontAlgn="base"/>
            <a:r>
              <a:rPr lang="en-US" b="1" dirty="0">
                <a:solidFill>
                  <a:srgbClr val="000000"/>
                </a:solidFill>
                <a:latin typeface="Roboto"/>
              </a:rPr>
              <a:t>Grievances: </a:t>
            </a:r>
            <a:r>
              <a:rPr lang="en-US" dirty="0">
                <a:solidFill>
                  <a:srgbClr val="000000"/>
                </a:solidFill>
                <a:latin typeface="Roboto"/>
              </a:rPr>
              <a:t>injustice, wrong, complaint, criticism, objection, disservice</a:t>
            </a:r>
          </a:p>
        </p:txBody>
      </p:sp>
    </p:spTree>
    <p:extLst>
      <p:ext uri="{BB962C8B-B14F-4D97-AF65-F5344CB8AC3E}">
        <p14:creationId xmlns:p14="http://schemas.microsoft.com/office/powerpoint/2010/main" val="368964459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0000"/>
                </a:solidFill>
                <a:latin typeface="Roboto"/>
              </a:rPr>
              <a:t>Elements of a user journey map</a:t>
            </a:r>
            <a:br>
              <a:rPr lang="en-US" b="1" dirty="0">
                <a:solidFill>
                  <a:srgbClr val="000000"/>
                </a:solidFill>
                <a:latin typeface="Roboto"/>
              </a:rPr>
            </a:br>
            <a:endParaRPr lang="en-US" b="1" dirty="0"/>
          </a:p>
        </p:txBody>
      </p:sp>
      <p:sp>
        <p:nvSpPr>
          <p:cNvPr id="3" name="Content Placeholder 2"/>
          <p:cNvSpPr>
            <a:spLocks noGrp="1"/>
          </p:cNvSpPr>
          <p:nvPr>
            <p:ph idx="1"/>
          </p:nvPr>
        </p:nvSpPr>
        <p:spPr/>
        <p:txBody>
          <a:bodyPr>
            <a:normAutofit fontScale="92500" lnSpcReduction="10000"/>
          </a:bodyPr>
          <a:lstStyle/>
          <a:p>
            <a:pPr marL="457200" lvl="1" indent="0">
              <a:buNone/>
            </a:pPr>
            <a:r>
              <a:rPr lang="en-US" b="1" dirty="0">
                <a:solidFill>
                  <a:srgbClr val="000000"/>
                </a:solidFill>
                <a:latin typeface="Roboto"/>
              </a:rPr>
              <a:t>1. Persona</a:t>
            </a:r>
            <a:r>
              <a:rPr lang="en-US" dirty="0">
                <a:solidFill>
                  <a:srgbClr val="000000"/>
                </a:solidFill>
                <a:latin typeface="Roboto"/>
              </a:rPr>
              <a:t>: </a:t>
            </a:r>
            <a:r>
              <a:rPr lang="en-US" dirty="0"/>
              <a:t>What segment of users are you trying to understand (current or target)?  </a:t>
            </a:r>
            <a:r>
              <a:rPr lang="en-US" b="1" dirty="0"/>
              <a:t>Scenario</a:t>
            </a:r>
            <a:r>
              <a:rPr lang="en-US" dirty="0"/>
              <a:t>: What interaction are you trying to map out (real or anticipated)?   </a:t>
            </a:r>
          </a:p>
          <a:p>
            <a:pPr lvl="1">
              <a:buFont typeface="Wingdings" pitchFamily="2" charset="2"/>
              <a:buChar char="q"/>
            </a:pPr>
            <a:endParaRPr lang="en-US" dirty="0">
              <a:solidFill>
                <a:srgbClr val="000000"/>
              </a:solidFill>
              <a:latin typeface="Roboto"/>
            </a:endParaRPr>
          </a:p>
          <a:p>
            <a:pPr marL="457200" lvl="1" indent="0">
              <a:buNone/>
            </a:pPr>
            <a:r>
              <a:rPr lang="en-US" b="1" dirty="0">
                <a:solidFill>
                  <a:srgbClr val="000000"/>
                </a:solidFill>
                <a:latin typeface="Roboto"/>
              </a:rPr>
              <a:t>2. Scenario: </a:t>
            </a:r>
            <a:r>
              <a:rPr lang="en-US" dirty="0"/>
              <a:t>What interaction are you trying to map out (real or anticipated)? </a:t>
            </a:r>
            <a:endParaRPr lang="en-US" b="1" dirty="0">
              <a:solidFill>
                <a:srgbClr val="000000"/>
              </a:solidFill>
              <a:latin typeface="Roboto"/>
            </a:endParaRPr>
          </a:p>
          <a:p>
            <a:pPr marL="457200" lvl="1" indent="0">
              <a:buNone/>
            </a:pPr>
            <a:r>
              <a:rPr lang="en-US" b="1" dirty="0">
                <a:solidFill>
                  <a:srgbClr val="000000"/>
                </a:solidFill>
                <a:latin typeface="Roboto"/>
              </a:rPr>
              <a:t>3. Stages of the journey</a:t>
            </a:r>
            <a:r>
              <a:rPr lang="en-US" dirty="0">
                <a:solidFill>
                  <a:srgbClr val="000000"/>
                </a:solidFill>
                <a:latin typeface="Roboto"/>
              </a:rPr>
              <a:t>: </a:t>
            </a:r>
            <a:r>
              <a:rPr lang="en-US" dirty="0"/>
              <a:t>What are the high-level phases of the scenario? </a:t>
            </a:r>
            <a:endParaRPr lang="en-US" dirty="0">
              <a:solidFill>
                <a:srgbClr val="000000"/>
              </a:solidFill>
              <a:latin typeface="Roboto"/>
            </a:endParaRPr>
          </a:p>
          <a:p>
            <a:pPr marL="457200" lvl="1" indent="0">
              <a:buNone/>
            </a:pPr>
            <a:r>
              <a:rPr lang="en-US" b="1" dirty="0">
                <a:solidFill>
                  <a:srgbClr val="000000"/>
                </a:solidFill>
                <a:latin typeface="Roboto"/>
              </a:rPr>
              <a:t>4. User actions</a:t>
            </a:r>
            <a:r>
              <a:rPr lang="en-US" dirty="0">
                <a:solidFill>
                  <a:srgbClr val="000000"/>
                </a:solidFill>
                <a:latin typeface="Roboto"/>
              </a:rPr>
              <a:t>: </a:t>
            </a:r>
            <a:r>
              <a:rPr lang="en-US" dirty="0"/>
              <a:t>What actions can the user take in each stage of the journey? </a:t>
            </a:r>
            <a:endParaRPr lang="en-US" dirty="0">
              <a:solidFill>
                <a:srgbClr val="000000"/>
              </a:solidFill>
              <a:latin typeface="Roboto"/>
            </a:endParaRPr>
          </a:p>
          <a:p>
            <a:endParaRPr lang="en-US" dirty="0"/>
          </a:p>
          <a:p>
            <a:endParaRPr lang="en-US" dirty="0"/>
          </a:p>
        </p:txBody>
      </p:sp>
    </p:spTree>
    <p:extLst>
      <p:ext uri="{BB962C8B-B14F-4D97-AF65-F5344CB8AC3E}">
        <p14:creationId xmlns:p14="http://schemas.microsoft.com/office/powerpoint/2010/main" val="156201459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457200" lvl="1" indent="0">
              <a:buNone/>
            </a:pPr>
            <a:r>
              <a:rPr lang="en-US" b="1" dirty="0">
                <a:solidFill>
                  <a:srgbClr val="000000"/>
                </a:solidFill>
                <a:latin typeface="Roboto"/>
              </a:rPr>
              <a:t>5. User emotions and thoughts</a:t>
            </a:r>
            <a:r>
              <a:rPr lang="en-US" dirty="0">
                <a:solidFill>
                  <a:srgbClr val="000000"/>
                </a:solidFill>
                <a:latin typeface="Roboto"/>
              </a:rPr>
              <a:t>: </a:t>
            </a:r>
            <a:r>
              <a:rPr lang="en-US" dirty="0"/>
              <a:t>What is the user’s emotional state as they move through the stages? What are they thinking in each stage?   </a:t>
            </a:r>
          </a:p>
          <a:p>
            <a:pPr marL="457200" lvl="1" indent="0">
              <a:buNone/>
            </a:pPr>
            <a:r>
              <a:rPr lang="en-US" b="1" dirty="0">
                <a:solidFill>
                  <a:srgbClr val="000000"/>
                </a:solidFill>
                <a:latin typeface="Roboto"/>
              </a:rPr>
              <a:t>6. Opportunities</a:t>
            </a:r>
            <a:r>
              <a:rPr lang="en-US" dirty="0">
                <a:solidFill>
                  <a:srgbClr val="000000"/>
                </a:solidFill>
                <a:latin typeface="Roboto"/>
              </a:rPr>
              <a:t>: </a:t>
            </a:r>
            <a:r>
              <a:rPr lang="en-US" dirty="0"/>
              <a:t>Where can you improve the UX of your product or connect with your customer in a more effective way?   </a:t>
            </a:r>
            <a:endParaRPr lang="en-US" dirty="0">
              <a:solidFill>
                <a:srgbClr val="000000"/>
              </a:solidFill>
              <a:latin typeface="Roboto"/>
            </a:endParaRPr>
          </a:p>
          <a:p>
            <a:pPr marL="457200" lvl="1" indent="0">
              <a:buNone/>
            </a:pPr>
            <a:r>
              <a:rPr lang="en-US" b="1" dirty="0">
                <a:solidFill>
                  <a:srgbClr val="000000"/>
                </a:solidFill>
                <a:latin typeface="Roboto"/>
              </a:rPr>
              <a:t>7. Internal ownership</a:t>
            </a:r>
            <a:r>
              <a:rPr lang="en-US" dirty="0">
                <a:solidFill>
                  <a:srgbClr val="000000"/>
                </a:solidFill>
                <a:latin typeface="Roboto"/>
              </a:rPr>
              <a:t>: </a:t>
            </a:r>
            <a:r>
              <a:rPr lang="en-US" dirty="0"/>
              <a:t>Which team or team member will be responsible for enacting these changes?   </a:t>
            </a:r>
          </a:p>
          <a:p>
            <a:pPr marL="0" indent="0">
              <a:buNone/>
            </a:pPr>
            <a:endParaRPr lang="en-US" dirty="0"/>
          </a:p>
        </p:txBody>
      </p:sp>
    </p:spTree>
    <p:extLst>
      <p:ext uri="{BB962C8B-B14F-4D97-AF65-F5344CB8AC3E}">
        <p14:creationId xmlns:p14="http://schemas.microsoft.com/office/powerpoint/2010/main" val="50574376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457200" lvl="1" indent="0"/>
            <a:br>
              <a:rPr lang="en-US" sz="2400" b="1" dirty="0">
                <a:solidFill>
                  <a:srgbClr val="000000"/>
                </a:solidFill>
                <a:latin typeface="Roboto"/>
              </a:rPr>
            </a:br>
            <a:r>
              <a:rPr lang="en-US" sz="2800" b="1" dirty="0">
                <a:solidFill>
                  <a:srgbClr val="000000"/>
                </a:solidFill>
                <a:latin typeface="Roboto"/>
              </a:rPr>
              <a:t>Create user journey map</a:t>
            </a:r>
            <a:br>
              <a:rPr lang="en-US" dirty="0">
                <a:solidFill>
                  <a:srgbClr val="000000"/>
                </a:solidFill>
                <a:latin typeface="Roboto"/>
              </a:rPr>
            </a:br>
            <a:endParaRPr lang="en-US" dirty="0"/>
          </a:p>
        </p:txBody>
      </p:sp>
      <p:sp>
        <p:nvSpPr>
          <p:cNvPr id="3" name="Content Placeholder 2"/>
          <p:cNvSpPr>
            <a:spLocks noGrp="1"/>
          </p:cNvSpPr>
          <p:nvPr>
            <p:ph idx="1"/>
          </p:nvPr>
        </p:nvSpPr>
        <p:spPr/>
        <p:txBody>
          <a:bodyPr>
            <a:normAutofit/>
          </a:bodyPr>
          <a:lstStyle/>
          <a:p>
            <a:r>
              <a:rPr lang="en-US" dirty="0"/>
              <a:t>basic steps to create your own user journey map:</a:t>
            </a:r>
          </a:p>
          <a:p>
            <a:pPr marL="0" lvl="0" indent="0" fontAlgn="base">
              <a:buNone/>
            </a:pPr>
            <a:r>
              <a:rPr lang="en-US" dirty="0"/>
              <a:t>1. </a:t>
            </a:r>
            <a:r>
              <a:rPr lang="en-US" b="1" dirty="0"/>
              <a:t>Define the scope. </a:t>
            </a:r>
            <a:r>
              <a:rPr lang="en-US" dirty="0"/>
              <a:t>  </a:t>
            </a:r>
          </a:p>
          <a:p>
            <a:r>
              <a:rPr lang="en-US" dirty="0"/>
              <a:t>Creating a helpful user journey map starts with defining your goals. </a:t>
            </a:r>
          </a:p>
          <a:p>
            <a:r>
              <a:rPr lang="en-US" dirty="0"/>
              <a:t>Being clear on your goals now can help give you more relevant insights once your map is complete.   </a:t>
            </a:r>
          </a:p>
          <a:p>
            <a:pPr marL="0" indent="0">
              <a:buNone/>
            </a:pPr>
            <a:endParaRPr lang="en-US" dirty="0"/>
          </a:p>
        </p:txBody>
      </p:sp>
    </p:spTree>
    <p:extLst>
      <p:ext uri="{BB962C8B-B14F-4D97-AF65-F5344CB8AC3E}">
        <p14:creationId xmlns:p14="http://schemas.microsoft.com/office/powerpoint/2010/main" val="359248721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a:t>2. Build user personas. </a:t>
            </a:r>
            <a:r>
              <a:rPr lang="en-US" dirty="0"/>
              <a:t>  </a:t>
            </a:r>
            <a:br>
              <a:rPr lang="en-US" dirty="0"/>
            </a:br>
            <a:endParaRPr lang="en-US" dirty="0"/>
          </a:p>
        </p:txBody>
      </p:sp>
      <p:sp>
        <p:nvSpPr>
          <p:cNvPr id="3" name="Content Placeholder 2"/>
          <p:cNvSpPr>
            <a:spLocks noGrp="1"/>
          </p:cNvSpPr>
          <p:nvPr>
            <p:ph idx="1"/>
          </p:nvPr>
        </p:nvSpPr>
        <p:spPr/>
        <p:txBody>
          <a:bodyPr/>
          <a:lstStyle/>
          <a:p>
            <a:pPr marL="0" lvl="0" indent="0">
              <a:buNone/>
            </a:pPr>
            <a:r>
              <a:rPr lang="en-US" dirty="0"/>
              <a:t>Think about who your users are, and create a persona for each segment. </a:t>
            </a:r>
          </a:p>
          <a:p>
            <a:r>
              <a:rPr lang="en-US" dirty="0"/>
              <a:t>This often starts with user research. User interviews, focus group discussions, surveys, and even prior user feedback can help you develop these personas.  </a:t>
            </a:r>
          </a:p>
        </p:txBody>
      </p:sp>
    </p:spTree>
    <p:extLst>
      <p:ext uri="{BB962C8B-B14F-4D97-AF65-F5344CB8AC3E}">
        <p14:creationId xmlns:p14="http://schemas.microsoft.com/office/powerpoint/2010/main" val="151826365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3. Define user goals, expectations, and pain points.</a:t>
            </a:r>
            <a:endParaRPr lang="en-US" dirty="0"/>
          </a:p>
        </p:txBody>
      </p:sp>
      <p:sp>
        <p:nvSpPr>
          <p:cNvPr id="3" name="Content Placeholder 2"/>
          <p:cNvSpPr>
            <a:spLocks noGrp="1"/>
          </p:cNvSpPr>
          <p:nvPr>
            <p:ph idx="1"/>
          </p:nvPr>
        </p:nvSpPr>
        <p:spPr/>
        <p:txBody>
          <a:bodyPr>
            <a:normAutofit fontScale="92500" lnSpcReduction="20000"/>
          </a:bodyPr>
          <a:lstStyle/>
          <a:p>
            <a:pPr marL="0" lvl="0" indent="0" fontAlgn="base">
              <a:buNone/>
            </a:pPr>
            <a:r>
              <a:rPr lang="en-US" b="1" dirty="0"/>
              <a:t> </a:t>
            </a:r>
            <a:r>
              <a:rPr lang="en-US" dirty="0"/>
              <a:t>  </a:t>
            </a:r>
          </a:p>
          <a:p>
            <a:r>
              <a:rPr lang="en-US" dirty="0"/>
              <a:t>Once you have a better idea of who your target user is, spend some time thinking about what they want. </a:t>
            </a:r>
          </a:p>
          <a:p>
            <a:r>
              <a:rPr lang="en-US" dirty="0"/>
              <a:t>What problem do they have that your product or service can solve?</a:t>
            </a:r>
          </a:p>
          <a:p>
            <a:r>
              <a:rPr lang="en-US" dirty="0"/>
              <a:t> What expectations might they have as they begin their journey? </a:t>
            </a:r>
          </a:p>
          <a:p>
            <a:r>
              <a:rPr lang="en-US" dirty="0"/>
              <a:t>What problems might they face, or what about your product might cause them frustration?   </a:t>
            </a:r>
          </a:p>
        </p:txBody>
      </p:sp>
    </p:spTree>
    <p:extLst>
      <p:ext uri="{BB962C8B-B14F-4D97-AF65-F5344CB8AC3E}">
        <p14:creationId xmlns:p14="http://schemas.microsoft.com/office/powerpoint/2010/main" val="104720547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fontAlgn="base"/>
            <a:r>
              <a:rPr lang="en-US" b="1" dirty="0"/>
              <a:t>4. List out touch points and channels. </a:t>
            </a:r>
            <a:r>
              <a:rPr lang="en-US" dirty="0"/>
              <a:t>  </a:t>
            </a:r>
          </a:p>
        </p:txBody>
      </p:sp>
      <p:sp>
        <p:nvSpPr>
          <p:cNvPr id="3" name="Content Placeholder 2"/>
          <p:cNvSpPr>
            <a:spLocks noGrp="1"/>
          </p:cNvSpPr>
          <p:nvPr>
            <p:ph idx="1"/>
          </p:nvPr>
        </p:nvSpPr>
        <p:spPr/>
        <p:txBody>
          <a:bodyPr>
            <a:normAutofit fontScale="92500" lnSpcReduction="10000"/>
          </a:bodyPr>
          <a:lstStyle/>
          <a:p>
            <a:r>
              <a:rPr lang="en-US" dirty="0"/>
              <a:t>The term “touch point” refers to a point of interaction between a user and a product or business. </a:t>
            </a:r>
          </a:p>
          <a:p>
            <a:r>
              <a:rPr lang="en-US" dirty="0"/>
              <a:t>These touch points can occur across many different business channels, including websites, social media platforms, apps, ads, or face-to-face communications. </a:t>
            </a:r>
          </a:p>
          <a:p>
            <a:r>
              <a:rPr lang="en-US" dirty="0"/>
              <a:t>Create an inventory of all the touch points and channels involved in the scenario you’ve previously defined.   </a:t>
            </a:r>
          </a:p>
        </p:txBody>
      </p:sp>
    </p:spTree>
    <p:extLst>
      <p:ext uri="{BB962C8B-B14F-4D97-AF65-F5344CB8AC3E}">
        <p14:creationId xmlns:p14="http://schemas.microsoft.com/office/powerpoint/2010/main" val="124794464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fontAlgn="base"/>
            <a:r>
              <a:rPr lang="en-US" b="1" dirty="0"/>
              <a:t>5. Map the journey. </a:t>
            </a:r>
            <a:r>
              <a:rPr lang="en-US" dirty="0"/>
              <a:t>  </a:t>
            </a:r>
          </a:p>
        </p:txBody>
      </p:sp>
      <p:sp>
        <p:nvSpPr>
          <p:cNvPr id="3" name="Content Placeholder 2"/>
          <p:cNvSpPr>
            <a:spLocks noGrp="1"/>
          </p:cNvSpPr>
          <p:nvPr>
            <p:ph idx="1"/>
          </p:nvPr>
        </p:nvSpPr>
        <p:spPr/>
        <p:txBody>
          <a:bodyPr>
            <a:normAutofit fontScale="92500" lnSpcReduction="10000"/>
          </a:bodyPr>
          <a:lstStyle/>
          <a:p>
            <a:r>
              <a:rPr lang="en-US" dirty="0"/>
              <a:t>You’ve gathered the data you need to populate your map, so now it’s time to visualize this information. </a:t>
            </a:r>
          </a:p>
          <a:p>
            <a:r>
              <a:rPr lang="en-US" dirty="0"/>
              <a:t>This is where you can get creative. Your map could be as simple as a timeline or as complex as a storyboard that shows visually what happens in each phase. </a:t>
            </a:r>
          </a:p>
          <a:p>
            <a:r>
              <a:rPr lang="en-US" dirty="0"/>
              <a:t>You could take a low-tech approach with sticky notes on a whiteboard, or go digital with an Excel spreadsheet or software program.   </a:t>
            </a:r>
          </a:p>
          <a:p>
            <a:endParaRPr lang="en-US" dirty="0"/>
          </a:p>
        </p:txBody>
      </p:sp>
    </p:spTree>
    <p:extLst>
      <p:ext uri="{BB962C8B-B14F-4D97-AF65-F5344CB8AC3E}">
        <p14:creationId xmlns:p14="http://schemas.microsoft.com/office/powerpoint/2010/main" val="286446299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fontAlgn="base"/>
            <a:r>
              <a:rPr lang="en-US" b="1" dirty="0"/>
              <a:t>6. Validate and refine the map. </a:t>
            </a:r>
            <a:r>
              <a:rPr lang="en-US" dirty="0"/>
              <a:t>  </a:t>
            </a:r>
          </a:p>
        </p:txBody>
      </p:sp>
      <p:sp>
        <p:nvSpPr>
          <p:cNvPr id="3" name="Content Placeholder 2"/>
          <p:cNvSpPr>
            <a:spLocks noGrp="1"/>
          </p:cNvSpPr>
          <p:nvPr>
            <p:ph idx="1"/>
          </p:nvPr>
        </p:nvSpPr>
        <p:spPr/>
        <p:txBody>
          <a:bodyPr>
            <a:normAutofit lnSpcReduction="10000"/>
          </a:bodyPr>
          <a:lstStyle/>
          <a:p>
            <a:r>
              <a:rPr lang="en-US" dirty="0"/>
              <a:t>Your user journey map is only as strong as it is truthful. </a:t>
            </a:r>
          </a:p>
          <a:p>
            <a:r>
              <a:rPr lang="en-US" dirty="0"/>
              <a:t>Validate the map by moving through the user journey yourself. </a:t>
            </a:r>
          </a:p>
          <a:p>
            <a:r>
              <a:rPr lang="en-US" dirty="0"/>
              <a:t>Usability testing, analytics, and user reviews can also help validate that your map reflects the user reality. </a:t>
            </a:r>
          </a:p>
          <a:p>
            <a:r>
              <a:rPr lang="en-US" dirty="0"/>
              <a:t>Continue to refine the map as you discover discrepancies</a:t>
            </a:r>
          </a:p>
          <a:p>
            <a:endParaRPr lang="en-US" dirty="0"/>
          </a:p>
        </p:txBody>
      </p:sp>
    </p:spTree>
    <p:extLst>
      <p:ext uri="{BB962C8B-B14F-4D97-AF65-F5344CB8AC3E}">
        <p14:creationId xmlns:p14="http://schemas.microsoft.com/office/powerpoint/2010/main" val="262140917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00"/>
                </a:solidFill>
              </a:rPr>
              <a:t>● </a:t>
            </a:r>
            <a:r>
              <a:rPr lang="en-US" b="1" dirty="0">
                <a:solidFill>
                  <a:srgbClr val="000000"/>
                </a:solidFill>
                <a:latin typeface="Roboto"/>
              </a:rPr>
              <a:t>Perform UX Research</a:t>
            </a:r>
            <a:br>
              <a:rPr lang="en-US" dirty="0"/>
            </a:br>
            <a:endParaRPr lang="en-US" dirty="0"/>
          </a:p>
        </p:txBody>
      </p:sp>
      <p:sp>
        <p:nvSpPr>
          <p:cNvPr id="3" name="Content Placeholder 2"/>
          <p:cNvSpPr>
            <a:spLocks noGrp="1"/>
          </p:cNvSpPr>
          <p:nvPr>
            <p:ph idx="1"/>
          </p:nvPr>
        </p:nvSpPr>
        <p:spPr/>
        <p:txBody>
          <a:bodyPr/>
          <a:lstStyle/>
          <a:p>
            <a:r>
              <a:rPr lang="en-US" dirty="0"/>
              <a:t>Your objective as a UX researcher is to empathize and uncover truths about your customers they may not even know themselves. </a:t>
            </a:r>
          </a:p>
          <a:p>
            <a:r>
              <a:rPr lang="en-US" dirty="0"/>
              <a:t>It’s important to ask great questions, and use different methods to get to the insights you’re seeking – and to avoid your own cognitive biases in the process.   </a:t>
            </a:r>
          </a:p>
          <a:p>
            <a:endParaRPr lang="en-US" dirty="0"/>
          </a:p>
        </p:txBody>
      </p:sp>
    </p:spTree>
    <p:extLst>
      <p:ext uri="{BB962C8B-B14F-4D97-AF65-F5344CB8AC3E}">
        <p14:creationId xmlns:p14="http://schemas.microsoft.com/office/powerpoint/2010/main" val="334252920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a:t>Best practices for conducting UX research   </a:t>
            </a:r>
            <a:br>
              <a:rPr lang="en-US" b="1" dirty="0"/>
            </a:br>
            <a:endParaRPr lang="en-US" dirty="0"/>
          </a:p>
        </p:txBody>
      </p:sp>
      <p:sp>
        <p:nvSpPr>
          <p:cNvPr id="3" name="Content Placeholder 2"/>
          <p:cNvSpPr>
            <a:spLocks noGrp="1"/>
          </p:cNvSpPr>
          <p:nvPr>
            <p:ph idx="1"/>
          </p:nvPr>
        </p:nvSpPr>
        <p:spPr/>
        <p:txBody>
          <a:bodyPr>
            <a:normAutofit fontScale="92500"/>
          </a:bodyPr>
          <a:lstStyle/>
          <a:p>
            <a:pPr lvl="0" fontAlgn="base"/>
            <a:r>
              <a:rPr lang="en-US" dirty="0"/>
              <a:t>Start with clear objectives in mind Involve key stakeholders early to determine key objectives of the research project.   </a:t>
            </a:r>
          </a:p>
          <a:p>
            <a:pPr lvl="0" fontAlgn="base"/>
            <a:r>
              <a:rPr lang="en-US" dirty="0"/>
              <a:t>Make your findings easy to understand Visualize key insights to be digestible and easily understood by all stakeholders, considering there will often be a range of technical proficiencies.   </a:t>
            </a:r>
          </a:p>
          <a:p>
            <a:pPr lvl="0" fontAlgn="base"/>
            <a:r>
              <a:rPr lang="en-US" dirty="0"/>
              <a:t>Plan for an iterative process: Forming a UX research strategy   </a:t>
            </a:r>
          </a:p>
          <a:p>
            <a:endParaRPr lang="en-US" dirty="0"/>
          </a:p>
        </p:txBody>
      </p:sp>
    </p:spTree>
    <p:extLst>
      <p:ext uri="{BB962C8B-B14F-4D97-AF65-F5344CB8AC3E}">
        <p14:creationId xmlns:p14="http://schemas.microsoft.com/office/powerpoint/2010/main" val="286651169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 Create a plan </a:t>
            </a:r>
            <a:r>
              <a:rPr lang="en-US" dirty="0"/>
              <a:t>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t>Once you have defined your goals and outlined hypotheses, you can create a plan for how to conduct research. A plan usually includes:   </a:t>
            </a:r>
          </a:p>
          <a:p>
            <a:pPr lvl="0" fontAlgn="base"/>
            <a:r>
              <a:rPr lang="en-US" b="1" dirty="0"/>
              <a:t>Objectives</a:t>
            </a:r>
            <a:r>
              <a:rPr lang="en-US" dirty="0"/>
              <a:t>: What are the goals? What questions are you trying to answer?   </a:t>
            </a:r>
          </a:p>
          <a:p>
            <a:pPr lvl="0" fontAlgn="base"/>
            <a:r>
              <a:rPr lang="en-US" b="1" dirty="0"/>
              <a:t>Hypothesis</a:t>
            </a:r>
            <a:r>
              <a:rPr lang="en-US" dirty="0"/>
              <a:t>: What assumptions are you making? What do you think will happen?   </a:t>
            </a:r>
          </a:p>
          <a:p>
            <a:pPr lvl="0" fontAlgn="base"/>
            <a:r>
              <a:rPr lang="en-US" b="1" dirty="0"/>
              <a:t>Methods</a:t>
            </a:r>
            <a:r>
              <a:rPr lang="en-US" dirty="0"/>
              <a:t>: What research method are you using?   </a:t>
            </a:r>
          </a:p>
          <a:p>
            <a:pPr lvl="0" fontAlgn="base"/>
            <a:r>
              <a:rPr lang="en-US" b="1" dirty="0"/>
              <a:t>Audience</a:t>
            </a:r>
            <a:r>
              <a:rPr lang="en-US" dirty="0"/>
              <a:t>: Who are you gathering insight from?   </a:t>
            </a:r>
          </a:p>
          <a:p>
            <a:pPr lvl="0" fontAlgn="base"/>
            <a:r>
              <a:rPr lang="en-US" b="1" dirty="0"/>
              <a:t>Schedule</a:t>
            </a:r>
            <a:r>
              <a:rPr lang="en-US" dirty="0"/>
              <a:t>: What is the timeline?   </a:t>
            </a:r>
          </a:p>
          <a:p>
            <a:pPr lvl="0" fontAlgn="base"/>
            <a:r>
              <a:rPr lang="en-US" b="1" dirty="0"/>
              <a:t>Internal participants</a:t>
            </a:r>
            <a:r>
              <a:rPr lang="en-US" dirty="0"/>
              <a:t>: Who at your organization will be involved?   </a:t>
            </a:r>
          </a:p>
          <a:p>
            <a:endParaRPr lang="en-US" dirty="0"/>
          </a:p>
        </p:txBody>
      </p:sp>
    </p:spTree>
    <p:extLst>
      <p:ext uri="{BB962C8B-B14F-4D97-AF65-F5344CB8AC3E}">
        <p14:creationId xmlns:p14="http://schemas.microsoft.com/office/powerpoint/2010/main" val="39926904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a:t>2. Identifying stakeholders </a:t>
            </a:r>
            <a:r>
              <a:rPr lang="en-US" dirty="0"/>
              <a:t>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Who should be involved in conducting UX research? </a:t>
            </a:r>
          </a:p>
          <a:p>
            <a:r>
              <a:rPr lang="en-US" dirty="0"/>
              <a:t>The answer: anyone who is involved in understanding and designing for this group of users. </a:t>
            </a:r>
          </a:p>
          <a:p>
            <a:r>
              <a:rPr lang="en-US" dirty="0"/>
              <a:t>This could include designers, product managers, content strategists, developers, and even marketers. </a:t>
            </a:r>
          </a:p>
          <a:p>
            <a:r>
              <a:rPr lang="en-US" dirty="0"/>
              <a:t>You can get started by mapping out your</a:t>
            </a:r>
            <a:r>
              <a:rPr lang="en-US" dirty="0">
                <a:hlinkClick r:id="rId2"/>
              </a:rPr>
              <a:t> </a:t>
            </a:r>
            <a:r>
              <a:rPr lang="en-US" u="sng" dirty="0">
                <a:hlinkClick r:id="rId2"/>
              </a:rPr>
              <a:t>stakeholders</a:t>
            </a:r>
            <a:r>
              <a:rPr lang="en-US" dirty="0">
                <a:hlinkClick r:id="rId2"/>
              </a:rPr>
              <a:t> an</a:t>
            </a:r>
            <a:r>
              <a:rPr lang="en-US" dirty="0"/>
              <a:t>d their roles in the process.   </a:t>
            </a:r>
          </a:p>
          <a:p>
            <a:endParaRPr lang="en-US" dirty="0"/>
          </a:p>
        </p:txBody>
      </p:sp>
    </p:spTree>
    <p:extLst>
      <p:ext uri="{BB962C8B-B14F-4D97-AF65-F5344CB8AC3E}">
        <p14:creationId xmlns:p14="http://schemas.microsoft.com/office/powerpoint/2010/main" val="24243969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a:t>3. Collect baseline research </a:t>
            </a:r>
            <a:r>
              <a:rPr lang="en-US" dirty="0"/>
              <a:t>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Begin with baseline research, which covers what you already know about users. You may have a competitive analysis or user personas that already exist. </a:t>
            </a:r>
          </a:p>
          <a:p>
            <a:r>
              <a:rPr lang="en-US" dirty="0"/>
              <a:t>Now that you have your research plan and have selected the methods you’d like to use to gather data from your audience, it’s time to put it into action. Remember, UX research is about observing, understanding, and analyzing.   </a:t>
            </a:r>
          </a:p>
          <a:p>
            <a:r>
              <a:rPr lang="en-US" dirty="0"/>
              <a:t>Start by observing your users through the UX research methods you’ve chosen.   </a:t>
            </a:r>
          </a:p>
          <a:p>
            <a:pPr marL="0" indent="0">
              <a:buNone/>
            </a:pPr>
            <a:endParaRPr lang="en-US" dirty="0"/>
          </a:p>
        </p:txBody>
      </p:sp>
    </p:spTree>
    <p:extLst>
      <p:ext uri="{BB962C8B-B14F-4D97-AF65-F5344CB8AC3E}">
        <p14:creationId xmlns:p14="http://schemas.microsoft.com/office/powerpoint/2010/main" val="329125183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a:t>
            </a:r>
            <a:r>
              <a:rPr lang="en-US" b="1" dirty="0"/>
              <a:t>Synthesize findings   </a:t>
            </a:r>
            <a:br>
              <a:rPr lang="en-US" dirty="0"/>
            </a:br>
            <a:endParaRPr lang="en-US" dirty="0"/>
          </a:p>
        </p:txBody>
      </p:sp>
      <p:sp>
        <p:nvSpPr>
          <p:cNvPr id="3" name="Content Placeholder 2"/>
          <p:cNvSpPr>
            <a:spLocks noGrp="1"/>
          </p:cNvSpPr>
          <p:nvPr>
            <p:ph idx="1"/>
          </p:nvPr>
        </p:nvSpPr>
        <p:spPr/>
        <p:txBody>
          <a:bodyPr/>
          <a:lstStyle/>
          <a:p>
            <a:r>
              <a:rPr lang="en-US" dirty="0"/>
              <a:t>Once you’ve finished conducting your research, it’s time to make it understandable and actionable by turning qualitative and quantitative data into insights. </a:t>
            </a:r>
          </a:p>
          <a:p>
            <a:r>
              <a:rPr lang="en-US" dirty="0"/>
              <a:t>As you comb through everything, try organizing it on this board – you can even divide and conquer by</a:t>
            </a:r>
            <a:r>
              <a:rPr lang="en-US" dirty="0">
                <a:hlinkClick r:id="rId2"/>
              </a:rPr>
              <a:t> </a:t>
            </a:r>
            <a:r>
              <a:rPr lang="en-US" u="sng" dirty="0">
                <a:hlinkClick r:id="rId2"/>
              </a:rPr>
              <a:t>recording findings</a:t>
            </a:r>
            <a:r>
              <a:rPr lang="en-US" dirty="0">
                <a:hlinkClick r:id="rId2"/>
              </a:rPr>
              <a:t> as</a:t>
            </a:r>
            <a:r>
              <a:rPr lang="en-US" dirty="0"/>
              <a:t> a team. </a:t>
            </a:r>
            <a:r>
              <a:rPr lang="en-US" b="1" dirty="0"/>
              <a:t> </a:t>
            </a:r>
            <a:r>
              <a:rPr lang="en-US" dirty="0"/>
              <a:t>  </a:t>
            </a:r>
          </a:p>
          <a:p>
            <a:endParaRPr lang="en-US" dirty="0"/>
          </a:p>
        </p:txBody>
      </p:sp>
    </p:spTree>
    <p:extLst>
      <p:ext uri="{BB962C8B-B14F-4D97-AF65-F5344CB8AC3E}">
        <p14:creationId xmlns:p14="http://schemas.microsoft.com/office/powerpoint/2010/main" val="150468445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ArialMT"/>
              </a:rPr>
            </a:br>
            <a:r>
              <a:rPr lang="en-US" b="1" dirty="0">
                <a:latin typeface="ArialMT"/>
              </a:rPr>
              <a:t>Learning outcome 3: Design Mockup</a:t>
            </a:r>
            <a:br>
              <a:rPr lang="en-US" dirty="0"/>
            </a:br>
            <a:endParaRPr lang="en-US" dirty="0"/>
          </a:p>
        </p:txBody>
      </p:sp>
      <p:sp>
        <p:nvSpPr>
          <p:cNvPr id="3" name="Content Placeholder 2"/>
          <p:cNvSpPr>
            <a:spLocks noGrp="1"/>
          </p:cNvSpPr>
          <p:nvPr>
            <p:ph idx="1"/>
          </p:nvPr>
        </p:nvSpPr>
        <p:spPr/>
        <p:txBody>
          <a:bodyPr>
            <a:normAutofit/>
          </a:bodyPr>
          <a:lstStyle/>
          <a:p>
            <a:r>
              <a:rPr lang="en-US" b="1" dirty="0">
                <a:solidFill>
                  <a:srgbClr val="000000"/>
                </a:solidFill>
                <a:latin typeface="Roboto"/>
              </a:rPr>
              <a:t>Description of Key Concepts</a:t>
            </a:r>
          </a:p>
          <a:p>
            <a:pPr marL="0" indent="0">
              <a:buNone/>
            </a:pPr>
            <a:r>
              <a:rPr lang="en-US" dirty="0">
                <a:solidFill>
                  <a:srgbClr val="000000"/>
                </a:solidFill>
                <a:latin typeface="Wingdings-Regular"/>
              </a:rPr>
              <a:t>✓ </a:t>
            </a:r>
            <a:r>
              <a:rPr lang="en-US" b="1" dirty="0">
                <a:solidFill>
                  <a:srgbClr val="000000"/>
                </a:solidFill>
                <a:latin typeface="Roboto"/>
              </a:rPr>
              <a:t>User interface</a:t>
            </a:r>
            <a:r>
              <a:rPr lang="en-US" dirty="0">
                <a:solidFill>
                  <a:srgbClr val="000000"/>
                </a:solidFill>
                <a:latin typeface="Roboto"/>
              </a:rPr>
              <a:t>: </a:t>
            </a:r>
            <a:r>
              <a:rPr lang="en-US" dirty="0"/>
              <a:t>The user interface is the point at which human users interact with a computer, website or application. </a:t>
            </a:r>
            <a:endParaRPr lang="en-US" dirty="0">
              <a:solidFill>
                <a:srgbClr val="000000"/>
              </a:solidFill>
              <a:latin typeface="Roboto"/>
            </a:endParaRPr>
          </a:p>
          <a:p>
            <a:r>
              <a:rPr lang="en-US" b="1" dirty="0"/>
              <a:t>Interface:</a:t>
            </a:r>
            <a:r>
              <a:rPr lang="en-US" dirty="0"/>
              <a:t>  point where two systems, subjects, organizations, etc. meet and interact  </a:t>
            </a:r>
          </a:p>
          <a:p>
            <a:r>
              <a:rPr lang="en-US" dirty="0"/>
              <a:t>According to the definition there are types of user interfaces and examples of user interface </a:t>
            </a:r>
          </a:p>
        </p:txBody>
      </p:sp>
    </p:spTree>
    <p:extLst>
      <p:ext uri="{BB962C8B-B14F-4D97-AF65-F5344CB8AC3E}">
        <p14:creationId xmlns:p14="http://schemas.microsoft.com/office/powerpoint/2010/main" val="172761250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indent="0"/>
            <a:r>
              <a:rPr lang="en-US" dirty="0"/>
              <a:t> The various types of user interfaces include</a:t>
            </a:r>
          </a:p>
        </p:txBody>
      </p:sp>
      <p:sp>
        <p:nvSpPr>
          <p:cNvPr id="3" name="Content Placeholder 2"/>
          <p:cNvSpPr>
            <a:spLocks noGrp="1"/>
          </p:cNvSpPr>
          <p:nvPr>
            <p:ph idx="1"/>
          </p:nvPr>
        </p:nvSpPr>
        <p:spPr>
          <a:xfrm>
            <a:off x="457200" y="1600200"/>
            <a:ext cx="8229600" cy="5029200"/>
          </a:xfrm>
        </p:spPr>
        <p:txBody>
          <a:bodyPr>
            <a:normAutofit fontScale="85000" lnSpcReduction="20000"/>
          </a:bodyPr>
          <a:lstStyle/>
          <a:p>
            <a:pPr marL="0" lvl="0" indent="0" fontAlgn="base">
              <a:buNone/>
            </a:pPr>
            <a:r>
              <a:rPr lang="en-US" dirty="0"/>
              <a:t>1. </a:t>
            </a:r>
            <a:r>
              <a:rPr lang="en-US" b="1" dirty="0"/>
              <a:t>Graphical User Interface (</a:t>
            </a:r>
            <a:r>
              <a:rPr lang="en-US" b="1" dirty="0">
                <a:hlinkClick r:id="rId2"/>
              </a:rPr>
              <a:t>GUI) </a:t>
            </a:r>
            <a:r>
              <a:rPr lang="en-US" b="1" dirty="0"/>
              <a:t> :</a:t>
            </a:r>
          </a:p>
          <a:p>
            <a:pPr fontAlgn="base"/>
            <a:r>
              <a:rPr lang="en-US" dirty="0"/>
              <a:t>The interface that allows users to interact with electronic devices, such as computers, laptops, smartphones and tablets, through graphical elements.</a:t>
            </a:r>
          </a:p>
          <a:p>
            <a:pPr fontAlgn="base"/>
            <a:r>
              <a:rPr lang="en-US" dirty="0"/>
              <a:t> Its goal is to present the user with decision points that are easy to find, understand and use. </a:t>
            </a:r>
          </a:p>
          <a:p>
            <a:pPr fontAlgn="base"/>
            <a:r>
              <a:rPr lang="en-US" dirty="0"/>
              <a:t>In other words, GUI lets you control your device with a mouse, pen or even your finger.</a:t>
            </a:r>
          </a:p>
          <a:p>
            <a:pPr fontAlgn="base"/>
            <a:r>
              <a:rPr lang="en-US" dirty="0"/>
              <a:t>The GUI process lets you click or point to a small picture, known as an icon or widget, and open a command or function on your devices, such as tabs, buttons, scroll bars, menus, icons, pointers and windows.</a:t>
            </a:r>
          </a:p>
        </p:txBody>
      </p:sp>
    </p:spTree>
    <p:extLst>
      <p:ext uri="{BB962C8B-B14F-4D97-AF65-F5344CB8AC3E}">
        <p14:creationId xmlns:p14="http://schemas.microsoft.com/office/powerpoint/2010/main" val="228726647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examples of GUI input control elements:</a:t>
            </a:r>
          </a:p>
        </p:txBody>
      </p:sp>
      <p:sp>
        <p:nvSpPr>
          <p:cNvPr id="3" name="Content Placeholder 2"/>
          <p:cNvSpPr>
            <a:spLocks noGrp="1"/>
          </p:cNvSpPr>
          <p:nvPr>
            <p:ph idx="1"/>
          </p:nvPr>
        </p:nvSpPr>
        <p:spPr/>
        <p:txBody>
          <a:bodyPr>
            <a:normAutofit fontScale="77500" lnSpcReduction="20000"/>
          </a:bodyPr>
          <a:lstStyle/>
          <a:p>
            <a:r>
              <a:rPr lang="en-US" b="1" dirty="0"/>
              <a:t>Buttons:</a:t>
            </a:r>
            <a:r>
              <a:rPr lang="en-US" dirty="0"/>
              <a:t> Buttons are circles that let you make immediate choices and take actions. Radio buttons come in groups where only one button can be selected at a time. </a:t>
            </a:r>
          </a:p>
          <a:p>
            <a:r>
              <a:rPr lang="en-US" b="1" dirty="0"/>
              <a:t>Checkboxes:</a:t>
            </a:r>
            <a:r>
              <a:rPr lang="en-US" dirty="0"/>
              <a:t> Checkboxes are square boxes in a list of one or more options. When you click the box, it stays selected. They are best presented in a vertical list. </a:t>
            </a:r>
          </a:p>
          <a:p>
            <a:r>
              <a:rPr lang="en-US" dirty="0"/>
              <a:t>A checkbox can be a single box, such as acknowledging a statement, or a list of related items, such as a shopping list.</a:t>
            </a:r>
          </a:p>
          <a:p>
            <a:r>
              <a:rPr lang="en-US" b="1" dirty="0"/>
              <a:t>Date picker:</a:t>
            </a:r>
            <a:r>
              <a:rPr lang="en-US" dirty="0"/>
              <a:t> A date picker lets you select a date and/or time. The creator can choose a calendar or a fill-in option.</a:t>
            </a:r>
          </a:p>
          <a:p>
            <a:r>
              <a:rPr lang="en-US" dirty="0"/>
              <a:t> It ensures that a consistent format is used, such as “day, month, year.”</a:t>
            </a:r>
            <a:br>
              <a:rPr lang="en-US" dirty="0"/>
            </a:br>
            <a:endParaRPr lang="en-US" dirty="0"/>
          </a:p>
          <a:p>
            <a:endParaRPr lang="en-US" dirty="0"/>
          </a:p>
          <a:p>
            <a:endParaRPr lang="en-US" dirty="0"/>
          </a:p>
        </p:txBody>
      </p:sp>
    </p:spTree>
    <p:extLst>
      <p:ext uri="{BB962C8B-B14F-4D97-AF65-F5344CB8AC3E}">
        <p14:creationId xmlns:p14="http://schemas.microsoft.com/office/powerpoint/2010/main" val="281610675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a:t>Dropdown lists:</a:t>
            </a:r>
            <a:r>
              <a:rPr lang="en-US" dirty="0"/>
              <a:t> Dropdown lists lets you select one item at a time. Several items can be included compactly. </a:t>
            </a:r>
          </a:p>
          <a:p>
            <a:r>
              <a:rPr lang="en-US" dirty="0"/>
              <a:t>Consider adding directions, such as “select one” to let the user know what to do. The creator can add or delete items to keep the list up to date.</a:t>
            </a:r>
            <a:br>
              <a:rPr lang="en-US" dirty="0"/>
            </a:br>
            <a:endParaRPr lang="en-US" dirty="0"/>
          </a:p>
          <a:p>
            <a:r>
              <a:rPr lang="en-US" b="1" dirty="0"/>
              <a:t>List boxes:</a:t>
            </a:r>
            <a:r>
              <a:rPr lang="en-US" dirty="0"/>
              <a:t> List boxes let you select multiple items from one compact list. Use this GUI feature if you have a long list of options for the user to consider. </a:t>
            </a:r>
          </a:p>
          <a:p>
            <a:endParaRPr lang="en-US" dirty="0"/>
          </a:p>
        </p:txBody>
      </p:sp>
    </p:spTree>
    <p:extLst>
      <p:ext uri="{BB962C8B-B14F-4D97-AF65-F5344CB8AC3E}">
        <p14:creationId xmlns:p14="http://schemas.microsoft.com/office/powerpoint/2010/main" val="102736736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There are four variations of list boxes: </a:t>
            </a:r>
            <a:r>
              <a:rPr lang="en-US" b="1" dirty="0"/>
              <a:t>single-line, </a:t>
            </a:r>
            <a:r>
              <a:rPr lang="en-US" b="1" dirty="0" err="1"/>
              <a:t>multiselect</a:t>
            </a:r>
            <a:r>
              <a:rPr lang="en-US" b="1" dirty="0"/>
              <a:t>, </a:t>
            </a:r>
            <a:r>
              <a:rPr lang="en-US" b="1" dirty="0" err="1"/>
              <a:t>multiselect</a:t>
            </a:r>
            <a:r>
              <a:rPr lang="en-US" b="1" dirty="0"/>
              <a:t> with checkboxes and </a:t>
            </a:r>
            <a:r>
              <a:rPr lang="en-US" b="1" dirty="0" err="1"/>
              <a:t>multiselect</a:t>
            </a:r>
            <a:r>
              <a:rPr lang="en-US" b="1" dirty="0"/>
              <a:t>-dual list boxes.</a:t>
            </a:r>
            <a:br>
              <a:rPr lang="en-US" b="1" dirty="0"/>
            </a:br>
            <a:endParaRPr lang="en-US" b="1" dirty="0"/>
          </a:p>
          <a:p>
            <a:r>
              <a:rPr lang="en-US" b="1" dirty="0"/>
              <a:t>Text boxes:</a:t>
            </a:r>
            <a:r>
              <a:rPr lang="en-US" dirty="0"/>
              <a:t> Text boxes are fields that let you enter text. The creator can control how much text is allowed.</a:t>
            </a:r>
            <a:br>
              <a:rPr lang="en-US" dirty="0"/>
            </a:br>
            <a:endParaRPr lang="en-US" dirty="0"/>
          </a:p>
          <a:p>
            <a:r>
              <a:rPr lang="en-US" b="1" dirty="0"/>
              <a:t>Toggles:</a:t>
            </a:r>
            <a:r>
              <a:rPr lang="en-US" dirty="0"/>
              <a:t> Toggle buttons let you change a setting typically as off/on states.</a:t>
            </a:r>
          </a:p>
        </p:txBody>
      </p:sp>
    </p:spTree>
    <p:extLst>
      <p:ext uri="{BB962C8B-B14F-4D97-AF65-F5344CB8AC3E}">
        <p14:creationId xmlns:p14="http://schemas.microsoft.com/office/powerpoint/2010/main" val="196487310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fontAlgn="base"/>
            <a:r>
              <a:rPr lang="en-US" b="1" dirty="0"/>
              <a:t>2. command line interface (CLI) </a:t>
            </a:r>
          </a:p>
        </p:txBody>
      </p:sp>
      <p:sp>
        <p:nvSpPr>
          <p:cNvPr id="3" name="Content Placeholder 2"/>
          <p:cNvSpPr>
            <a:spLocks noGrp="1"/>
          </p:cNvSpPr>
          <p:nvPr>
            <p:ph idx="1"/>
          </p:nvPr>
        </p:nvSpPr>
        <p:spPr/>
        <p:txBody>
          <a:bodyPr>
            <a:normAutofit fontScale="70000" lnSpcReduction="20000"/>
          </a:bodyPr>
          <a:lstStyle/>
          <a:p>
            <a:r>
              <a:rPr lang="en-US" dirty="0"/>
              <a:t>Command-line interface (CLI) is that interface in which we interact with the computer by entering commands. An example of CLI is MS-DOS in Windows and terminal in MAC and Linux. You can type commands to download files, copy files, move files, delete files etc.</a:t>
            </a:r>
          </a:p>
          <a:p>
            <a:pPr marL="0" indent="0">
              <a:buNone/>
            </a:pPr>
            <a:r>
              <a:rPr lang="en-US" dirty="0"/>
              <a:t>OR </a:t>
            </a:r>
            <a:endParaRPr lang="en-US" b="1" dirty="0"/>
          </a:p>
          <a:p>
            <a:pPr marL="0" lvl="0" indent="0" fontAlgn="base">
              <a:buNone/>
            </a:pPr>
            <a:r>
              <a:rPr lang="en-US" dirty="0"/>
              <a:t>A command-line interface (CLI) is a text-based user interface (UI) used to run programs, manage computer files and interact with the comp</a:t>
            </a:r>
          </a:p>
          <a:p>
            <a:pPr marL="0" lvl="0" indent="0" fontAlgn="base">
              <a:buNone/>
            </a:pPr>
            <a:r>
              <a:rPr lang="en-US" dirty="0"/>
              <a:t>Command-line interfaces are also called command-line user interfaces, console user interfaces and character user interfaces.</a:t>
            </a:r>
          </a:p>
          <a:p>
            <a:pPr marL="0" lvl="0" indent="0" fontAlgn="base">
              <a:buNone/>
            </a:pPr>
            <a:r>
              <a:rPr lang="en-US" b="1" dirty="0"/>
              <a:t>Or</a:t>
            </a:r>
          </a:p>
          <a:p>
            <a:pPr marL="0" lvl="0" indent="0" fontAlgn="base">
              <a:buNone/>
            </a:pPr>
            <a:r>
              <a:rPr lang="en-US" dirty="0"/>
              <a:t>A command line interface (CLI) is a computer program that runs on text-based inputs to execute different tasks. Instead of pointing and clicking with a mouse, it receives single-line commands that interact with system elements like file management.</a:t>
            </a:r>
          </a:p>
          <a:p>
            <a:pPr marL="0" lvl="0" indent="0" fontAlgn="base">
              <a:buNone/>
            </a:pPr>
            <a:endParaRPr lang="en-US" dirty="0"/>
          </a:p>
          <a:p>
            <a:endParaRPr lang="en-US" dirty="0"/>
          </a:p>
        </p:txBody>
      </p:sp>
    </p:spTree>
    <p:extLst>
      <p:ext uri="{BB962C8B-B14F-4D97-AF65-F5344CB8AC3E}">
        <p14:creationId xmlns:p14="http://schemas.microsoft.com/office/powerpoint/2010/main" val="99194586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How does command line interface work?</a:t>
            </a:r>
          </a:p>
        </p:txBody>
      </p:sp>
      <p:sp>
        <p:nvSpPr>
          <p:cNvPr id="3" name="Content Placeholder 2"/>
          <p:cNvSpPr>
            <a:spLocks noGrp="1"/>
          </p:cNvSpPr>
          <p:nvPr>
            <p:ph idx="1"/>
          </p:nvPr>
        </p:nvSpPr>
        <p:spPr/>
        <p:txBody>
          <a:bodyPr>
            <a:normAutofit fontScale="85000" lnSpcReduction="20000"/>
          </a:bodyPr>
          <a:lstStyle/>
          <a:p>
            <a:r>
              <a:rPr lang="en-US" dirty="0"/>
              <a:t>CLI program takes text-based commands from users and processes them, then displays the output on the same screen. </a:t>
            </a:r>
          </a:p>
          <a:p>
            <a:r>
              <a:rPr lang="en-US" dirty="0"/>
              <a:t>Users must be prompt in entering their single-line command input to make the most of this application. </a:t>
            </a:r>
          </a:p>
          <a:p>
            <a:pPr marL="457200" lvl="1" indent="0">
              <a:buNone/>
            </a:pPr>
            <a:r>
              <a:rPr lang="en-US" b="1" dirty="0"/>
              <a:t>3 types of CLI commands:</a:t>
            </a:r>
          </a:p>
          <a:p>
            <a:pPr lvl="1"/>
            <a:r>
              <a:rPr lang="en-US" b="1" dirty="0"/>
              <a:t>System commands</a:t>
            </a:r>
            <a:r>
              <a:rPr lang="en-US" dirty="0"/>
              <a:t> are encoded as part of the operating system.</a:t>
            </a:r>
          </a:p>
          <a:p>
            <a:pPr lvl="1"/>
            <a:r>
              <a:rPr lang="en-US" b="1" dirty="0"/>
              <a:t>Executable programs</a:t>
            </a:r>
            <a:r>
              <a:rPr lang="en-US" dirty="0"/>
              <a:t> run text-based or graphical applications.</a:t>
            </a:r>
          </a:p>
          <a:p>
            <a:pPr lvl="1"/>
            <a:r>
              <a:rPr lang="en-US" b="1" dirty="0"/>
              <a:t>Batch programs</a:t>
            </a:r>
            <a:r>
              <a:rPr lang="en-US" dirty="0"/>
              <a:t> are text files that list a sequence of commands. They can include both system commands and executable programs.</a:t>
            </a:r>
          </a:p>
          <a:p>
            <a:pPr marL="0" lvl="0" indent="0" fontAlgn="base">
              <a:buNone/>
            </a:pPr>
            <a:endParaRPr lang="en-US" b="1" dirty="0"/>
          </a:p>
          <a:p>
            <a:endParaRPr lang="en-US" dirty="0"/>
          </a:p>
        </p:txBody>
      </p:sp>
    </p:spTree>
    <p:extLst>
      <p:ext uri="{BB962C8B-B14F-4D97-AF65-F5344CB8AC3E}">
        <p14:creationId xmlns:p14="http://schemas.microsoft.com/office/powerpoint/2010/main" val="174357904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fontAlgn="base"/>
            <a:r>
              <a:rPr lang="en-US" b="1" dirty="0"/>
              <a:t>3.  menu-driven user interface </a:t>
            </a:r>
            <a:endParaRPr lang="en-US" dirty="0"/>
          </a:p>
        </p:txBody>
      </p:sp>
      <p:sp>
        <p:nvSpPr>
          <p:cNvPr id="3" name="Content Placeholder 2"/>
          <p:cNvSpPr>
            <a:spLocks noGrp="1"/>
          </p:cNvSpPr>
          <p:nvPr>
            <p:ph idx="1"/>
          </p:nvPr>
        </p:nvSpPr>
        <p:spPr/>
        <p:txBody>
          <a:bodyPr>
            <a:normAutofit fontScale="77500" lnSpcReduction="20000"/>
          </a:bodyPr>
          <a:lstStyle/>
          <a:p>
            <a:r>
              <a:rPr lang="en-US" dirty="0"/>
              <a:t>A menu-driven interface is a type of interface in which menus are displayed on the screen and the user click on those menus to perform different tasks. </a:t>
            </a:r>
          </a:p>
          <a:p>
            <a:r>
              <a:rPr lang="en-US" dirty="0"/>
              <a:t>In Windows, you can click on the start menu and it displays other menus. Similarly, websites or apps also have a menu on top or left of the screen. You can open other web pages of the website by clicking on menus.</a:t>
            </a:r>
          </a:p>
          <a:p>
            <a:r>
              <a:rPr lang="en-US" dirty="0"/>
              <a:t> In your car, the LED screen has also a menu’s by which you play a video or audio.</a:t>
            </a:r>
          </a:p>
          <a:p>
            <a:pPr lvl="0" fontAlgn="base"/>
            <a:endParaRPr lang="en-US" dirty="0"/>
          </a:p>
          <a:p>
            <a:pPr lvl="0" fontAlgn="base"/>
            <a:r>
              <a:rPr lang="en-US" dirty="0"/>
              <a:t>A UI that uses a list of choices to navigate within a program or website. For example, ATMs (Automated Teller Machine) use menu-driven UIs and are easy for anyone to use. </a:t>
            </a:r>
          </a:p>
          <a:p>
            <a:pPr marL="0" indent="0">
              <a:buNone/>
            </a:pPr>
            <a:endParaRPr lang="en-US" dirty="0"/>
          </a:p>
        </p:txBody>
      </p:sp>
    </p:spTree>
    <p:extLst>
      <p:ext uri="{BB962C8B-B14F-4D97-AF65-F5344CB8AC3E}">
        <p14:creationId xmlns:p14="http://schemas.microsoft.com/office/powerpoint/2010/main" val="55607532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fontAlgn="base"/>
            <a:r>
              <a:rPr lang="en-US" dirty="0"/>
              <a:t>4. </a:t>
            </a:r>
            <a:r>
              <a:rPr lang="en-US" b="1" dirty="0"/>
              <a:t>Touch user interface </a:t>
            </a:r>
          </a:p>
        </p:txBody>
      </p:sp>
      <p:sp>
        <p:nvSpPr>
          <p:cNvPr id="3" name="Content Placeholder 2"/>
          <p:cNvSpPr>
            <a:spLocks noGrp="1"/>
          </p:cNvSpPr>
          <p:nvPr>
            <p:ph idx="1"/>
          </p:nvPr>
        </p:nvSpPr>
        <p:spPr/>
        <p:txBody>
          <a:bodyPr>
            <a:normAutofit/>
          </a:bodyPr>
          <a:lstStyle/>
          <a:p>
            <a:pPr lvl="0" fontAlgn="base"/>
            <a:r>
              <a:rPr lang="en-US" dirty="0"/>
              <a:t>User interface through haptics or touch. Most smartphones, tablets and any device that operates using a touch screen use haptic input.</a:t>
            </a:r>
          </a:p>
          <a:p>
            <a:pPr lvl="1" fontAlgn="base"/>
            <a:r>
              <a:rPr lang="en-US" b="1" i="1" dirty="0" err="1"/>
              <a:t>Haptics</a:t>
            </a:r>
            <a:r>
              <a:rPr lang="en-US" b="1" i="1" dirty="0"/>
              <a:t> (pronounced HAP-</a:t>
            </a:r>
            <a:r>
              <a:rPr lang="en-US" b="1" i="1" dirty="0" err="1"/>
              <a:t>tiks</a:t>
            </a:r>
            <a:r>
              <a:rPr lang="en-US" b="1" i="1" dirty="0"/>
              <a:t>) </a:t>
            </a:r>
            <a:r>
              <a:rPr lang="en-US" dirty="0"/>
              <a:t>is the science of applying touch (tactile) sensation and control to interaction with computer applications.</a:t>
            </a:r>
          </a:p>
          <a:p>
            <a:pPr marL="0" indent="0">
              <a:buNone/>
            </a:pPr>
            <a:endParaRPr lang="en-US" dirty="0">
              <a:solidFill>
                <a:srgbClr val="000000"/>
              </a:solidFill>
              <a:latin typeface="Roboto"/>
            </a:endParaRPr>
          </a:p>
          <a:p>
            <a:endParaRPr lang="en-US" dirty="0"/>
          </a:p>
        </p:txBody>
      </p:sp>
    </p:spTree>
    <p:extLst>
      <p:ext uri="{BB962C8B-B14F-4D97-AF65-F5344CB8AC3E}">
        <p14:creationId xmlns:p14="http://schemas.microsoft.com/office/powerpoint/2010/main" val="247767563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a:t>5. voice user interface (VUI)</a:t>
            </a:r>
            <a:br>
              <a:rPr lang="en-US" b="1" dirty="0"/>
            </a:br>
            <a:endParaRPr lang="en-US" dirty="0"/>
          </a:p>
        </p:txBody>
      </p:sp>
      <p:sp>
        <p:nvSpPr>
          <p:cNvPr id="3" name="Content Placeholder 2"/>
          <p:cNvSpPr>
            <a:spLocks noGrp="1"/>
          </p:cNvSpPr>
          <p:nvPr>
            <p:ph idx="1"/>
          </p:nvPr>
        </p:nvSpPr>
        <p:spPr/>
        <p:txBody>
          <a:bodyPr/>
          <a:lstStyle/>
          <a:p>
            <a:pPr lvl="0" fontAlgn="base"/>
            <a:r>
              <a:rPr lang="en-US" dirty="0"/>
              <a:t>Interactions between humans and machines using auditory commands. </a:t>
            </a:r>
          </a:p>
          <a:p>
            <a:pPr lvl="0" fontAlgn="base"/>
            <a:r>
              <a:rPr lang="en-US" dirty="0"/>
              <a:t>Examples include virtual assistant devices, talk-to-text and GPS.</a:t>
            </a:r>
            <a:r>
              <a:rPr lang="en-US" dirty="0">
                <a:hlinkClick r:id="rId2"/>
              </a:rPr>
              <a:t> </a:t>
            </a:r>
            <a:r>
              <a:rPr lang="en-US" dirty="0"/>
              <a:t> </a:t>
            </a:r>
          </a:p>
          <a:p>
            <a:pPr lvl="1" fontAlgn="base"/>
            <a:r>
              <a:rPr lang="en-US" b="1" i="1" dirty="0"/>
              <a:t>A global positioning system (GPS) </a:t>
            </a:r>
            <a:r>
              <a:rPr lang="en-US" dirty="0"/>
              <a:t>is a network of satellites and receiving devices used to determine the location of something on Earth.</a:t>
            </a:r>
          </a:p>
          <a:p>
            <a:endParaRPr lang="en-US" dirty="0"/>
          </a:p>
        </p:txBody>
      </p:sp>
    </p:spTree>
    <p:extLst>
      <p:ext uri="{BB962C8B-B14F-4D97-AF65-F5344CB8AC3E}">
        <p14:creationId xmlns:p14="http://schemas.microsoft.com/office/powerpoint/2010/main" val="252886692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6. </a:t>
            </a:r>
            <a:r>
              <a:rPr lang="en-US" b="1" dirty="0"/>
              <a:t>form-based user interface </a:t>
            </a:r>
            <a:endParaRPr lang="en-US" dirty="0"/>
          </a:p>
        </p:txBody>
      </p:sp>
      <p:sp>
        <p:nvSpPr>
          <p:cNvPr id="3" name="Content Placeholder 2"/>
          <p:cNvSpPr>
            <a:spLocks noGrp="1"/>
          </p:cNvSpPr>
          <p:nvPr>
            <p:ph idx="1"/>
          </p:nvPr>
        </p:nvSpPr>
        <p:spPr/>
        <p:txBody>
          <a:bodyPr>
            <a:normAutofit fontScale="85000" lnSpcReduction="10000"/>
          </a:bodyPr>
          <a:lstStyle/>
          <a:p>
            <a:pPr fontAlgn="base"/>
            <a:r>
              <a:rPr lang="en-US" dirty="0"/>
              <a:t>A form-based interface is an interface by which the user fills a form and submit it to the website. As you can see that any website has a </a:t>
            </a:r>
            <a:r>
              <a:rPr lang="en-US" b="1" dirty="0"/>
              <a:t>contact us</a:t>
            </a:r>
            <a:r>
              <a:rPr lang="en-US" dirty="0"/>
              <a:t> page.</a:t>
            </a:r>
          </a:p>
          <a:p>
            <a:pPr fontAlgn="base"/>
            <a:r>
              <a:rPr lang="en-US" dirty="0"/>
              <a:t> You fill a form on the contact us page and that form is submitted to the admin of the website. </a:t>
            </a:r>
          </a:p>
          <a:p>
            <a:pPr fontAlgn="base"/>
            <a:r>
              <a:rPr lang="en-US" dirty="0"/>
              <a:t>Similarly, you have heard about Google forms that are used to get data of users who fill the form. </a:t>
            </a:r>
          </a:p>
          <a:p>
            <a:pPr fontAlgn="base"/>
            <a:r>
              <a:rPr lang="en-US" dirty="0"/>
              <a:t>The HTML forms have different fields like text field, text area, upload button, drop-down menus, radio buttons. These all are components of the form.</a:t>
            </a:r>
          </a:p>
        </p:txBody>
      </p:sp>
    </p:spTree>
    <p:extLst>
      <p:ext uri="{BB962C8B-B14F-4D97-AF65-F5344CB8AC3E}">
        <p14:creationId xmlns:p14="http://schemas.microsoft.com/office/powerpoint/2010/main" val="95599704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lnSpcReduction="20000"/>
          </a:bodyPr>
          <a:lstStyle/>
          <a:p>
            <a:pPr marL="0" indent="0" fontAlgn="base">
              <a:buNone/>
            </a:pPr>
            <a:r>
              <a:rPr lang="en-US" b="1" dirty="0">
                <a:hlinkClick r:id="rId2"/>
              </a:rPr>
              <a:t>7. natural language u</a:t>
            </a:r>
            <a:r>
              <a:rPr lang="en-US" b="1" dirty="0"/>
              <a:t>ser interface:</a:t>
            </a:r>
          </a:p>
          <a:p>
            <a:pPr fontAlgn="base"/>
            <a:r>
              <a:rPr lang="en-US" dirty="0"/>
              <a:t>A </a:t>
            </a:r>
            <a:r>
              <a:rPr lang="en-US" b="1" i="1" dirty="0"/>
              <a:t>natural language interface</a:t>
            </a:r>
            <a:r>
              <a:rPr lang="en-US" dirty="0"/>
              <a:t> is a user interface in which the user and the system communicate via a natural (human) language. </a:t>
            </a:r>
          </a:p>
          <a:p>
            <a:pPr fontAlgn="base"/>
            <a:r>
              <a:rPr lang="en-US" dirty="0"/>
              <a:t>The user provides input via speech or some other method, and the system generates responses in the form of utterances delivered by speech, text or some other method.</a:t>
            </a:r>
            <a:r>
              <a:rPr lang="en-US" b="1" dirty="0"/>
              <a:t> </a:t>
            </a:r>
          </a:p>
          <a:p>
            <a:r>
              <a:rPr lang="en-US" dirty="0"/>
              <a:t>Or</a:t>
            </a:r>
          </a:p>
          <a:p>
            <a:r>
              <a:rPr lang="en-US" b="1" dirty="0"/>
              <a:t>Natural-language user interface</a:t>
            </a:r>
            <a:r>
              <a:rPr lang="en-US" dirty="0"/>
              <a:t> (</a:t>
            </a:r>
            <a:r>
              <a:rPr lang="en-US" b="1" dirty="0"/>
              <a:t>LUI</a:t>
            </a:r>
            <a:r>
              <a:rPr lang="en-US" dirty="0"/>
              <a:t> or </a:t>
            </a:r>
            <a:r>
              <a:rPr lang="en-US" b="1" dirty="0"/>
              <a:t>NLUI</a:t>
            </a:r>
            <a:r>
              <a:rPr lang="en-US" dirty="0"/>
              <a:t>) is a type of </a:t>
            </a:r>
            <a:r>
              <a:rPr lang="en-US" dirty="0">
                <a:hlinkClick r:id="rId3" tooltip="User interface"/>
              </a:rPr>
              <a:t>computer human interface</a:t>
            </a:r>
            <a:r>
              <a:rPr lang="en-US" dirty="0"/>
              <a:t> where linguistic phenomena such as verbs, phrases and clauses act as UI controls for creating, selecting and modifying data in software applications.</a:t>
            </a:r>
          </a:p>
          <a:p>
            <a:pPr marL="0" indent="0">
              <a:buNone/>
            </a:pPr>
            <a:endParaRPr lang="en-US" dirty="0"/>
          </a:p>
        </p:txBody>
      </p:sp>
    </p:spTree>
    <p:extLst>
      <p:ext uri="{BB962C8B-B14F-4D97-AF65-F5344CB8AC3E}">
        <p14:creationId xmlns:p14="http://schemas.microsoft.com/office/powerpoint/2010/main" val="283172885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Examples of user interfaces  </a:t>
            </a:r>
            <a:br>
              <a:rPr lang="en-US" b="1" dirty="0"/>
            </a:br>
            <a:endParaRPr lang="en-US" b="1" dirty="0"/>
          </a:p>
        </p:txBody>
      </p:sp>
      <p:sp>
        <p:nvSpPr>
          <p:cNvPr id="3" name="Content Placeholder 2"/>
          <p:cNvSpPr>
            <a:spLocks noGrp="1"/>
          </p:cNvSpPr>
          <p:nvPr>
            <p:ph idx="1"/>
          </p:nvPr>
        </p:nvSpPr>
        <p:spPr/>
        <p:txBody>
          <a:bodyPr>
            <a:normAutofit fontScale="92500" lnSpcReduction="20000"/>
          </a:bodyPr>
          <a:lstStyle/>
          <a:p>
            <a:r>
              <a:rPr lang="en-US" dirty="0"/>
              <a:t>     Some examples of user interfaces include:  </a:t>
            </a:r>
          </a:p>
          <a:p>
            <a:pPr marL="514350" lvl="0" indent="-514350" fontAlgn="base">
              <a:buAutoNum type="arabicPeriod"/>
            </a:pPr>
            <a:r>
              <a:rPr lang="en-US" b="1" dirty="0"/>
              <a:t>computer mouse : </a:t>
            </a:r>
            <a:r>
              <a:rPr lang="en-US" dirty="0"/>
              <a:t>You can interact with the screen by mouse, keyboard, finger touch, by voice command.</a:t>
            </a:r>
            <a:r>
              <a:rPr lang="en-US" b="1" dirty="0"/>
              <a:t> </a:t>
            </a:r>
          </a:p>
          <a:p>
            <a:r>
              <a:rPr lang="en-US" dirty="0"/>
              <a:t>Take an example of a shopping app. You as a user place order on the app by interacting with the app. </a:t>
            </a:r>
          </a:p>
          <a:p>
            <a:r>
              <a:rPr lang="en-US" dirty="0"/>
              <a:t>You can select different options on the app, i.e. selecting a size, quantity, price, delivery option. </a:t>
            </a:r>
          </a:p>
          <a:p>
            <a:r>
              <a:rPr lang="en-US" dirty="0"/>
              <a:t>Finally, you complete your order on the app.</a:t>
            </a:r>
            <a:endParaRPr lang="en-US" b="1" dirty="0"/>
          </a:p>
        </p:txBody>
      </p:sp>
    </p:spTree>
    <p:extLst>
      <p:ext uri="{BB962C8B-B14F-4D97-AF65-F5344CB8AC3E}">
        <p14:creationId xmlns:p14="http://schemas.microsoft.com/office/powerpoint/2010/main" val="81696337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lvl="0" indent="0" fontAlgn="base">
              <a:buNone/>
            </a:pPr>
            <a:r>
              <a:rPr lang="en-US" b="1" dirty="0"/>
              <a:t>2. remote control : </a:t>
            </a:r>
            <a:r>
              <a:rPr lang="en-US" dirty="0"/>
              <a:t>For example, the remote control is a hard device by which users can interact with the TV screen. </a:t>
            </a:r>
          </a:p>
          <a:p>
            <a:pPr lvl="0" fontAlgn="base"/>
            <a:r>
              <a:rPr lang="en-US" dirty="0"/>
              <a:t>You can have any design on the screen and you interact with it. </a:t>
            </a:r>
          </a:p>
          <a:p>
            <a:pPr lvl="0" fontAlgn="base"/>
            <a:r>
              <a:rPr lang="en-US" dirty="0"/>
              <a:t>The design that is displayed on the screen is the interface and you as a user interact with it.</a:t>
            </a:r>
          </a:p>
        </p:txBody>
      </p:sp>
    </p:spTree>
    <p:extLst>
      <p:ext uri="{BB962C8B-B14F-4D97-AF65-F5344CB8AC3E}">
        <p14:creationId xmlns:p14="http://schemas.microsoft.com/office/powerpoint/2010/main" val="425519460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lvl="0" indent="0" fontAlgn="base">
              <a:buNone/>
            </a:pPr>
            <a:r>
              <a:rPr lang="en-US" dirty="0"/>
              <a:t>3. </a:t>
            </a:r>
            <a:r>
              <a:rPr lang="en-US" b="1" dirty="0"/>
              <a:t>virtual reality : </a:t>
            </a:r>
            <a:r>
              <a:rPr lang="en-US" dirty="0"/>
              <a:t>dealing with sensitive information on the internet.</a:t>
            </a:r>
            <a:endParaRPr lang="en-US" b="1" dirty="0"/>
          </a:p>
          <a:p>
            <a:pPr marL="0" lvl="0" indent="0" fontAlgn="base">
              <a:buNone/>
            </a:pPr>
            <a:r>
              <a:rPr lang="en-US" dirty="0"/>
              <a:t>4.</a:t>
            </a:r>
            <a:r>
              <a:rPr lang="en-US" b="1" dirty="0"/>
              <a:t> ATMs (Automated Teller Machine ): is an electronic </a:t>
            </a:r>
            <a:r>
              <a:rPr lang="en-US" dirty="0"/>
              <a:t> machine that </a:t>
            </a:r>
            <a:r>
              <a:rPr lang="en-US" dirty="0">
                <a:hlinkClick r:id="rId2"/>
              </a:rPr>
              <a:t>dispenses</a:t>
            </a:r>
            <a:r>
              <a:rPr lang="en-US" dirty="0"/>
              <a:t> cash or performs other banking services when an account holder </a:t>
            </a:r>
            <a:r>
              <a:rPr lang="en-US" dirty="0">
                <a:hlinkClick r:id="rId3"/>
              </a:rPr>
              <a:t>inserts</a:t>
            </a:r>
            <a:r>
              <a:rPr lang="en-US" dirty="0"/>
              <a:t> a bank card without the aid of a branch representative or teller.</a:t>
            </a:r>
            <a:r>
              <a:rPr lang="en-US" b="1" dirty="0"/>
              <a:t> </a:t>
            </a:r>
          </a:p>
          <a:p>
            <a:endParaRPr lang="en-US" dirty="0"/>
          </a:p>
          <a:p>
            <a:endParaRPr lang="en-US" dirty="0"/>
          </a:p>
        </p:txBody>
      </p:sp>
    </p:spTree>
    <p:extLst>
      <p:ext uri="{BB962C8B-B14F-4D97-AF65-F5344CB8AC3E}">
        <p14:creationId xmlns:p14="http://schemas.microsoft.com/office/powerpoint/2010/main" val="231923752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0000"/>
                </a:solidFill>
                <a:latin typeface="Roboto"/>
              </a:rPr>
              <a:t>User experience</a:t>
            </a:r>
            <a:br>
              <a:rPr lang="en-US" dirty="0">
                <a:solidFill>
                  <a:srgbClr val="000000"/>
                </a:solidFill>
                <a:latin typeface="Roboto"/>
              </a:rPr>
            </a:br>
            <a:endParaRPr lang="en-US" dirty="0"/>
          </a:p>
        </p:txBody>
      </p:sp>
      <p:sp>
        <p:nvSpPr>
          <p:cNvPr id="3" name="Content Placeholder 2"/>
          <p:cNvSpPr>
            <a:spLocks noGrp="1"/>
          </p:cNvSpPr>
          <p:nvPr>
            <p:ph idx="1"/>
          </p:nvPr>
        </p:nvSpPr>
        <p:spPr>
          <a:xfrm>
            <a:off x="457200" y="990600"/>
            <a:ext cx="8229600" cy="5135563"/>
          </a:xfrm>
        </p:spPr>
        <p:txBody>
          <a:bodyPr>
            <a:normAutofit fontScale="85000" lnSpcReduction="20000"/>
          </a:bodyPr>
          <a:lstStyle/>
          <a:p>
            <a:r>
              <a:rPr lang="en-US" dirty="0"/>
              <a:t>The user experience (UX or UE) is </a:t>
            </a:r>
            <a:r>
              <a:rPr lang="en-US" b="1" dirty="0"/>
              <a:t>how a user interacts with and experiences a product, system or service</a:t>
            </a:r>
            <a:r>
              <a:rPr lang="en-US" dirty="0"/>
              <a:t>. It includes a person's perceptions of utility, ease of use, and efficiency.  </a:t>
            </a:r>
          </a:p>
          <a:p>
            <a:r>
              <a:rPr lang="en-US" b="1" dirty="0"/>
              <a:t> User Experience Basics  </a:t>
            </a:r>
          </a:p>
          <a:p>
            <a:r>
              <a:rPr lang="en-US" dirty="0"/>
              <a:t>User experience (UX) focuses on having a deep understanding of users, what they need, what they value, their abilities, and also their limitations.   </a:t>
            </a:r>
          </a:p>
          <a:p>
            <a:r>
              <a:rPr lang="en-US" b="1" dirty="0"/>
              <a:t> Factors that Influence UX  </a:t>
            </a:r>
          </a:p>
          <a:p>
            <a:r>
              <a:rPr lang="en-US" dirty="0"/>
              <a:t>At the core of UX is ensuring that users find value in what you are providing to them.  Peter Moville represents this through his</a:t>
            </a:r>
            <a:r>
              <a:rPr lang="en-US" dirty="0">
                <a:hlinkClick r:id="rId2"/>
              </a:rPr>
              <a:t> User Experience Honeycomb  </a:t>
            </a:r>
            <a:endParaRPr lang="en-US" dirty="0"/>
          </a:p>
          <a:p>
            <a:pPr marL="0" indent="0">
              <a:buNone/>
            </a:pPr>
            <a:endParaRPr lang="en-US" dirty="0">
              <a:solidFill>
                <a:srgbClr val="000000"/>
              </a:solidFill>
              <a:latin typeface="Roboto"/>
            </a:endParaRPr>
          </a:p>
          <a:p>
            <a:endParaRPr lang="en-US" dirty="0"/>
          </a:p>
        </p:txBody>
      </p:sp>
    </p:spTree>
    <p:extLst>
      <p:ext uri="{BB962C8B-B14F-4D97-AF65-F5344CB8AC3E}">
        <p14:creationId xmlns:p14="http://schemas.microsoft.com/office/powerpoint/2010/main" val="322035964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idx="1"/>
          </p:nvPr>
        </p:nvPicPr>
        <p:blipFill>
          <a:blip r:embed="rId2"/>
          <a:stretch>
            <a:fillRect/>
          </a:stretch>
        </p:blipFill>
        <p:spPr>
          <a:xfrm>
            <a:off x="533400" y="1447800"/>
            <a:ext cx="7924800" cy="4724399"/>
          </a:xfrm>
          <a:prstGeom prst="rect">
            <a:avLst/>
          </a:prstGeom>
        </p:spPr>
      </p:pic>
    </p:spTree>
    <p:extLst>
      <p:ext uri="{BB962C8B-B14F-4D97-AF65-F5344CB8AC3E}">
        <p14:creationId xmlns:p14="http://schemas.microsoft.com/office/powerpoint/2010/main" val="237794092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He notes that in order for there to be a meaningful and valuable user experience, information must be:  </a:t>
            </a:r>
          </a:p>
          <a:p>
            <a:pPr lvl="0" fontAlgn="base"/>
            <a:r>
              <a:rPr lang="en-US" b="1" dirty="0"/>
              <a:t>Useful</a:t>
            </a:r>
            <a:r>
              <a:rPr lang="en-US" dirty="0"/>
              <a:t>: Your content should be original and fulfill a need  </a:t>
            </a:r>
          </a:p>
          <a:p>
            <a:pPr lvl="0" fontAlgn="base"/>
            <a:r>
              <a:rPr lang="en-US" b="1" dirty="0"/>
              <a:t>Usable</a:t>
            </a:r>
            <a:r>
              <a:rPr lang="en-US" dirty="0"/>
              <a:t>: Site must be easy to use  </a:t>
            </a:r>
          </a:p>
          <a:p>
            <a:pPr lvl="0" fontAlgn="base"/>
            <a:r>
              <a:rPr lang="en-US" b="1" dirty="0"/>
              <a:t>Desirable</a:t>
            </a:r>
            <a:r>
              <a:rPr lang="en-US" dirty="0"/>
              <a:t>: Image, identity, brand, and other design elements are used to evoke emotion and appreciation  </a:t>
            </a:r>
          </a:p>
          <a:p>
            <a:pPr lvl="0" fontAlgn="base"/>
            <a:r>
              <a:rPr lang="en-US" b="1" dirty="0"/>
              <a:t>Findable</a:t>
            </a:r>
            <a:r>
              <a:rPr lang="en-US" dirty="0"/>
              <a:t>: Content needs to be navigable and locatable onsite and offsite  </a:t>
            </a:r>
          </a:p>
          <a:p>
            <a:pPr lvl="0" fontAlgn="base"/>
            <a:r>
              <a:rPr lang="en-US" b="1" dirty="0"/>
              <a:t>Accessible</a:t>
            </a:r>
            <a:r>
              <a:rPr lang="en-US" dirty="0"/>
              <a:t>: Content needs to be accessible to people with disabilities  </a:t>
            </a:r>
          </a:p>
          <a:p>
            <a:pPr lvl="0" fontAlgn="base"/>
            <a:r>
              <a:rPr lang="en-US" b="1" dirty="0"/>
              <a:t>Credible</a:t>
            </a:r>
            <a:r>
              <a:rPr lang="en-US" dirty="0"/>
              <a:t>: Users must trust and believe what you tell them  </a:t>
            </a:r>
          </a:p>
          <a:p>
            <a:endParaRPr lang="en-US" dirty="0"/>
          </a:p>
        </p:txBody>
      </p:sp>
    </p:spTree>
    <p:extLst>
      <p:ext uri="{BB962C8B-B14F-4D97-AF65-F5344CB8AC3E}">
        <p14:creationId xmlns:p14="http://schemas.microsoft.com/office/powerpoint/2010/main" val="363019747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Importance of UI/UX design in Software Development </a:t>
            </a:r>
            <a:r>
              <a:rPr lang="en-US" dirty="0"/>
              <a:t> </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r>
              <a:rPr lang="en-US" b="1" dirty="0"/>
              <a:t>1. Usability   </a:t>
            </a:r>
            <a:r>
              <a:rPr lang="en-US" dirty="0"/>
              <a:t> </a:t>
            </a:r>
          </a:p>
          <a:p>
            <a:r>
              <a:rPr lang="en-US" dirty="0"/>
              <a:t>A working application is great. However, people are less likely to use (or continue to use) if it’s not user-friendly. </a:t>
            </a:r>
          </a:p>
          <a:p>
            <a:r>
              <a:rPr lang="en-US" dirty="0"/>
              <a:t>Time spent on the UX and UI interface is designed to attract and retain users for your application.  </a:t>
            </a:r>
          </a:p>
          <a:p>
            <a:r>
              <a:rPr lang="en-US" b="1" dirty="0"/>
              <a:t>2. Allows people to understand         </a:t>
            </a:r>
          </a:p>
          <a:p>
            <a:r>
              <a:rPr lang="en-US" dirty="0"/>
              <a:t> Deploying an app with a poor user experience offers a lasting look. Before deployment, you can identify and resolve problems so your first impression is good. </a:t>
            </a:r>
          </a:p>
          <a:p>
            <a:r>
              <a:rPr lang="en-US" dirty="0"/>
              <a:t>A user-friendly app keeps people from leaving. Your software is an integral aspect of your life. Your application will be used by new users as its usability is known.  </a:t>
            </a:r>
          </a:p>
          <a:p>
            <a:r>
              <a:rPr lang="en-US" dirty="0"/>
              <a:t>You must consider the needs of your customers before designing the </a:t>
            </a:r>
            <a:r>
              <a:rPr lang="en-US" dirty="0" err="1"/>
              <a:t>Ul</a:t>
            </a:r>
            <a:r>
              <a:rPr lang="en-US" dirty="0"/>
              <a:t> UX.    </a:t>
            </a:r>
          </a:p>
        </p:txBody>
      </p:sp>
    </p:spTree>
    <p:extLst>
      <p:ext uri="{BB962C8B-B14F-4D97-AF65-F5344CB8AC3E}">
        <p14:creationId xmlns:p14="http://schemas.microsoft.com/office/powerpoint/2010/main" val="4186143251"/>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a:t>3.Establishes your brand  </a:t>
            </a:r>
            <a:endParaRPr lang="en-US" dirty="0"/>
          </a:p>
          <a:p>
            <a:r>
              <a:rPr lang="en-US" dirty="0"/>
              <a:t>Attractive applications have more users and they’re a reality. The popular UI / UX has attracted several millions of uses, apps like Twitter, </a:t>
            </a:r>
            <a:r>
              <a:rPr lang="en-US" dirty="0" err="1"/>
              <a:t>Instagram</a:t>
            </a:r>
            <a:r>
              <a:rPr lang="en-US" dirty="0"/>
              <a:t>, Facebook, etc. The happiness from a great user experience makes users trustworthy.  </a:t>
            </a:r>
          </a:p>
          <a:p>
            <a:r>
              <a:rPr lang="en-US" b="1" dirty="0"/>
              <a:t>4.Lower costs and time management  </a:t>
            </a:r>
          </a:p>
          <a:p>
            <a:r>
              <a:rPr lang="en-US" dirty="0"/>
              <a:t> You have a very little risk that your clients would have an issue with your application if you invest in a great UI / UX design. A great product does not need regular updates so you save money and time on an update. The upgrade needs some money-and-time expenses. Losses for your company will occur.  </a:t>
            </a:r>
          </a:p>
          <a:p>
            <a:r>
              <a:rPr lang="en-US" dirty="0"/>
              <a:t>The effective architecture of UX and UI saves development time. Mock-ups and prototypes smooth out problems before a long period of production. You keep track of the release date so you are less likely to go back and redo development work.  </a:t>
            </a:r>
          </a:p>
          <a:p>
            <a:endParaRPr lang="en-US" dirty="0"/>
          </a:p>
          <a:p>
            <a:endParaRPr lang="en-US" dirty="0"/>
          </a:p>
        </p:txBody>
      </p:sp>
    </p:spTree>
    <p:extLst>
      <p:ext uri="{BB962C8B-B14F-4D97-AF65-F5344CB8AC3E}">
        <p14:creationId xmlns:p14="http://schemas.microsoft.com/office/powerpoint/2010/main" val="118555606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 Conclusion  </a:t>
            </a:r>
            <a:br>
              <a:rPr lang="en-US" b="1" dirty="0"/>
            </a:br>
            <a:endParaRPr lang="en-US" b="1" dirty="0"/>
          </a:p>
        </p:txBody>
      </p:sp>
      <p:sp>
        <p:nvSpPr>
          <p:cNvPr id="3" name="Content Placeholder 2"/>
          <p:cNvSpPr>
            <a:spLocks noGrp="1"/>
          </p:cNvSpPr>
          <p:nvPr>
            <p:ph idx="1"/>
          </p:nvPr>
        </p:nvSpPr>
        <p:spPr/>
        <p:txBody>
          <a:bodyPr/>
          <a:lstStyle/>
          <a:p>
            <a:r>
              <a:rPr lang="en-US" dirty="0"/>
              <a:t>The role of UI/UX in the creation of apps is important. Most developers build a high performing device but do not concentrate on the nature that causes the device to fail. </a:t>
            </a:r>
          </a:p>
          <a:p>
            <a:r>
              <a:rPr lang="en-US" dirty="0"/>
              <a:t>The functionality of the application is difficult to combine with UI UX design, but it is important to do that.  </a:t>
            </a:r>
          </a:p>
          <a:p>
            <a:endParaRPr lang="en-US" dirty="0"/>
          </a:p>
        </p:txBody>
      </p:sp>
    </p:spTree>
    <p:extLst>
      <p:ext uri="{BB962C8B-B14F-4D97-AF65-F5344CB8AC3E}">
        <p14:creationId xmlns:p14="http://schemas.microsoft.com/office/powerpoint/2010/main" val="93777673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00"/>
                </a:solidFill>
                <a:latin typeface="Wingdings-Regular"/>
              </a:rPr>
              <a:t> </a:t>
            </a:r>
            <a:r>
              <a:rPr lang="en-US" b="1" dirty="0">
                <a:solidFill>
                  <a:srgbClr val="000000"/>
                </a:solidFill>
                <a:latin typeface="Roboto"/>
              </a:rPr>
              <a:t>Important principles of user experience design</a:t>
            </a:r>
            <a:br>
              <a:rPr lang="en-US" dirty="0">
                <a:solidFill>
                  <a:srgbClr val="000000"/>
                </a:solidFill>
                <a:latin typeface="Roboto"/>
              </a:rPr>
            </a:br>
            <a:endParaRPr lang="en-US" dirty="0"/>
          </a:p>
        </p:txBody>
      </p:sp>
      <p:sp>
        <p:nvSpPr>
          <p:cNvPr id="3" name="Content Placeholder 2"/>
          <p:cNvSpPr>
            <a:spLocks noGrp="1"/>
          </p:cNvSpPr>
          <p:nvPr>
            <p:ph idx="1"/>
          </p:nvPr>
        </p:nvSpPr>
        <p:spPr/>
        <p:txBody>
          <a:bodyPr>
            <a:normAutofit lnSpcReduction="10000"/>
          </a:bodyPr>
          <a:lstStyle/>
          <a:p>
            <a:r>
              <a:rPr lang="en-US" dirty="0"/>
              <a:t>UX design is the process of creating products and services that solve a specific user problem, while ensuring that the proposed solution is both easy and enjoyable to use. </a:t>
            </a:r>
          </a:p>
          <a:p>
            <a:r>
              <a:rPr lang="en-US" dirty="0"/>
              <a:t>It takes a lot to get the user experience just right and there are many different factors to consider.</a:t>
            </a:r>
          </a:p>
          <a:p>
            <a:r>
              <a:rPr lang="en-US" dirty="0"/>
              <a:t>The most important UX design principles that all designers should know about:</a:t>
            </a:r>
            <a:endParaRPr lang="en-US" dirty="0">
              <a:solidFill>
                <a:srgbClr val="000000"/>
              </a:solidFill>
              <a:latin typeface="Roboto"/>
            </a:endParaRPr>
          </a:p>
          <a:p>
            <a:pPr marL="0" indent="0">
              <a:buNone/>
            </a:pPr>
            <a:endParaRPr lang="en-US" b="1" dirty="0"/>
          </a:p>
        </p:txBody>
      </p:sp>
    </p:spTree>
    <p:extLst>
      <p:ext uri="{BB962C8B-B14F-4D97-AF65-F5344CB8AC3E}">
        <p14:creationId xmlns:p14="http://schemas.microsoft.com/office/powerpoint/2010/main" val="409053740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a:buFont typeface="Wingdings" pitchFamily="2" charset="2"/>
              <a:buChar char="q"/>
            </a:pPr>
            <a:r>
              <a:rPr lang="en-US" b="1" dirty="0">
                <a:solidFill>
                  <a:srgbClr val="000000"/>
                </a:solidFill>
                <a:latin typeface="Roboto"/>
              </a:rPr>
              <a:t>Clarity: </a:t>
            </a:r>
            <a:r>
              <a:rPr lang="en-US" dirty="0"/>
              <a:t>the measure of how effectively visual design </a:t>
            </a:r>
            <a:r>
              <a:rPr lang="en-US" dirty="0" err="1"/>
              <a:t>prioritises</a:t>
            </a:r>
            <a:r>
              <a:rPr lang="en-US" dirty="0"/>
              <a:t> and conveys information. It is determined by all the components of a webpage that can stimulate visually. Clarity produces meaningful, unobstructed interaction. It is, also, instrumental when perceiving something as beautiful.</a:t>
            </a:r>
            <a:endParaRPr lang="en-US" b="1" dirty="0">
              <a:solidFill>
                <a:srgbClr val="000000"/>
              </a:solidFill>
              <a:latin typeface="Roboto"/>
            </a:endParaRPr>
          </a:p>
          <a:p>
            <a:pPr>
              <a:buFont typeface="Wingdings" pitchFamily="2" charset="2"/>
              <a:buChar char="q"/>
            </a:pPr>
            <a:r>
              <a:rPr lang="en-US" b="1" dirty="0"/>
              <a:t>User-centricity:</a:t>
            </a:r>
          </a:p>
          <a:p>
            <a:pPr marL="114300" indent="0">
              <a:buNone/>
            </a:pPr>
            <a:r>
              <a:rPr lang="en-US" dirty="0"/>
              <a:t>User-centricity basically means putting the user’s needs first and making decisions based on what you know about them and what they want from the product. </a:t>
            </a:r>
            <a:endParaRPr lang="en-US" b="1" dirty="0"/>
          </a:p>
        </p:txBody>
      </p:sp>
    </p:spTree>
    <p:extLst>
      <p:ext uri="{BB962C8B-B14F-4D97-AF65-F5344CB8AC3E}">
        <p14:creationId xmlns:p14="http://schemas.microsoft.com/office/powerpoint/2010/main" val="426339201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Hierarchy</a:t>
            </a:r>
          </a:p>
          <a:p>
            <a:r>
              <a:rPr lang="en-US" dirty="0"/>
              <a:t>Hierarchy is an important UX design principle as it shapes how the user navigates a product — and how easy or complicated the process is. </a:t>
            </a:r>
          </a:p>
          <a:p>
            <a:r>
              <a:rPr lang="en-US" b="1" dirty="0"/>
              <a:t>Usability </a:t>
            </a:r>
          </a:p>
          <a:p>
            <a:r>
              <a:rPr lang="en-US" dirty="0"/>
              <a:t>Usability is, quite simply, a measure of how easy a product is to use.</a:t>
            </a:r>
            <a:endParaRPr lang="en-US" dirty="0">
              <a:solidFill>
                <a:srgbClr val="000000"/>
              </a:solidFill>
              <a:latin typeface="Roboto"/>
            </a:endParaRPr>
          </a:p>
        </p:txBody>
      </p:sp>
    </p:spTree>
    <p:extLst>
      <p:ext uri="{BB962C8B-B14F-4D97-AF65-F5344CB8AC3E}">
        <p14:creationId xmlns:p14="http://schemas.microsoft.com/office/powerpoint/2010/main" val="159657367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0"/>
            <a:ext cx="8305800" cy="6553200"/>
          </a:xfrm>
        </p:spPr>
        <p:txBody>
          <a:bodyPr>
            <a:normAutofit fontScale="77500" lnSpcReduction="20000"/>
          </a:bodyPr>
          <a:lstStyle/>
          <a:p>
            <a:pPr>
              <a:buFont typeface="Wingdings" pitchFamily="2" charset="2"/>
              <a:buChar char="q"/>
            </a:pPr>
            <a:r>
              <a:rPr lang="en-US" b="1" dirty="0">
                <a:solidFill>
                  <a:srgbClr val="000000"/>
                </a:solidFill>
                <a:latin typeface="Roboto"/>
              </a:rPr>
              <a:t>Consistency:</a:t>
            </a:r>
          </a:p>
          <a:p>
            <a:r>
              <a:rPr lang="en-US" dirty="0"/>
              <a:t>It is essential to keep your designs consistent in terms of how they look and function across all pages/screens and products within the same brand or product family.</a:t>
            </a:r>
            <a:endParaRPr lang="en-US" dirty="0">
              <a:solidFill>
                <a:srgbClr val="000000"/>
              </a:solidFill>
              <a:latin typeface="Roboto"/>
            </a:endParaRPr>
          </a:p>
          <a:p>
            <a:pPr>
              <a:buFont typeface="Wingdings" pitchFamily="2" charset="2"/>
              <a:buChar char="q"/>
            </a:pPr>
            <a:r>
              <a:rPr lang="en-US" b="1" dirty="0">
                <a:solidFill>
                  <a:srgbClr val="000000"/>
                </a:solidFill>
                <a:latin typeface="Roboto"/>
              </a:rPr>
              <a:t>User control:</a:t>
            </a:r>
          </a:p>
          <a:p>
            <a:pPr marL="0" indent="0">
              <a:buNone/>
            </a:pPr>
            <a:r>
              <a:rPr lang="en-US" dirty="0"/>
              <a:t>The principle of user control is all about helping users to correct or reverse errors without throwing the entire user experience into disarray. You can build user control and freedom into your product by incorporating “Undo” and “Redo” functionality, providing “Cancel” buttons and clearly </a:t>
            </a:r>
            <a:r>
              <a:rPr lang="en-US" dirty="0" err="1"/>
              <a:t>labelling</a:t>
            </a:r>
            <a:r>
              <a:rPr lang="en-US" dirty="0"/>
              <a:t> alternative actions and routes the user can take if they want to revert a particular action. </a:t>
            </a:r>
            <a:endParaRPr lang="en-US" dirty="0">
              <a:solidFill>
                <a:srgbClr val="000000"/>
              </a:solidFill>
              <a:latin typeface="Roboto"/>
            </a:endParaRPr>
          </a:p>
          <a:p>
            <a:pPr>
              <a:buFont typeface="Wingdings" pitchFamily="2" charset="2"/>
              <a:buChar char="q"/>
            </a:pPr>
            <a:r>
              <a:rPr lang="en-US" b="1" dirty="0">
                <a:solidFill>
                  <a:srgbClr val="000000"/>
                </a:solidFill>
                <a:latin typeface="Roboto"/>
              </a:rPr>
              <a:t>Comfort</a:t>
            </a:r>
          </a:p>
          <a:p>
            <a:pPr>
              <a:buFont typeface="Wingdings" pitchFamily="2" charset="2"/>
              <a:buChar char="q"/>
            </a:pPr>
            <a:r>
              <a:rPr lang="en-US" b="1" dirty="0">
                <a:solidFill>
                  <a:srgbClr val="000000"/>
                </a:solidFill>
                <a:latin typeface="Roboto"/>
              </a:rPr>
              <a:t>Accessibility</a:t>
            </a:r>
            <a:r>
              <a:rPr lang="en-US" dirty="0">
                <a:solidFill>
                  <a:srgbClr val="000000"/>
                </a:solidFill>
                <a:latin typeface="Roboto"/>
              </a:rPr>
              <a:t>:</a:t>
            </a:r>
          </a:p>
          <a:p>
            <a:pPr marL="114300" indent="0">
              <a:buNone/>
            </a:pPr>
            <a:r>
              <a:rPr lang="en-US" dirty="0"/>
              <a:t>Accessibility is about ensuring your product or service is accessible to and usable for as many people as possible. It includes catering to the needs of people with disabilities, as well as understanding how different environments or situational factors might impact the user experience. </a:t>
            </a:r>
          </a:p>
          <a:p>
            <a:endParaRPr lang="en-US" dirty="0"/>
          </a:p>
          <a:p>
            <a:endParaRPr lang="en-US" dirty="0"/>
          </a:p>
        </p:txBody>
      </p:sp>
    </p:spTree>
    <p:extLst>
      <p:ext uri="{BB962C8B-B14F-4D97-AF65-F5344CB8AC3E}">
        <p14:creationId xmlns:p14="http://schemas.microsoft.com/office/powerpoint/2010/main" val="99308432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00"/>
                </a:solidFill>
                <a:latin typeface="Wingdings-Regular"/>
              </a:rPr>
              <a:t> </a:t>
            </a:r>
            <a:r>
              <a:rPr lang="en-US" b="1" dirty="0">
                <a:solidFill>
                  <a:srgbClr val="000000"/>
                </a:solidFill>
                <a:latin typeface="Roboto"/>
              </a:rPr>
              <a:t>UX design process key phases</a:t>
            </a:r>
            <a:br>
              <a:rPr lang="en-US" dirty="0">
                <a:solidFill>
                  <a:srgbClr val="000000"/>
                </a:solidFill>
                <a:latin typeface="Roboto"/>
              </a:rPr>
            </a:br>
            <a:endParaRPr lang="en-US" dirty="0"/>
          </a:p>
        </p:txBody>
      </p:sp>
      <p:sp>
        <p:nvSpPr>
          <p:cNvPr id="3" name="Content Placeholder 2"/>
          <p:cNvSpPr>
            <a:spLocks noGrp="1"/>
          </p:cNvSpPr>
          <p:nvPr>
            <p:ph idx="1"/>
          </p:nvPr>
        </p:nvSpPr>
        <p:spPr/>
        <p:txBody>
          <a:bodyPr>
            <a:normAutofit/>
          </a:bodyPr>
          <a:lstStyle/>
          <a:p>
            <a:pPr marL="0" lvl="0" indent="0" fontAlgn="base">
              <a:buNone/>
            </a:pPr>
            <a:r>
              <a:rPr lang="en-US" dirty="0"/>
              <a:t>1</a:t>
            </a:r>
            <a:r>
              <a:rPr lang="en-US" sz="2400" dirty="0"/>
              <a:t>. Product definition </a:t>
            </a:r>
          </a:p>
          <a:p>
            <a:pPr marL="0" lvl="0" indent="0" fontAlgn="base">
              <a:buNone/>
            </a:pPr>
            <a:r>
              <a:rPr lang="en-US" sz="2400" dirty="0"/>
              <a:t>2. Product research </a:t>
            </a:r>
          </a:p>
          <a:p>
            <a:pPr marL="0" lvl="0" indent="0" fontAlgn="base">
              <a:buNone/>
            </a:pPr>
            <a:r>
              <a:rPr lang="en-US" sz="2400" dirty="0"/>
              <a:t>3. Analysis   </a:t>
            </a:r>
          </a:p>
          <a:p>
            <a:pPr marL="0" lvl="0" indent="0" fontAlgn="base">
              <a:buNone/>
            </a:pPr>
            <a:r>
              <a:rPr lang="en-US" sz="2400" dirty="0"/>
              <a:t>4. Design  </a:t>
            </a:r>
          </a:p>
          <a:p>
            <a:pPr marL="0" indent="0">
              <a:buNone/>
            </a:pPr>
            <a:r>
              <a:rPr lang="en-US" sz="2400" dirty="0"/>
              <a:t>5. Validation (Testing)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4" name="Picture 3"/>
          <p:cNvPicPr/>
          <p:nvPr/>
        </p:nvPicPr>
        <p:blipFill>
          <a:blip r:embed="rId2"/>
          <a:stretch>
            <a:fillRect/>
          </a:stretch>
        </p:blipFill>
        <p:spPr>
          <a:xfrm>
            <a:off x="0" y="3962400"/>
            <a:ext cx="9144000" cy="2743200"/>
          </a:xfrm>
          <a:prstGeom prst="rect">
            <a:avLst/>
          </a:prstGeom>
        </p:spPr>
      </p:pic>
    </p:spTree>
    <p:extLst>
      <p:ext uri="{BB962C8B-B14F-4D97-AF65-F5344CB8AC3E}">
        <p14:creationId xmlns:p14="http://schemas.microsoft.com/office/powerpoint/2010/main" val="287292553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 Product definition  </a:t>
            </a:r>
            <a:br>
              <a:rPr lang="en-US" b="1" dirty="0"/>
            </a:br>
            <a:endParaRPr lang="en-US" dirty="0"/>
          </a:p>
        </p:txBody>
      </p:sp>
      <p:sp>
        <p:nvSpPr>
          <p:cNvPr id="3" name="Content Placeholder 2"/>
          <p:cNvSpPr>
            <a:spLocks noGrp="1"/>
          </p:cNvSpPr>
          <p:nvPr>
            <p:ph idx="1"/>
          </p:nvPr>
        </p:nvSpPr>
        <p:spPr/>
        <p:txBody>
          <a:bodyPr>
            <a:normAutofit fontScale="55000" lnSpcReduction="20000"/>
          </a:bodyPr>
          <a:lstStyle/>
          <a:p>
            <a:r>
              <a:rPr lang="en-US" dirty="0"/>
              <a:t>One of the most important phases in UX design is actually done before the product team creates anything. </a:t>
            </a:r>
          </a:p>
          <a:p>
            <a:r>
              <a:rPr lang="en-US" dirty="0"/>
              <a:t>Before you can build a product, you need to understand its context for existence. The product definition phase sets the foundation for the final product. </a:t>
            </a:r>
          </a:p>
          <a:p>
            <a:r>
              <a:rPr lang="en-US" dirty="0"/>
              <a:t>During this phase, UX designers brainstorm around the product at the highest level (basically, the concept of the product) with stakeholders.  </a:t>
            </a:r>
          </a:p>
          <a:p>
            <a:r>
              <a:rPr lang="en-US" dirty="0"/>
              <a:t>This phase usually includes:  </a:t>
            </a:r>
          </a:p>
          <a:p>
            <a:pPr lvl="0" fontAlgn="base"/>
            <a:r>
              <a:rPr lang="en-US" b="1" dirty="0"/>
              <a:t>Stakeholder interviews: </a:t>
            </a:r>
            <a:r>
              <a:rPr lang="en-US" dirty="0"/>
              <a:t>interviewing key stakeholders to gather insights about </a:t>
            </a:r>
          </a:p>
          <a:p>
            <a:r>
              <a:rPr lang="en-US" dirty="0"/>
              <a:t>business goals.  </a:t>
            </a:r>
          </a:p>
          <a:p>
            <a:pPr lvl="0" fontAlgn="base"/>
            <a:r>
              <a:rPr lang="en-US" b="1" dirty="0"/>
              <a:t>Value proposition mapping: </a:t>
            </a:r>
            <a:r>
              <a:rPr lang="en-US" dirty="0"/>
              <a:t>thinking about the key aspects and value propositions of the product: what it is, who will use it, and why they will use it.   </a:t>
            </a:r>
          </a:p>
          <a:p>
            <a:pPr lvl="0" fontAlgn="base"/>
            <a:r>
              <a:rPr lang="en-US" b="1" dirty="0"/>
              <a:t>Concept sketching</a:t>
            </a:r>
            <a:r>
              <a:rPr lang="en-US" dirty="0"/>
              <a:t>: creating an early mockup of the future product (can be low-</a:t>
            </a:r>
          </a:p>
          <a:p>
            <a:r>
              <a:rPr lang="en-US" dirty="0"/>
              <a:t>Fidelity per sketches of the product’s architecture).  </a:t>
            </a:r>
          </a:p>
          <a:p>
            <a:endParaRPr lang="en-US" dirty="0"/>
          </a:p>
        </p:txBody>
      </p:sp>
    </p:spTree>
    <p:extLst>
      <p:ext uri="{BB962C8B-B14F-4D97-AF65-F5344CB8AC3E}">
        <p14:creationId xmlns:p14="http://schemas.microsoft.com/office/powerpoint/2010/main" val="409405183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b="1" dirty="0"/>
              <a:t>Product research</a:t>
            </a:r>
            <a:endParaRPr lang="en-US" dirty="0"/>
          </a:p>
        </p:txBody>
      </p:sp>
      <p:sp>
        <p:nvSpPr>
          <p:cNvPr id="3" name="Content Placeholder 2"/>
          <p:cNvSpPr>
            <a:spLocks noGrp="1"/>
          </p:cNvSpPr>
          <p:nvPr>
            <p:ph idx="1"/>
          </p:nvPr>
        </p:nvSpPr>
        <p:spPr/>
        <p:txBody>
          <a:bodyPr>
            <a:normAutofit fontScale="92500" lnSpcReduction="20000"/>
          </a:bodyPr>
          <a:lstStyle/>
          <a:p>
            <a:r>
              <a:rPr lang="en-US" dirty="0"/>
              <a:t>Once you’ve defined your idea, the product team moves to the research phase. </a:t>
            </a:r>
          </a:p>
          <a:p>
            <a:r>
              <a:rPr lang="en-US" dirty="0"/>
              <a:t>This phase typically includes both</a:t>
            </a:r>
            <a:r>
              <a:rPr lang="en-US" dirty="0">
                <a:hlinkClick r:id="rId2"/>
              </a:rPr>
              <a:t> </a:t>
            </a:r>
            <a:r>
              <a:rPr lang="en-US" u="sng" dirty="0">
                <a:hlinkClick r:id="rId2"/>
              </a:rPr>
              <a:t>user research</a:t>
            </a:r>
            <a:r>
              <a:rPr lang="en-US" dirty="0">
                <a:hlinkClick r:id="rId2"/>
              </a:rPr>
              <a:t> a</a:t>
            </a:r>
            <a:r>
              <a:rPr lang="en-US" dirty="0"/>
              <a:t>nd market research.  This phase can include:  </a:t>
            </a:r>
          </a:p>
          <a:p>
            <a:r>
              <a:rPr lang="en-US" b="1" dirty="0"/>
              <a:t>Individual in-depth interviews (IDI).</a:t>
            </a:r>
            <a:r>
              <a:rPr lang="en-US" dirty="0"/>
              <a:t> A great product experience starts with a good understanding of the users.   </a:t>
            </a:r>
          </a:p>
          <a:p>
            <a:r>
              <a:rPr lang="en-US" b="1" dirty="0"/>
              <a:t>Competitive research. </a:t>
            </a:r>
            <a:r>
              <a:rPr lang="en-US" dirty="0"/>
              <a:t>Research helps UX designers understand industry standards  and identify opportunities for the product within its particular niche. </a:t>
            </a:r>
          </a:p>
          <a:p>
            <a:endParaRPr lang="en-US" dirty="0"/>
          </a:p>
        </p:txBody>
      </p:sp>
    </p:spTree>
    <p:extLst>
      <p:ext uri="{BB962C8B-B14F-4D97-AF65-F5344CB8AC3E}">
        <p14:creationId xmlns:p14="http://schemas.microsoft.com/office/powerpoint/2010/main" val="409892707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Analysis</a:t>
            </a:r>
            <a:endParaRPr lang="en-US" dirty="0"/>
          </a:p>
        </p:txBody>
      </p:sp>
      <p:sp>
        <p:nvSpPr>
          <p:cNvPr id="3" name="Content Placeholder 2"/>
          <p:cNvSpPr>
            <a:spLocks noGrp="1"/>
          </p:cNvSpPr>
          <p:nvPr>
            <p:ph idx="1"/>
          </p:nvPr>
        </p:nvSpPr>
        <p:spPr/>
        <p:txBody>
          <a:bodyPr>
            <a:normAutofit fontScale="62500" lnSpcReduction="20000"/>
          </a:bodyPr>
          <a:lstStyle/>
          <a:p>
            <a:r>
              <a:rPr lang="en-US" dirty="0"/>
              <a:t>The aim of the analysis phase is to draw insights from data collected during the research phase, moving from “what” users want/think/need to “why” they want/think/need it. </a:t>
            </a:r>
          </a:p>
          <a:p>
            <a:r>
              <a:rPr lang="en-US" dirty="0"/>
              <a:t>During this phase, designers confirm that the team’s most important assumptions are correct.  </a:t>
            </a:r>
          </a:p>
          <a:p>
            <a:r>
              <a:rPr lang="en-US" dirty="0"/>
              <a:t>This phase of the UX process usually includes:  </a:t>
            </a:r>
          </a:p>
          <a:p>
            <a:r>
              <a:rPr lang="en-US" b="1" dirty="0"/>
              <a:t>Creating user personas. </a:t>
            </a:r>
            <a:r>
              <a:rPr lang="en-US" dirty="0"/>
              <a:t>Personas are fictional characters that represent the different user types for your product. </a:t>
            </a:r>
          </a:p>
          <a:p>
            <a:r>
              <a:rPr lang="en-US" dirty="0"/>
              <a:t>As you design your product, you can reference these personas as realistic representations of your target audience.  </a:t>
            </a:r>
          </a:p>
          <a:p>
            <a:r>
              <a:rPr lang="en-US" b="1" dirty="0"/>
              <a:t>Creating user stories. </a:t>
            </a:r>
            <a:r>
              <a:rPr lang="en-US" dirty="0"/>
              <a:t>A user story is a tool that helps designers understand the product/service interactions from the user’s point of view.  </a:t>
            </a:r>
          </a:p>
          <a:p>
            <a:r>
              <a:rPr lang="en-US" b="1" dirty="0"/>
              <a:t>Storyboarding.</a:t>
            </a:r>
            <a:r>
              <a:rPr lang="en-US" dirty="0"/>
              <a:t> Storyboarding is a tool that helps designers </a:t>
            </a:r>
            <a:r>
              <a:rPr lang="en-US" i="1" dirty="0"/>
              <a:t>connect</a:t>
            </a:r>
            <a:r>
              <a:rPr lang="en-US" dirty="0"/>
              <a:t> user personas and user stories. As the name suggests, it’s essentially a story about a user interacting with  your product.  </a:t>
            </a:r>
          </a:p>
          <a:p>
            <a:endParaRPr lang="en-US" dirty="0"/>
          </a:p>
        </p:txBody>
      </p:sp>
    </p:spTree>
    <p:extLst>
      <p:ext uri="{BB962C8B-B14F-4D97-AF65-F5344CB8AC3E}">
        <p14:creationId xmlns:p14="http://schemas.microsoft.com/office/powerpoint/2010/main" val="81849273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4. Design  </a:t>
            </a:r>
            <a:br>
              <a:rPr lang="en-US" b="1" dirty="0"/>
            </a:br>
            <a:endParaRPr lang="en-US" dirty="0"/>
          </a:p>
        </p:txBody>
      </p:sp>
      <p:sp>
        <p:nvSpPr>
          <p:cNvPr id="3" name="Content Placeholder 2"/>
          <p:cNvSpPr>
            <a:spLocks noGrp="1"/>
          </p:cNvSpPr>
          <p:nvPr>
            <p:ph idx="1"/>
          </p:nvPr>
        </p:nvSpPr>
        <p:spPr/>
        <p:txBody>
          <a:bodyPr>
            <a:normAutofit fontScale="62500" lnSpcReduction="20000"/>
          </a:bodyPr>
          <a:lstStyle/>
          <a:p>
            <a:r>
              <a:rPr lang="en-US" dirty="0"/>
              <a:t>When users’ wants, needs, and expectations from a product are clear, product designers move to the design phase. At this step, product teams work on various activities, from creating information architecture (</a:t>
            </a:r>
            <a:r>
              <a:rPr lang="en-US" u="sng" dirty="0">
                <a:hlinkClick r:id="rId2"/>
              </a:rPr>
              <a:t>IA</a:t>
            </a:r>
            <a:r>
              <a:rPr lang="en-US" dirty="0">
                <a:hlinkClick r:id="rId2"/>
              </a:rPr>
              <a:t>) </a:t>
            </a:r>
            <a:r>
              <a:rPr lang="en-US" dirty="0"/>
              <a:t>to the actual</a:t>
            </a:r>
            <a:r>
              <a:rPr lang="en-US" dirty="0">
                <a:hlinkClick r:id="rId3"/>
              </a:rPr>
              <a:t> </a:t>
            </a:r>
            <a:r>
              <a:rPr lang="en-US" u="sng" dirty="0">
                <a:hlinkClick r:id="rId3"/>
              </a:rPr>
              <a:t>UI design</a:t>
            </a:r>
            <a:r>
              <a:rPr lang="en-US" dirty="0">
                <a:hlinkClick r:id="rId3"/>
              </a:rPr>
              <a:t>. </a:t>
            </a:r>
            <a:r>
              <a:rPr lang="en-US" dirty="0"/>
              <a:t>The design phase usually includes:  </a:t>
            </a:r>
          </a:p>
          <a:p>
            <a:r>
              <a:rPr lang="en-US" b="1" dirty="0"/>
              <a:t>Sketching.</a:t>
            </a:r>
            <a:r>
              <a:rPr lang="en-US" dirty="0"/>
              <a:t> Sketching is the easiest and fastest way to visualize our ideas.  </a:t>
            </a:r>
          </a:p>
          <a:p>
            <a:r>
              <a:rPr lang="en-US" b="1" dirty="0"/>
              <a:t>Creating wireframes. </a:t>
            </a:r>
            <a:r>
              <a:rPr lang="en-US" dirty="0"/>
              <a:t>A wireframe is a tool that helps designers visualize the basic structure of a future page, including the key elements and how they fit together.   </a:t>
            </a:r>
          </a:p>
          <a:p>
            <a:r>
              <a:rPr lang="en-US" b="1" dirty="0"/>
              <a:t>Creating prototypes.</a:t>
            </a:r>
            <a:r>
              <a:rPr lang="en-US" dirty="0"/>
              <a:t> While wireframes are mostly about structure and visual hierarchy (the look), prototypes are about the actual interaction experience (the look  and feel).   </a:t>
            </a:r>
          </a:p>
          <a:p>
            <a:r>
              <a:rPr lang="en-US" b="1" dirty="0"/>
              <a:t>Creating</a:t>
            </a:r>
            <a:r>
              <a:rPr lang="en-US" b="1" dirty="0">
                <a:hlinkClick r:id="rId4"/>
              </a:rPr>
              <a:t> design systems.</a:t>
            </a:r>
            <a:r>
              <a:rPr lang="en-US" dirty="0">
                <a:hlinkClick r:id="rId4"/>
              </a:rPr>
              <a:t> </a:t>
            </a:r>
            <a:r>
              <a:rPr lang="en-US" dirty="0"/>
              <a:t>For large projects, designers typically create a system of components, patterns, and styles that help both designers and developers stay on the  same page regarding the design.  </a:t>
            </a:r>
          </a:p>
          <a:p>
            <a:endParaRPr lang="en-US" dirty="0"/>
          </a:p>
        </p:txBody>
      </p:sp>
    </p:spTree>
    <p:extLst>
      <p:ext uri="{BB962C8B-B14F-4D97-AF65-F5344CB8AC3E}">
        <p14:creationId xmlns:p14="http://schemas.microsoft.com/office/powerpoint/2010/main" val="299510842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5. Validation (Testing</a:t>
            </a:r>
            <a:r>
              <a:rPr lang="en-US" b="1" u="sng" dirty="0"/>
              <a:t>)</a:t>
            </a:r>
            <a:r>
              <a:rPr lang="en-US" b="1" dirty="0"/>
              <a:t>  </a:t>
            </a:r>
            <a:br>
              <a:rPr lang="en-US" b="1" dirty="0"/>
            </a:br>
            <a:endParaRPr lang="en-US" dirty="0"/>
          </a:p>
        </p:txBody>
      </p:sp>
      <p:sp>
        <p:nvSpPr>
          <p:cNvPr id="3" name="Content Placeholder 2"/>
          <p:cNvSpPr>
            <a:spLocks noGrp="1"/>
          </p:cNvSpPr>
          <p:nvPr>
            <p:ph idx="1"/>
          </p:nvPr>
        </p:nvSpPr>
        <p:spPr/>
        <p:txBody>
          <a:bodyPr>
            <a:normAutofit fontScale="55000" lnSpcReduction="20000"/>
          </a:bodyPr>
          <a:lstStyle/>
          <a:p>
            <a:r>
              <a:rPr lang="en-US" dirty="0"/>
              <a:t>Validation is an essential step in the design process because it helps teams understand whether their design works for their users. </a:t>
            </a:r>
          </a:p>
          <a:p>
            <a:r>
              <a:rPr lang="en-US" dirty="0"/>
              <a:t>The validation phase of the UX process may include the following activities:  </a:t>
            </a:r>
          </a:p>
          <a:p>
            <a:r>
              <a:rPr lang="en-US" b="1" dirty="0"/>
              <a:t>“Eat your own </a:t>
            </a:r>
            <a:r>
              <a:rPr lang="en-US" b="1" dirty="0" err="1"/>
              <a:t>dogfood</a:t>
            </a:r>
            <a:r>
              <a:rPr lang="en-US" b="1" dirty="0"/>
              <a:t>.” </a:t>
            </a:r>
            <a:r>
              <a:rPr lang="en-US" dirty="0"/>
              <a:t>Once the design team has iterated the product to the point where it’s usable, it’s time to test the product in-house.   </a:t>
            </a:r>
          </a:p>
          <a:p>
            <a:r>
              <a:rPr lang="en-US" b="1" dirty="0"/>
              <a:t>Testing sessions.</a:t>
            </a:r>
            <a:r>
              <a:rPr lang="en-US" dirty="0"/>
              <a:t> User testing sessions with people who represent your target audience are very important. </a:t>
            </a:r>
          </a:p>
          <a:p>
            <a:r>
              <a:rPr lang="en-US" dirty="0"/>
              <a:t>There are many different formats to try, including moderated/</a:t>
            </a:r>
            <a:r>
              <a:rPr lang="en-US" dirty="0" err="1"/>
              <a:t>unmoderated</a:t>
            </a:r>
            <a:r>
              <a:rPr lang="en-US" dirty="0"/>
              <a:t> usability testing, focus groups, beta testing, and A/B testing.  </a:t>
            </a:r>
          </a:p>
          <a:p>
            <a:r>
              <a:rPr lang="en-US" b="1" dirty="0"/>
              <a:t>Surveys.</a:t>
            </a:r>
            <a:r>
              <a:rPr lang="en-US" dirty="0"/>
              <a:t> Surveys are a great tool for capturing both quantitative and qualitative information from real-world users  </a:t>
            </a:r>
          </a:p>
          <a:p>
            <a:r>
              <a:rPr lang="en-US" b="1" dirty="0"/>
              <a:t>Analytics. </a:t>
            </a:r>
            <a:r>
              <a:rPr lang="en-US" dirty="0"/>
              <a:t>Quantitative data (clicks, navigation time, search queries, etc.) from an  </a:t>
            </a:r>
          </a:p>
          <a:p>
            <a:pPr marL="0" indent="0">
              <a:buNone/>
            </a:pPr>
            <a:r>
              <a:rPr lang="en-US" dirty="0"/>
              <a:t>analytics tool can be very helpful to uncover how users interact with your product. </a:t>
            </a:r>
          </a:p>
        </p:txBody>
      </p:sp>
    </p:spTree>
    <p:extLst>
      <p:ext uri="{BB962C8B-B14F-4D97-AF65-F5344CB8AC3E}">
        <p14:creationId xmlns:p14="http://schemas.microsoft.com/office/powerpoint/2010/main" val="231189290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0000"/>
                </a:solidFill>
                <a:latin typeface="Roboto"/>
              </a:rPr>
              <a:t>Wireframe</a:t>
            </a:r>
            <a:br>
              <a:rPr lang="en-US" dirty="0">
                <a:solidFill>
                  <a:srgbClr val="000000"/>
                </a:solidFill>
                <a:latin typeface="Roboto"/>
              </a:rPr>
            </a:b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US" dirty="0"/>
              <a:t> </a:t>
            </a:r>
          </a:p>
          <a:p>
            <a:endParaRPr lang="en-US"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Figure that show wireframe </a:t>
            </a:r>
            <a:endParaRPr lang="en-US" dirty="0">
              <a:solidFill>
                <a:srgbClr val="000000"/>
              </a:solidFill>
              <a:latin typeface="Roboto"/>
            </a:endParaRPr>
          </a:p>
          <a:p>
            <a:endParaRPr lang="en-US" dirty="0"/>
          </a:p>
          <a:p>
            <a:endParaRPr lang="en-US" dirty="0"/>
          </a:p>
        </p:txBody>
      </p:sp>
      <p:pic>
        <p:nvPicPr>
          <p:cNvPr id="4" name="Picture 3"/>
          <p:cNvPicPr/>
          <p:nvPr/>
        </p:nvPicPr>
        <p:blipFill>
          <a:blip r:embed="rId2"/>
          <a:stretch>
            <a:fillRect/>
          </a:stretch>
        </p:blipFill>
        <p:spPr>
          <a:xfrm>
            <a:off x="914400" y="1321071"/>
            <a:ext cx="5334000" cy="3708129"/>
          </a:xfrm>
          <a:prstGeom prst="rect">
            <a:avLst/>
          </a:prstGeom>
        </p:spPr>
      </p:pic>
    </p:spTree>
    <p:extLst>
      <p:ext uri="{BB962C8B-B14F-4D97-AF65-F5344CB8AC3E}">
        <p14:creationId xmlns:p14="http://schemas.microsoft.com/office/powerpoint/2010/main" val="251581309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is a wireframe?  </a:t>
            </a:r>
            <a:br>
              <a:rPr lang="en-US" b="1" dirty="0"/>
            </a:br>
            <a:endParaRPr lang="en-US" b="1" dirty="0"/>
          </a:p>
        </p:txBody>
      </p:sp>
      <p:sp>
        <p:nvSpPr>
          <p:cNvPr id="3" name="Content Placeholder 2"/>
          <p:cNvSpPr>
            <a:spLocks noGrp="1"/>
          </p:cNvSpPr>
          <p:nvPr>
            <p:ph idx="1"/>
          </p:nvPr>
        </p:nvSpPr>
        <p:spPr/>
        <p:txBody>
          <a:bodyPr>
            <a:normAutofit fontScale="62500" lnSpcReduction="20000"/>
          </a:bodyPr>
          <a:lstStyle/>
          <a:p>
            <a:r>
              <a:rPr lang="en-US" dirty="0">
                <a:hlinkClick r:id="rId2"/>
              </a:rPr>
              <a:t>A </a:t>
            </a:r>
            <a:r>
              <a:rPr lang="en-US" u="sng" dirty="0">
                <a:hlinkClick r:id="rId2"/>
              </a:rPr>
              <a:t>wireframe</a:t>
            </a:r>
            <a:r>
              <a:rPr lang="en-US" dirty="0">
                <a:hlinkClick r:id="rId2"/>
              </a:rPr>
              <a:t> i</a:t>
            </a:r>
            <a:r>
              <a:rPr lang="en-US" dirty="0"/>
              <a:t>s a skeletal blueprint or framework that outlines the basic design and functions of a user interface (such as a website or application).   </a:t>
            </a:r>
          </a:p>
          <a:p>
            <a:r>
              <a:rPr lang="en-US" dirty="0"/>
              <a:t>The goal of a wireframe is to quickly and easily communicate:   </a:t>
            </a:r>
          </a:p>
          <a:p>
            <a:pPr lvl="1" fontAlgn="base"/>
            <a:r>
              <a:rPr lang="en-US" i="1" dirty="0"/>
              <a:t>The contents of the page  </a:t>
            </a:r>
          </a:p>
          <a:p>
            <a:pPr lvl="1" fontAlgn="base"/>
            <a:r>
              <a:rPr lang="en-US" i="1" dirty="0"/>
              <a:t>The page structure and layout  </a:t>
            </a:r>
          </a:p>
          <a:p>
            <a:pPr lvl="1" fontAlgn="base"/>
            <a:r>
              <a:rPr lang="en-US" i="1" dirty="0"/>
              <a:t>The app’s functions  </a:t>
            </a:r>
          </a:p>
          <a:p>
            <a:r>
              <a:rPr lang="en-US" dirty="0"/>
              <a:t>In other words, a wireframe describes the basic structure, functions, and content of the page.   </a:t>
            </a:r>
          </a:p>
          <a:p>
            <a:r>
              <a:rPr lang="en-US" dirty="0"/>
              <a:t>Wireframes can be low-fidelity or high-fidelity, depending on your needs and preferences. </a:t>
            </a:r>
          </a:p>
          <a:p>
            <a:r>
              <a:rPr lang="en-US" b="1" i="1" dirty="0"/>
              <a:t>A low-fidelity :</a:t>
            </a:r>
            <a:r>
              <a:rPr lang="en-US" dirty="0"/>
              <a:t>wireframe is often sketched out on paper or a whiteboard and is a useful way to brainstorm the basic outline for your design. </a:t>
            </a:r>
          </a:p>
          <a:p>
            <a:r>
              <a:rPr lang="en-US" b="1" i="1" dirty="0"/>
              <a:t>A high-fidelity :</a:t>
            </a:r>
            <a:r>
              <a:rPr lang="en-US" dirty="0"/>
              <a:t>wireframe has more detail and may include simple workflows and interactions.         </a:t>
            </a:r>
          </a:p>
          <a:p>
            <a:endParaRPr lang="en-US" dirty="0"/>
          </a:p>
        </p:txBody>
      </p:sp>
    </p:spTree>
    <p:extLst>
      <p:ext uri="{BB962C8B-B14F-4D97-AF65-F5344CB8AC3E}">
        <p14:creationId xmlns:p14="http://schemas.microsoft.com/office/powerpoint/2010/main" val="946628589"/>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a:t>Mockup</a:t>
            </a:r>
            <a:br>
              <a:rPr lang="en-US" b="1" dirty="0"/>
            </a:br>
            <a:endParaRPr lang="en-US" dirty="0"/>
          </a:p>
        </p:txBody>
      </p:sp>
      <p:sp>
        <p:nvSpPr>
          <p:cNvPr id="3" name="Content Placeholder 2"/>
          <p:cNvSpPr>
            <a:spLocks noGrp="1"/>
          </p:cNvSpPr>
          <p:nvPr>
            <p:ph idx="1"/>
          </p:nvPr>
        </p:nvSpPr>
        <p:spPr/>
        <p:txBody>
          <a:bodyPr>
            <a:normAutofit/>
          </a:bodyPr>
          <a:lstStyle/>
          <a:p>
            <a:pPr marL="0" indent="0">
              <a:buNone/>
            </a:pPr>
            <a:r>
              <a:rPr lang="en-US" dirty="0"/>
              <a:t> </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19200"/>
            <a:ext cx="85344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348668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is a mockup?  </a:t>
            </a:r>
            <a:br>
              <a:rPr lang="en-US" dirty="0"/>
            </a:br>
            <a:endParaRPr lang="en-US" dirty="0"/>
          </a:p>
        </p:txBody>
      </p:sp>
      <p:sp>
        <p:nvSpPr>
          <p:cNvPr id="3" name="Content Placeholder 2"/>
          <p:cNvSpPr>
            <a:spLocks noGrp="1"/>
          </p:cNvSpPr>
          <p:nvPr>
            <p:ph idx="1"/>
          </p:nvPr>
        </p:nvSpPr>
        <p:spPr/>
        <p:txBody>
          <a:bodyPr>
            <a:normAutofit fontScale="62500" lnSpcReduction="20000"/>
          </a:bodyPr>
          <a:lstStyle/>
          <a:p>
            <a:r>
              <a:rPr lang="en-US" dirty="0"/>
              <a:t>A mockup is the next, more in-depth iteration of the wireframe outline. A mockup is a static wireframe that includes more stylistic and visual UI details to present a realistic model of what the final page or application will look like.   </a:t>
            </a:r>
          </a:p>
          <a:p>
            <a:r>
              <a:rPr lang="en-US" dirty="0"/>
              <a:t>A good way to think of it is that a wireframe is a blueprint(plan) and a mockup is a visual model.   </a:t>
            </a:r>
          </a:p>
          <a:p>
            <a:r>
              <a:rPr lang="en-US" dirty="0"/>
              <a:t>A mockup typically includes additional visual details such as:  </a:t>
            </a:r>
          </a:p>
          <a:p>
            <a:pPr lvl="0" fontAlgn="base"/>
            <a:r>
              <a:rPr lang="en-US" dirty="0"/>
              <a:t>Colors, styles, graphics, and typography  </a:t>
            </a:r>
          </a:p>
          <a:p>
            <a:pPr lvl="0" fontAlgn="base"/>
            <a:r>
              <a:rPr lang="en-US" dirty="0"/>
              <a:t>Styled buttons and text  </a:t>
            </a:r>
          </a:p>
          <a:p>
            <a:pPr lvl="0" fontAlgn="base"/>
            <a:r>
              <a:rPr lang="en-US" dirty="0"/>
              <a:t>Navigation graphics  </a:t>
            </a:r>
          </a:p>
          <a:p>
            <a:pPr lvl="0" fontAlgn="base"/>
            <a:r>
              <a:rPr lang="en-US" dirty="0"/>
              <a:t>Component spacing  </a:t>
            </a:r>
          </a:p>
          <a:p>
            <a:r>
              <a:rPr lang="en-US" dirty="0"/>
              <a:t>Mockups are useful tools for understanding and communicating what the final interface should look like and gives stakeholders a chance to preview design and style choices before committing to building the app in a functional prototype.</a:t>
            </a:r>
          </a:p>
          <a:p>
            <a:endParaRPr lang="en-US" dirty="0"/>
          </a:p>
        </p:txBody>
      </p:sp>
    </p:spTree>
    <p:extLst>
      <p:ext uri="{BB962C8B-B14F-4D97-AF65-F5344CB8AC3E}">
        <p14:creationId xmlns:p14="http://schemas.microsoft.com/office/powerpoint/2010/main" val="1196283604"/>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Prototype</a:t>
            </a:r>
            <a:endParaRPr lang="en-US" dirty="0"/>
          </a:p>
        </p:txBody>
      </p:sp>
      <p:sp>
        <p:nvSpPr>
          <p:cNvPr id="3" name="Content Placeholder 2"/>
          <p:cNvSpPr>
            <a:spLocks noGrp="1"/>
          </p:cNvSpPr>
          <p:nvPr>
            <p:ph idx="1"/>
          </p:nvPr>
        </p:nvSpPr>
        <p:spPr/>
        <p:txBody>
          <a:bodyPr>
            <a:normAutofit/>
          </a:bodyPr>
          <a:lstStyle/>
          <a:p>
            <a:pPr marL="0" lvl="0" indent="0">
              <a:buNone/>
            </a:pPr>
            <a:r>
              <a:rPr lang="en-US" dirty="0"/>
              <a:t> </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371600"/>
            <a:ext cx="106680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502639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 </a:t>
            </a:r>
            <a:r>
              <a:rPr lang="en-US" b="1" dirty="0"/>
              <a:t>A prototype</a:t>
            </a:r>
            <a:r>
              <a:rPr lang="en-US" dirty="0"/>
              <a:t> is</a:t>
            </a:r>
            <a:r>
              <a:rPr lang="en-US" i="1" dirty="0"/>
              <a:t> “</a:t>
            </a:r>
            <a:r>
              <a:rPr lang="en-US" dirty="0"/>
              <a:t>A simulation or sample version of a final product, which UX teams use for testing before launch.”</a:t>
            </a:r>
            <a:r>
              <a:rPr lang="en-US" i="1" dirty="0"/>
              <a:t>  </a:t>
            </a:r>
            <a:r>
              <a:rPr lang="en-US" dirty="0"/>
              <a:t> </a:t>
            </a:r>
          </a:p>
          <a:p>
            <a:r>
              <a:rPr lang="en-US" dirty="0"/>
              <a:t>The goal of a prototype is to test and validate ideas before sharing them with stakeholders and eventually passing the final designs to engineering teams for the development process.  </a:t>
            </a:r>
          </a:p>
          <a:p>
            <a:r>
              <a:rPr lang="en-US" dirty="0"/>
              <a:t>Prototypes are essential for identifying and solving user pain points with participants during usability testing. </a:t>
            </a:r>
          </a:p>
          <a:p>
            <a:r>
              <a:rPr lang="en-US" dirty="0"/>
              <a:t>Testing prototypes with end-users enables UX teams to visualize and optimize the user experience during the design process.  </a:t>
            </a:r>
          </a:p>
          <a:p>
            <a:endParaRPr lang="en-US" dirty="0"/>
          </a:p>
        </p:txBody>
      </p:sp>
    </p:spTree>
    <p:extLst>
      <p:ext uri="{BB962C8B-B14F-4D97-AF65-F5344CB8AC3E}">
        <p14:creationId xmlns:p14="http://schemas.microsoft.com/office/powerpoint/2010/main" val="369453524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Distinction from wireframe, mockup and prototype</a:t>
            </a:r>
            <a:br>
              <a:rPr lang="en-US" b="1" dirty="0"/>
            </a:br>
            <a:endParaRPr lang="en-US" dirty="0"/>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371600"/>
            <a:ext cx="97536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586870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Distinction from wireframe, mockup and prototype  </a:t>
            </a:r>
            <a:r>
              <a:rPr lang="en-US" dirty="0"/>
              <a:t> </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dirty="0"/>
              <a:t>● A </a:t>
            </a:r>
            <a:r>
              <a:rPr lang="en-US" b="1" dirty="0"/>
              <a:t>wireframe</a:t>
            </a:r>
            <a:r>
              <a:rPr lang="en-US" dirty="0"/>
              <a:t> is a quick sketch of a product intended to convey its desired functionalities.</a:t>
            </a:r>
          </a:p>
          <a:p>
            <a:pPr marL="0" indent="0">
              <a:buNone/>
            </a:pPr>
            <a:r>
              <a:rPr lang="en-US" dirty="0"/>
              <a:t>● A </a:t>
            </a:r>
            <a:r>
              <a:rPr lang="en-US" b="1" dirty="0"/>
              <a:t>mockup</a:t>
            </a:r>
            <a:r>
              <a:rPr lang="en-US" dirty="0"/>
              <a:t> is a realistic design of a product designed to gather feedback on its visual elements. </a:t>
            </a:r>
          </a:p>
          <a:p>
            <a:pPr marL="0" indent="0">
              <a:buNone/>
            </a:pPr>
            <a:r>
              <a:rPr lang="en-US" dirty="0"/>
              <a:t>● A </a:t>
            </a:r>
            <a:r>
              <a:rPr lang="en-US" b="1" dirty="0"/>
              <a:t>prototype</a:t>
            </a:r>
            <a:r>
              <a:rPr lang="en-US" dirty="0"/>
              <a:t> is an interactive simulation of a product designed to test the user experience.  </a:t>
            </a:r>
          </a:p>
          <a:p>
            <a:endParaRPr lang="en-US" dirty="0"/>
          </a:p>
        </p:txBody>
      </p:sp>
    </p:spTree>
    <p:extLst>
      <p:ext uri="{BB962C8B-B14F-4D97-AF65-F5344CB8AC3E}">
        <p14:creationId xmlns:p14="http://schemas.microsoft.com/office/powerpoint/2010/main" val="361550021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a:t>information architecture</a:t>
            </a:r>
            <a:r>
              <a:rPr lang="en-US" dirty="0"/>
              <a:t>  </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lvl="0"/>
            <a:r>
              <a:rPr lang="en-US" dirty="0"/>
              <a:t>What is information architecture</a:t>
            </a:r>
            <a:r>
              <a:rPr lang="en-US" b="1"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p>
          <a:p>
            <a:r>
              <a:rPr lang="en-US" b="1" dirty="0"/>
              <a:t>Figure that show the components of information architecture </a:t>
            </a:r>
            <a:r>
              <a:rPr lang="en-US" dirty="0"/>
              <a:t> </a:t>
            </a:r>
          </a:p>
          <a:p>
            <a:endParaRPr lang="en-US" dirty="0"/>
          </a:p>
        </p:txBody>
      </p:sp>
      <p:pic>
        <p:nvPicPr>
          <p:cNvPr id="4" name="Picture 3"/>
          <p:cNvPicPr/>
          <p:nvPr/>
        </p:nvPicPr>
        <p:blipFill>
          <a:blip r:embed="rId2"/>
          <a:stretch>
            <a:fillRect/>
          </a:stretch>
        </p:blipFill>
        <p:spPr>
          <a:xfrm>
            <a:off x="1600200" y="1981200"/>
            <a:ext cx="4439285" cy="3048001"/>
          </a:xfrm>
          <a:prstGeom prst="rect">
            <a:avLst/>
          </a:prstGeom>
        </p:spPr>
      </p:pic>
    </p:spTree>
    <p:extLst>
      <p:ext uri="{BB962C8B-B14F-4D97-AF65-F5344CB8AC3E}">
        <p14:creationId xmlns:p14="http://schemas.microsoft.com/office/powerpoint/2010/main" val="312379024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a:t>Information architecture</a:t>
            </a:r>
            <a:r>
              <a:rPr lang="en-US" dirty="0"/>
              <a:t> is a discipline that focuses on the organization of information within digital products. </a:t>
            </a:r>
          </a:p>
          <a:p>
            <a:r>
              <a:rPr lang="en-US" dirty="0"/>
              <a:t>For example, when designers create apps and websites, they lay out each individual screen so that the user can easily find the information they need. </a:t>
            </a:r>
          </a:p>
          <a:p>
            <a:r>
              <a:rPr lang="en-US" dirty="0"/>
              <a:t>They also create a flow that lets users navigate between screens  without much effort. </a:t>
            </a:r>
          </a:p>
          <a:p>
            <a:r>
              <a:rPr lang="en-US" dirty="0"/>
              <a:t>UX architects determine the right organization and flow.  </a:t>
            </a:r>
          </a:p>
          <a:p>
            <a:endParaRPr lang="en-US" dirty="0"/>
          </a:p>
        </p:txBody>
      </p:sp>
    </p:spTree>
    <p:extLst>
      <p:ext uri="{BB962C8B-B14F-4D97-AF65-F5344CB8AC3E}">
        <p14:creationId xmlns:p14="http://schemas.microsoft.com/office/powerpoint/2010/main" val="114627587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a:t>Design thinking process   </a:t>
            </a:r>
            <a:br>
              <a:rPr lang="en-US" b="1" dirty="0"/>
            </a:br>
            <a:endParaRPr lang="en-US" dirty="0"/>
          </a:p>
        </p:txBody>
      </p:sp>
      <p:sp>
        <p:nvSpPr>
          <p:cNvPr id="3" name="Content Placeholder 2"/>
          <p:cNvSpPr>
            <a:spLocks noGrp="1"/>
          </p:cNvSpPr>
          <p:nvPr>
            <p:ph idx="1"/>
          </p:nvPr>
        </p:nvSpPr>
        <p:spPr/>
        <p:txBody>
          <a:bodyPr>
            <a:normAutofit fontScale="70000" lnSpcReduction="20000"/>
          </a:bodyPr>
          <a:lstStyle/>
          <a:p>
            <a:pPr lvl="0" fontAlgn="base"/>
            <a:r>
              <a:rPr lang="en-US" b="1" dirty="0"/>
              <a:t>What is design thinking? </a:t>
            </a:r>
            <a:r>
              <a:rPr lang="en-US" dirty="0"/>
              <a:t> </a:t>
            </a:r>
          </a:p>
          <a:p>
            <a:r>
              <a:rPr lang="en-US" dirty="0"/>
              <a:t>Design thinking is a methodology that attempts to solve complex problems in a creative and user-centric way. Core features of the design thinking methodology include:  </a:t>
            </a:r>
          </a:p>
          <a:p>
            <a:pPr lvl="0" fontAlgn="base"/>
            <a:r>
              <a:rPr lang="en-US" b="1" dirty="0"/>
              <a:t>Focus on end-users.</a:t>
            </a:r>
            <a:r>
              <a:rPr lang="en-US" dirty="0"/>
              <a:t> The end-user plays a key role in the design thinking process—all key product design decisions are evaluated according to the end  user’s needs and wants.  </a:t>
            </a:r>
          </a:p>
          <a:p>
            <a:pPr lvl="0" fontAlgn="base"/>
            <a:r>
              <a:rPr lang="en-US" b="1" dirty="0"/>
              <a:t>Solid problem framing.</a:t>
            </a:r>
            <a:r>
              <a:rPr lang="en-US" dirty="0"/>
              <a:t> Rather than accepting the problem as given, designers explore the problem space to find a root cause of the problem. The insights they  gain can help designers reinterpret the given problem.  </a:t>
            </a:r>
          </a:p>
          <a:p>
            <a:pPr lvl="0" fontAlgn="base"/>
            <a:r>
              <a:rPr lang="en-US" b="1" dirty="0"/>
              <a:t>Creating tangible solutions.</a:t>
            </a:r>
            <a:r>
              <a:rPr lang="en-US" dirty="0"/>
              <a:t> Convey design solutions using sketching and  prototyping as opposed to presentations and slide decks.  </a:t>
            </a:r>
          </a:p>
          <a:p>
            <a:endParaRPr lang="en-US" dirty="0"/>
          </a:p>
        </p:txBody>
      </p:sp>
    </p:spTree>
    <p:extLst>
      <p:ext uri="{BB962C8B-B14F-4D97-AF65-F5344CB8AC3E}">
        <p14:creationId xmlns:p14="http://schemas.microsoft.com/office/powerpoint/2010/main" val="219004199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fontAlgn="base"/>
            <a:r>
              <a:rPr lang="en-US" sz="2800" dirty="0"/>
              <a:t>The design thinking stages are:  </a:t>
            </a:r>
          </a:p>
          <a:p>
            <a:pPr lvl="1" fontAlgn="base"/>
            <a:r>
              <a:rPr lang="en-US" sz="2400" b="1" dirty="0"/>
              <a:t>Empathize</a:t>
            </a:r>
            <a:r>
              <a:rPr lang="en-US" sz="2400" dirty="0"/>
              <a:t>. Understand the problem of the user for whom you are designing.  </a:t>
            </a:r>
          </a:p>
          <a:p>
            <a:pPr lvl="1" fontAlgn="base"/>
            <a:r>
              <a:rPr lang="en-US" sz="2400" b="1" dirty="0"/>
              <a:t>Define</a:t>
            </a:r>
            <a:r>
              <a:rPr lang="en-US" sz="2400" dirty="0"/>
              <a:t>. Form a problem statement.  </a:t>
            </a:r>
          </a:p>
          <a:p>
            <a:pPr lvl="1" fontAlgn="base"/>
            <a:r>
              <a:rPr lang="en-US" sz="2400" b="1" dirty="0"/>
              <a:t>Ideate</a:t>
            </a:r>
            <a:r>
              <a:rPr lang="en-US" sz="2400" dirty="0"/>
              <a:t>. Generate creative solutions to this problem.  </a:t>
            </a:r>
          </a:p>
          <a:p>
            <a:pPr lvl="1" fontAlgn="base"/>
            <a:r>
              <a:rPr lang="en-US" sz="2400" b="1" dirty="0"/>
              <a:t>Prototype</a:t>
            </a:r>
            <a:r>
              <a:rPr lang="en-US" sz="2400" dirty="0"/>
              <a:t>. Build a tangible representation of this solution.  </a:t>
            </a:r>
          </a:p>
          <a:p>
            <a:pPr lvl="1" fontAlgn="base"/>
            <a:r>
              <a:rPr lang="en-US" sz="2400" b="1" dirty="0"/>
              <a:t>Test</a:t>
            </a:r>
            <a:r>
              <a:rPr lang="en-US" sz="2400" dirty="0"/>
              <a:t>. Validate this solution</a:t>
            </a:r>
            <a:r>
              <a:rPr lang="en-US" sz="2400" b="1" dirty="0"/>
              <a:t> </a:t>
            </a:r>
            <a:r>
              <a:rPr lang="en-US" sz="2400" dirty="0"/>
              <a:t> </a:t>
            </a:r>
          </a:p>
          <a:p>
            <a:pPr lvl="1" fontAlgn="base"/>
            <a:endParaRPr lang="en-US" dirty="0"/>
          </a:p>
          <a:p>
            <a:pPr marL="457200" lvl="1" indent="0" fontAlgn="base">
              <a:buNone/>
            </a:pPr>
            <a:endParaRPr lang="en-US" dirty="0"/>
          </a:p>
          <a:p>
            <a:pPr marL="457200" lvl="1" indent="0" fontAlgn="base">
              <a:buNone/>
            </a:pPr>
            <a:endParaRPr lang="en-US" dirty="0"/>
          </a:p>
          <a:p>
            <a:endParaRPr lang="en-US" dirty="0"/>
          </a:p>
        </p:txBody>
      </p:sp>
    </p:spTree>
    <p:extLst>
      <p:ext uri="{BB962C8B-B14F-4D97-AF65-F5344CB8AC3E}">
        <p14:creationId xmlns:p14="http://schemas.microsoft.com/office/powerpoint/2010/main" val="4159031654"/>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tretch>
            <a:fillRect/>
          </a:stretch>
        </p:blipFill>
        <p:spPr>
          <a:xfrm>
            <a:off x="0" y="457200"/>
            <a:ext cx="8915400" cy="5896708"/>
          </a:xfrm>
          <a:prstGeom prst="rect">
            <a:avLst/>
          </a:prstGeom>
        </p:spPr>
      </p:pic>
    </p:spTree>
    <p:extLst>
      <p:ext uri="{BB962C8B-B14F-4D97-AF65-F5344CB8AC3E}">
        <p14:creationId xmlns:p14="http://schemas.microsoft.com/office/powerpoint/2010/main" val="271023126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a:t>User-centered design  </a:t>
            </a:r>
            <a:r>
              <a:rPr lang="en-US" dirty="0"/>
              <a:t> </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pPr lvl="0"/>
            <a:r>
              <a:rPr lang="en-US" b="1" dirty="0"/>
              <a:t>User-Centered Design Basics </a:t>
            </a:r>
            <a:r>
              <a:rPr lang="en-US" dirty="0"/>
              <a:t> </a:t>
            </a:r>
          </a:p>
          <a:p>
            <a:r>
              <a:rPr lang="en-US" dirty="0"/>
              <a:t>The User-centered design (UCD) process outlines the phases throughout a design and development life-cycle all while focusing on gaining a deep understanding of who will be using the product.   </a:t>
            </a:r>
          </a:p>
          <a:p>
            <a:r>
              <a:rPr lang="en-US" dirty="0"/>
              <a:t>The following are the general phases of the UCD process:  </a:t>
            </a:r>
          </a:p>
          <a:p>
            <a:pPr lvl="0" fontAlgn="base"/>
            <a:r>
              <a:rPr lang="en-US" b="1" dirty="0"/>
              <a:t>Specify the context of use: </a:t>
            </a:r>
            <a:r>
              <a:rPr lang="en-US" dirty="0"/>
              <a:t>Identify the people who will use the product, what they will use it for, and under what conditions they will use it.  </a:t>
            </a:r>
          </a:p>
          <a:p>
            <a:pPr lvl="0" fontAlgn="base"/>
            <a:r>
              <a:rPr lang="en-US" b="1" dirty="0"/>
              <a:t>Specify requirements: </a:t>
            </a:r>
            <a:r>
              <a:rPr lang="en-US" dirty="0"/>
              <a:t>Identify any business requirements or user goals that must be met for the product to be successful.  </a:t>
            </a:r>
          </a:p>
          <a:p>
            <a:pPr lvl="0" fontAlgn="base"/>
            <a:r>
              <a:rPr lang="en-US" b="1" dirty="0"/>
              <a:t>Create design solutions: </a:t>
            </a:r>
            <a:r>
              <a:rPr lang="en-US" dirty="0"/>
              <a:t>This part of the process may be done in stages, building from a rough concept to a complete design.  </a:t>
            </a:r>
          </a:p>
          <a:p>
            <a:pPr lvl="0" fontAlgn="base"/>
            <a:r>
              <a:rPr lang="en-US" b="1" dirty="0"/>
              <a:t>Evaluate designs: </a:t>
            </a:r>
            <a:r>
              <a:rPr lang="en-US" dirty="0"/>
              <a:t>Evaluation - ideally through usability testing with actual users - is as integral as quality testing is to good software development.  </a:t>
            </a:r>
          </a:p>
          <a:p>
            <a:endParaRPr lang="en-US" dirty="0"/>
          </a:p>
        </p:txBody>
      </p:sp>
    </p:spTree>
    <p:extLst>
      <p:ext uri="{BB962C8B-B14F-4D97-AF65-F5344CB8AC3E}">
        <p14:creationId xmlns:p14="http://schemas.microsoft.com/office/powerpoint/2010/main" val="49740252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tretch>
            <a:fillRect/>
          </a:stretch>
        </p:blipFill>
        <p:spPr>
          <a:xfrm>
            <a:off x="1219199" y="533400"/>
            <a:ext cx="6705600" cy="6096000"/>
          </a:xfrm>
          <a:prstGeom prst="rect">
            <a:avLst/>
          </a:prstGeom>
        </p:spPr>
      </p:pic>
      <p:sp>
        <p:nvSpPr>
          <p:cNvPr id="5" name="Rectangle 4"/>
          <p:cNvSpPr/>
          <p:nvPr/>
        </p:nvSpPr>
        <p:spPr>
          <a:xfrm>
            <a:off x="2895600" y="6488668"/>
            <a:ext cx="3732881" cy="369332"/>
          </a:xfrm>
          <a:prstGeom prst="rect">
            <a:avLst/>
          </a:prstGeom>
        </p:spPr>
        <p:txBody>
          <a:bodyPr wrap="none">
            <a:spAutoFit/>
          </a:bodyPr>
          <a:lstStyle/>
          <a:p>
            <a:r>
              <a:rPr lang="en-US" b="1" dirty="0"/>
              <a:t>Figure for phases of the UCD process </a:t>
            </a:r>
            <a:endParaRPr lang="en-US" dirty="0"/>
          </a:p>
        </p:txBody>
      </p:sp>
    </p:spTree>
    <p:extLst>
      <p:ext uri="{BB962C8B-B14F-4D97-AF65-F5344CB8AC3E}">
        <p14:creationId xmlns:p14="http://schemas.microsoft.com/office/powerpoint/2010/main" val="4065814749"/>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Usability</a:t>
            </a:r>
            <a:endParaRPr lang="en-US" dirty="0"/>
          </a:p>
        </p:txBody>
      </p:sp>
      <p:sp>
        <p:nvSpPr>
          <p:cNvPr id="3" name="Content Placeholder 2"/>
          <p:cNvSpPr>
            <a:spLocks noGrp="1"/>
          </p:cNvSpPr>
          <p:nvPr>
            <p:ph idx="1"/>
          </p:nvPr>
        </p:nvSpPr>
        <p:spPr>
          <a:xfrm>
            <a:off x="457200" y="1600200"/>
            <a:ext cx="8382000" cy="5029200"/>
          </a:xfrm>
        </p:spPr>
        <p:txBody>
          <a:bodyPr>
            <a:normAutofit fontScale="40000" lnSpcReduction="20000"/>
          </a:bodyPr>
          <a:lstStyle/>
          <a:p>
            <a:r>
              <a:rPr lang="en-US" sz="6000" dirty="0"/>
              <a:t>Usability Testing can be defined as the kind of testing performed from the end user's point of view for determining whether the application you are developing is effortlessly usable or not.  </a:t>
            </a:r>
          </a:p>
          <a:p>
            <a:r>
              <a:rPr lang="en-US" sz="6000" dirty="0"/>
              <a:t>  Your application may build entirely per the requirements. Still, they might not be used at the time of delivering the project in the user's hands.  </a:t>
            </a:r>
          </a:p>
          <a:p>
            <a:r>
              <a:rPr lang="en-US" sz="6000" b="1" dirty="0"/>
              <a:t>Here's a simple block diagram of usability testing below: </a:t>
            </a:r>
            <a:r>
              <a:rPr lang="en-US" sz="6000" dirty="0"/>
              <a:t> </a:t>
            </a:r>
          </a:p>
          <a:p>
            <a:pPr marL="0" indent="0">
              <a:buNone/>
            </a:pPr>
            <a:r>
              <a:rPr lang="en-US" sz="7000" b="1" dirty="0"/>
              <a:t> </a:t>
            </a:r>
          </a:p>
          <a:p>
            <a:endParaRPr lang="en-US" b="1" dirty="0"/>
          </a:p>
          <a:p>
            <a:endParaRPr lang="en-US" b="1" dirty="0"/>
          </a:p>
          <a:p>
            <a:endParaRPr lang="en-US" b="1" dirty="0"/>
          </a:p>
          <a:p>
            <a:endParaRPr lang="en-US" b="1" dirty="0"/>
          </a:p>
          <a:p>
            <a:endParaRPr lang="en-US" b="1" dirty="0"/>
          </a:p>
          <a:p>
            <a:endParaRPr lang="en-US" b="1" dirty="0"/>
          </a:p>
          <a:p>
            <a:pPr marL="0" indent="0">
              <a:buNone/>
            </a:pPr>
            <a:r>
              <a:rPr lang="en-US" b="1" dirty="0"/>
              <a:t>  </a:t>
            </a:r>
            <a:endParaRPr lang="en-US" dirty="0"/>
          </a:p>
          <a:p>
            <a:endParaRPr lang="en-US" dirty="0"/>
          </a:p>
        </p:txBody>
      </p:sp>
    </p:spTree>
    <p:extLst>
      <p:ext uri="{BB962C8B-B14F-4D97-AF65-F5344CB8AC3E}">
        <p14:creationId xmlns:p14="http://schemas.microsoft.com/office/powerpoint/2010/main" val="569213842"/>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p:nvPr/>
        </p:nvPicPr>
        <p:blipFill>
          <a:blip r:embed="rId2"/>
          <a:stretch>
            <a:fillRect/>
          </a:stretch>
        </p:blipFill>
        <p:spPr>
          <a:xfrm>
            <a:off x="152400" y="1"/>
            <a:ext cx="8534399" cy="6858000"/>
          </a:xfrm>
          <a:prstGeom prst="rect">
            <a:avLst/>
          </a:prstGeom>
        </p:spPr>
      </p:pic>
      <p:sp>
        <p:nvSpPr>
          <p:cNvPr id="6" name="Rectangle 5"/>
          <p:cNvSpPr/>
          <p:nvPr/>
        </p:nvSpPr>
        <p:spPr>
          <a:xfrm>
            <a:off x="2953500" y="6268550"/>
            <a:ext cx="3810477" cy="400110"/>
          </a:xfrm>
          <a:prstGeom prst="rect">
            <a:avLst/>
          </a:prstGeom>
        </p:spPr>
        <p:txBody>
          <a:bodyPr wrap="square">
            <a:spAutoFit/>
          </a:bodyPr>
          <a:lstStyle/>
          <a:p>
            <a:r>
              <a:rPr lang="en-US" sz="2000" dirty="0"/>
              <a:t>Figure for steps of usability testing  </a:t>
            </a:r>
          </a:p>
        </p:txBody>
      </p:sp>
    </p:spTree>
    <p:extLst>
      <p:ext uri="{BB962C8B-B14F-4D97-AF65-F5344CB8AC3E}">
        <p14:creationId xmlns:p14="http://schemas.microsoft.com/office/powerpoint/2010/main" val="1609372035"/>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3-Clicks rule  </a:t>
            </a:r>
            <a:r>
              <a:rPr lang="en-US" dirty="0"/>
              <a:t> </a:t>
            </a:r>
            <a:br>
              <a:rPr lang="en-US" dirty="0"/>
            </a:br>
            <a:endParaRPr lang="en-US" dirty="0"/>
          </a:p>
        </p:txBody>
      </p:sp>
      <p:sp>
        <p:nvSpPr>
          <p:cNvPr id="3" name="Content Placeholder 2"/>
          <p:cNvSpPr>
            <a:spLocks noGrp="1"/>
          </p:cNvSpPr>
          <p:nvPr>
            <p:ph idx="1"/>
          </p:nvPr>
        </p:nvSpPr>
        <p:spPr/>
        <p:txBody>
          <a:bodyPr>
            <a:normAutofit fontScale="85000" lnSpcReduction="10000"/>
          </a:bodyPr>
          <a:lstStyle/>
          <a:p>
            <a:r>
              <a:rPr lang="en-US" dirty="0"/>
              <a:t>The 3-click rule is a persistent, unofficial heuristic that says that</a:t>
            </a:r>
            <a:r>
              <a:rPr lang="en-US" b="1" dirty="0"/>
              <a:t> no page should take more than 3 clicks</a:t>
            </a:r>
            <a:r>
              <a:rPr lang="en-US" dirty="0"/>
              <a:t> (or taps on a touchscreen) to access. </a:t>
            </a:r>
          </a:p>
          <a:p>
            <a:r>
              <a:rPr lang="en-US" dirty="0"/>
              <a:t>A variation pronounces that the most important information should take no more than 3 clicks to get to.</a:t>
            </a:r>
          </a:p>
          <a:p>
            <a:r>
              <a:rPr lang="en-US" dirty="0"/>
              <a:t> The 3click rule assumes that users will become frustrated and will likely give up on tasks that require more than three total clicks to be completed. </a:t>
            </a:r>
          </a:p>
          <a:p>
            <a:r>
              <a:rPr lang="en-US" dirty="0"/>
              <a:t>It is a simple way of assessing  the</a:t>
            </a:r>
            <a:r>
              <a:rPr lang="en-US" dirty="0">
                <a:hlinkClick r:id="rId2"/>
              </a:rPr>
              <a:t> </a:t>
            </a:r>
            <a:r>
              <a:rPr lang="en-US" u="sng" dirty="0">
                <a:hlinkClick r:id="rId2"/>
              </a:rPr>
              <a:t>interaction cost</a:t>
            </a:r>
            <a:r>
              <a:rPr lang="en-US" dirty="0">
                <a:hlinkClick r:id="rId2"/>
              </a:rPr>
              <a:t> o</a:t>
            </a:r>
            <a:r>
              <a:rPr lang="en-US" dirty="0"/>
              <a:t>f important information-seeking tasks, but its superficial simplicity is also its downfall. </a:t>
            </a:r>
          </a:p>
          <a:p>
            <a:endParaRPr lang="en-US" dirty="0"/>
          </a:p>
        </p:txBody>
      </p:sp>
    </p:spTree>
    <p:extLst>
      <p:ext uri="{BB962C8B-B14F-4D97-AF65-F5344CB8AC3E}">
        <p14:creationId xmlns:p14="http://schemas.microsoft.com/office/powerpoint/2010/main" val="2666887976"/>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Feedback  </a:t>
            </a:r>
            <a:r>
              <a:rPr lang="en-US" dirty="0"/>
              <a:t> </a:t>
            </a:r>
            <a:br>
              <a:rPr lang="en-US" dirty="0"/>
            </a:br>
            <a:endParaRPr lang="en-US" dirty="0"/>
          </a:p>
        </p:txBody>
      </p:sp>
      <p:sp>
        <p:nvSpPr>
          <p:cNvPr id="3" name="Content Placeholder 2"/>
          <p:cNvSpPr>
            <a:spLocks noGrp="1"/>
          </p:cNvSpPr>
          <p:nvPr>
            <p:ph idx="1"/>
          </p:nvPr>
        </p:nvSpPr>
        <p:spPr>
          <a:xfrm>
            <a:off x="457200" y="1066800"/>
            <a:ext cx="8229600" cy="5486400"/>
          </a:xfrm>
        </p:spPr>
        <p:txBody>
          <a:bodyPr>
            <a:normAutofit fontScale="70000" lnSpcReduction="20000"/>
          </a:bodyPr>
          <a:lstStyle/>
          <a:p>
            <a:r>
              <a:rPr lang="en-US" b="1" dirty="0"/>
              <a:t>Feedback in UX:</a:t>
            </a:r>
            <a:r>
              <a:rPr lang="en-US" dirty="0"/>
              <a:t> [Presenter] One of the most important mechanisms we employ in UX is feedback. Feedback is the system's response to the user's action. </a:t>
            </a:r>
          </a:p>
          <a:p>
            <a:r>
              <a:rPr lang="en-US" dirty="0"/>
              <a:t>If you've ever submitted a form and not received a response, you've likely felt confused on whether the system worked and whether you had to do it again. </a:t>
            </a:r>
          </a:p>
          <a:p>
            <a:r>
              <a:rPr lang="en-US" dirty="0"/>
              <a:t>Feedback gives users the confidence that their action was acknowledged by the system. </a:t>
            </a:r>
          </a:p>
          <a:p>
            <a:r>
              <a:rPr lang="en-US" dirty="0"/>
              <a:t>Feedback is incorporated into everything we design, from how buttons behave on click to receiving an email confirmation on your new account signup.   </a:t>
            </a:r>
          </a:p>
          <a:p>
            <a:r>
              <a:rPr lang="en-US" dirty="0"/>
              <a:t>Essentially, according to Hogue, feedback answers questions across four categories:  </a:t>
            </a:r>
          </a:p>
          <a:p>
            <a:r>
              <a:rPr lang="en-US" b="1" dirty="0"/>
              <a:t>Location:</a:t>
            </a:r>
            <a:r>
              <a:rPr lang="en-US" dirty="0"/>
              <a:t> Where </a:t>
            </a:r>
            <a:r>
              <a:rPr lang="en-US" i="1" dirty="0"/>
              <a:t>am</a:t>
            </a:r>
            <a:r>
              <a:rPr lang="en-US" dirty="0"/>
              <a:t> I?  </a:t>
            </a:r>
          </a:p>
          <a:p>
            <a:r>
              <a:rPr lang="en-US" b="1" dirty="0"/>
              <a:t>Current Status:</a:t>
            </a:r>
            <a:r>
              <a:rPr lang="en-US" dirty="0"/>
              <a:t> What’s happening — and is it </a:t>
            </a:r>
            <a:r>
              <a:rPr lang="en-US" i="1" dirty="0"/>
              <a:t>still</a:t>
            </a:r>
            <a:r>
              <a:rPr lang="en-US" dirty="0"/>
              <a:t> happening?  </a:t>
            </a:r>
          </a:p>
          <a:p>
            <a:r>
              <a:rPr lang="en-US" b="1" dirty="0"/>
              <a:t>Future Status:</a:t>
            </a:r>
            <a:r>
              <a:rPr lang="en-US" dirty="0"/>
              <a:t> What will happen </a:t>
            </a:r>
            <a:r>
              <a:rPr lang="en-US" i="1" dirty="0"/>
              <a:t>next?</a:t>
            </a:r>
            <a:r>
              <a:rPr lang="en-US" dirty="0"/>
              <a:t>  </a:t>
            </a:r>
          </a:p>
          <a:p>
            <a:r>
              <a:rPr lang="en-US" b="1" dirty="0"/>
              <a:t>Outcomes &amp; Results: </a:t>
            </a:r>
            <a:r>
              <a:rPr lang="en-US" dirty="0"/>
              <a:t>What </a:t>
            </a:r>
            <a:r>
              <a:rPr lang="en-US" i="1" dirty="0"/>
              <a:t>just</a:t>
            </a:r>
            <a:r>
              <a:rPr lang="en-US" dirty="0"/>
              <a:t> happened?  </a:t>
            </a:r>
          </a:p>
          <a:p>
            <a:pPr marL="0" indent="0">
              <a:buNone/>
            </a:pPr>
            <a:endParaRPr lang="en-US" dirty="0"/>
          </a:p>
          <a:p>
            <a:endParaRPr lang="en-US" dirty="0"/>
          </a:p>
        </p:txBody>
      </p:sp>
    </p:spTree>
    <p:extLst>
      <p:ext uri="{BB962C8B-B14F-4D97-AF65-F5344CB8AC3E}">
        <p14:creationId xmlns:p14="http://schemas.microsoft.com/office/powerpoint/2010/main" val="4263852051"/>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00"/>
                </a:solidFill>
                <a:latin typeface="Roboto"/>
              </a:rPr>
              <a:t>Use of Figma prototyping tool</a:t>
            </a:r>
            <a:endParaRPr lang="en-US" dirty="0"/>
          </a:p>
        </p:txBody>
      </p:sp>
      <p:sp>
        <p:nvSpPr>
          <p:cNvPr id="3" name="Content Placeholder 2"/>
          <p:cNvSpPr>
            <a:spLocks noGrp="1"/>
          </p:cNvSpPr>
          <p:nvPr>
            <p:ph idx="1"/>
          </p:nvPr>
        </p:nvSpPr>
        <p:spPr/>
        <p:txBody>
          <a:bodyPr>
            <a:normAutofit fontScale="77500" lnSpcReduction="20000"/>
          </a:bodyPr>
          <a:lstStyle/>
          <a:p>
            <a:r>
              <a:rPr lang="en-US" dirty="0" err="1"/>
              <a:t>Figma’s</a:t>
            </a:r>
            <a:r>
              <a:rPr lang="en-US" dirty="0"/>
              <a:t> prototyping features allow you to create interactive flows that explore how a user may interact with your designs.</a:t>
            </a:r>
            <a:endParaRPr lang="en-US" dirty="0">
              <a:solidFill>
                <a:srgbClr val="000000"/>
              </a:solidFill>
              <a:latin typeface="Wingdings-Regular"/>
            </a:endParaRPr>
          </a:p>
          <a:p>
            <a:r>
              <a:rPr lang="en-US" dirty="0">
                <a:solidFill>
                  <a:srgbClr val="000000"/>
                </a:solidFill>
                <a:latin typeface="Wingdings-Regular"/>
              </a:rPr>
              <a:t>✓ </a:t>
            </a:r>
            <a:r>
              <a:rPr lang="en-US" dirty="0">
                <a:solidFill>
                  <a:srgbClr val="000000"/>
                </a:solidFill>
                <a:latin typeface="Roboto"/>
              </a:rPr>
              <a:t>Setup Figma</a:t>
            </a:r>
            <a:r>
              <a:rPr lang="en-US" dirty="0"/>
              <a:t> </a:t>
            </a:r>
          </a:p>
          <a:p>
            <a:r>
              <a:rPr lang="en-US" dirty="0"/>
              <a:t>Step 1: Get access to Figma Create or sign in to your Figma account ...  </a:t>
            </a:r>
          </a:p>
          <a:p>
            <a:r>
              <a:rPr lang="en-US" dirty="0"/>
              <a:t>Step 2: Enable the component libraries Open the design file you’d like to connect to the DDS 2 libraries.  </a:t>
            </a:r>
          </a:p>
          <a:p>
            <a:r>
              <a:rPr lang="en-US" dirty="0"/>
              <a:t>Step 3: Manage components Components are listed in the Assets panel.  </a:t>
            </a:r>
          </a:p>
          <a:p>
            <a:r>
              <a:rPr lang="en-US" dirty="0"/>
              <a:t>Step 4: Integrate styles   </a:t>
            </a:r>
          </a:p>
          <a:p>
            <a:r>
              <a:rPr lang="en-US" dirty="0"/>
              <a:t>Step 5: Review updates  </a:t>
            </a:r>
          </a:p>
          <a:p>
            <a:pPr marL="0" indent="0">
              <a:buNone/>
            </a:pPr>
            <a:endParaRPr lang="en-US" dirty="0">
              <a:solidFill>
                <a:srgbClr val="000000"/>
              </a:solidFill>
              <a:latin typeface="Roboto"/>
            </a:endParaRPr>
          </a:p>
          <a:p>
            <a:pPr marL="0" indent="0">
              <a:buNone/>
            </a:pPr>
            <a:endParaRPr lang="en-US" dirty="0"/>
          </a:p>
          <a:p>
            <a:endParaRPr lang="en-US" dirty="0"/>
          </a:p>
        </p:txBody>
      </p:sp>
      <p:graphicFrame>
        <p:nvGraphicFramePr>
          <p:cNvPr id="4" name="Table 3"/>
          <p:cNvGraphicFramePr>
            <a:graphicFrameLocks noGrp="1"/>
          </p:cNvGraphicFramePr>
          <p:nvPr/>
        </p:nvGraphicFramePr>
        <p:xfrm>
          <a:off x="3619500" y="3726021"/>
          <a:ext cx="1905000" cy="365760"/>
        </p:xfrm>
        <a:graphic>
          <a:graphicData uri="http://schemas.openxmlformats.org/drawingml/2006/table">
            <a:tbl>
              <a:tblPr/>
              <a:tblGrid>
                <a:gridCol w="1905000">
                  <a:extLst>
                    <a:ext uri="{9D8B030D-6E8A-4147-A177-3AD203B41FA5}">
                      <a16:colId xmlns:a16="http://schemas.microsoft.com/office/drawing/2014/main" val="20000"/>
                    </a:ext>
                  </a:extLst>
                </a:gridCol>
              </a:tblGrid>
              <a:tr h="0">
                <a:tc>
                  <a:txBody>
                    <a:bodyPr/>
                    <a:lstStyle/>
                    <a:p>
                      <a:endParaRPr lang="en-US" dirty="0">
                        <a:effectLst/>
                      </a:endParaRPr>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5" name="Rectangle 1"/>
          <p:cNvSpPr>
            <a:spLocks noChangeArrowheads="1"/>
          </p:cNvSpPr>
          <p:nvPr/>
        </p:nvSpPr>
        <p:spPr bwMode="auto">
          <a:xfrm>
            <a:off x="3619500" y="3725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17680103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solidFill>
                  <a:srgbClr val="000000"/>
                </a:solidFill>
                <a:latin typeface="Roboto"/>
              </a:rPr>
              <a:t>Figma interface</a:t>
            </a:r>
          </a:p>
          <a:p>
            <a:pPr lvl="2"/>
            <a:r>
              <a:rPr lang="en-US" dirty="0">
                <a:solidFill>
                  <a:srgbClr val="000000"/>
                </a:solidFill>
                <a:latin typeface="Roboto"/>
              </a:rPr>
              <a:t>Canvas</a:t>
            </a:r>
          </a:p>
          <a:p>
            <a:pPr lvl="2"/>
            <a:r>
              <a:rPr lang="en-US" dirty="0">
                <a:solidFill>
                  <a:srgbClr val="000000"/>
                </a:solidFill>
                <a:latin typeface="Roboto"/>
              </a:rPr>
              <a:t>Frames</a:t>
            </a:r>
          </a:p>
          <a:p>
            <a:pPr lvl="2"/>
            <a:r>
              <a:rPr lang="en-US" dirty="0">
                <a:solidFill>
                  <a:srgbClr val="000000"/>
                </a:solidFill>
                <a:latin typeface="Roboto"/>
              </a:rPr>
              <a:t>Menu</a:t>
            </a:r>
          </a:p>
          <a:p>
            <a:pPr lvl="2"/>
            <a:r>
              <a:rPr lang="en-US" dirty="0">
                <a:solidFill>
                  <a:srgbClr val="000000"/>
                </a:solidFill>
                <a:latin typeface="Roboto"/>
              </a:rPr>
              <a:t>Layers</a:t>
            </a:r>
          </a:p>
          <a:p>
            <a:pPr lvl="2"/>
            <a:r>
              <a:rPr lang="en-US" dirty="0">
                <a:solidFill>
                  <a:srgbClr val="000000"/>
                </a:solidFill>
                <a:latin typeface="Roboto"/>
              </a:rPr>
              <a:t>Design </a:t>
            </a:r>
          </a:p>
          <a:p>
            <a:pPr lvl="2"/>
            <a:r>
              <a:rPr lang="en-US" dirty="0">
                <a:solidFill>
                  <a:srgbClr val="000000"/>
                </a:solidFill>
                <a:latin typeface="Roboto"/>
              </a:rPr>
              <a:t>Panel</a:t>
            </a:r>
          </a:p>
          <a:p>
            <a:pPr lvl="2"/>
            <a:r>
              <a:rPr lang="en-US" dirty="0">
                <a:solidFill>
                  <a:srgbClr val="000000"/>
                </a:solidFill>
                <a:latin typeface="Roboto"/>
              </a:rPr>
              <a:t>Pages</a:t>
            </a:r>
          </a:p>
          <a:p>
            <a:pPr lvl="2"/>
            <a:r>
              <a:rPr lang="en-US" dirty="0">
                <a:solidFill>
                  <a:srgbClr val="000000"/>
                </a:solidFill>
                <a:latin typeface="Roboto"/>
              </a:rPr>
              <a:t>Inspect </a:t>
            </a:r>
          </a:p>
          <a:p>
            <a:pPr lvl="2"/>
            <a:r>
              <a:rPr lang="en-US" dirty="0">
                <a:solidFill>
                  <a:srgbClr val="000000"/>
                </a:solidFill>
                <a:latin typeface="Roboto"/>
              </a:rPr>
              <a:t>Panel</a:t>
            </a:r>
          </a:p>
          <a:p>
            <a:pPr lvl="2"/>
            <a:r>
              <a:rPr lang="en-US" dirty="0">
                <a:solidFill>
                  <a:srgbClr val="000000"/>
                </a:solidFill>
                <a:latin typeface="Roboto"/>
              </a:rPr>
              <a:t>Options</a:t>
            </a:r>
          </a:p>
          <a:p>
            <a:pPr lvl="2"/>
            <a:r>
              <a:rPr lang="en-US" dirty="0">
                <a:solidFill>
                  <a:srgbClr val="000000"/>
                </a:solidFill>
                <a:latin typeface="Roboto"/>
              </a:rPr>
              <a:t>Prototype</a:t>
            </a:r>
          </a:p>
          <a:p>
            <a:pPr lvl="2"/>
            <a:r>
              <a:rPr lang="en-US" dirty="0">
                <a:solidFill>
                  <a:srgbClr val="000000"/>
                </a:solidFill>
                <a:latin typeface="Roboto"/>
              </a:rPr>
              <a:t>Assets</a:t>
            </a:r>
          </a:p>
          <a:p>
            <a:r>
              <a:rPr lang="en-US" dirty="0">
                <a:solidFill>
                  <a:srgbClr val="000000"/>
                </a:solidFill>
                <a:latin typeface="Roboto"/>
              </a:rPr>
              <a:t>Figma Mirror</a:t>
            </a:r>
            <a:endParaRPr lang="en-US" dirty="0"/>
          </a:p>
          <a:p>
            <a:endParaRPr lang="en-US" dirty="0"/>
          </a:p>
        </p:txBody>
      </p:sp>
    </p:spTree>
    <p:extLst>
      <p:ext uri="{BB962C8B-B14F-4D97-AF65-F5344CB8AC3E}">
        <p14:creationId xmlns:p14="http://schemas.microsoft.com/office/powerpoint/2010/main" val="377230449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0000"/>
                </a:solidFill>
                <a:latin typeface="Roboto"/>
              </a:rPr>
              <a:t>Sketch wireframe</a:t>
            </a:r>
            <a:br>
              <a:rPr lang="en-US" b="1" dirty="0">
                <a:solidFill>
                  <a:srgbClr val="000000"/>
                </a:solidFill>
                <a:latin typeface="Roboto"/>
              </a:rPr>
            </a:br>
            <a:endParaRPr lang="en-US" dirty="0"/>
          </a:p>
        </p:txBody>
      </p:sp>
      <p:sp>
        <p:nvSpPr>
          <p:cNvPr id="3" name="Content Placeholder 2"/>
          <p:cNvSpPr>
            <a:spLocks noGrp="1"/>
          </p:cNvSpPr>
          <p:nvPr>
            <p:ph idx="1"/>
          </p:nvPr>
        </p:nvSpPr>
        <p:spPr/>
        <p:txBody>
          <a:bodyPr>
            <a:normAutofit/>
          </a:bodyPr>
          <a:lstStyle/>
          <a:p>
            <a:r>
              <a:rPr lang="en-US" dirty="0">
                <a:solidFill>
                  <a:srgbClr val="000000"/>
                </a:solidFill>
              </a:rPr>
              <a:t>● </a:t>
            </a:r>
            <a:r>
              <a:rPr lang="en-US" b="1" dirty="0">
                <a:solidFill>
                  <a:srgbClr val="000000"/>
                </a:solidFill>
                <a:latin typeface="Roboto"/>
              </a:rPr>
              <a:t>Sketch mockup</a:t>
            </a:r>
          </a:p>
          <a:p>
            <a:r>
              <a:rPr lang="en-US" dirty="0">
                <a:solidFill>
                  <a:srgbClr val="000000"/>
                </a:solidFill>
                <a:latin typeface="Wingdings-Regular"/>
              </a:rPr>
              <a:t>✓ </a:t>
            </a:r>
            <a:r>
              <a:rPr lang="en-US" dirty="0">
                <a:solidFill>
                  <a:srgbClr val="000000"/>
                </a:solidFill>
                <a:latin typeface="Roboto"/>
              </a:rPr>
              <a:t>Setting up files</a:t>
            </a:r>
          </a:p>
          <a:p>
            <a:pPr lvl="2"/>
            <a:r>
              <a:rPr lang="en-US" dirty="0">
                <a:solidFill>
                  <a:srgbClr val="000000"/>
                </a:solidFill>
                <a:latin typeface="Roboto"/>
              </a:rPr>
              <a:t>Creating file</a:t>
            </a:r>
          </a:p>
          <a:p>
            <a:pPr lvl="2"/>
            <a:r>
              <a:rPr lang="en-US" dirty="0">
                <a:solidFill>
                  <a:srgbClr val="000000"/>
                </a:solidFill>
                <a:latin typeface="Roboto"/>
              </a:rPr>
              <a:t>Create and edit frames</a:t>
            </a:r>
          </a:p>
          <a:p>
            <a:pPr lvl="2"/>
            <a:r>
              <a:rPr lang="en-US" dirty="0">
                <a:solidFill>
                  <a:srgbClr val="000000"/>
                </a:solidFill>
                <a:latin typeface="Roboto"/>
              </a:rPr>
              <a:t>Creating pages</a:t>
            </a:r>
          </a:p>
          <a:p>
            <a:r>
              <a:rPr lang="en-US" dirty="0">
                <a:solidFill>
                  <a:srgbClr val="000000"/>
                </a:solidFill>
                <a:latin typeface="Wingdings-Regular"/>
              </a:rPr>
              <a:t>✓ </a:t>
            </a:r>
            <a:r>
              <a:rPr lang="en-US" dirty="0">
                <a:solidFill>
                  <a:srgbClr val="000000"/>
                </a:solidFill>
                <a:latin typeface="Roboto"/>
              </a:rPr>
              <a:t>Management of layers</a:t>
            </a:r>
          </a:p>
        </p:txBody>
      </p:sp>
    </p:spTree>
    <p:extLst>
      <p:ext uri="{BB962C8B-B14F-4D97-AF65-F5344CB8AC3E}">
        <p14:creationId xmlns:p14="http://schemas.microsoft.com/office/powerpoint/2010/main" val="3891886384"/>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solidFill>
                  <a:srgbClr val="000000"/>
                </a:solidFill>
                <a:latin typeface="Wingdings-Regular"/>
              </a:rPr>
              <a:t>✓ </a:t>
            </a:r>
            <a:r>
              <a:rPr lang="en-US" dirty="0">
                <a:solidFill>
                  <a:srgbClr val="000000"/>
                </a:solidFill>
                <a:latin typeface="Roboto"/>
              </a:rPr>
              <a:t>Application of contents in design</a:t>
            </a:r>
          </a:p>
          <a:p>
            <a:pPr lvl="2"/>
            <a:r>
              <a:rPr lang="en-US" dirty="0">
                <a:solidFill>
                  <a:srgbClr val="000000"/>
                </a:solidFill>
                <a:latin typeface="Roboto"/>
              </a:rPr>
              <a:t>Adding predefined shapes</a:t>
            </a:r>
          </a:p>
          <a:p>
            <a:pPr lvl="2"/>
            <a:r>
              <a:rPr lang="en-US" dirty="0">
                <a:solidFill>
                  <a:srgbClr val="000000"/>
                </a:solidFill>
                <a:latin typeface="Roboto"/>
              </a:rPr>
              <a:t>Add custom shapes</a:t>
            </a:r>
          </a:p>
          <a:p>
            <a:pPr lvl="2"/>
            <a:r>
              <a:rPr lang="en-US" dirty="0">
                <a:solidFill>
                  <a:srgbClr val="000000"/>
                </a:solidFill>
                <a:latin typeface="Roboto"/>
              </a:rPr>
              <a:t>Pen tool</a:t>
            </a:r>
          </a:p>
          <a:p>
            <a:pPr lvl="2"/>
            <a:r>
              <a:rPr lang="en-US" dirty="0">
                <a:solidFill>
                  <a:srgbClr val="000000"/>
                </a:solidFill>
                <a:latin typeface="Roboto"/>
              </a:rPr>
              <a:t>Add Images</a:t>
            </a:r>
          </a:p>
          <a:p>
            <a:pPr lvl="2"/>
            <a:r>
              <a:rPr lang="en-US" dirty="0">
                <a:solidFill>
                  <a:srgbClr val="000000"/>
                </a:solidFill>
                <a:latin typeface="Roboto"/>
              </a:rPr>
              <a:t>Masking</a:t>
            </a:r>
          </a:p>
          <a:p>
            <a:pPr lvl="2"/>
            <a:r>
              <a:rPr lang="en-US" dirty="0">
                <a:solidFill>
                  <a:srgbClr val="000000"/>
                </a:solidFill>
                <a:latin typeface="Roboto"/>
              </a:rPr>
              <a:t>Effects and blending</a:t>
            </a:r>
          </a:p>
          <a:p>
            <a:pPr lvl="2"/>
            <a:r>
              <a:rPr lang="en-US" dirty="0">
                <a:solidFill>
                  <a:srgbClr val="000000"/>
                </a:solidFill>
                <a:latin typeface="Roboto"/>
              </a:rPr>
              <a:t>Strokes</a:t>
            </a:r>
          </a:p>
          <a:p>
            <a:pPr lvl="2"/>
            <a:r>
              <a:rPr lang="en-US" dirty="0">
                <a:solidFill>
                  <a:srgbClr val="000000"/>
                </a:solidFill>
                <a:latin typeface="Roboto"/>
              </a:rPr>
              <a:t>Management of layout (Auto-layout, Grid, Row, Columns)Application of element alignments</a:t>
            </a:r>
          </a:p>
          <a:p>
            <a:r>
              <a:rPr lang="en-US" dirty="0">
                <a:solidFill>
                  <a:srgbClr val="000000"/>
                </a:solidFill>
                <a:latin typeface="Wingdings-Regular"/>
              </a:rPr>
              <a:t>✓ </a:t>
            </a:r>
            <a:r>
              <a:rPr lang="en-US" dirty="0">
                <a:solidFill>
                  <a:srgbClr val="000000"/>
                </a:solidFill>
                <a:latin typeface="Roboto"/>
              </a:rPr>
              <a:t>Creation of color palettes</a:t>
            </a:r>
            <a:endParaRPr lang="en-US" dirty="0"/>
          </a:p>
        </p:txBody>
      </p:sp>
    </p:spTree>
    <p:extLst>
      <p:ext uri="{BB962C8B-B14F-4D97-AF65-F5344CB8AC3E}">
        <p14:creationId xmlns:p14="http://schemas.microsoft.com/office/powerpoint/2010/main" val="3528677279"/>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solidFill>
                  <a:srgbClr val="000000"/>
                </a:solidFill>
                <a:latin typeface="Wingdings-Regular"/>
              </a:rPr>
              <a:t>✓ </a:t>
            </a:r>
            <a:r>
              <a:rPr lang="en-US" dirty="0">
                <a:solidFill>
                  <a:srgbClr val="000000"/>
                </a:solidFill>
                <a:latin typeface="Roboto"/>
              </a:rPr>
              <a:t>Creation of components</a:t>
            </a:r>
          </a:p>
          <a:p>
            <a:pPr lvl="2"/>
            <a:r>
              <a:rPr lang="en-US" dirty="0">
                <a:solidFill>
                  <a:srgbClr val="000000"/>
                </a:solidFill>
                <a:latin typeface="Roboto"/>
              </a:rPr>
              <a:t>Reusable input components</a:t>
            </a:r>
          </a:p>
          <a:p>
            <a:pPr lvl="2"/>
            <a:r>
              <a:rPr lang="en-US" dirty="0">
                <a:solidFill>
                  <a:srgbClr val="000000"/>
                </a:solidFill>
                <a:latin typeface="Roboto"/>
              </a:rPr>
              <a:t>Reusable checkbox and radios</a:t>
            </a:r>
          </a:p>
          <a:p>
            <a:pPr lvl="2"/>
            <a:r>
              <a:rPr lang="en-US" dirty="0">
                <a:solidFill>
                  <a:srgbClr val="000000"/>
                </a:solidFill>
                <a:latin typeface="Roboto"/>
              </a:rPr>
              <a:t>Reusable button components</a:t>
            </a:r>
          </a:p>
          <a:p>
            <a:pPr lvl="2"/>
            <a:r>
              <a:rPr lang="en-US" dirty="0">
                <a:solidFill>
                  <a:srgbClr val="000000"/>
                </a:solidFill>
                <a:latin typeface="Roboto"/>
              </a:rPr>
              <a:t>Content cards</a:t>
            </a:r>
          </a:p>
          <a:p>
            <a:r>
              <a:rPr lang="en-US" dirty="0">
                <a:solidFill>
                  <a:srgbClr val="000000"/>
                </a:solidFill>
                <a:latin typeface="Wingdings-Regular"/>
              </a:rPr>
              <a:t>✓ </a:t>
            </a:r>
            <a:r>
              <a:rPr lang="en-US" dirty="0">
                <a:solidFill>
                  <a:srgbClr val="000000"/>
                </a:solidFill>
                <a:latin typeface="Roboto"/>
              </a:rPr>
              <a:t>Application of mockup design</a:t>
            </a:r>
          </a:p>
          <a:p>
            <a:pPr lvl="2"/>
            <a:r>
              <a:rPr lang="en-US" dirty="0">
                <a:solidFill>
                  <a:srgbClr val="000000"/>
                </a:solidFill>
                <a:latin typeface="Roboto"/>
              </a:rPr>
              <a:t>Content sections</a:t>
            </a:r>
          </a:p>
          <a:p>
            <a:pPr lvl="2"/>
            <a:r>
              <a:rPr lang="en-US" dirty="0">
                <a:solidFill>
                  <a:srgbClr val="000000"/>
                </a:solidFill>
                <a:latin typeface="Roboto"/>
              </a:rPr>
              <a:t>Navigation bar</a:t>
            </a:r>
          </a:p>
          <a:p>
            <a:pPr lvl="2"/>
            <a:r>
              <a:rPr lang="en-US" dirty="0">
                <a:solidFill>
                  <a:srgbClr val="000000"/>
                </a:solidFill>
                <a:latin typeface="Roboto"/>
              </a:rPr>
              <a:t>Sidebar menu</a:t>
            </a:r>
          </a:p>
          <a:p>
            <a:pPr lvl="2"/>
            <a:r>
              <a:rPr lang="en-US" dirty="0">
                <a:solidFill>
                  <a:srgbClr val="000000"/>
                </a:solidFill>
                <a:latin typeface="Roboto"/>
              </a:rPr>
              <a:t>Dropdown menu</a:t>
            </a:r>
          </a:p>
          <a:p>
            <a:pPr lvl="2"/>
            <a:r>
              <a:rPr lang="en-US" dirty="0">
                <a:solidFill>
                  <a:srgbClr val="000000"/>
                </a:solidFill>
                <a:latin typeface="Roboto"/>
              </a:rPr>
              <a:t>Design simple online shopping platform with Items listing, cart, checkout</a:t>
            </a:r>
          </a:p>
          <a:p>
            <a:pPr lvl="2"/>
            <a:r>
              <a:rPr lang="en-US" dirty="0">
                <a:solidFill>
                  <a:srgbClr val="000000"/>
                </a:solidFill>
                <a:latin typeface="Roboto"/>
              </a:rPr>
              <a:t>Design authentication pages</a:t>
            </a:r>
          </a:p>
          <a:p>
            <a:pPr lvl="2"/>
            <a:r>
              <a:rPr lang="en-US" dirty="0">
                <a:solidFill>
                  <a:srgbClr val="000000"/>
                </a:solidFill>
                <a:latin typeface="Roboto"/>
              </a:rPr>
              <a:t>Design a B2B platform</a:t>
            </a:r>
            <a:endParaRPr lang="en-US" dirty="0">
              <a:latin typeface="Roboto"/>
            </a:endParaRPr>
          </a:p>
          <a:p>
            <a:r>
              <a:rPr lang="en-US" dirty="0">
                <a:solidFill>
                  <a:srgbClr val="000000"/>
                </a:solidFill>
                <a:latin typeface="Wingdings-Regular"/>
              </a:rPr>
              <a:t>✓ </a:t>
            </a:r>
            <a:r>
              <a:rPr lang="en-US" dirty="0">
                <a:solidFill>
                  <a:srgbClr val="000000"/>
                </a:solidFill>
                <a:latin typeface="Roboto"/>
              </a:rPr>
              <a:t>Test design using Figma Mirror</a:t>
            </a:r>
            <a:endParaRPr lang="en-US" dirty="0"/>
          </a:p>
          <a:p>
            <a:pPr lvl="2"/>
            <a:endParaRPr lang="en-US" dirty="0">
              <a:latin typeface="Roboto"/>
            </a:endParaRPr>
          </a:p>
          <a:p>
            <a:endParaRPr lang="en-US" dirty="0"/>
          </a:p>
        </p:txBody>
      </p:sp>
      <p:sp>
        <p:nvSpPr>
          <p:cNvPr id="5" name="Rectangle 1"/>
          <p:cNvSpPr>
            <a:spLocks noChangeArrowheads="1"/>
          </p:cNvSpPr>
          <p:nvPr/>
        </p:nvSpPr>
        <p:spPr bwMode="auto">
          <a:xfrm>
            <a:off x="3619500" y="3633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22869653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00"/>
                </a:solidFill>
                <a:latin typeface="Roboto"/>
              </a:rPr>
              <a:t>Presentation of Prototype</a:t>
            </a:r>
            <a:endParaRPr lang="en-US" dirty="0"/>
          </a:p>
        </p:txBody>
      </p:sp>
      <p:sp>
        <p:nvSpPr>
          <p:cNvPr id="3" name="Content Placeholder 2"/>
          <p:cNvSpPr>
            <a:spLocks noGrp="1"/>
          </p:cNvSpPr>
          <p:nvPr>
            <p:ph idx="1"/>
          </p:nvPr>
        </p:nvSpPr>
        <p:spPr/>
        <p:txBody>
          <a:bodyPr/>
          <a:lstStyle/>
          <a:p>
            <a:r>
              <a:rPr lang="en-US" dirty="0">
                <a:solidFill>
                  <a:srgbClr val="000000"/>
                </a:solidFill>
                <a:latin typeface="Wingdings-Regular"/>
              </a:rPr>
              <a:t>✓ </a:t>
            </a:r>
            <a:r>
              <a:rPr lang="en-US" dirty="0">
                <a:solidFill>
                  <a:srgbClr val="000000"/>
                </a:solidFill>
                <a:latin typeface="Roboto"/>
              </a:rPr>
              <a:t>Starting prototyping</a:t>
            </a:r>
          </a:p>
          <a:p>
            <a:r>
              <a:rPr lang="en-US">
                <a:solidFill>
                  <a:srgbClr val="000000"/>
                </a:solidFill>
                <a:latin typeface="Wingdings-Regular"/>
              </a:rPr>
              <a:t>✓ </a:t>
            </a:r>
            <a:r>
              <a:rPr lang="en-US" dirty="0">
                <a:solidFill>
                  <a:srgbClr val="000000"/>
                </a:solidFill>
                <a:latin typeface="Roboto"/>
              </a:rPr>
              <a:t>Adding interactivity to </a:t>
            </a:r>
            <a:r>
              <a:rPr lang="en-US">
                <a:solidFill>
                  <a:srgbClr val="000000"/>
                </a:solidFill>
                <a:latin typeface="Roboto"/>
              </a:rPr>
              <a:t>the design</a:t>
            </a:r>
          </a:p>
          <a:p>
            <a:r>
              <a:rPr lang="en-US">
                <a:solidFill>
                  <a:srgbClr val="000000"/>
                </a:solidFill>
                <a:latin typeface="Wingdings-Regular"/>
              </a:rPr>
              <a:t>✓ </a:t>
            </a:r>
            <a:r>
              <a:rPr lang="en-US" dirty="0">
                <a:solidFill>
                  <a:srgbClr val="000000"/>
                </a:solidFill>
                <a:latin typeface="Roboto"/>
              </a:rPr>
              <a:t>Present Prototype</a:t>
            </a:r>
            <a:endParaRPr lang="en-US" dirty="0"/>
          </a:p>
          <a:p>
            <a:endParaRPr lang="en-US" dirty="0"/>
          </a:p>
        </p:txBody>
      </p:sp>
    </p:spTree>
    <p:extLst>
      <p:ext uri="{BB962C8B-B14F-4D97-AF65-F5344CB8AC3E}">
        <p14:creationId xmlns:p14="http://schemas.microsoft.com/office/powerpoint/2010/main" val="2184160221"/>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u="sng" dirty="0"/>
              <a:t>Written assessment</a:t>
            </a:r>
            <a:r>
              <a:rPr lang="en-US" b="1" dirty="0"/>
              <a:t>  </a:t>
            </a:r>
          </a:p>
        </p:txBody>
      </p:sp>
      <p:sp>
        <p:nvSpPr>
          <p:cNvPr id="3" name="Content Placeholder 2"/>
          <p:cNvSpPr>
            <a:spLocks noGrp="1"/>
          </p:cNvSpPr>
          <p:nvPr>
            <p:ph idx="1"/>
          </p:nvPr>
        </p:nvSpPr>
        <p:spPr/>
        <p:txBody>
          <a:bodyPr>
            <a:normAutofit fontScale="70000" lnSpcReduction="20000"/>
          </a:bodyPr>
          <a:lstStyle/>
          <a:p>
            <a:r>
              <a:rPr lang="en-US" b="1" dirty="0"/>
              <a:t>1.Answer True or False</a:t>
            </a:r>
            <a:endParaRPr lang="en-US" dirty="0"/>
          </a:p>
          <a:p>
            <a:pPr marL="0" lvl="0" indent="0">
              <a:buNone/>
            </a:pPr>
            <a:r>
              <a:rPr lang="en-US" b="1" dirty="0"/>
              <a:t>a. user interface (UI):</a:t>
            </a:r>
            <a:r>
              <a:rPr lang="en-US" dirty="0"/>
              <a:t> is also the way through which a user interacts with an </a:t>
            </a:r>
            <a:r>
              <a:rPr lang="en-US" u="sng" dirty="0">
                <a:hlinkClick r:id="rId2"/>
              </a:rPr>
              <a:t>application</a:t>
            </a:r>
            <a:r>
              <a:rPr lang="en-US" dirty="0"/>
              <a:t> or a </a:t>
            </a:r>
            <a:r>
              <a:rPr lang="en-US" u="sng" dirty="0">
                <a:hlinkClick r:id="rId3"/>
              </a:rPr>
              <a:t>website</a:t>
            </a:r>
            <a:r>
              <a:rPr lang="en-US" dirty="0"/>
              <a:t>.</a:t>
            </a:r>
          </a:p>
          <a:p>
            <a:pPr marL="0" lvl="0" indent="0">
              <a:buNone/>
            </a:pPr>
            <a:r>
              <a:rPr lang="en-US" dirty="0"/>
              <a:t>b. computer mouse and remote control are the types of UX.</a:t>
            </a:r>
          </a:p>
          <a:p>
            <a:pPr marL="0" lvl="0" indent="0">
              <a:buNone/>
            </a:pPr>
            <a:r>
              <a:rPr lang="en-US" b="1" dirty="0">
                <a:solidFill>
                  <a:srgbClr val="003300"/>
                </a:solidFill>
              </a:rPr>
              <a:t>c. quantitative is statistical and can be computed data while qualitative is insights that can be observed but not computed.</a:t>
            </a:r>
            <a:endParaRPr lang="en-US" dirty="0">
              <a:solidFill>
                <a:srgbClr val="003300"/>
              </a:solidFill>
            </a:endParaRPr>
          </a:p>
          <a:p>
            <a:pPr marL="0" lvl="0" indent="0">
              <a:buNone/>
            </a:pPr>
            <a:r>
              <a:rPr lang="en-US" dirty="0"/>
              <a:t>d. Pain points are problems that occur at the different levels of the customer experience: interaction level, customer-journey level only.</a:t>
            </a:r>
          </a:p>
          <a:p>
            <a:pPr marL="0" lvl="0" indent="0">
              <a:buNone/>
            </a:pPr>
            <a:r>
              <a:rPr lang="en-US" u="sng" dirty="0">
                <a:hlinkClick r:id="rId4"/>
              </a:rPr>
              <a:t>e. Direct Competition</a:t>
            </a:r>
            <a:r>
              <a:rPr lang="en-US" dirty="0"/>
              <a:t> is faced by the brand from the other companies in the market that offer the similar lines of products having comparable features and benefits plus to the same </a:t>
            </a:r>
            <a:r>
              <a:rPr lang="en-US" u="sng" dirty="0">
                <a:hlinkClick r:id="rId5"/>
              </a:rPr>
              <a:t>target market</a:t>
            </a:r>
            <a:r>
              <a:rPr lang="en-US" dirty="0"/>
              <a:t> and target customers.</a:t>
            </a:r>
          </a:p>
          <a:p>
            <a:endParaRPr lang="en-US" dirty="0"/>
          </a:p>
        </p:txBody>
      </p:sp>
    </p:spTree>
    <p:extLst>
      <p:ext uri="{BB962C8B-B14F-4D97-AF65-F5344CB8AC3E}">
        <p14:creationId xmlns:p14="http://schemas.microsoft.com/office/powerpoint/2010/main" val="122611691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b="1" dirty="0"/>
              <a:t>2</a:t>
            </a:r>
            <a:r>
              <a:rPr lang="en-US" dirty="0"/>
              <a:t>.What are the</a:t>
            </a:r>
            <a:r>
              <a:rPr lang="en-US" b="1" dirty="0"/>
              <a:t> Principles of branding design?</a:t>
            </a:r>
            <a:endParaRPr lang="en-US" dirty="0"/>
          </a:p>
          <a:p>
            <a:r>
              <a:rPr lang="en-US" b="1" dirty="0"/>
              <a:t>3. Give the difference between user story and user scenario/6marks</a:t>
            </a:r>
            <a:endParaRPr lang="en-US" dirty="0"/>
          </a:p>
          <a:p>
            <a:r>
              <a:rPr lang="en-US" b="1" dirty="0"/>
              <a:t>4.</a:t>
            </a:r>
            <a:r>
              <a:rPr lang="en-US" dirty="0"/>
              <a:t> What stand for the following abbreviation/</a:t>
            </a:r>
          </a:p>
          <a:p>
            <a:r>
              <a:rPr lang="en-US" dirty="0"/>
              <a:t>     HTTP, HTML.CSS, WWW, TCP, IP, UX, UE, UI, URI, URL</a:t>
            </a:r>
          </a:p>
          <a:p>
            <a:r>
              <a:rPr lang="en-US" b="1" dirty="0"/>
              <a:t>5</a:t>
            </a:r>
            <a:r>
              <a:rPr lang="en-US" dirty="0"/>
              <a:t>. Name any three types of user interface</a:t>
            </a:r>
          </a:p>
          <a:p>
            <a:r>
              <a:rPr lang="en-US" b="1" dirty="0"/>
              <a:t>6</a:t>
            </a:r>
            <a:r>
              <a:rPr lang="en-US" dirty="0"/>
              <a:t>. Outline the five steps of UI/UX Design Process</a:t>
            </a:r>
          </a:p>
          <a:p>
            <a:r>
              <a:rPr lang="en-US" b="1" dirty="0"/>
              <a:t>7</a:t>
            </a:r>
            <a:r>
              <a:rPr lang="en-US" dirty="0"/>
              <a:t>. What means or stand for SMART and INVEST for user story</a:t>
            </a:r>
          </a:p>
          <a:p>
            <a:r>
              <a:rPr lang="en-US" b="1" dirty="0"/>
              <a:t>8</a:t>
            </a:r>
            <a:r>
              <a:rPr lang="en-US" dirty="0"/>
              <a:t>.Enumerate three levels of pain points in UX design</a:t>
            </a:r>
          </a:p>
          <a:p>
            <a:r>
              <a:rPr lang="en-US" dirty="0"/>
              <a:t> </a:t>
            </a:r>
            <a:r>
              <a:rPr lang="en-US" b="1" dirty="0"/>
              <a:t>9.</a:t>
            </a:r>
            <a:r>
              <a:rPr lang="en-US" dirty="0"/>
              <a:t> Match the following steps in user personas process with their phases.</a:t>
            </a:r>
          </a:p>
          <a:p>
            <a:endParaRPr lang="en-US" dirty="0"/>
          </a:p>
        </p:txBody>
      </p:sp>
    </p:spTree>
    <p:extLst>
      <p:ext uri="{BB962C8B-B14F-4D97-AF65-F5344CB8AC3E}">
        <p14:creationId xmlns:p14="http://schemas.microsoft.com/office/powerpoint/2010/main" val="3289734329"/>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76673735"/>
              </p:ext>
            </p:extLst>
          </p:nvPr>
        </p:nvGraphicFramePr>
        <p:xfrm>
          <a:off x="457200" y="1600200"/>
          <a:ext cx="8229600" cy="11125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pPr marL="742950" marR="57150" indent="-123825">
                        <a:lnSpc>
                          <a:spcPct val="104000"/>
                        </a:lnSpc>
                        <a:spcBef>
                          <a:spcPts val="0"/>
                        </a:spcBef>
                        <a:spcAft>
                          <a:spcPts val="795"/>
                        </a:spcAft>
                        <a:tabLst>
                          <a:tab pos="1087120" algn="l"/>
                        </a:tabLst>
                      </a:pPr>
                      <a:r>
                        <a:rPr lang="en-US" sz="1600" dirty="0">
                          <a:solidFill>
                            <a:schemeClr val="tx1"/>
                          </a:solidFill>
                          <a:effectLst/>
                          <a:latin typeface="Bookman Old Style"/>
                          <a:ea typeface="Bookman Old Style"/>
                          <a:cs typeface="Bookman Old Style"/>
                        </a:rPr>
                        <a:t>   Empathize, Define </a:t>
                      </a:r>
                      <a:endParaRPr lang="en-US" sz="2400" dirty="0">
                        <a:solidFill>
                          <a:schemeClr val="tx1"/>
                        </a:solidFill>
                        <a:effectLst/>
                        <a:latin typeface="Bookman Old Style"/>
                        <a:ea typeface="Bookman Old Style"/>
                        <a:cs typeface="Bookman Old Style"/>
                      </a:endParaRPr>
                    </a:p>
                  </a:txBody>
                  <a:tcPr marL="68580" marR="68580" marT="0" marB="0"/>
                </a:tc>
                <a:tc>
                  <a:txBody>
                    <a:bodyPr/>
                    <a:lstStyle/>
                    <a:p>
                      <a:pPr marL="742950" marR="57150" indent="-123825">
                        <a:lnSpc>
                          <a:spcPct val="104000"/>
                        </a:lnSpc>
                        <a:spcBef>
                          <a:spcPts val="0"/>
                        </a:spcBef>
                        <a:spcAft>
                          <a:spcPts val="795"/>
                        </a:spcAft>
                        <a:tabLst>
                          <a:tab pos="1087120" algn="l"/>
                        </a:tabLst>
                      </a:pPr>
                      <a:r>
                        <a:rPr lang="en-US" sz="1600">
                          <a:solidFill>
                            <a:schemeClr val="tx1"/>
                          </a:solidFill>
                          <a:effectLst/>
                          <a:latin typeface="Bookman Old Style"/>
                          <a:ea typeface="Bookman Old Style"/>
                          <a:cs typeface="Bookman Old Style"/>
                        </a:rPr>
                        <a:t>       </a:t>
                      </a:r>
                      <a:r>
                        <a:rPr lang="en-US" sz="1600" b="1">
                          <a:solidFill>
                            <a:schemeClr val="tx1"/>
                          </a:solidFill>
                          <a:effectLst/>
                          <a:latin typeface="Bookman Old Style"/>
                          <a:ea typeface="Bookman Old Style"/>
                          <a:cs typeface="Bookman Old Style"/>
                        </a:rPr>
                        <a:t>Materialized</a:t>
                      </a:r>
                      <a:endParaRPr lang="en-US" sz="2400">
                        <a:solidFill>
                          <a:schemeClr val="tx1"/>
                        </a:solidFill>
                        <a:effectLst/>
                        <a:latin typeface="Bookman Old Style"/>
                        <a:ea typeface="Bookman Old Style"/>
                        <a:cs typeface="Bookman Old Style"/>
                      </a:endParaRPr>
                    </a:p>
                  </a:txBody>
                  <a:tcPr marL="68580" marR="68580" marT="0" marB="0"/>
                </a:tc>
                <a:extLst>
                  <a:ext uri="{0D108BD9-81ED-4DB2-BD59-A6C34878D82A}">
                    <a16:rowId xmlns:a16="http://schemas.microsoft.com/office/drawing/2014/main" val="10000"/>
                  </a:ext>
                </a:extLst>
              </a:tr>
              <a:tr h="370840">
                <a:tc>
                  <a:txBody>
                    <a:bodyPr/>
                    <a:lstStyle/>
                    <a:p>
                      <a:pPr marL="742950" marR="57150" indent="-123825">
                        <a:lnSpc>
                          <a:spcPct val="104000"/>
                        </a:lnSpc>
                        <a:spcBef>
                          <a:spcPts val="0"/>
                        </a:spcBef>
                        <a:spcAft>
                          <a:spcPts val="795"/>
                        </a:spcAft>
                      </a:pPr>
                      <a:r>
                        <a:rPr lang="en-US" sz="1600">
                          <a:solidFill>
                            <a:schemeClr val="tx1"/>
                          </a:solidFill>
                          <a:effectLst/>
                          <a:latin typeface="Bookman Old Style"/>
                          <a:ea typeface="Bookman Old Style"/>
                          <a:cs typeface="Bookman Old Style"/>
                        </a:rPr>
                        <a:t>   Ideate, Prototype                                </a:t>
                      </a:r>
                      <a:endParaRPr lang="en-US" sz="2400">
                        <a:solidFill>
                          <a:schemeClr val="tx1"/>
                        </a:solidFill>
                        <a:effectLst/>
                        <a:latin typeface="Bookman Old Style"/>
                        <a:ea typeface="Bookman Old Style"/>
                        <a:cs typeface="Bookman Old Style"/>
                      </a:endParaRPr>
                    </a:p>
                  </a:txBody>
                  <a:tcPr marL="68580" marR="68580" marT="0" marB="0"/>
                </a:tc>
                <a:tc>
                  <a:txBody>
                    <a:bodyPr/>
                    <a:lstStyle/>
                    <a:p>
                      <a:pPr marL="742950" marR="57150" indent="-123825">
                        <a:lnSpc>
                          <a:spcPct val="104000"/>
                        </a:lnSpc>
                        <a:spcBef>
                          <a:spcPts val="0"/>
                        </a:spcBef>
                        <a:spcAft>
                          <a:spcPts val="795"/>
                        </a:spcAft>
                      </a:pPr>
                      <a:r>
                        <a:rPr lang="en-US" sz="1600">
                          <a:solidFill>
                            <a:schemeClr val="tx1"/>
                          </a:solidFill>
                          <a:effectLst/>
                          <a:latin typeface="Bookman Old Style"/>
                          <a:ea typeface="Bookman Old Style"/>
                          <a:cs typeface="Bookman Old Style"/>
                        </a:rPr>
                        <a:t>       </a:t>
                      </a:r>
                      <a:r>
                        <a:rPr lang="en-US" sz="1600" b="1">
                          <a:solidFill>
                            <a:schemeClr val="tx1"/>
                          </a:solidFill>
                          <a:effectLst/>
                          <a:latin typeface="Bookman Old Style"/>
                          <a:ea typeface="Bookman Old Style"/>
                          <a:cs typeface="Bookman Old Style"/>
                        </a:rPr>
                        <a:t>Explore</a:t>
                      </a:r>
                      <a:endParaRPr lang="en-US" sz="2400">
                        <a:solidFill>
                          <a:schemeClr val="tx1"/>
                        </a:solidFill>
                        <a:effectLst/>
                        <a:latin typeface="Bookman Old Style"/>
                        <a:ea typeface="Bookman Old Style"/>
                        <a:cs typeface="Bookman Old Style"/>
                      </a:endParaRPr>
                    </a:p>
                  </a:txBody>
                  <a:tcPr marL="68580" marR="68580" marT="0" marB="0"/>
                </a:tc>
                <a:extLst>
                  <a:ext uri="{0D108BD9-81ED-4DB2-BD59-A6C34878D82A}">
                    <a16:rowId xmlns:a16="http://schemas.microsoft.com/office/drawing/2014/main" val="10001"/>
                  </a:ext>
                </a:extLst>
              </a:tr>
              <a:tr h="370840">
                <a:tc>
                  <a:txBody>
                    <a:bodyPr/>
                    <a:lstStyle/>
                    <a:p>
                      <a:pPr marL="742950" marR="57150" indent="-123825">
                        <a:lnSpc>
                          <a:spcPct val="104000"/>
                        </a:lnSpc>
                        <a:spcBef>
                          <a:spcPts val="0"/>
                        </a:spcBef>
                        <a:spcAft>
                          <a:spcPts val="795"/>
                        </a:spcAft>
                      </a:pPr>
                      <a:r>
                        <a:rPr lang="en-US" sz="1600" dirty="0">
                          <a:solidFill>
                            <a:schemeClr val="tx1"/>
                          </a:solidFill>
                          <a:effectLst/>
                          <a:latin typeface="Bookman Old Style"/>
                          <a:ea typeface="Bookman Old Style"/>
                          <a:cs typeface="Bookman Old Style"/>
                        </a:rPr>
                        <a:t>   Test, Implement   </a:t>
                      </a:r>
                      <a:r>
                        <a:rPr lang="en-US" sz="1600" b="1" dirty="0">
                          <a:solidFill>
                            <a:schemeClr val="tx1"/>
                          </a:solidFill>
                          <a:effectLst/>
                          <a:latin typeface="Bookman Old Style"/>
                          <a:ea typeface="Bookman Old Style"/>
                          <a:cs typeface="Bookman Old Style"/>
                        </a:rPr>
                        <a:t>                        </a:t>
                      </a:r>
                      <a:endParaRPr lang="en-US" sz="2400" dirty="0">
                        <a:solidFill>
                          <a:schemeClr val="tx1"/>
                        </a:solidFill>
                        <a:effectLst/>
                        <a:latin typeface="Bookman Old Style"/>
                        <a:ea typeface="Bookman Old Style"/>
                        <a:cs typeface="Bookman Old Style"/>
                      </a:endParaRPr>
                    </a:p>
                  </a:txBody>
                  <a:tcPr marL="68580" marR="68580" marT="0" marB="0"/>
                </a:tc>
                <a:tc>
                  <a:txBody>
                    <a:bodyPr/>
                    <a:lstStyle/>
                    <a:p>
                      <a:pPr marL="742950" marR="57150" indent="-123825">
                        <a:lnSpc>
                          <a:spcPct val="104000"/>
                        </a:lnSpc>
                        <a:spcBef>
                          <a:spcPts val="0"/>
                        </a:spcBef>
                        <a:spcAft>
                          <a:spcPts val="795"/>
                        </a:spcAft>
                      </a:pPr>
                      <a:r>
                        <a:rPr lang="en-US" sz="1600" dirty="0">
                          <a:solidFill>
                            <a:schemeClr val="tx1"/>
                          </a:solidFill>
                          <a:effectLst/>
                          <a:latin typeface="Bookman Old Style"/>
                          <a:ea typeface="Bookman Old Style"/>
                          <a:cs typeface="Bookman Old Style"/>
                        </a:rPr>
                        <a:t>      </a:t>
                      </a:r>
                      <a:r>
                        <a:rPr lang="en-US" sz="1600" b="1" dirty="0">
                          <a:solidFill>
                            <a:schemeClr val="tx1"/>
                          </a:solidFill>
                          <a:effectLst/>
                          <a:latin typeface="Bookman Old Style"/>
                          <a:ea typeface="Bookman Old Style"/>
                          <a:cs typeface="Bookman Old Style"/>
                        </a:rPr>
                        <a:t>Understand</a:t>
                      </a:r>
                      <a:endParaRPr lang="en-US" sz="2400" dirty="0">
                        <a:solidFill>
                          <a:schemeClr val="tx1"/>
                        </a:solidFill>
                        <a:effectLst/>
                        <a:latin typeface="Bookman Old Style"/>
                        <a:ea typeface="Bookman Old Style"/>
                        <a:cs typeface="Bookman Old Style"/>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30936432"/>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47500" lnSpcReduction="20000"/>
          </a:bodyPr>
          <a:lstStyle/>
          <a:p>
            <a:r>
              <a:rPr lang="en-US" b="1" dirty="0"/>
              <a:t> </a:t>
            </a:r>
            <a:endParaRPr lang="en-US" dirty="0"/>
          </a:p>
          <a:p>
            <a:r>
              <a:rPr lang="en-US" b="1" dirty="0"/>
              <a:t>10</a:t>
            </a:r>
            <a:r>
              <a:rPr lang="en-US" dirty="0"/>
              <a:t>. Complete the following sentences using the given word:</a:t>
            </a:r>
            <a:r>
              <a:rPr lang="en-US" b="1" dirty="0"/>
              <a:t> brand, brand identity, creative brief, story, </a:t>
            </a:r>
            <a:r>
              <a:rPr lang="en-US" u="sng" dirty="0">
                <a:hlinkClick r:id="rId2"/>
              </a:rPr>
              <a:t>Brand</a:t>
            </a:r>
            <a:r>
              <a:rPr lang="en-US" b="1" dirty="0"/>
              <a:t> Competition</a:t>
            </a:r>
            <a:r>
              <a:rPr lang="en-US" dirty="0"/>
              <a:t>,</a:t>
            </a:r>
            <a:r>
              <a:rPr lang="en-US" b="1" dirty="0"/>
              <a:t> user story, user scenario, User personas</a:t>
            </a:r>
            <a:endParaRPr lang="en-US" dirty="0"/>
          </a:p>
          <a:p>
            <a:pPr lvl="0"/>
            <a:r>
              <a:rPr lang="en-US" b="1" dirty="0"/>
              <a:t>……………….</a:t>
            </a:r>
            <a:r>
              <a:rPr lang="en-US" dirty="0"/>
              <a:t> is the unique set of brand associations that represent what a brand stands for and promises to its customers? Or ……………. are</a:t>
            </a:r>
            <a:r>
              <a:rPr lang="en-US" b="1" dirty="0"/>
              <a:t> the visible elements of a brand, such as color, design, and logo, that identify and distinguish the brand in consumers' </a:t>
            </a:r>
            <a:r>
              <a:rPr lang="en-US" dirty="0"/>
              <a:t>minds?</a:t>
            </a:r>
          </a:p>
          <a:p>
            <a:pPr lvl="0"/>
            <a:r>
              <a:rPr lang="en-US" dirty="0"/>
              <a:t>……………is a name, term, design, symbol or any other feature that distinguishes one seller's good or service from those of other sellers.</a:t>
            </a:r>
          </a:p>
          <a:p>
            <a:pPr lvl="0"/>
            <a:r>
              <a:rPr lang="en-US" dirty="0"/>
              <a:t>……………… is </a:t>
            </a:r>
            <a:r>
              <a:rPr lang="en-US" b="1" dirty="0"/>
              <a:t>representations of an app or Web site’s various user groups</a:t>
            </a:r>
            <a:r>
              <a:rPr lang="en-US" dirty="0"/>
              <a:t>.</a:t>
            </a:r>
          </a:p>
          <a:p>
            <a:pPr lvl="0"/>
            <a:r>
              <a:rPr lang="en-US" dirty="0"/>
              <a:t> ……….. is like the smallest unit of work in the frame work or </a:t>
            </a:r>
            <a:r>
              <a:rPr lang="en-US" b="1" dirty="0"/>
              <a:t>tiny piece of a stable fundament of a successful application according to design, function and its process</a:t>
            </a:r>
            <a:r>
              <a:rPr lang="en-US" dirty="0"/>
              <a:t>.</a:t>
            </a:r>
          </a:p>
          <a:p>
            <a:pPr lvl="0"/>
            <a:r>
              <a:rPr lang="en-US" dirty="0"/>
              <a:t>…………….. is just the written definition of a UX Designer’s first visualization of the first wireframes and prototypes? First approach is visual.</a:t>
            </a:r>
          </a:p>
          <a:p>
            <a:pPr lvl="0"/>
            <a:r>
              <a:rPr lang="en-US" dirty="0"/>
              <a:t>……………..can be defined as the conflict between the companies offering the similar line of </a:t>
            </a:r>
            <a:r>
              <a:rPr lang="en-US" u="sng" dirty="0">
                <a:hlinkClick r:id="rId3"/>
              </a:rPr>
              <a:t>products</a:t>
            </a:r>
            <a:r>
              <a:rPr lang="en-US" dirty="0"/>
              <a:t> or services in the same </a:t>
            </a:r>
            <a:r>
              <a:rPr lang="en-US" u="sng" dirty="0">
                <a:hlinkClick r:id="rId4"/>
              </a:rPr>
              <a:t>target market</a:t>
            </a:r>
            <a:r>
              <a:rPr lang="en-US" dirty="0"/>
              <a:t> and to the same </a:t>
            </a:r>
            <a:r>
              <a:rPr lang="en-US" u="sng" dirty="0">
                <a:hlinkClick r:id="rId5"/>
              </a:rPr>
              <a:t>target</a:t>
            </a:r>
            <a:r>
              <a:rPr lang="en-US" dirty="0"/>
              <a:t> audience with the goal to have the higher </a:t>
            </a:r>
            <a:r>
              <a:rPr lang="en-US" u="sng" dirty="0">
                <a:hlinkClick r:id="rId6"/>
              </a:rPr>
              <a:t>market share</a:t>
            </a:r>
            <a:r>
              <a:rPr lang="en-US" dirty="0"/>
              <a:t>, increased revenues, huge profits</a:t>
            </a:r>
          </a:p>
          <a:p>
            <a:pPr lvl="0"/>
            <a:r>
              <a:rPr lang="en-US" dirty="0"/>
              <a:t>…………. is a detailed description of what users do with the product and more importantly why they do it?</a:t>
            </a:r>
          </a:p>
          <a:p>
            <a:pPr lvl="0"/>
            <a:r>
              <a:rPr lang="en-US" b="1" dirty="0"/>
              <a:t>…………….  </a:t>
            </a:r>
            <a:r>
              <a:rPr lang="en-US" dirty="0"/>
              <a:t>is a document used to outline the strategy of a creative project?</a:t>
            </a:r>
          </a:p>
          <a:p>
            <a:r>
              <a:rPr lang="en-US" dirty="0"/>
              <a:t>11. Discuss about the types of the UX Research </a:t>
            </a:r>
            <a:r>
              <a:rPr lang="en-US"/>
              <a:t>Methods Matrix   </a:t>
            </a:r>
          </a:p>
          <a:p>
            <a:endParaRPr lang="en-US" dirty="0"/>
          </a:p>
        </p:txBody>
      </p:sp>
    </p:spTree>
    <p:extLst>
      <p:ext uri="{BB962C8B-B14F-4D97-AF65-F5344CB8AC3E}">
        <p14:creationId xmlns:p14="http://schemas.microsoft.com/office/powerpoint/2010/main" val="3968512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6506</TotalTime>
  <Words>15911</Words>
  <Application>Microsoft Office PowerPoint</Application>
  <PresentationFormat>On-screen Show (4:3)</PresentationFormat>
  <Paragraphs>1105</Paragraphs>
  <Slides>218</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218</vt:i4>
      </vt:variant>
    </vt:vector>
  </HeadingPairs>
  <TitlesOfParts>
    <vt:vector size="227" baseType="lpstr">
      <vt:lpstr>Arial</vt:lpstr>
      <vt:lpstr>ArialMT</vt:lpstr>
      <vt:lpstr>Bookman Old Style</vt:lpstr>
      <vt:lpstr>Calibri</vt:lpstr>
      <vt:lpstr>Roboto</vt:lpstr>
      <vt:lpstr>Times New Roman</vt:lpstr>
      <vt:lpstr>Wingdings</vt:lpstr>
      <vt:lpstr>Wingdings-Regular</vt:lpstr>
      <vt:lpstr>Office Theme</vt:lpstr>
      <vt:lpstr>SWDUX 301: DESIGN UI/UX</vt:lpstr>
      <vt:lpstr>PURPOSE STATEMENT</vt:lpstr>
      <vt:lpstr>PowerPoint Presentation</vt:lpstr>
      <vt:lpstr>Course outline</vt:lpstr>
      <vt:lpstr>LO 2: Define the user </vt:lpstr>
      <vt:lpstr>III. Design Mockup</vt:lpstr>
      <vt:lpstr>  LO1.Analyze user experience </vt:lpstr>
      <vt:lpstr>PowerPoint Presentation</vt:lpstr>
      <vt:lpstr>Qualities of  a good UX design</vt:lpstr>
      <vt:lpstr>Cont’</vt:lpstr>
      <vt:lpstr>Cont’</vt:lpstr>
      <vt:lpstr> Why is UX important? </vt:lpstr>
      <vt:lpstr>1.1 Definition of Key Concepts</vt:lpstr>
      <vt:lpstr>PowerPoint Presentation</vt:lpstr>
      <vt:lpstr>What Is UI Design?</vt:lpstr>
      <vt:lpstr>Quality of the user experience:</vt:lpstr>
      <vt:lpstr>PowerPoint Presentation</vt:lpstr>
      <vt:lpstr>What is User experience (UX) research?</vt:lpstr>
      <vt:lpstr>What are the Research findings?</vt:lpstr>
      <vt:lpstr>Examples of User Experience </vt:lpstr>
      <vt:lpstr>What is a UX Designer?  </vt:lpstr>
      <vt:lpstr> Difference between UX and UI </vt:lpstr>
      <vt:lpstr>PowerPoint Presentation</vt:lpstr>
      <vt:lpstr>Tasks and responsibilities </vt:lpstr>
      <vt:lpstr> </vt:lpstr>
      <vt:lpstr>1.3 Description of UX Research </vt:lpstr>
      <vt:lpstr>PowerPoint Presentation</vt:lpstr>
      <vt:lpstr>Research findings(review)</vt:lpstr>
      <vt:lpstr>PowerPoint Presentation</vt:lpstr>
      <vt:lpstr>1.4 UX research methods and approaches</vt:lpstr>
      <vt:lpstr>PowerPoint Presentation</vt:lpstr>
      <vt:lpstr> </vt:lpstr>
      <vt:lpstr>PowerPoint Presentation</vt:lpstr>
      <vt:lpstr>PowerPoint Presentation</vt:lpstr>
      <vt:lpstr>PowerPoint Presentation</vt:lpstr>
      <vt:lpstr>PowerPoint Presentation</vt:lpstr>
      <vt:lpstr>PowerPoint Presentation</vt:lpstr>
      <vt:lpstr>1.4.1 UX Research role and responsibilities</vt:lpstr>
      <vt:lpstr>1.4.2 Benefits of UX Research</vt:lpstr>
      <vt:lpstr>PowerPoint Presentation</vt:lpstr>
      <vt:lpstr>1.4.3Types of UX Data </vt:lpstr>
      <vt:lpstr> Difference between Qualitative and quantitative user research methods </vt:lpstr>
      <vt:lpstr>PowerPoint Presentation</vt:lpstr>
      <vt:lpstr>Steps of UX analysis Identification of user issues</vt:lpstr>
      <vt:lpstr>Step 1:Identify user issues </vt:lpstr>
      <vt:lpstr>Step 2. Organize your UX data </vt:lpstr>
      <vt:lpstr>PowerPoint Presentation</vt:lpstr>
      <vt:lpstr>Step 3: Look for recurring issues </vt:lpstr>
      <vt:lpstr>PowerPoint Presentation</vt:lpstr>
      <vt:lpstr>Step 4. Prioritize fixes </vt:lpstr>
      <vt:lpstr>PowerPoint Presentation</vt:lpstr>
      <vt:lpstr>Step 5. Share your findings and recommendations </vt:lpstr>
      <vt:lpstr>PowerPoint Presentation</vt:lpstr>
      <vt:lpstr>6. Build and test new features </vt:lpstr>
      <vt:lpstr>Analysis of brand identity </vt:lpstr>
      <vt:lpstr>PowerPoint Presentation</vt:lpstr>
      <vt:lpstr>What Is a Brand?  </vt:lpstr>
      <vt:lpstr>PowerPoint Presentation</vt:lpstr>
      <vt:lpstr>PowerPoint Presentation</vt:lpstr>
      <vt:lpstr>PowerPoint Presentation</vt:lpstr>
      <vt:lpstr>6 principles for successful branding</vt:lpstr>
      <vt:lpstr>1. Ask yourself why?</vt:lpstr>
      <vt:lpstr>PowerPoint Presentation</vt:lpstr>
      <vt:lpstr>2. Brand vision</vt:lpstr>
      <vt:lpstr>PowerPoint Presentation</vt:lpstr>
      <vt:lpstr> 3. Check your competition and find your unique selling point </vt:lpstr>
      <vt:lpstr>PowerPoint Presentation</vt:lpstr>
      <vt:lpstr>PowerPoint Presentation</vt:lpstr>
      <vt:lpstr>4. Personality counts</vt:lpstr>
      <vt:lpstr>PowerPoint Presentation</vt:lpstr>
      <vt:lpstr>PowerPoint Presentation</vt:lpstr>
      <vt:lpstr>5. Pitch perfect </vt:lpstr>
      <vt:lpstr>6. Creating brand guidelines </vt:lpstr>
      <vt:lpstr> Identification of brand design principles </vt:lpstr>
      <vt:lpstr> 1. Research, Vision and Design Brief </vt:lpstr>
      <vt:lpstr>PowerPoint Presentation</vt:lpstr>
      <vt:lpstr>PowerPoint Presentation</vt:lpstr>
      <vt:lpstr>2. Logo, Identity &amp; Guidelines </vt:lpstr>
      <vt:lpstr>3. Monitoring and Rebranding</vt:lpstr>
      <vt:lpstr>Eight Design Principles </vt:lpstr>
      <vt:lpstr>PowerPoint Presentation</vt:lpstr>
      <vt:lpstr>PowerPoint Presentation</vt:lpstr>
      <vt:lpstr>Identification of Brand Personas</vt:lpstr>
      <vt:lpstr>PowerPoint Presentation</vt:lpstr>
      <vt:lpstr>  Identification of Brand Competition </vt:lpstr>
      <vt:lpstr> Principles of branding design:   </vt:lpstr>
      <vt:lpstr>PowerPoint Presentation</vt:lpstr>
      <vt:lpstr>PowerPoint Presentation</vt:lpstr>
      <vt:lpstr>PowerPoint Presentation</vt:lpstr>
      <vt:lpstr>PowerPoint Presentation</vt:lpstr>
      <vt:lpstr> Identification of Brand Competition  </vt:lpstr>
      <vt:lpstr>Types of brand competition </vt:lpstr>
      <vt:lpstr>1. Direct competition </vt:lpstr>
      <vt:lpstr>Direct competition example </vt:lpstr>
      <vt:lpstr>2. Indirect competition </vt:lpstr>
      <vt:lpstr>Indirect competition example </vt:lpstr>
      <vt:lpstr>3. Replacement competition </vt:lpstr>
      <vt:lpstr>Replacement competition example </vt:lpstr>
      <vt:lpstr>4. Intra-brand competition </vt:lpstr>
      <vt:lpstr>Intra-brand competition example </vt:lpstr>
      <vt:lpstr>Tips for addressing brand competition </vt:lpstr>
      <vt:lpstr>PowerPoint Presentation</vt:lpstr>
      <vt:lpstr>Observing and improving marketing strategies </vt:lpstr>
      <vt:lpstr>Definition of tasks</vt:lpstr>
      <vt:lpstr>Maintaining brand quality </vt:lpstr>
      <vt:lpstr> Identification of Brand Personas  </vt:lpstr>
      <vt:lpstr>Identification of end user Pain Points   </vt:lpstr>
      <vt:lpstr>Common types of pain points </vt:lpstr>
      <vt:lpstr>Three Levels of Pain Points    </vt:lpstr>
      <vt:lpstr>The three levels of user pain points(summary)</vt:lpstr>
      <vt:lpstr>The Effects of Pain Points on Users    </vt:lpstr>
      <vt:lpstr>Definition of Tasks </vt:lpstr>
      <vt:lpstr>PowerPoint Presentation</vt:lpstr>
      <vt:lpstr>PowerPoint Presentation</vt:lpstr>
      <vt:lpstr>steps    </vt:lpstr>
      <vt:lpstr>Learning outcome 2.  Define User  </vt:lpstr>
      <vt:lpstr>PowerPoint Presentation</vt:lpstr>
      <vt:lpstr>PowerPoint Presentation</vt:lpstr>
      <vt:lpstr>Creation of user story</vt:lpstr>
      <vt:lpstr>PowerPoint Presentation</vt:lpstr>
      <vt:lpstr>PowerPoint Presentation</vt:lpstr>
      <vt:lpstr>Another system, SMART, means stories should be:</vt:lpstr>
      <vt:lpstr>2. Benefits of user stories </vt:lpstr>
      <vt:lpstr>PowerPoint Presentation</vt:lpstr>
      <vt:lpstr>3. Create user story </vt:lpstr>
      <vt:lpstr>Step 2: Decide on user personas</vt:lpstr>
      <vt:lpstr>Step 4: Map stories  </vt:lpstr>
      <vt:lpstr>User story examples</vt:lpstr>
      <vt:lpstr>User story example  1 </vt:lpstr>
      <vt:lpstr>Identification of user personas</vt:lpstr>
      <vt:lpstr>Characteristics of user personas</vt:lpstr>
      <vt:lpstr>User personas in design process   </vt:lpstr>
      <vt:lpstr>PowerPoint Presentation</vt:lpstr>
      <vt:lpstr>Creating user personas in design process </vt:lpstr>
      <vt:lpstr>User personas in design process </vt:lpstr>
      <vt:lpstr>1. Understand (Empathize, Define)</vt:lpstr>
      <vt:lpstr>2. Explore (Ideate, Prototype)</vt:lpstr>
      <vt:lpstr>PowerPoint Presentation</vt:lpstr>
      <vt:lpstr>3. Materialize (Test, Implement)</vt:lpstr>
      <vt:lpstr>PowerPoint Presentation</vt:lpstr>
      <vt:lpstr>PowerPoint Presentation</vt:lpstr>
      <vt:lpstr>Creation of user journey</vt:lpstr>
      <vt:lpstr>PowerPoint Presentation</vt:lpstr>
      <vt:lpstr>PowerPoint Presentation</vt:lpstr>
      <vt:lpstr>Elements of a user journey map </vt:lpstr>
      <vt:lpstr>PowerPoint Presentation</vt:lpstr>
      <vt:lpstr> Create user journey map </vt:lpstr>
      <vt:lpstr>2. Build user personas.    </vt:lpstr>
      <vt:lpstr>3. Define user goals, expectations, and pain points.</vt:lpstr>
      <vt:lpstr>4. List out touch points and channels.   </vt:lpstr>
      <vt:lpstr>5. Map the journey.   </vt:lpstr>
      <vt:lpstr>6. Validate and refine the map.   </vt:lpstr>
      <vt:lpstr>● Perform UX Research </vt:lpstr>
      <vt:lpstr>Best practices for conducting UX research    </vt:lpstr>
      <vt:lpstr>1. Create a plan    </vt:lpstr>
      <vt:lpstr>2. Identifying stakeholders    </vt:lpstr>
      <vt:lpstr>3. Collect baseline research    </vt:lpstr>
      <vt:lpstr>4.  Synthesize findings    </vt:lpstr>
      <vt:lpstr> Learning outcome 3: Design Mockup </vt:lpstr>
      <vt:lpstr> The various types of user interfaces include</vt:lpstr>
      <vt:lpstr>examples of GUI input control elements:</vt:lpstr>
      <vt:lpstr>PowerPoint Presentation</vt:lpstr>
      <vt:lpstr>PowerPoint Presentation</vt:lpstr>
      <vt:lpstr>2. command line interface (CLI) </vt:lpstr>
      <vt:lpstr>How does command line interface work?</vt:lpstr>
      <vt:lpstr>3.  menu-driven user interface </vt:lpstr>
      <vt:lpstr>4. Touch user interface </vt:lpstr>
      <vt:lpstr>5. voice user interface (VUI) </vt:lpstr>
      <vt:lpstr>6. form-based user interface </vt:lpstr>
      <vt:lpstr>PowerPoint Presentation</vt:lpstr>
      <vt:lpstr>Examples of user interfaces   </vt:lpstr>
      <vt:lpstr>PowerPoint Presentation</vt:lpstr>
      <vt:lpstr>PowerPoint Presentation</vt:lpstr>
      <vt:lpstr>User experience </vt:lpstr>
      <vt:lpstr>PowerPoint Presentation</vt:lpstr>
      <vt:lpstr>PowerPoint Presentation</vt:lpstr>
      <vt:lpstr>Importance of UI/UX design in Software Development   </vt:lpstr>
      <vt:lpstr>PowerPoint Presentation</vt:lpstr>
      <vt:lpstr>In Conclusion   </vt:lpstr>
      <vt:lpstr> Important principles of user experience design </vt:lpstr>
      <vt:lpstr>PowerPoint Presentation</vt:lpstr>
      <vt:lpstr>PowerPoint Presentation</vt:lpstr>
      <vt:lpstr>PowerPoint Presentation</vt:lpstr>
      <vt:lpstr> UX design process key phases </vt:lpstr>
      <vt:lpstr>1. Product definition   </vt:lpstr>
      <vt:lpstr>2. Product research</vt:lpstr>
      <vt:lpstr>3. Analysis</vt:lpstr>
      <vt:lpstr>4. Design   </vt:lpstr>
      <vt:lpstr>5. Validation (Testing)   </vt:lpstr>
      <vt:lpstr>Wireframe </vt:lpstr>
      <vt:lpstr>What is a wireframe?   </vt:lpstr>
      <vt:lpstr>Mockup </vt:lpstr>
      <vt:lpstr>What is a mockup?   </vt:lpstr>
      <vt:lpstr>Prototype</vt:lpstr>
      <vt:lpstr>PowerPoint Presentation</vt:lpstr>
      <vt:lpstr>Distinction from wireframe, mockup and prototype </vt:lpstr>
      <vt:lpstr>Distinction from wireframe, mockup and prototype    </vt:lpstr>
      <vt:lpstr>information architecture   </vt:lpstr>
      <vt:lpstr>PowerPoint Presentation</vt:lpstr>
      <vt:lpstr>Design thinking process    </vt:lpstr>
      <vt:lpstr>PowerPoint Presentation</vt:lpstr>
      <vt:lpstr>PowerPoint Presentation</vt:lpstr>
      <vt:lpstr>User-centered design    </vt:lpstr>
      <vt:lpstr>PowerPoint Presentation</vt:lpstr>
      <vt:lpstr>Usability</vt:lpstr>
      <vt:lpstr>PowerPoint Presentation</vt:lpstr>
      <vt:lpstr>3-Clicks rule    </vt:lpstr>
      <vt:lpstr>Feedback    </vt:lpstr>
      <vt:lpstr>Use of Figma prototyping tool</vt:lpstr>
      <vt:lpstr>PowerPoint Presentation</vt:lpstr>
      <vt:lpstr>Sketch wireframe </vt:lpstr>
      <vt:lpstr>PowerPoint Presentation</vt:lpstr>
      <vt:lpstr>PowerPoint Presentation</vt:lpstr>
      <vt:lpstr>Presentation of Prototype</vt:lpstr>
      <vt:lpstr>Written assessment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SWDUX 301: DESIGN UI/UX</dc:title>
  <dc:creator>USER</dc:creator>
  <cp:lastModifiedBy>user</cp:lastModifiedBy>
  <cp:revision>882</cp:revision>
  <dcterms:created xsi:type="dcterms:W3CDTF">2022-10-28T05:05:31Z</dcterms:created>
  <dcterms:modified xsi:type="dcterms:W3CDTF">2024-10-04T11:53:46Z</dcterms:modified>
</cp:coreProperties>
</file>