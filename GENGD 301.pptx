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5"/>
  </p:notesMasterIdLst>
  <p:sldIdLst>
    <p:sldId id="256" r:id="rId2"/>
    <p:sldId id="258" r:id="rId3"/>
    <p:sldId id="259" r:id="rId4"/>
    <p:sldId id="260" r:id="rId5"/>
    <p:sldId id="262" r:id="rId6"/>
    <p:sldId id="268" r:id="rId7"/>
    <p:sldId id="271" r:id="rId8"/>
    <p:sldId id="263" r:id="rId9"/>
    <p:sldId id="264" r:id="rId10"/>
    <p:sldId id="265" r:id="rId11"/>
    <p:sldId id="266" r:id="rId12"/>
    <p:sldId id="272" r:id="rId13"/>
    <p:sldId id="273" r:id="rId14"/>
    <p:sldId id="276" r:id="rId15"/>
    <p:sldId id="288" r:id="rId16"/>
    <p:sldId id="289" r:id="rId17"/>
    <p:sldId id="290" r:id="rId18"/>
    <p:sldId id="291" r:id="rId19"/>
    <p:sldId id="292" r:id="rId20"/>
    <p:sldId id="293" r:id="rId21"/>
    <p:sldId id="294" r:id="rId22"/>
    <p:sldId id="392" r:id="rId23"/>
    <p:sldId id="295" r:id="rId24"/>
    <p:sldId id="296" r:id="rId25"/>
    <p:sldId id="297" r:id="rId26"/>
    <p:sldId id="298" r:id="rId27"/>
    <p:sldId id="299" r:id="rId28"/>
    <p:sldId id="300" r:id="rId29"/>
    <p:sldId id="301" r:id="rId30"/>
    <p:sldId id="302" r:id="rId31"/>
    <p:sldId id="309" r:id="rId32"/>
    <p:sldId id="310" r:id="rId33"/>
    <p:sldId id="311" r:id="rId34"/>
    <p:sldId id="312" r:id="rId35"/>
    <p:sldId id="313" r:id="rId36"/>
    <p:sldId id="314" r:id="rId37"/>
    <p:sldId id="315" r:id="rId38"/>
    <p:sldId id="316" r:id="rId39"/>
    <p:sldId id="317" r:id="rId40"/>
    <p:sldId id="319" r:id="rId41"/>
    <p:sldId id="320" r:id="rId42"/>
    <p:sldId id="321" r:id="rId43"/>
    <p:sldId id="322" r:id="rId44"/>
    <p:sldId id="318" r:id="rId45"/>
    <p:sldId id="303" r:id="rId46"/>
    <p:sldId id="304" r:id="rId47"/>
    <p:sldId id="325" r:id="rId48"/>
    <p:sldId id="305" r:id="rId49"/>
    <p:sldId id="326" r:id="rId50"/>
    <p:sldId id="306" r:id="rId51"/>
    <p:sldId id="307" r:id="rId52"/>
    <p:sldId id="308" r:id="rId53"/>
    <p:sldId id="275" r:id="rId54"/>
    <p:sldId id="277" r:id="rId55"/>
    <p:sldId id="280" r:id="rId56"/>
    <p:sldId id="281" r:id="rId57"/>
    <p:sldId id="283" r:id="rId58"/>
    <p:sldId id="287" r:id="rId59"/>
    <p:sldId id="282" r:id="rId60"/>
    <p:sldId id="327" r:id="rId61"/>
    <p:sldId id="285" r:id="rId62"/>
    <p:sldId id="284" r:id="rId63"/>
    <p:sldId id="323" r:id="rId64"/>
    <p:sldId id="324" r:id="rId65"/>
    <p:sldId id="286" r:id="rId66"/>
    <p:sldId id="278" r:id="rId67"/>
    <p:sldId id="328" r:id="rId68"/>
    <p:sldId id="329" r:id="rId69"/>
    <p:sldId id="396" r:id="rId70"/>
    <p:sldId id="330" r:id="rId71"/>
    <p:sldId id="331" r:id="rId72"/>
    <p:sldId id="332" r:id="rId73"/>
    <p:sldId id="333" r:id="rId74"/>
    <p:sldId id="334" r:id="rId75"/>
    <p:sldId id="397" r:id="rId76"/>
    <p:sldId id="398" r:id="rId77"/>
    <p:sldId id="341" r:id="rId78"/>
    <p:sldId id="447" r:id="rId79"/>
    <p:sldId id="394" r:id="rId80"/>
    <p:sldId id="343" r:id="rId81"/>
    <p:sldId id="339" r:id="rId82"/>
    <p:sldId id="352" r:id="rId83"/>
    <p:sldId id="408" r:id="rId84"/>
    <p:sldId id="410" r:id="rId85"/>
    <p:sldId id="409" r:id="rId86"/>
    <p:sldId id="355" r:id="rId87"/>
    <p:sldId id="356" r:id="rId88"/>
    <p:sldId id="411" r:id="rId89"/>
    <p:sldId id="412" r:id="rId90"/>
    <p:sldId id="413" r:id="rId91"/>
    <p:sldId id="414" r:id="rId92"/>
    <p:sldId id="415" r:id="rId93"/>
    <p:sldId id="416" r:id="rId94"/>
    <p:sldId id="417" r:id="rId95"/>
    <p:sldId id="418" r:id="rId96"/>
    <p:sldId id="419" r:id="rId97"/>
    <p:sldId id="420" r:id="rId98"/>
    <p:sldId id="422" r:id="rId99"/>
    <p:sldId id="421" r:id="rId100"/>
    <p:sldId id="423" r:id="rId101"/>
    <p:sldId id="424" r:id="rId102"/>
    <p:sldId id="425" r:id="rId103"/>
    <p:sldId id="426" r:id="rId104"/>
    <p:sldId id="427" r:id="rId105"/>
    <p:sldId id="428" r:id="rId106"/>
    <p:sldId id="429" r:id="rId107"/>
    <p:sldId id="430" r:id="rId108"/>
    <p:sldId id="431" r:id="rId109"/>
    <p:sldId id="432" r:id="rId110"/>
    <p:sldId id="433" r:id="rId111"/>
    <p:sldId id="434" r:id="rId112"/>
    <p:sldId id="435" r:id="rId113"/>
    <p:sldId id="436" r:id="rId114"/>
    <p:sldId id="437" r:id="rId115"/>
    <p:sldId id="439" r:id="rId116"/>
    <p:sldId id="438" r:id="rId117"/>
    <p:sldId id="440" r:id="rId118"/>
    <p:sldId id="441" r:id="rId119"/>
    <p:sldId id="442" r:id="rId120"/>
    <p:sldId id="443" r:id="rId121"/>
    <p:sldId id="444" r:id="rId122"/>
    <p:sldId id="445" r:id="rId123"/>
    <p:sldId id="446" r:id="rId124"/>
    <p:sldId id="360" r:id="rId125"/>
    <p:sldId id="363" r:id="rId126"/>
    <p:sldId id="367" r:id="rId127"/>
    <p:sldId id="368" r:id="rId128"/>
    <p:sldId id="399" r:id="rId129"/>
    <p:sldId id="369" r:id="rId130"/>
    <p:sldId id="370" r:id="rId131"/>
    <p:sldId id="371" r:id="rId132"/>
    <p:sldId id="372" r:id="rId133"/>
    <p:sldId id="373" r:id="rId134"/>
    <p:sldId id="374" r:id="rId135"/>
    <p:sldId id="375" r:id="rId136"/>
    <p:sldId id="376" r:id="rId137"/>
    <p:sldId id="377" r:id="rId138"/>
    <p:sldId id="378" r:id="rId139"/>
    <p:sldId id="379" r:id="rId140"/>
    <p:sldId id="364" r:id="rId141"/>
    <p:sldId id="365" r:id="rId142"/>
    <p:sldId id="401" r:id="rId143"/>
    <p:sldId id="366" r:id="rId144"/>
    <p:sldId id="400" r:id="rId145"/>
    <p:sldId id="380" r:id="rId146"/>
    <p:sldId id="381" r:id="rId147"/>
    <p:sldId id="402" r:id="rId148"/>
    <p:sldId id="382" r:id="rId149"/>
    <p:sldId id="403" r:id="rId150"/>
    <p:sldId id="383" r:id="rId151"/>
    <p:sldId id="361" r:id="rId152"/>
    <p:sldId id="362" r:id="rId153"/>
    <p:sldId id="384" r:id="rId154"/>
    <p:sldId id="404" r:id="rId155"/>
    <p:sldId id="386" r:id="rId156"/>
    <p:sldId id="405" r:id="rId157"/>
    <p:sldId id="387" r:id="rId158"/>
    <p:sldId id="406" r:id="rId159"/>
    <p:sldId id="389" r:id="rId160"/>
    <p:sldId id="407" r:id="rId161"/>
    <p:sldId id="388" r:id="rId162"/>
    <p:sldId id="390" r:id="rId163"/>
    <p:sldId id="391" r:id="rId16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7" d="100"/>
          <a:sy n="57" d="100"/>
        </p:scale>
        <p:origin x="1468" y="3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164" Type="http://schemas.openxmlformats.org/officeDocument/2006/relationships/slide" Target="slides/slide163.xml"/><Relationship Id="rId16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6A1BBA4-4D01-4A61-A3C9-D3B66C2AB801}" type="datetimeFigureOut">
              <a:rPr lang="en-US" smtClean="0"/>
              <a:t>9/25/2024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D657989-902E-4F53-A847-F689F5C150C8}" type="slidenum">
              <a:rPr lang="en-US" smtClean="0"/>
              <a:t>‹#›</a:t>
            </a:fld>
            <a:endParaRPr lang="en-US"/>
          </a:p>
        </p:txBody>
      </p:sp>
    </p:spTree>
    <p:extLst>
      <p:ext uri="{BB962C8B-B14F-4D97-AF65-F5344CB8AC3E}">
        <p14:creationId xmlns:p14="http://schemas.microsoft.com/office/powerpoint/2010/main" val="6034683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657989-902E-4F53-A847-F689F5C150C8}" type="slidenum">
              <a:rPr lang="en-US" smtClean="0"/>
              <a:t>13</a:t>
            </a:fld>
            <a:endParaRPr lang="en-US"/>
          </a:p>
        </p:txBody>
      </p:sp>
    </p:spTree>
    <p:extLst>
      <p:ext uri="{BB962C8B-B14F-4D97-AF65-F5344CB8AC3E}">
        <p14:creationId xmlns:p14="http://schemas.microsoft.com/office/powerpoint/2010/main" val="3669457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Adobe Photoshop CC 2021. Be aware that different versions of Photoshop will vary in appearance and functionality.</a:t>
            </a:r>
          </a:p>
          <a:p>
            <a:endParaRPr lang="en-US" dirty="0"/>
          </a:p>
          <a:p>
            <a:r>
              <a:rPr lang="en-US" dirty="0"/>
              <a:t>Version: Adobe Photoshop CC 2021. Be aware that different versions of Photoshop will vary in appearance and functionality.</a:t>
            </a:r>
          </a:p>
          <a:p>
            <a:endParaRPr lang="en-US" dirty="0"/>
          </a:p>
          <a:p>
            <a:endParaRPr lang="en-US" dirty="0"/>
          </a:p>
        </p:txBody>
      </p:sp>
      <p:sp>
        <p:nvSpPr>
          <p:cNvPr id="4" name="Slide Number Placeholder 3"/>
          <p:cNvSpPr>
            <a:spLocks noGrp="1"/>
          </p:cNvSpPr>
          <p:nvPr>
            <p:ph type="sldNum" sz="quarter" idx="10"/>
          </p:nvPr>
        </p:nvSpPr>
        <p:spPr/>
        <p:txBody>
          <a:bodyPr/>
          <a:lstStyle/>
          <a:p>
            <a:fld id="{FD657989-902E-4F53-A847-F689F5C150C8}" type="slidenum">
              <a:rPr lang="en-US" smtClean="0"/>
              <a:t>16</a:t>
            </a:fld>
            <a:endParaRPr lang="en-US"/>
          </a:p>
        </p:txBody>
      </p:sp>
    </p:spTree>
    <p:extLst>
      <p:ext uri="{BB962C8B-B14F-4D97-AF65-F5344CB8AC3E}">
        <p14:creationId xmlns:p14="http://schemas.microsoft.com/office/powerpoint/2010/main" val="29545589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657989-902E-4F53-A847-F689F5C150C8}" type="slidenum">
              <a:rPr lang="en-US" smtClean="0"/>
              <a:t>30</a:t>
            </a:fld>
            <a:endParaRPr lang="en-US"/>
          </a:p>
        </p:txBody>
      </p:sp>
    </p:spTree>
    <p:extLst>
      <p:ext uri="{BB962C8B-B14F-4D97-AF65-F5344CB8AC3E}">
        <p14:creationId xmlns:p14="http://schemas.microsoft.com/office/powerpoint/2010/main" val="37169487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657989-902E-4F53-A847-F689F5C150C8}" type="slidenum">
              <a:rPr lang="en-US" smtClean="0"/>
              <a:t>66</a:t>
            </a:fld>
            <a:endParaRPr lang="en-US"/>
          </a:p>
        </p:txBody>
      </p:sp>
    </p:spTree>
    <p:extLst>
      <p:ext uri="{BB962C8B-B14F-4D97-AF65-F5344CB8AC3E}">
        <p14:creationId xmlns:p14="http://schemas.microsoft.com/office/powerpoint/2010/main" val="24124742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657989-902E-4F53-A847-F689F5C150C8}" type="slidenum">
              <a:rPr lang="en-US" smtClean="0"/>
              <a:t>73</a:t>
            </a:fld>
            <a:endParaRPr lang="en-US"/>
          </a:p>
        </p:txBody>
      </p:sp>
    </p:spTree>
    <p:extLst>
      <p:ext uri="{BB962C8B-B14F-4D97-AF65-F5344CB8AC3E}">
        <p14:creationId xmlns:p14="http://schemas.microsoft.com/office/powerpoint/2010/main" val="18709412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657989-902E-4F53-A847-F689F5C150C8}" type="slidenum">
              <a:rPr lang="en-US" smtClean="0"/>
              <a:t>77</a:t>
            </a:fld>
            <a:endParaRPr lang="en-US"/>
          </a:p>
        </p:txBody>
      </p:sp>
    </p:spTree>
    <p:extLst>
      <p:ext uri="{BB962C8B-B14F-4D97-AF65-F5344CB8AC3E}">
        <p14:creationId xmlns:p14="http://schemas.microsoft.com/office/powerpoint/2010/main" val="25211336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657989-902E-4F53-A847-F689F5C150C8}" type="slidenum">
              <a:rPr lang="en-US" smtClean="0"/>
              <a:t>132</a:t>
            </a:fld>
            <a:endParaRPr lang="en-US"/>
          </a:p>
        </p:txBody>
      </p:sp>
    </p:spTree>
    <p:extLst>
      <p:ext uri="{BB962C8B-B14F-4D97-AF65-F5344CB8AC3E}">
        <p14:creationId xmlns:p14="http://schemas.microsoft.com/office/powerpoint/2010/main" val="12921589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AA8D1CA-1369-4255-8459-492C427EA120}" type="datetimeFigureOut">
              <a:rPr lang="en-US" smtClean="0"/>
              <a:t>9/25/2024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D7EF44-3983-4FC3-BB79-6F228E42F038}" type="slidenum">
              <a:rPr lang="en-US" smtClean="0"/>
              <a:t>‹#›</a:t>
            </a:fld>
            <a:endParaRPr lang="en-US"/>
          </a:p>
        </p:txBody>
      </p:sp>
    </p:spTree>
    <p:extLst>
      <p:ext uri="{BB962C8B-B14F-4D97-AF65-F5344CB8AC3E}">
        <p14:creationId xmlns:p14="http://schemas.microsoft.com/office/powerpoint/2010/main" val="21177651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AA8D1CA-1369-4255-8459-492C427EA120}" type="datetimeFigureOut">
              <a:rPr lang="en-US" smtClean="0"/>
              <a:t>9/25/2024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D7EF44-3983-4FC3-BB79-6F228E42F038}" type="slidenum">
              <a:rPr lang="en-US" smtClean="0"/>
              <a:t>‹#›</a:t>
            </a:fld>
            <a:endParaRPr lang="en-US"/>
          </a:p>
        </p:txBody>
      </p:sp>
    </p:spTree>
    <p:extLst>
      <p:ext uri="{BB962C8B-B14F-4D97-AF65-F5344CB8AC3E}">
        <p14:creationId xmlns:p14="http://schemas.microsoft.com/office/powerpoint/2010/main" val="42587006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A8D1CA-1369-4255-8459-492C427EA120}" type="datetimeFigureOut">
              <a:rPr lang="en-US" smtClean="0"/>
              <a:t>9/25/2024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D7EF44-3983-4FC3-BB79-6F228E42F038}" type="slidenum">
              <a:rPr lang="en-US" smtClean="0"/>
              <a:t>‹#›</a:t>
            </a:fld>
            <a:endParaRPr lang="en-US"/>
          </a:p>
        </p:txBody>
      </p:sp>
    </p:spTree>
    <p:extLst>
      <p:ext uri="{BB962C8B-B14F-4D97-AF65-F5344CB8AC3E}">
        <p14:creationId xmlns:p14="http://schemas.microsoft.com/office/powerpoint/2010/main" val="428779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AA8D1CA-1369-4255-8459-492C427EA120}" type="datetimeFigureOut">
              <a:rPr lang="en-US" smtClean="0"/>
              <a:t>9/25/2024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D7EF44-3983-4FC3-BB79-6F228E42F038}" type="slidenum">
              <a:rPr lang="en-US" smtClean="0"/>
              <a:t>‹#›</a:t>
            </a:fld>
            <a:endParaRPr lang="en-US"/>
          </a:p>
        </p:txBody>
      </p:sp>
    </p:spTree>
    <p:extLst>
      <p:ext uri="{BB962C8B-B14F-4D97-AF65-F5344CB8AC3E}">
        <p14:creationId xmlns:p14="http://schemas.microsoft.com/office/powerpoint/2010/main" val="36026708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AA8D1CA-1369-4255-8459-492C427EA120}" type="datetimeFigureOut">
              <a:rPr lang="en-US" smtClean="0"/>
              <a:t>9/25/2024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7D7EF44-3983-4FC3-BB79-6F228E42F038}" type="slidenum">
              <a:rPr lang="en-US" smtClean="0"/>
              <a:t>‹#›</a:t>
            </a:fld>
            <a:endParaRPr lang="en-US"/>
          </a:p>
        </p:txBody>
      </p:sp>
    </p:spTree>
    <p:extLst>
      <p:ext uri="{BB962C8B-B14F-4D97-AF65-F5344CB8AC3E}">
        <p14:creationId xmlns:p14="http://schemas.microsoft.com/office/powerpoint/2010/main" val="3901959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AA8D1CA-1369-4255-8459-492C427EA120}" type="datetimeFigureOut">
              <a:rPr lang="en-US" smtClean="0"/>
              <a:t>9/25/2024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7D7EF44-3983-4FC3-BB79-6F228E42F038}" type="slidenum">
              <a:rPr lang="en-US" smtClean="0"/>
              <a:t>‹#›</a:t>
            </a:fld>
            <a:endParaRPr lang="en-US"/>
          </a:p>
        </p:txBody>
      </p:sp>
    </p:spTree>
    <p:extLst>
      <p:ext uri="{BB962C8B-B14F-4D97-AF65-F5344CB8AC3E}">
        <p14:creationId xmlns:p14="http://schemas.microsoft.com/office/powerpoint/2010/main" val="19764611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A8D1CA-1369-4255-8459-492C427EA120}" type="datetimeFigureOut">
              <a:rPr lang="en-US" smtClean="0"/>
              <a:t>9/25/2024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7D7EF44-3983-4FC3-BB79-6F228E42F038}" type="slidenum">
              <a:rPr lang="en-US" smtClean="0"/>
              <a:t>‹#›</a:t>
            </a:fld>
            <a:endParaRPr lang="en-US"/>
          </a:p>
        </p:txBody>
      </p:sp>
    </p:spTree>
    <p:extLst>
      <p:ext uri="{BB962C8B-B14F-4D97-AF65-F5344CB8AC3E}">
        <p14:creationId xmlns:p14="http://schemas.microsoft.com/office/powerpoint/2010/main" val="15357705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AA8D1CA-1369-4255-8459-492C427EA120}" type="datetimeFigureOut">
              <a:rPr lang="en-US" smtClean="0"/>
              <a:t>9/25/2024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D7EF44-3983-4FC3-BB79-6F228E42F038}" type="slidenum">
              <a:rPr lang="en-US" smtClean="0"/>
              <a:t>‹#›</a:t>
            </a:fld>
            <a:endParaRPr lang="en-US"/>
          </a:p>
        </p:txBody>
      </p:sp>
    </p:spTree>
    <p:extLst>
      <p:ext uri="{BB962C8B-B14F-4D97-AF65-F5344CB8AC3E}">
        <p14:creationId xmlns:p14="http://schemas.microsoft.com/office/powerpoint/2010/main" val="1316172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AA8D1CA-1369-4255-8459-492C427EA120}" type="datetimeFigureOut">
              <a:rPr lang="en-US" smtClean="0"/>
              <a:t>9/25/2024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D7EF44-3983-4FC3-BB79-6F228E42F038}" type="slidenum">
              <a:rPr lang="en-US" smtClean="0"/>
              <a:t>‹#›</a:t>
            </a:fld>
            <a:endParaRPr lang="en-US"/>
          </a:p>
        </p:txBody>
      </p:sp>
    </p:spTree>
    <p:extLst>
      <p:ext uri="{BB962C8B-B14F-4D97-AF65-F5344CB8AC3E}">
        <p14:creationId xmlns:p14="http://schemas.microsoft.com/office/powerpoint/2010/main" val="18977562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AA8D1CA-1369-4255-8459-492C427EA120}" type="datetimeFigureOut">
              <a:rPr lang="en-US" smtClean="0"/>
              <a:t>9/25/2024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D7EF44-3983-4FC3-BB79-6F228E42F038}" type="slidenum">
              <a:rPr lang="en-US" smtClean="0"/>
              <a:t>‹#›</a:t>
            </a:fld>
            <a:endParaRPr lang="en-US"/>
          </a:p>
        </p:txBody>
      </p:sp>
    </p:spTree>
    <p:extLst>
      <p:ext uri="{BB962C8B-B14F-4D97-AF65-F5344CB8AC3E}">
        <p14:creationId xmlns:p14="http://schemas.microsoft.com/office/powerpoint/2010/main" val="544246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AA8D1CA-1369-4255-8459-492C427EA120}" type="datetimeFigureOut">
              <a:rPr lang="en-US" smtClean="0"/>
              <a:t>9/25/2024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D7EF44-3983-4FC3-BB79-6F228E42F038}" type="slidenum">
              <a:rPr lang="en-US" smtClean="0"/>
              <a:t>‹#›</a:t>
            </a:fld>
            <a:endParaRPr lang="en-US"/>
          </a:p>
        </p:txBody>
      </p:sp>
    </p:spTree>
    <p:extLst>
      <p:ext uri="{BB962C8B-B14F-4D97-AF65-F5344CB8AC3E}">
        <p14:creationId xmlns:p14="http://schemas.microsoft.com/office/powerpoint/2010/main" val="356670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A8D1CA-1369-4255-8459-492C427EA120}" type="datetimeFigureOut">
              <a:rPr lang="en-US" smtClean="0"/>
              <a:t>9/25/2024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D7EF44-3983-4FC3-BB79-6F228E42F038}" type="slidenum">
              <a:rPr lang="en-US" smtClean="0"/>
              <a:t>‹#›</a:t>
            </a:fld>
            <a:endParaRPr lang="en-US"/>
          </a:p>
        </p:txBody>
      </p:sp>
    </p:spTree>
    <p:extLst>
      <p:ext uri="{BB962C8B-B14F-4D97-AF65-F5344CB8AC3E}">
        <p14:creationId xmlns:p14="http://schemas.microsoft.com/office/powerpoint/2010/main" val="2147720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dictionary.cambridge.org/dictionary/english/small"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dictionary.cambridge.org/dictionary/english/mark"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www.computerhope.com/jargon/d/digicame.htm" TargetMode="External"/><Relationship Id="rId2" Type="http://schemas.openxmlformats.org/officeDocument/2006/relationships/hyperlink" Target="https://www.computerhope.com/jargon/c/camera.htm" TargetMode="External"/><Relationship Id="rId1" Type="http://schemas.openxmlformats.org/officeDocument/2006/relationships/slideLayout" Target="../slideLayouts/slideLayout2.xml"/><Relationship Id="rId5" Type="http://schemas.openxmlformats.org/officeDocument/2006/relationships/hyperlink" Target="https://www.computerhope.com/jargon/o/optiscan.htm" TargetMode="External"/><Relationship Id="rId4" Type="http://schemas.openxmlformats.org/officeDocument/2006/relationships/hyperlink" Target="https://www.computerhope.com/jargon/p/photocopier.ht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hyperlink" Target="https://shorthand.com/the-craft/what-is-a-png-file/index.html" TargetMode="External"/><Relationship Id="rId2" Type="http://schemas.openxmlformats.org/officeDocument/2006/relationships/hyperlink" Target="https://shorthand.com/the-craft/what-is-a-jpeg-file/index.html" TargetMode="External"/><Relationship Id="rId1" Type="http://schemas.openxmlformats.org/officeDocument/2006/relationships/slideLayout" Target="../slideLayouts/slideLayout2.xml"/><Relationship Id="rId4" Type="http://schemas.openxmlformats.org/officeDocument/2006/relationships/hyperlink" Target="https://shorthand.com/the-craft/what-is-a-gif/index.html"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8" Type="http://schemas.openxmlformats.org/officeDocument/2006/relationships/hyperlink" Target="https://dictionary.cambridge.org/de/worterbuch/englisch/magazine" TargetMode="External"/><Relationship Id="rId3" Type="http://schemas.openxmlformats.org/officeDocument/2006/relationships/hyperlink" Target="https://dictionary.cambridge.org/de/worterbuch/englisch/art" TargetMode="External"/><Relationship Id="rId7" Type="http://schemas.openxmlformats.org/officeDocument/2006/relationships/hyperlink" Target="https://dictionary.cambridge.org/de/worterbuch/englisch/newspaper" TargetMode="External"/><Relationship Id="rId2" Type="http://schemas.openxmlformats.org/officeDocument/2006/relationships/hyperlink" Target="https://dictionary.cambridge.org/de/worterbuch/englisch/piece" TargetMode="External"/><Relationship Id="rId1" Type="http://schemas.openxmlformats.org/officeDocument/2006/relationships/slideLayout" Target="../slideLayouts/slideLayout2.xml"/><Relationship Id="rId6" Type="http://schemas.openxmlformats.org/officeDocument/2006/relationships/hyperlink" Target="https://dictionary.cambridge.org/de/worterbuch/englisch/books" TargetMode="External"/><Relationship Id="rId5" Type="http://schemas.openxmlformats.org/officeDocument/2006/relationships/hyperlink" Target="https://dictionary.cambridge.org/de/worterbuch/englisch/photograph" TargetMode="External"/><Relationship Id="rId4" Type="http://schemas.openxmlformats.org/officeDocument/2006/relationships/hyperlink" Target="https://dictionary.cambridge.org/de/worterbuch/englisch/drawing"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 Id="rId5" Type="http://schemas.openxmlformats.org/officeDocument/2006/relationships/image" Target="../media/image72.png"/><Relationship Id="rId4" Type="http://schemas.openxmlformats.org/officeDocument/2006/relationships/hyperlink" Target="http://modassicmarketing.com/wp-content/uploads/2012/02/combination-marks.png" TargetMode="Externa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hyperlink" Target="https://ebaqdesign.com/blog/logo-design-process/#research" TargetMode="External"/><Relationship Id="rId2" Type="http://schemas.openxmlformats.org/officeDocument/2006/relationships/hyperlink" Target="https://ebaqdesign.com/blog/logo-design-process/#designbrief" TargetMode="External"/><Relationship Id="rId1" Type="http://schemas.openxmlformats.org/officeDocument/2006/relationships/slideLayout" Target="../slideLayouts/slideLayout2.xml"/><Relationship Id="rId4" Type="http://schemas.openxmlformats.org/officeDocument/2006/relationships/hyperlink" Target="https://ebaqdesign.com/blog/logo-design-process/#brainstorming" TargetMode="External"/></Relationships>
</file>

<file path=ppt/slides/_rels/slide147.xml.rels><?xml version="1.0" encoding="UTF-8" standalone="yes"?>
<Relationships xmlns="http://schemas.openxmlformats.org/package/2006/relationships"><Relationship Id="rId3" Type="http://schemas.openxmlformats.org/officeDocument/2006/relationships/hyperlink" Target="https://ebaqdesign.com/blog/logo-design-process/#designing" TargetMode="External"/><Relationship Id="rId2" Type="http://schemas.openxmlformats.org/officeDocument/2006/relationships/hyperlink" Target="https://ebaqdesign.com/blog/logo-design-process/#sketching" TargetMode="External"/><Relationship Id="rId1" Type="http://schemas.openxmlformats.org/officeDocument/2006/relationships/slideLayout" Target="../slideLayouts/slideLayout2.xml"/><Relationship Id="rId6" Type="http://schemas.openxmlformats.org/officeDocument/2006/relationships/hyperlink" Target="https://ebaqdesign.com/blog/logo-design-process/#delivery" TargetMode="External"/><Relationship Id="rId5" Type="http://schemas.openxmlformats.org/officeDocument/2006/relationships/hyperlink" Target="https://ebaqdesign.com/blog/logo-design-process/#approval" TargetMode="External"/><Relationship Id="rId4" Type="http://schemas.openxmlformats.org/officeDocument/2006/relationships/hyperlink" Target="https://ebaqdesign.com/blog/logo-design-process/#presentation" TargetMode="External"/></Relationships>
</file>

<file path=ppt/slides/_rels/slide148.xml.rels><?xml version="1.0" encoding="UTF-8" standalone="yes"?>
<Relationships xmlns="http://schemas.openxmlformats.org/package/2006/relationships"><Relationship Id="rId3" Type="http://schemas.openxmlformats.org/officeDocument/2006/relationships/hyperlink" Target="https://www.brandingstrategyinsider.com/2007/12/evaluating-logo.html#more" TargetMode="External"/><Relationship Id="rId2" Type="http://schemas.openxmlformats.org/officeDocument/2006/relationships/hyperlink" Target="http://www.theblakeproject.com/" TargetMode="Externa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hyperlink" Target="https://en.wikipedia.org/wiki/Business" TargetMode="External"/><Relationship Id="rId2" Type="http://schemas.openxmlformats.org/officeDocument/2006/relationships/hyperlink" Target="https://www.investopedia.com/terms/m/marketing.asp" TargetMode="External"/><Relationship Id="rId1" Type="http://schemas.openxmlformats.org/officeDocument/2006/relationships/slideLayout" Target="../slideLayouts/slideLayout2.xml"/><Relationship Id="rId6" Type="http://schemas.openxmlformats.org/officeDocument/2006/relationships/hyperlink" Target="https://en.wikipedia.org/wiki/Shareholder" TargetMode="External"/><Relationship Id="rId5" Type="http://schemas.openxmlformats.org/officeDocument/2006/relationships/hyperlink" Target="https://en.wikipedia.org/wiki/Advertising" TargetMode="External"/><Relationship Id="rId4" Type="http://schemas.openxmlformats.org/officeDocument/2006/relationships/hyperlink" Target="https://en.wikipedia.org/wiki/Marketing" TargetMode="External"/></Relationships>
</file>

<file path=ppt/slides/_rels/slide152.xml.rels><?xml version="1.0" encoding="UTF-8" standalone="yes"?>
<Relationships xmlns="http://schemas.openxmlformats.org/package/2006/relationships"><Relationship Id="rId2" Type="http://schemas.openxmlformats.org/officeDocument/2006/relationships/hyperlink" Target="https://www.investopedia.com/terms/s/service-mark.asp" TargetMode="Externa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hyperlink" Target="https://en.wikipedia.org/wiki/Portable_Network_Graphics" TargetMode="External"/><Relationship Id="rId2" Type="http://schemas.openxmlformats.org/officeDocument/2006/relationships/hyperlink" Target="https://en.wikipedia.org/wiki/JPEG" TargetMode="External"/><Relationship Id="rId1" Type="http://schemas.openxmlformats.org/officeDocument/2006/relationships/slideLayout" Target="../slideLayouts/slideLayout2.xml"/><Relationship Id="rId4" Type="http://schemas.openxmlformats.org/officeDocument/2006/relationships/hyperlink" Target="https://en.wikipedia.org/wiki/GIF" TargetMode="Externa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GENGD 301: BASIC GRAPHIC DESIGN</a:t>
            </a:r>
          </a:p>
        </p:txBody>
      </p:sp>
      <p:sp>
        <p:nvSpPr>
          <p:cNvPr id="3" name="Subtitle 2"/>
          <p:cNvSpPr>
            <a:spLocks noGrp="1"/>
          </p:cNvSpPr>
          <p:nvPr>
            <p:ph type="subTitle" idx="1"/>
          </p:nvPr>
        </p:nvSpPr>
        <p:spPr/>
        <p:txBody>
          <a:bodyPr>
            <a:normAutofit fontScale="25000" lnSpcReduction="20000"/>
          </a:bodyPr>
          <a:lstStyle/>
          <a:p>
            <a:r>
              <a:rPr lang="en-US" sz="8000" b="1" dirty="0"/>
              <a:t>RQF</a:t>
            </a:r>
            <a:r>
              <a:rPr lang="en-US" sz="8000" dirty="0"/>
              <a:t> :LEVEL 3</a:t>
            </a:r>
          </a:p>
          <a:p>
            <a:r>
              <a:rPr lang="en-US" sz="8000" b="1" dirty="0"/>
              <a:t>Sector</a:t>
            </a:r>
            <a:r>
              <a:rPr lang="en-US" sz="8000" dirty="0"/>
              <a:t>: ICT &amp; MULTIMEDIA</a:t>
            </a:r>
          </a:p>
          <a:p>
            <a:r>
              <a:rPr lang="en-US" sz="8000" b="1" dirty="0"/>
              <a:t>Trade</a:t>
            </a:r>
            <a:r>
              <a:rPr lang="en-US" sz="8000" dirty="0"/>
              <a:t>: Software Development</a:t>
            </a:r>
          </a:p>
          <a:p>
            <a:r>
              <a:rPr lang="en-US" sz="8000" b="1" dirty="0"/>
              <a:t>Learning hours</a:t>
            </a:r>
            <a:r>
              <a:rPr lang="en-US" sz="8000" dirty="0"/>
              <a:t>: 100hrs</a:t>
            </a:r>
          </a:p>
          <a:p>
            <a:r>
              <a:rPr lang="en-US" sz="8000" b="1" dirty="0"/>
              <a:t>Trainer’s name</a:t>
            </a:r>
            <a:r>
              <a:rPr lang="en-US" sz="8000" dirty="0"/>
              <a:t>: RWEMARIKA JEAN LOUIS</a:t>
            </a:r>
          </a:p>
          <a:p>
            <a:r>
              <a:rPr lang="en-US" dirty="0"/>
              <a:t>                                               </a:t>
            </a:r>
          </a:p>
        </p:txBody>
      </p:sp>
      <p:sp>
        <p:nvSpPr>
          <p:cNvPr id="4" name="Date Placeholder 3"/>
          <p:cNvSpPr>
            <a:spLocks noGrp="1"/>
          </p:cNvSpPr>
          <p:nvPr>
            <p:ph type="dt" sz="half" idx="10"/>
          </p:nvPr>
        </p:nvSpPr>
        <p:spPr/>
        <p:txBody>
          <a:bodyPr/>
          <a:lstStyle/>
          <a:p>
            <a:fld id="{ED1B5ED5-90EA-4A23-8688-B119AD2155C2}" type="datetime1">
              <a:rPr lang="en-US" smtClean="0"/>
              <a:t>9/25/2024</a:t>
            </a:fld>
            <a:endParaRPr lang="en-US" dirty="0"/>
          </a:p>
        </p:txBody>
      </p:sp>
      <p:sp>
        <p:nvSpPr>
          <p:cNvPr id="5" name="Slide Number Placeholder 4"/>
          <p:cNvSpPr>
            <a:spLocks noGrp="1"/>
          </p:cNvSpPr>
          <p:nvPr>
            <p:ph type="sldNum" sz="quarter" idx="12"/>
          </p:nvPr>
        </p:nvSpPr>
        <p:spPr/>
        <p:txBody>
          <a:bodyPr/>
          <a:lstStyle/>
          <a:p>
            <a:fld id="{07D7EF44-3983-4FC3-BB79-6F228E42F038}" type="slidenum">
              <a:rPr lang="en-US" smtClean="0"/>
              <a:t>1</a:t>
            </a:fld>
            <a:endParaRPr lang="en-US"/>
          </a:p>
        </p:txBody>
      </p:sp>
    </p:spTree>
    <p:extLst>
      <p:ext uri="{BB962C8B-B14F-4D97-AF65-F5344CB8AC3E}">
        <p14:creationId xmlns:p14="http://schemas.microsoft.com/office/powerpoint/2010/main" val="4813310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Purpose statement</a:t>
            </a:r>
          </a:p>
        </p:txBody>
      </p:sp>
      <p:sp>
        <p:nvSpPr>
          <p:cNvPr id="3" name="Content Placeholder 2"/>
          <p:cNvSpPr>
            <a:spLocks noGrp="1"/>
          </p:cNvSpPr>
          <p:nvPr>
            <p:ph idx="1"/>
          </p:nvPr>
        </p:nvSpPr>
        <p:spPr/>
        <p:txBody>
          <a:bodyPr>
            <a:normAutofit/>
          </a:bodyPr>
          <a:lstStyle/>
          <a:p>
            <a:pPr algn="just"/>
            <a:r>
              <a:rPr lang="en-US" sz="2800" dirty="0">
                <a:latin typeface="Times New Roman" panose="02020603050405020304" pitchFamily="18" charset="0"/>
                <a:cs typeface="Times New Roman" panose="02020603050405020304" pitchFamily="18" charset="0"/>
              </a:rPr>
              <a:t>This general module describes the skills required to design infographic objects using Adobe Photoshop and Adobe Illustrator.</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Upon completion of this module, the learner will be able to: Edit photos, Design Icons, Design Logos, Design web based Banners, and Design Flyers.</a:t>
            </a:r>
          </a:p>
          <a:p>
            <a:pPr algn="just"/>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65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676400"/>
          </a:xfrm>
        </p:spPr>
        <p:txBody>
          <a:bodyPr>
            <a:normAutofit/>
          </a:bodyPr>
          <a:lstStyle/>
          <a:p>
            <a:r>
              <a:rPr lang="en-US" sz="4900" b="1" dirty="0">
                <a:latin typeface="Times New Roman" panose="02020603050405020304" pitchFamily="18" charset="0"/>
                <a:cs typeface="Times New Roman" panose="02020603050405020304" pitchFamily="18" charset="0"/>
              </a:rPr>
              <a:t>Course content </a:t>
            </a:r>
            <a:br>
              <a:rPr lang="en-US" b="1" dirty="0"/>
            </a:br>
            <a:endParaRPr lang="en-US" b="1" dirty="0"/>
          </a:p>
        </p:txBody>
      </p:sp>
      <p:sp>
        <p:nvSpPr>
          <p:cNvPr id="3" name="Content Placeholder 2"/>
          <p:cNvSpPr>
            <a:spLocks noGrp="1"/>
          </p:cNvSpPr>
          <p:nvPr>
            <p:ph idx="1"/>
          </p:nvPr>
        </p:nvSpPr>
        <p:spPr>
          <a:xfrm>
            <a:off x="457200" y="1812073"/>
            <a:ext cx="8534400" cy="4817327"/>
          </a:xfrm>
        </p:spPr>
        <p:txBody>
          <a:bodyPr>
            <a:normAutofit fontScale="40000" lnSpcReduction="20000"/>
          </a:bodyPr>
          <a:lstStyle/>
          <a:p>
            <a:pPr marL="0" indent="0">
              <a:buNone/>
            </a:pPr>
            <a:r>
              <a:rPr lang="en-US" sz="4500" b="1" dirty="0">
                <a:latin typeface="Times New Roman" panose="02020603050405020304" pitchFamily="18" charset="0"/>
                <a:cs typeface="Times New Roman" panose="02020603050405020304" pitchFamily="18" charset="0"/>
              </a:rPr>
              <a:t>Learning outcome 1:Edit photos with Adobe Photoshop</a:t>
            </a:r>
            <a:endParaRPr lang="en-US" sz="4500" dirty="0">
              <a:latin typeface="Times New Roman" panose="02020603050405020304" pitchFamily="18" charset="0"/>
              <a:cs typeface="Times New Roman" panose="02020603050405020304" pitchFamily="18" charset="0"/>
            </a:endParaRPr>
          </a:p>
          <a:p>
            <a:pPr marL="0" indent="0">
              <a:buNone/>
            </a:pPr>
            <a:r>
              <a:rPr lang="en-US" sz="4500" dirty="0">
                <a:latin typeface="Times New Roman" panose="02020603050405020304" pitchFamily="18" charset="0"/>
                <a:cs typeface="Times New Roman" panose="02020603050405020304" pitchFamily="18" charset="0"/>
              </a:rPr>
              <a:t>1.1.  Edit photos with Adobe Photoshop</a:t>
            </a:r>
            <a:br>
              <a:rPr lang="en-US" sz="4500" dirty="0">
                <a:latin typeface="Times New Roman" panose="02020603050405020304" pitchFamily="18" charset="0"/>
                <a:cs typeface="Times New Roman" panose="02020603050405020304" pitchFamily="18" charset="0"/>
              </a:rPr>
            </a:br>
            <a:r>
              <a:rPr lang="en-US" sz="4500" dirty="0">
                <a:latin typeface="Times New Roman" panose="02020603050405020304" pitchFamily="18" charset="0"/>
                <a:cs typeface="Times New Roman" panose="02020603050405020304" pitchFamily="18" charset="0"/>
              </a:rPr>
              <a:t>1. 2. Manipulate graphics with adobe illustrator</a:t>
            </a:r>
            <a:br>
              <a:rPr lang="en-US" sz="4500" dirty="0">
                <a:latin typeface="Times New Roman" panose="02020603050405020304" pitchFamily="18" charset="0"/>
                <a:cs typeface="Times New Roman" panose="02020603050405020304" pitchFamily="18" charset="0"/>
              </a:rPr>
            </a:br>
            <a:r>
              <a:rPr lang="en-US" sz="4500" dirty="0">
                <a:latin typeface="Times New Roman" panose="02020603050405020304" pitchFamily="18" charset="0"/>
                <a:cs typeface="Times New Roman" panose="02020603050405020304" pitchFamily="18" charset="0"/>
              </a:rPr>
              <a:t>1. 3. Export files</a:t>
            </a:r>
          </a:p>
          <a:p>
            <a:pPr marL="0" indent="0">
              <a:buNone/>
            </a:pPr>
            <a:r>
              <a:rPr lang="en-US" sz="4500" b="1" dirty="0">
                <a:latin typeface="Times New Roman" panose="02020603050405020304" pitchFamily="18" charset="0"/>
                <a:cs typeface="Times New Roman" panose="02020603050405020304" pitchFamily="18" charset="0"/>
              </a:rPr>
              <a:t>Learning outcome 2: Manipulate graphics with</a:t>
            </a:r>
            <a:br>
              <a:rPr lang="en-US" sz="4500" b="1" dirty="0">
                <a:latin typeface="Times New Roman" panose="02020603050405020304" pitchFamily="18" charset="0"/>
                <a:cs typeface="Times New Roman" panose="02020603050405020304" pitchFamily="18" charset="0"/>
              </a:rPr>
            </a:br>
            <a:r>
              <a:rPr lang="en-US" sz="4500" b="1" dirty="0">
                <a:latin typeface="Times New Roman" panose="02020603050405020304" pitchFamily="18" charset="0"/>
                <a:cs typeface="Times New Roman" panose="02020603050405020304" pitchFamily="18" charset="0"/>
              </a:rPr>
              <a:t>adobe illustrator</a:t>
            </a:r>
          </a:p>
          <a:p>
            <a:pPr marL="0" indent="0">
              <a:buNone/>
            </a:pPr>
            <a:r>
              <a:rPr lang="en-US" sz="4500" dirty="0">
                <a:latin typeface="Times New Roman" panose="02020603050405020304" pitchFamily="18" charset="0"/>
                <a:cs typeface="Times New Roman" panose="02020603050405020304" pitchFamily="18" charset="0"/>
              </a:rPr>
              <a:t>2.1. Description of workspace</a:t>
            </a:r>
          </a:p>
          <a:p>
            <a:pPr marL="0" indent="0">
              <a:buNone/>
            </a:pPr>
            <a:r>
              <a:rPr lang="en-US" sz="4500" dirty="0">
                <a:latin typeface="Times New Roman" panose="02020603050405020304" pitchFamily="18" charset="0"/>
                <a:cs typeface="Times New Roman" panose="02020603050405020304" pitchFamily="18" charset="0"/>
              </a:rPr>
              <a:t>2.2. Create vector paths</a:t>
            </a:r>
          </a:p>
          <a:p>
            <a:pPr marL="0" indent="0">
              <a:buNone/>
            </a:pPr>
            <a:r>
              <a:rPr lang="en-US" sz="4500" dirty="0">
                <a:latin typeface="Times New Roman" panose="02020603050405020304" pitchFamily="18" charset="0"/>
                <a:cs typeface="Times New Roman" panose="02020603050405020304" pitchFamily="18" charset="0"/>
              </a:rPr>
              <a:t>2.3. Design shapes</a:t>
            </a:r>
          </a:p>
          <a:p>
            <a:pPr marL="0" indent="0">
              <a:buNone/>
            </a:pPr>
            <a:r>
              <a:rPr lang="en-US" sz="4500" dirty="0">
                <a:latin typeface="Times New Roman" panose="02020603050405020304" pitchFamily="18" charset="0"/>
                <a:cs typeface="Times New Roman" panose="02020603050405020304" pitchFamily="18" charset="0"/>
              </a:rPr>
              <a:t>2.4.  Description of brand identity</a:t>
            </a:r>
          </a:p>
          <a:p>
            <a:pPr marL="0" indent="0">
              <a:buNone/>
            </a:pPr>
            <a:r>
              <a:rPr lang="en-US" sz="4500" dirty="0">
                <a:latin typeface="Times New Roman" panose="02020603050405020304" pitchFamily="18" charset="0"/>
                <a:cs typeface="Times New Roman" panose="02020603050405020304" pitchFamily="18" charset="0"/>
              </a:rPr>
              <a:t>2.5. Design </a:t>
            </a:r>
            <a:r>
              <a:rPr lang="en-US" sz="4500" dirty="0" err="1">
                <a:latin typeface="Times New Roman" panose="02020603050405020304" pitchFamily="18" charset="0"/>
                <a:cs typeface="Times New Roman" panose="02020603050405020304" pitchFamily="18" charset="0"/>
              </a:rPr>
              <a:t>infographics</a:t>
            </a:r>
            <a:endParaRPr lang="en-US" sz="4500" dirty="0">
              <a:latin typeface="Times New Roman" panose="02020603050405020304" pitchFamily="18" charset="0"/>
              <a:cs typeface="Times New Roman" panose="02020603050405020304" pitchFamily="18" charset="0"/>
            </a:endParaRPr>
          </a:p>
          <a:p>
            <a:pPr marL="0" indent="0">
              <a:buNone/>
            </a:pPr>
            <a:r>
              <a:rPr lang="en-US" sz="4500" b="1" dirty="0">
                <a:latin typeface="Times New Roman" panose="02020603050405020304" pitchFamily="18" charset="0"/>
                <a:cs typeface="Times New Roman" panose="02020603050405020304" pitchFamily="18" charset="0"/>
              </a:rPr>
              <a:t>Learning outcome 3: Export file</a:t>
            </a:r>
          </a:p>
          <a:p>
            <a:pPr marL="0" indent="0">
              <a:buNone/>
            </a:pPr>
            <a:r>
              <a:rPr lang="en-US" sz="4500" dirty="0">
                <a:latin typeface="Times New Roman" panose="02020603050405020304" pitchFamily="18" charset="0"/>
                <a:cs typeface="Times New Roman" panose="02020603050405020304" pitchFamily="18" charset="0"/>
              </a:rPr>
              <a:t>3.1</a:t>
            </a:r>
            <a:r>
              <a:rPr lang="en-US" sz="4500" b="1" dirty="0">
                <a:latin typeface="Times New Roman" panose="02020603050405020304" pitchFamily="18" charset="0"/>
                <a:cs typeface="Times New Roman" panose="02020603050405020304" pitchFamily="18" charset="0"/>
              </a:rPr>
              <a:t>. </a:t>
            </a:r>
            <a:r>
              <a:rPr lang="en-US" sz="4500" dirty="0">
                <a:latin typeface="Times New Roman" panose="02020603050405020304" pitchFamily="18" charset="0"/>
                <a:cs typeface="Times New Roman" panose="02020603050405020304" pitchFamily="18" charset="0"/>
              </a:rPr>
              <a:t>Selection of file format</a:t>
            </a:r>
          </a:p>
          <a:p>
            <a:pPr marL="0" indent="0">
              <a:buNone/>
            </a:pPr>
            <a:r>
              <a:rPr lang="en-US" sz="4500" dirty="0">
                <a:latin typeface="Times New Roman" panose="02020603050405020304" pitchFamily="18" charset="0"/>
                <a:cs typeface="Times New Roman" panose="02020603050405020304" pitchFamily="18" charset="0"/>
              </a:rPr>
              <a:t>3.2. Set image quality</a:t>
            </a:r>
          </a:p>
          <a:p>
            <a:pPr marL="0" indent="0">
              <a:buNone/>
            </a:pPr>
            <a:r>
              <a:rPr lang="en-US" sz="4500" dirty="0">
                <a:latin typeface="Times New Roman" panose="02020603050405020304" pitchFamily="18" charset="0"/>
                <a:cs typeface="Times New Roman" panose="02020603050405020304" pitchFamily="18" charset="0"/>
              </a:rPr>
              <a:t>3. 2. Export artwork</a:t>
            </a:r>
          </a:p>
          <a:p>
            <a:pPr marL="0" indent="0">
              <a:buNone/>
            </a:pPr>
            <a:r>
              <a:rPr lang="en-US" dirty="0">
                <a:latin typeface="Times New Roman" panose="02020603050405020304" pitchFamily="18" charset="0"/>
                <a:cs typeface="Times New Roman" panose="02020603050405020304" pitchFamily="18" charset="0"/>
              </a:rPr>
              <a:t>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b="1" dirty="0">
              <a:latin typeface="Times New Roman" panose="02020603050405020304" pitchFamily="18" charset="0"/>
              <a:cs typeface="Times New Roman" panose="02020603050405020304" pitchFamily="18" charset="0"/>
            </a:endParaRPr>
          </a:p>
          <a:p>
            <a:pPr marL="514350" indent="-514350">
              <a:buAutoNum type="arabicPeriod"/>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61750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0. General introduction</a:t>
            </a:r>
            <a:br>
              <a:rPr lang="en-US" dirty="0"/>
            </a:br>
            <a:endParaRPr lang="en-US" dirty="0"/>
          </a:p>
        </p:txBody>
      </p:sp>
      <p:sp>
        <p:nvSpPr>
          <p:cNvPr id="3" name="Content Placeholder 2"/>
          <p:cNvSpPr>
            <a:spLocks noGrp="1"/>
          </p:cNvSpPr>
          <p:nvPr>
            <p:ph idx="1"/>
          </p:nvPr>
        </p:nvSpPr>
        <p:spPr>
          <a:xfrm>
            <a:off x="304800" y="1600200"/>
            <a:ext cx="8229600" cy="4525963"/>
          </a:xfrm>
        </p:spPr>
        <p:txBody>
          <a:bodyPr>
            <a:normAutofit fontScale="62500" lnSpcReduction="20000"/>
          </a:bodyPr>
          <a:lstStyle/>
          <a:p>
            <a:pPr marL="0" indent="0">
              <a:buNone/>
            </a:pPr>
            <a:r>
              <a:rPr lang="en-US" b="1" dirty="0"/>
              <a:t>0.1 Introduce graphic design basics</a:t>
            </a:r>
            <a:r>
              <a:rPr lang="en-US" dirty="0"/>
              <a:t> </a:t>
            </a:r>
          </a:p>
          <a:p>
            <a:pPr marL="0" indent="0" algn="just">
              <a:buNone/>
            </a:pPr>
            <a:r>
              <a:rPr lang="en-US" b="1" dirty="0"/>
              <a:t>0.1.1 core concepts and elements of Graphic Design</a:t>
            </a:r>
          </a:p>
          <a:p>
            <a:pPr algn="just"/>
            <a:r>
              <a:rPr lang="en-US" b="1" dirty="0"/>
              <a:t>Graphic design</a:t>
            </a:r>
            <a:r>
              <a:rPr lang="en-US" dirty="0"/>
              <a:t>, the art and profession of selecting and arranging visual elements—such as typography, images, symbols, and </a:t>
            </a:r>
            <a:r>
              <a:rPr lang="en-US" dirty="0" err="1"/>
              <a:t>colours</a:t>
            </a:r>
            <a:r>
              <a:rPr lang="en-US" dirty="0"/>
              <a:t> to convey a message to an audience.</a:t>
            </a:r>
          </a:p>
          <a:p>
            <a:r>
              <a:rPr lang="en-US" dirty="0"/>
              <a:t>A </a:t>
            </a:r>
            <a:r>
              <a:rPr lang="en-US" b="1" dirty="0"/>
              <a:t>graphic designer </a:t>
            </a:r>
            <a:r>
              <a:rPr lang="en-US" dirty="0"/>
              <a:t>is a professional within the </a:t>
            </a:r>
            <a:r>
              <a:rPr lang="en-US" b="1" dirty="0"/>
              <a:t>graphic </a:t>
            </a:r>
            <a:r>
              <a:rPr lang="en-US" dirty="0"/>
              <a:t>design and </a:t>
            </a:r>
            <a:r>
              <a:rPr lang="en-US" b="1" dirty="0"/>
              <a:t>graphic </a:t>
            </a:r>
            <a:r>
              <a:rPr lang="en-US" dirty="0"/>
              <a:t>arts industry who assembles together images, typography, or motion </a:t>
            </a:r>
            <a:r>
              <a:rPr lang="en-US" b="1" dirty="0"/>
              <a:t>graphics </a:t>
            </a:r>
            <a:r>
              <a:rPr lang="en-US" dirty="0"/>
              <a:t>to create a piece of design.</a:t>
            </a:r>
          </a:p>
          <a:p>
            <a:r>
              <a:rPr lang="en-US" dirty="0"/>
              <a:t>A </a:t>
            </a:r>
            <a:r>
              <a:rPr lang="en-US" b="1" dirty="0"/>
              <a:t>graphic designer </a:t>
            </a:r>
            <a:r>
              <a:rPr lang="en-US" dirty="0"/>
              <a:t>creates the </a:t>
            </a:r>
            <a:r>
              <a:rPr lang="en-US" b="1" dirty="0"/>
              <a:t>graphics </a:t>
            </a:r>
            <a:r>
              <a:rPr lang="en-US" dirty="0"/>
              <a:t>primarily for published, printed or electronic media, such as brochures (sometimes) and advertising</a:t>
            </a:r>
          </a:p>
          <a:p>
            <a:r>
              <a:rPr lang="en-US" b="1" dirty="0"/>
              <a:t>Graphic Designer</a:t>
            </a:r>
            <a:r>
              <a:rPr lang="en-US" dirty="0"/>
              <a:t> create visual concepts, by hand or using computer software, to communicate ideas that inspire, inform, or captivate consumers. </a:t>
            </a:r>
          </a:p>
          <a:p>
            <a:r>
              <a:rPr lang="en-US" dirty="0"/>
              <a:t>They develop the overall layout and production design for advertisements, brochures, magazines, and corporate reports. </a:t>
            </a:r>
            <a:br>
              <a:rPr lang="en-US" dirty="0"/>
            </a:br>
            <a:endParaRPr lang="en-US" dirty="0"/>
          </a:p>
        </p:txBody>
      </p:sp>
    </p:spTree>
    <p:extLst>
      <p:ext uri="{BB962C8B-B14F-4D97-AF65-F5344CB8AC3E}">
        <p14:creationId xmlns:p14="http://schemas.microsoft.com/office/powerpoint/2010/main" val="1913036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a:t>0.1.2 Graphic designer Duties/responsibilities</a:t>
            </a:r>
            <a:endParaRPr lang="en-US" sz="3200" dirty="0"/>
          </a:p>
        </p:txBody>
      </p:sp>
      <p:sp>
        <p:nvSpPr>
          <p:cNvPr id="3" name="Content Placeholder 2"/>
          <p:cNvSpPr>
            <a:spLocks noGrp="1"/>
          </p:cNvSpPr>
          <p:nvPr>
            <p:ph idx="1"/>
          </p:nvPr>
        </p:nvSpPr>
        <p:spPr/>
        <p:txBody>
          <a:bodyPr>
            <a:normAutofit fontScale="70000" lnSpcReduction="20000"/>
          </a:bodyPr>
          <a:lstStyle/>
          <a:p>
            <a:pPr marL="0" indent="0">
              <a:buNone/>
            </a:pPr>
            <a:r>
              <a:rPr lang="en-US" b="1" dirty="0"/>
              <a:t>Graphic designers typically do the following:</a:t>
            </a:r>
          </a:p>
          <a:p>
            <a:r>
              <a:rPr lang="en-US" dirty="0"/>
              <a:t> Meet with clients or the art director to determine the scope of a project.</a:t>
            </a:r>
          </a:p>
          <a:p>
            <a:r>
              <a:rPr lang="en-US" dirty="0"/>
              <a:t>Advise clients on strategies to reach a particular audience.</a:t>
            </a:r>
          </a:p>
          <a:p>
            <a:r>
              <a:rPr lang="en-US" dirty="0"/>
              <a:t>Determine the message the design should portray.</a:t>
            </a:r>
          </a:p>
          <a:p>
            <a:r>
              <a:rPr lang="en-US" dirty="0"/>
              <a:t>Create images that identify a product or convey a message.</a:t>
            </a:r>
          </a:p>
          <a:p>
            <a:r>
              <a:rPr lang="en-US" dirty="0"/>
              <a:t>Develop graphics for product illustrations, logos, and websites.</a:t>
            </a:r>
          </a:p>
          <a:p>
            <a:r>
              <a:rPr lang="en-US" dirty="0"/>
              <a:t>Select colors, images, text style, and layout.</a:t>
            </a:r>
          </a:p>
          <a:p>
            <a:r>
              <a:rPr lang="en-US" dirty="0"/>
              <a:t>Present the design to clients or the art director.</a:t>
            </a:r>
          </a:p>
          <a:p>
            <a:r>
              <a:rPr lang="en-US" dirty="0"/>
              <a:t>Incorporate/join changes recommended by the clients into the final design.</a:t>
            </a:r>
          </a:p>
          <a:p>
            <a:r>
              <a:rPr lang="en-US" dirty="0"/>
              <a:t>Review designs for errors before printing or publishing them.</a:t>
            </a:r>
            <a:br>
              <a:rPr lang="en-US" dirty="0"/>
            </a:br>
            <a:br>
              <a:rPr lang="en-US" dirty="0"/>
            </a:br>
            <a:endParaRPr lang="en-US" dirty="0"/>
          </a:p>
        </p:txBody>
      </p:sp>
    </p:spTree>
    <p:extLst>
      <p:ext uri="{BB962C8B-B14F-4D97-AF65-F5344CB8AC3E}">
        <p14:creationId xmlns:p14="http://schemas.microsoft.com/office/powerpoint/2010/main" val="1411925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a:t>0.1.3: Identify essential elements of design</a:t>
            </a:r>
            <a:endParaRPr lang="en-US" sz="3200" dirty="0"/>
          </a:p>
        </p:txBody>
      </p:sp>
      <p:sp>
        <p:nvSpPr>
          <p:cNvPr id="3" name="Content Placeholder 2"/>
          <p:cNvSpPr>
            <a:spLocks noGrp="1"/>
          </p:cNvSpPr>
          <p:nvPr>
            <p:ph idx="1"/>
          </p:nvPr>
        </p:nvSpPr>
        <p:spPr/>
        <p:txBody>
          <a:bodyPr>
            <a:normAutofit fontScale="55000" lnSpcReduction="20000"/>
          </a:bodyPr>
          <a:lstStyle/>
          <a:p>
            <a:pPr marL="0" indent="0">
              <a:buNone/>
            </a:pPr>
            <a:r>
              <a:rPr lang="en-US" b="1" dirty="0"/>
              <a:t>1. Form:</a:t>
            </a:r>
            <a:r>
              <a:rPr lang="en-US" dirty="0"/>
              <a:t> how visuals come together or are constructed as a larger whole.</a:t>
            </a:r>
          </a:p>
          <a:p>
            <a:pPr marL="0" indent="0">
              <a:buNone/>
            </a:pPr>
            <a:r>
              <a:rPr lang="en-US" b="1" dirty="0"/>
              <a:t>2. Shape:</a:t>
            </a:r>
            <a:r>
              <a:rPr lang="en-US" dirty="0"/>
              <a:t> the use of different shapes to organize ideas, emphasize specific details, or otherwise punctuate a design piece.</a:t>
            </a:r>
          </a:p>
          <a:p>
            <a:pPr marL="0" indent="0">
              <a:buNone/>
            </a:pPr>
            <a:r>
              <a:rPr lang="en-US" b="1" dirty="0"/>
              <a:t>3. Line:</a:t>
            </a:r>
            <a:r>
              <a:rPr lang="en-US" dirty="0"/>
              <a:t>  Depending on their form, weight, length and context, lines can help organize information, define shapes, imply movement, and convey emotions.</a:t>
            </a:r>
          </a:p>
          <a:p>
            <a:pPr marL="0" indent="0">
              <a:buNone/>
            </a:pPr>
            <a:r>
              <a:rPr lang="en-US" dirty="0"/>
              <a:t>Lines can:</a:t>
            </a:r>
          </a:p>
          <a:p>
            <a:r>
              <a:rPr lang="en-US" dirty="0"/>
              <a:t>…be horizontal, vertical or diagonal.</a:t>
            </a:r>
          </a:p>
          <a:p>
            <a:r>
              <a:rPr lang="en-US" dirty="0"/>
              <a:t>…be straight, curved or freeform.</a:t>
            </a:r>
          </a:p>
          <a:p>
            <a:r>
              <a:rPr lang="en-US" dirty="0"/>
              <a:t>…zigzag or create other patterns.</a:t>
            </a:r>
          </a:p>
          <a:p>
            <a:r>
              <a:rPr lang="en-US" dirty="0"/>
              <a:t>…be solid, broken or implied.</a:t>
            </a:r>
          </a:p>
          <a:p>
            <a:endParaRPr lang="en-US" dirty="0"/>
          </a:p>
          <a:p>
            <a:pPr marL="0" indent="0">
              <a:buNone/>
            </a:pPr>
            <a:r>
              <a:rPr lang="en-US" b="1" dirty="0"/>
              <a:t>4. Space:</a:t>
            </a:r>
            <a:r>
              <a:rPr lang="en-US" dirty="0"/>
              <a:t> the use of closeness, distance, and overlap to enhance the quality of a piece of design. Spacing is a vital part of any designer’s toolkit. It can give a design breathing room, increase its visual impact, balance out heavier visual elements, and emphasize images or messages that viewers should remember. Without enough space, a design can risk becoming too visually cluttered for your audience to understand.</a:t>
            </a:r>
          </a:p>
          <a:p>
            <a:endParaRPr lang="en-US" dirty="0"/>
          </a:p>
          <a:p>
            <a:endParaRPr lang="en-US" dirty="0"/>
          </a:p>
        </p:txBody>
      </p:sp>
    </p:spTree>
    <p:extLst>
      <p:ext uri="{BB962C8B-B14F-4D97-AF65-F5344CB8AC3E}">
        <p14:creationId xmlns:p14="http://schemas.microsoft.com/office/powerpoint/2010/main" val="30525246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b="1" dirty="0"/>
              <a:t>5. Texture: </a:t>
            </a:r>
            <a:r>
              <a:rPr lang="en-US" dirty="0"/>
              <a:t>the use of patterns, animations, and other visual elements that deepen the physical appearance of a design.</a:t>
            </a:r>
          </a:p>
          <a:p>
            <a:pPr marL="0" indent="0">
              <a:buNone/>
            </a:pPr>
            <a:r>
              <a:rPr lang="en-US" b="1" dirty="0"/>
              <a:t>6. Size:</a:t>
            </a:r>
            <a:r>
              <a:rPr lang="en-US" dirty="0"/>
              <a:t> the consideration of largeness and smallness of different elements in a design piece in order to most effectively communicate ideas or messages.</a:t>
            </a:r>
          </a:p>
          <a:p>
            <a:pPr marL="0" indent="0">
              <a:buNone/>
            </a:pPr>
            <a:endParaRPr lang="en-US" dirty="0"/>
          </a:p>
        </p:txBody>
      </p:sp>
    </p:spTree>
    <p:extLst>
      <p:ext uri="{BB962C8B-B14F-4D97-AF65-F5344CB8AC3E}">
        <p14:creationId xmlns:p14="http://schemas.microsoft.com/office/powerpoint/2010/main" val="8156939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US" b="1" dirty="0"/>
              <a:t>7. Color:  Color </a:t>
            </a:r>
            <a:r>
              <a:rPr lang="en-US" dirty="0"/>
              <a:t>conveys messages and can create a sense of emotion or mood.</a:t>
            </a:r>
            <a:r>
              <a:rPr lang="en-US" b="1" dirty="0"/>
              <a:t> T</a:t>
            </a:r>
            <a:r>
              <a:rPr lang="en-US" dirty="0"/>
              <a:t>he different colors used to make a design attractive and easy-to-use.</a:t>
            </a:r>
          </a:p>
          <a:p>
            <a:pPr marL="0" indent="0">
              <a:buNone/>
            </a:pPr>
            <a:br>
              <a:rPr lang="en-US" dirty="0"/>
            </a:br>
            <a:r>
              <a:rPr lang="en-US" b="1" dirty="0"/>
              <a:t>There are three different types of colors:</a:t>
            </a:r>
            <a:br>
              <a:rPr lang="en-US" b="1" dirty="0"/>
            </a:br>
            <a:endParaRPr lang="en-US" dirty="0"/>
          </a:p>
          <a:p>
            <a:pPr>
              <a:buFont typeface="Wingdings" pitchFamily="2" charset="2"/>
              <a:buChar char="Ø"/>
            </a:pPr>
            <a:r>
              <a:rPr lang="en-US" dirty="0"/>
              <a:t>Primary</a:t>
            </a:r>
          </a:p>
          <a:p>
            <a:pPr>
              <a:buFont typeface="Wingdings" pitchFamily="2" charset="2"/>
              <a:buChar char="Ø"/>
            </a:pPr>
            <a:r>
              <a:rPr lang="en-US" dirty="0"/>
              <a:t>Secondary</a:t>
            </a:r>
          </a:p>
          <a:p>
            <a:pPr>
              <a:buFont typeface="Wingdings" pitchFamily="2" charset="2"/>
              <a:buChar char="Ø"/>
            </a:pPr>
            <a:r>
              <a:rPr lang="en-US" dirty="0"/>
              <a:t>Tertiary </a:t>
            </a:r>
            <a:r>
              <a:rPr lang="en-US" b="1" dirty="0"/>
              <a:t>colors</a:t>
            </a:r>
            <a:r>
              <a:rPr lang="en-US" dirty="0"/>
              <a:t> </a:t>
            </a:r>
            <a:br>
              <a:rPr lang="en-US" dirty="0"/>
            </a:br>
            <a:br>
              <a:rPr lang="en-US" dirty="0"/>
            </a:br>
            <a:endParaRPr lang="en-US" dirty="0"/>
          </a:p>
        </p:txBody>
      </p:sp>
    </p:spTree>
    <p:extLst>
      <p:ext uri="{BB962C8B-B14F-4D97-AF65-F5344CB8AC3E}">
        <p14:creationId xmlns:p14="http://schemas.microsoft.com/office/powerpoint/2010/main" val="943373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Primary colors</a:t>
            </a:r>
          </a:p>
        </p:txBody>
      </p:sp>
      <p:sp>
        <p:nvSpPr>
          <p:cNvPr id="3" name="Content Placeholder 2"/>
          <p:cNvSpPr>
            <a:spLocks noGrp="1"/>
          </p:cNvSpPr>
          <p:nvPr>
            <p:ph idx="1"/>
          </p:nvPr>
        </p:nvSpPr>
        <p:spPr/>
        <p:txBody>
          <a:bodyPr>
            <a:normAutofit fontScale="70000" lnSpcReduction="20000"/>
          </a:bodyPr>
          <a:lstStyle/>
          <a:p>
            <a:r>
              <a:rPr lang="en-US" b="1" dirty="0"/>
              <a:t>Primary colors: primary color</a:t>
            </a:r>
            <a:r>
              <a:rPr lang="en-US" dirty="0"/>
              <a:t>s are </a:t>
            </a:r>
            <a:r>
              <a:rPr lang="en-US" b="1" dirty="0"/>
              <a:t>red, green, and blue</a:t>
            </a:r>
            <a:r>
              <a:rPr lang="en-US" dirty="0"/>
              <a:t>; this means that, by additively mixing the colors red, green, and blue in changing amounts, almost all other colors can be produced.</a:t>
            </a:r>
            <a:br>
              <a:rPr lang="en-US" dirty="0"/>
            </a:br>
            <a:endParaRPr lang="en-US" dirty="0"/>
          </a:p>
          <a:p>
            <a:endParaRPr lang="en-US" dirty="0"/>
          </a:p>
          <a:p>
            <a:endParaRPr lang="en-US" dirty="0"/>
          </a:p>
          <a:p>
            <a:endParaRPr lang="en-US" dirty="0"/>
          </a:p>
          <a:p>
            <a:endParaRPr lang="en-US" dirty="0"/>
          </a:p>
          <a:p>
            <a:endParaRPr lang="en-US" dirty="0"/>
          </a:p>
          <a:p>
            <a:endParaRPr lang="en-US" dirty="0"/>
          </a:p>
          <a:p>
            <a:br>
              <a:rPr lang="en-US" dirty="0"/>
            </a:b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736056"/>
            <a:ext cx="4466948" cy="2692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4128" y="2736056"/>
            <a:ext cx="3790672" cy="3572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461362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2. Secondary colors</a:t>
            </a:r>
            <a:endParaRPr lang="en-US" dirty="0"/>
          </a:p>
        </p:txBody>
      </p:sp>
      <p:sp>
        <p:nvSpPr>
          <p:cNvPr id="3" name="Content Placeholder 2"/>
          <p:cNvSpPr>
            <a:spLocks noGrp="1"/>
          </p:cNvSpPr>
          <p:nvPr>
            <p:ph idx="1"/>
          </p:nvPr>
        </p:nvSpPr>
        <p:spPr/>
        <p:txBody>
          <a:bodyPr>
            <a:normAutofit fontScale="85000" lnSpcReduction="20000"/>
          </a:bodyPr>
          <a:lstStyle/>
          <a:p>
            <a:r>
              <a:rPr lang="en-US" b="1" dirty="0"/>
              <a:t>Secondary colors</a:t>
            </a:r>
            <a:r>
              <a:rPr lang="en-US" dirty="0"/>
              <a:t>: A secondary color is a color made by mixing of two primary </a:t>
            </a:r>
            <a:r>
              <a:rPr lang="en-US"/>
              <a:t>colors in a </a:t>
            </a:r>
            <a:r>
              <a:rPr lang="en-US" dirty="0"/>
              <a:t>given color space. </a:t>
            </a:r>
          </a:p>
          <a:p>
            <a:r>
              <a:rPr lang="en-US" dirty="0"/>
              <a:t>The </a:t>
            </a:r>
            <a:r>
              <a:rPr lang="en-US" b="1" dirty="0"/>
              <a:t>secondary colors </a:t>
            </a:r>
            <a:r>
              <a:rPr lang="en-US" dirty="0"/>
              <a:t>are cyan (a mixture of blue and green),magenta (a mixture of blue and red), and yellow (a mixture of green and red). </a:t>
            </a:r>
          </a:p>
          <a:p>
            <a:endParaRPr lang="en-US" dirty="0"/>
          </a:p>
          <a:p>
            <a:endParaRPr lang="en-US" dirty="0"/>
          </a:p>
          <a:p>
            <a:endParaRPr lang="en-US" dirty="0"/>
          </a:p>
          <a:p>
            <a:pPr marL="0" indent="0">
              <a:buNone/>
            </a:pPr>
            <a:br>
              <a:rPr lang="en-US" dirty="0"/>
            </a:br>
            <a:br>
              <a:rPr lang="en-US" dirty="0"/>
            </a:b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495" y="3771900"/>
            <a:ext cx="3289963" cy="217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922601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3. Tertiary colors</a:t>
            </a:r>
            <a:endParaRPr lang="en-US" dirty="0"/>
          </a:p>
        </p:txBody>
      </p:sp>
      <p:sp>
        <p:nvSpPr>
          <p:cNvPr id="3" name="Content Placeholder 2"/>
          <p:cNvSpPr>
            <a:spLocks noGrp="1"/>
          </p:cNvSpPr>
          <p:nvPr>
            <p:ph idx="1"/>
          </p:nvPr>
        </p:nvSpPr>
        <p:spPr/>
        <p:txBody>
          <a:bodyPr>
            <a:normAutofit fontScale="70000" lnSpcReduction="20000"/>
          </a:bodyPr>
          <a:lstStyle/>
          <a:p>
            <a:r>
              <a:rPr lang="en-US" b="1" dirty="0"/>
              <a:t>Tertiary colors</a:t>
            </a:r>
            <a:r>
              <a:rPr lang="en-US" dirty="0"/>
              <a:t>: </a:t>
            </a:r>
            <a:r>
              <a:rPr lang="en-US" b="1" dirty="0"/>
              <a:t>Tertiary colors </a:t>
            </a:r>
            <a:r>
              <a:rPr lang="en-US" dirty="0"/>
              <a:t>are the resulting </a:t>
            </a:r>
            <a:r>
              <a:rPr lang="en-US" b="1" dirty="0"/>
              <a:t>color </a:t>
            </a:r>
            <a:r>
              <a:rPr lang="en-US" dirty="0"/>
              <a:t>formed when an equal amount of a primary and a secondary </a:t>
            </a:r>
            <a:r>
              <a:rPr lang="en-US" b="1" dirty="0"/>
              <a:t>color </a:t>
            </a:r>
            <a:r>
              <a:rPr lang="en-US" dirty="0"/>
              <a:t>are mixed. For example, a mixture of 50-percent red and 50-percent magenta would result in the </a:t>
            </a:r>
            <a:r>
              <a:rPr lang="en-US" b="1" dirty="0"/>
              <a:t>tertiary color </a:t>
            </a:r>
            <a:r>
              <a:rPr lang="en-US" dirty="0"/>
              <a:t>of orange. </a:t>
            </a:r>
          </a:p>
          <a:p>
            <a:endParaRPr lang="en-US" dirty="0"/>
          </a:p>
          <a:p>
            <a:endParaRPr lang="en-US" dirty="0"/>
          </a:p>
          <a:p>
            <a:endParaRPr lang="en-US" dirty="0"/>
          </a:p>
          <a:p>
            <a:endParaRPr lang="en-US" dirty="0"/>
          </a:p>
          <a:p>
            <a:endParaRPr lang="en-US" dirty="0"/>
          </a:p>
          <a:p>
            <a:endParaRPr lang="en-US" dirty="0"/>
          </a:p>
          <a:p>
            <a:endParaRPr lang="en-US" dirty="0"/>
          </a:p>
          <a:p>
            <a:br>
              <a:rPr lang="en-US" dirty="0"/>
            </a:b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3048000"/>
            <a:ext cx="5390221"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28467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Learning outcome: Edit photos with Adobe Photoshop.</a:t>
            </a:r>
            <a:endParaRPr lang="en-US" dirty="0"/>
          </a:p>
        </p:txBody>
      </p:sp>
      <p:sp>
        <p:nvSpPr>
          <p:cNvPr id="3" name="Content Placeholder 2"/>
          <p:cNvSpPr>
            <a:spLocks noGrp="1"/>
          </p:cNvSpPr>
          <p:nvPr>
            <p:ph idx="1"/>
          </p:nvPr>
        </p:nvSpPr>
        <p:spPr>
          <a:xfrm>
            <a:off x="457200" y="1600200"/>
            <a:ext cx="8229600" cy="4525963"/>
          </a:xfrm>
        </p:spPr>
        <p:txBody>
          <a:bodyPr>
            <a:normAutofit lnSpcReduction="10000"/>
          </a:bodyPr>
          <a:lstStyle/>
          <a:p>
            <a:r>
              <a:rPr lang="en-US" b="1" dirty="0"/>
              <a:t>Definitions:</a:t>
            </a:r>
          </a:p>
          <a:p>
            <a:pPr marL="0" indent="0">
              <a:buNone/>
            </a:pPr>
            <a:r>
              <a:rPr lang="en-US" b="1" dirty="0"/>
              <a:t>1. What is Photoshop?</a:t>
            </a:r>
            <a:endParaRPr lang="en-US" dirty="0"/>
          </a:p>
          <a:p>
            <a:r>
              <a:rPr lang="en-US" dirty="0"/>
              <a:t>Photoshop is an image-editing and graphic design software created in 1988 by Thomas Knoll and John Knoll and the official distribution license of the program was purchased by Adobe Systems.  Since then, so many Photoshop versions have been released.</a:t>
            </a:r>
          </a:p>
          <a:p>
            <a:r>
              <a:rPr lang="en-US" dirty="0"/>
              <a:t>Adobe is </a:t>
            </a:r>
            <a:r>
              <a:rPr lang="en-US" b="1" dirty="0"/>
              <a:t>an American software company</a:t>
            </a:r>
            <a:endParaRPr lang="en-US" dirty="0"/>
          </a:p>
          <a:p>
            <a:endParaRPr lang="en-US" dirty="0"/>
          </a:p>
          <a:p>
            <a:pPr marL="0" indent="0">
              <a:buNone/>
            </a:pPr>
            <a:endParaRPr lang="en-US" dirty="0"/>
          </a:p>
        </p:txBody>
      </p:sp>
    </p:spTree>
    <p:extLst>
      <p:ext uri="{BB962C8B-B14F-4D97-AF65-F5344CB8AC3E}">
        <p14:creationId xmlns:p14="http://schemas.microsoft.com/office/powerpoint/2010/main" val="354702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pPr marL="0" indent="0">
              <a:buNone/>
            </a:pPr>
            <a:r>
              <a:rPr lang="en-US" b="1" dirty="0"/>
              <a:t>2. Image editing or photo retouching</a:t>
            </a:r>
            <a:r>
              <a:rPr lang="en-US" dirty="0"/>
              <a:t>; Editing is a basic correction of images whereas retouching is actual photo manipulation to change the look.</a:t>
            </a:r>
          </a:p>
          <a:p>
            <a:r>
              <a:rPr lang="en-US" dirty="0"/>
              <a:t>Image editing refers to modifying or improving digital or traditional photographic images using different techniques, tools or software. </a:t>
            </a:r>
          </a:p>
          <a:p>
            <a:r>
              <a:rPr lang="en-US" dirty="0"/>
              <a:t>Images produced by scanners, digital cameras or other image-capturing devices may be good, but not perfect. </a:t>
            </a:r>
          </a:p>
          <a:p>
            <a:r>
              <a:rPr lang="en-US" dirty="0"/>
              <a:t>Image editing is done to create the best possible look for the images and also to improve the overall quality of the image according to different parameters.</a:t>
            </a:r>
          </a:p>
          <a:p>
            <a:r>
              <a:rPr lang="en-US" dirty="0"/>
              <a:t>Image editing is done for removing unwanted elements such as dust specks (</a:t>
            </a:r>
            <a:r>
              <a:rPr lang="en-US" b="1" dirty="0"/>
              <a:t>a very </a:t>
            </a:r>
            <a:r>
              <a:rPr lang="en-US" b="1" dirty="0">
                <a:hlinkClick r:id="rId3" tooltip="small"/>
              </a:rPr>
              <a:t>small</a:t>
            </a:r>
            <a:r>
              <a:rPr lang="en-US" b="1" dirty="0"/>
              <a:t> </a:t>
            </a:r>
            <a:r>
              <a:rPr lang="en-US" b="1" u="sng" dirty="0">
                <a:hlinkClick r:id="rId4" tooltip="mark"/>
              </a:rPr>
              <a:t>mark </a:t>
            </a:r>
            <a:r>
              <a:rPr lang="en-US" b="1" u="sng" dirty="0"/>
              <a:t>)</a:t>
            </a:r>
            <a:r>
              <a:rPr lang="en-US" dirty="0"/>
              <a:t>and scratches, adjusting the geometry of the image like rotating and cropping, correcting for lens aberrations, sharpening or softening the image, making color changes or adding special effects to the image.</a:t>
            </a:r>
          </a:p>
        </p:txBody>
      </p:sp>
    </p:spTree>
    <p:extLst>
      <p:ext uri="{BB962C8B-B14F-4D97-AF65-F5344CB8AC3E}">
        <p14:creationId xmlns:p14="http://schemas.microsoft.com/office/powerpoint/2010/main" val="34661340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marL="0" indent="0">
              <a:buNone/>
            </a:pPr>
            <a:r>
              <a:rPr lang="en-US" b="1" dirty="0"/>
              <a:t>3. What's the difference between an image, photo, and a picture?</a:t>
            </a:r>
          </a:p>
          <a:p>
            <a:r>
              <a:rPr lang="en-US" b="1" dirty="0"/>
              <a:t>Image </a:t>
            </a:r>
            <a:r>
              <a:rPr lang="en-US" dirty="0"/>
              <a:t>- Any visual object that's modified or altered by a computer or an imaginary object created using a computer.</a:t>
            </a:r>
          </a:p>
          <a:p>
            <a:r>
              <a:rPr lang="en-US" b="1" dirty="0"/>
              <a:t>Photo or photograph</a:t>
            </a:r>
            <a:r>
              <a:rPr lang="en-US" dirty="0"/>
              <a:t> - Anything taken by a </a:t>
            </a:r>
            <a:r>
              <a:rPr lang="en-US" u="sng" dirty="0">
                <a:hlinkClick r:id="rId2"/>
              </a:rPr>
              <a:t>camera</a:t>
            </a:r>
            <a:r>
              <a:rPr lang="en-US" dirty="0"/>
              <a:t>, </a:t>
            </a:r>
            <a:r>
              <a:rPr lang="en-US" u="sng" dirty="0">
                <a:hlinkClick r:id="rId3"/>
              </a:rPr>
              <a:t>digital camera</a:t>
            </a:r>
            <a:r>
              <a:rPr lang="en-US" dirty="0"/>
              <a:t>, or </a:t>
            </a:r>
            <a:r>
              <a:rPr lang="en-US" u="sng" dirty="0">
                <a:hlinkClick r:id="rId4"/>
              </a:rPr>
              <a:t>photocopier</a:t>
            </a:r>
            <a:r>
              <a:rPr lang="en-US" dirty="0"/>
              <a:t>.</a:t>
            </a:r>
          </a:p>
          <a:p>
            <a:r>
              <a:rPr lang="en-US" b="1" dirty="0"/>
              <a:t>Picture</a:t>
            </a:r>
            <a:r>
              <a:rPr lang="en-US" dirty="0"/>
              <a:t> - A drawing, painting, or artwork created on a computer. A picture is also used to describe anything created using a camera or </a:t>
            </a:r>
            <a:r>
              <a:rPr lang="en-US" u="sng" dirty="0">
                <a:hlinkClick r:id="rId5"/>
              </a:rPr>
              <a:t>scanner</a:t>
            </a:r>
            <a:r>
              <a:rPr lang="en-US" dirty="0"/>
              <a:t>.</a:t>
            </a:r>
          </a:p>
          <a:p>
            <a:pPr fontAlgn="base"/>
            <a:r>
              <a:rPr lang="en-US" b="1" dirty="0"/>
              <a:t>A picture</a:t>
            </a:r>
            <a:r>
              <a:rPr lang="en-US" dirty="0"/>
              <a:t> is the most general term for any representation of a person, an object or a landscape. It can be a painting or a pencil drawing, etc.</a:t>
            </a:r>
          </a:p>
          <a:p>
            <a:endParaRPr lang="en-US" dirty="0"/>
          </a:p>
          <a:p>
            <a:endParaRPr lang="en-US" dirty="0"/>
          </a:p>
        </p:txBody>
      </p:sp>
    </p:spTree>
    <p:extLst>
      <p:ext uri="{BB962C8B-B14F-4D97-AF65-F5344CB8AC3E}">
        <p14:creationId xmlns:p14="http://schemas.microsoft.com/office/powerpoint/2010/main" val="5857729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solidFill>
                  <a:srgbClr val="000000"/>
                </a:solidFill>
                <a:latin typeface="BookmanOldStyle"/>
              </a:rPr>
              <a:t>Use of </a:t>
            </a:r>
            <a:r>
              <a:rPr lang="en-US" b="1" dirty="0"/>
              <a:t>Photoshop</a:t>
            </a:r>
            <a:r>
              <a:rPr lang="en-US" b="1" dirty="0">
                <a:solidFill>
                  <a:srgbClr val="000000"/>
                </a:solidFill>
                <a:latin typeface="BookmanOldStyle"/>
              </a:rPr>
              <a:t> Interface elements</a:t>
            </a:r>
            <a:br>
              <a:rPr lang="en-US" b="1" dirty="0"/>
            </a:br>
            <a:endParaRPr lang="en-US" b="1" dirty="0"/>
          </a:p>
        </p:txBody>
      </p:sp>
      <p:sp>
        <p:nvSpPr>
          <p:cNvPr id="3" name="Content Placeholder 2"/>
          <p:cNvSpPr>
            <a:spLocks noGrp="1"/>
          </p:cNvSpPr>
          <p:nvPr>
            <p:ph idx="1"/>
          </p:nvPr>
        </p:nvSpPr>
        <p:spPr/>
        <p:txBody>
          <a:bodyPr/>
          <a:lstStyle/>
          <a:p>
            <a:r>
              <a:rPr lang="en-US" dirty="0"/>
              <a:t>Version: Adobe Photoshop CC 2021. Be aware that different versions of Photoshop will vary in appearance and functionality.</a:t>
            </a:r>
          </a:p>
          <a:p>
            <a:endParaRPr lang="en-US" dirty="0"/>
          </a:p>
        </p:txBody>
      </p:sp>
      <p:sp>
        <p:nvSpPr>
          <p:cNvPr id="5" name="Rectangle 1"/>
          <p:cNvSpPr>
            <a:spLocks noChangeArrowheads="1"/>
          </p:cNvSpPr>
          <p:nvPr/>
        </p:nvSpPr>
        <p:spPr bwMode="auto">
          <a:xfrm>
            <a:off x="3619500" y="3633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en-US" sz="1800" b="0" i="0" u="none" strike="noStrike" cap="none" normalizeH="0" baseline="0">
                <a:ln>
                  <a:noFill/>
                </a:ln>
                <a:solidFill>
                  <a:schemeClr val="tx1"/>
                </a:solidFill>
                <a:effectLst/>
                <a:latin typeface="Arial" pitchFamily="34" charset="0"/>
                <a:cs typeface="Arial" pitchFamily="34" charset="0"/>
              </a:rPr>
            </a:b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23229627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https://kb.plu.edu/images/group278/shared/Photoshop/interface-2020.png"/>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0" y="274638"/>
            <a:ext cx="9144000" cy="6583362"/>
          </a:xfrm>
          <a:prstGeom prst="rect">
            <a:avLst/>
          </a:prstGeom>
          <a:noFill/>
          <a:ln>
            <a:noFill/>
          </a:ln>
        </p:spPr>
      </p:pic>
    </p:spTree>
    <p:extLst>
      <p:ext uri="{BB962C8B-B14F-4D97-AF65-F5344CB8AC3E}">
        <p14:creationId xmlns:p14="http://schemas.microsoft.com/office/powerpoint/2010/main" val="33938955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55000" lnSpcReduction="20000"/>
          </a:bodyPr>
          <a:lstStyle/>
          <a:p>
            <a:r>
              <a:rPr lang="en-US" b="1" dirty="0"/>
              <a:t>1. Menu bar</a:t>
            </a:r>
            <a:r>
              <a:rPr lang="en-US" dirty="0"/>
              <a:t>: includes saving options (under File) and interface options (under Window).</a:t>
            </a:r>
          </a:p>
          <a:p>
            <a:r>
              <a:rPr lang="en-US" b="1" dirty="0"/>
              <a:t>2. Options bar</a:t>
            </a:r>
            <a:r>
              <a:rPr lang="en-US" dirty="0"/>
              <a:t>: changes depending on what tool is selected. Contains specific options that allow for greater control over elements like shapes and text.</a:t>
            </a:r>
          </a:p>
          <a:p>
            <a:r>
              <a:rPr lang="en-US" b="1" dirty="0"/>
              <a:t>3. Tool bar</a:t>
            </a:r>
            <a:r>
              <a:rPr lang="en-US" dirty="0"/>
              <a:t>: used to interact with and add to the document. Many tools have a small white triangle in the bottom-right-corner, which indicates more tools stacked beneath the top tool. To see the additional tools, click-and-hold on the tool icon; a drop-down menu will appear. </a:t>
            </a:r>
          </a:p>
          <a:p>
            <a:r>
              <a:rPr lang="en-US" dirty="0"/>
              <a:t>4. </a:t>
            </a:r>
            <a:r>
              <a:rPr lang="en-US" b="1" dirty="0"/>
              <a:t>Panels</a:t>
            </a:r>
            <a:r>
              <a:rPr lang="en-US" dirty="0"/>
              <a:t>: provides a way to access important tools and settings quickly. Many panels are available, and some have similar functions as the Options Bar. Panels are organized into tabs. Additional panels can be opened from the Menu Bar under </a:t>
            </a:r>
            <a:r>
              <a:rPr lang="en-US" dirty="0" err="1"/>
              <a:t>â€œWindow.â</a:t>
            </a:r>
            <a:r>
              <a:rPr lang="en-US" dirty="0"/>
              <a:t>€</a:t>
            </a:r>
          </a:p>
          <a:p>
            <a:r>
              <a:rPr lang="en-US" b="1" dirty="0"/>
              <a:t>5. Document window</a:t>
            </a:r>
            <a:r>
              <a:rPr lang="en-US" dirty="0"/>
              <a:t>: Where the document design takes place. May display a ruler and guidelines, which are not visible in the final print.</a:t>
            </a:r>
          </a:p>
          <a:p>
            <a:r>
              <a:rPr lang="en-US" b="1" dirty="0"/>
              <a:t>6. Canvas</a:t>
            </a:r>
            <a:r>
              <a:rPr lang="en-US" dirty="0"/>
              <a:t>: This is where the editing of the document takes place. When an image is opened, the image itself is considered the Canvas. Objects that are placed outside of the Canvas will not appear after export or printing.</a:t>
            </a:r>
          </a:p>
          <a:p>
            <a:pPr marL="0" indent="0">
              <a:buNone/>
            </a:pPr>
            <a:endParaRPr lang="en-US" dirty="0"/>
          </a:p>
        </p:txBody>
      </p:sp>
    </p:spTree>
    <p:extLst>
      <p:ext uri="{BB962C8B-B14F-4D97-AF65-F5344CB8AC3E}">
        <p14:creationId xmlns:p14="http://schemas.microsoft.com/office/powerpoint/2010/main" val="25207222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Workspaces</a:t>
            </a:r>
            <a:br>
              <a:rPr lang="en-US" b="1" dirty="0"/>
            </a:br>
            <a:endParaRPr lang="en-US" dirty="0"/>
          </a:p>
        </p:txBody>
      </p:sp>
      <p:sp>
        <p:nvSpPr>
          <p:cNvPr id="3" name="Content Placeholder 2"/>
          <p:cNvSpPr>
            <a:spLocks noGrp="1"/>
          </p:cNvSpPr>
          <p:nvPr>
            <p:ph idx="1"/>
          </p:nvPr>
        </p:nvSpPr>
        <p:spPr/>
        <p:txBody>
          <a:bodyPr>
            <a:normAutofit fontScale="92500" lnSpcReduction="10000"/>
          </a:bodyPr>
          <a:lstStyle/>
          <a:p>
            <a:r>
              <a:rPr lang="en-US" dirty="0"/>
              <a:t>Photoshop contains several preset Workspaces, which change the default panels to better serve particular kinds of projects. </a:t>
            </a:r>
          </a:p>
          <a:p>
            <a:r>
              <a:rPr lang="en-US" dirty="0"/>
              <a:t>To change the Workspace, navigate to Windows &gt; Workspaces. For in-depth photo editing, use the Photography Workspace. </a:t>
            </a:r>
          </a:p>
          <a:p>
            <a:r>
              <a:rPr lang="en-US" dirty="0"/>
              <a:t>If at any point a panel is closed or moved, the interface can be reset by navigating to Window &gt; Workspace, and selecting the </a:t>
            </a:r>
            <a:r>
              <a:rPr lang="en-US" dirty="0" err="1"/>
              <a:t>â€œResetâ</a:t>
            </a:r>
            <a:r>
              <a:rPr lang="en-US" dirty="0"/>
              <a:t>€ option (i.e. </a:t>
            </a:r>
            <a:r>
              <a:rPr lang="en-US" dirty="0" err="1"/>
              <a:t>â€œReset</a:t>
            </a:r>
            <a:r>
              <a:rPr lang="en-US" dirty="0"/>
              <a:t> </a:t>
            </a:r>
            <a:r>
              <a:rPr lang="en-US" dirty="0" err="1"/>
              <a:t>Photographyâ</a:t>
            </a:r>
            <a:r>
              <a:rPr lang="en-US" dirty="0"/>
              <a:t>€).</a:t>
            </a:r>
          </a:p>
          <a:p>
            <a:endParaRPr lang="en-US" dirty="0"/>
          </a:p>
        </p:txBody>
      </p:sp>
    </p:spTree>
    <p:extLst>
      <p:ext uri="{BB962C8B-B14F-4D97-AF65-F5344CB8AC3E}">
        <p14:creationId xmlns:p14="http://schemas.microsoft.com/office/powerpoint/2010/main" val="26201194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https://kb.plu.edu/images/group278/shared/Photoshop/Workspace.p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600200"/>
            <a:ext cx="8229600" cy="4800600"/>
          </a:xfrm>
          <a:prstGeom prst="rect">
            <a:avLst/>
          </a:prstGeom>
          <a:noFill/>
          <a:ln>
            <a:noFill/>
          </a:ln>
        </p:spPr>
      </p:pic>
    </p:spTree>
    <p:extLst>
      <p:ext uri="{BB962C8B-B14F-4D97-AF65-F5344CB8AC3E}">
        <p14:creationId xmlns:p14="http://schemas.microsoft.com/office/powerpoint/2010/main" val="25629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Using Panels</a:t>
            </a:r>
            <a:br>
              <a:rPr lang="en-US" b="1" dirty="0"/>
            </a:br>
            <a:endParaRPr lang="en-US" dirty="0"/>
          </a:p>
        </p:txBody>
      </p:sp>
      <p:sp>
        <p:nvSpPr>
          <p:cNvPr id="3" name="Content Placeholder 2"/>
          <p:cNvSpPr>
            <a:spLocks noGrp="1"/>
          </p:cNvSpPr>
          <p:nvPr>
            <p:ph idx="1"/>
          </p:nvPr>
        </p:nvSpPr>
        <p:spPr/>
        <p:txBody>
          <a:bodyPr>
            <a:normAutofit fontScale="55000" lnSpcReduction="20000"/>
          </a:bodyPr>
          <a:lstStyle/>
          <a:p>
            <a:r>
              <a:rPr lang="en-US" dirty="0"/>
              <a:t>The panels on the right side of the interface will change depending on what Workspace is currently active, but all panels are available in any Workspace.</a:t>
            </a:r>
          </a:p>
          <a:p>
            <a:r>
              <a:rPr lang="en-US" dirty="0"/>
              <a:t> To access a panel not currently visible, navigate to Windows and select the desired panel. Panels with a check-mark to the left are currently accessible from the main interface.</a:t>
            </a:r>
            <a:endParaRPr lang="en-US" i="1" dirty="0"/>
          </a:p>
          <a:p>
            <a:r>
              <a:rPr lang="en-US" i="1" dirty="0"/>
              <a:t>To open panel or tab to access its options</a:t>
            </a:r>
            <a:r>
              <a:rPr lang="en-US" dirty="0"/>
              <a:t>, click its name. Panels are located on the right of the interface.</a:t>
            </a:r>
          </a:p>
          <a:p>
            <a:r>
              <a:rPr lang="en-US" i="1" dirty="0"/>
              <a:t>To expand or collapse a panel</a:t>
            </a:r>
            <a:r>
              <a:rPr lang="en-US" dirty="0"/>
              <a:t>, click the double-arrows in the top-right corner of the panel. Left-facing arrows will expand the panel, and right-facing arrows will collapse it.</a:t>
            </a:r>
            <a:br>
              <a:rPr lang="en-US" dirty="0"/>
            </a:br>
            <a:br>
              <a:rPr lang="en-US" dirty="0"/>
            </a:br>
            <a:endParaRPr lang="en-US" dirty="0"/>
          </a:p>
          <a:p>
            <a:endParaRPr lang="en-US" i="1" dirty="0"/>
          </a:p>
          <a:p>
            <a:pPr marL="0" indent="0">
              <a:buNone/>
            </a:pPr>
            <a:endParaRPr lang="en-US" i="1" dirty="0"/>
          </a:p>
          <a:p>
            <a:r>
              <a:rPr lang="en-US" i="1" dirty="0"/>
              <a:t>To access additional panel options</a:t>
            </a:r>
            <a:r>
              <a:rPr lang="en-US" dirty="0"/>
              <a:t>, click the four stacked lines at the top-right corner of the panel. Important options, such as for deleting or duplicating elements, are located here.</a:t>
            </a:r>
            <a:br>
              <a:rPr lang="en-US" dirty="0"/>
            </a:br>
            <a:endParaRPr lang="en-US" dirty="0"/>
          </a:p>
          <a:p>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3486150"/>
            <a:ext cx="1390650"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V="1">
            <a:off x="253366" y="4648200"/>
            <a:ext cx="525780"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606064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Zooming In and Out</a:t>
            </a:r>
            <a:br>
              <a:rPr lang="en-US" b="1" dirty="0"/>
            </a:br>
            <a:endParaRPr lang="en-US" dirty="0"/>
          </a:p>
        </p:txBody>
      </p:sp>
      <p:sp>
        <p:nvSpPr>
          <p:cNvPr id="3" name="Content Placeholder 2"/>
          <p:cNvSpPr>
            <a:spLocks noGrp="1"/>
          </p:cNvSpPr>
          <p:nvPr>
            <p:ph idx="1"/>
          </p:nvPr>
        </p:nvSpPr>
        <p:spPr/>
        <p:txBody>
          <a:bodyPr>
            <a:normAutofit fontScale="77500" lnSpcReduction="20000"/>
          </a:bodyPr>
          <a:lstStyle/>
          <a:p>
            <a:r>
              <a:rPr lang="en-US" dirty="0"/>
              <a:t>It may be necessary to zoom in or out on certain portions of a photo. </a:t>
            </a:r>
          </a:p>
          <a:p>
            <a:r>
              <a:rPr lang="en-US" dirty="0"/>
              <a:t>On the bottom-left of the Photoshop window there is a zoom percentage that shows the amount the image has been zoomed in-or-out in comparison to the original size.</a:t>
            </a:r>
          </a:p>
          <a:p>
            <a:r>
              <a:rPr lang="en-US" b="1" i="1" dirty="0"/>
              <a:t>To zoom in</a:t>
            </a:r>
            <a:r>
              <a:rPr lang="en-US" i="1" dirty="0"/>
              <a:t>,</a:t>
            </a:r>
            <a:r>
              <a:rPr lang="en-US" dirty="0"/>
              <a:t> select the Zoom tool from the Toolbar and click the image. Each consecutive click will zoom in further. Alternatively, press Command+(+) (Mac) or CTRL+(+) (Windows).</a:t>
            </a:r>
          </a:p>
          <a:p>
            <a:r>
              <a:rPr lang="en-US" b="1" i="1" dirty="0"/>
              <a:t>To zoom out</a:t>
            </a:r>
            <a:r>
              <a:rPr lang="en-US" dirty="0"/>
              <a:t>, hold the Option key and click the image with the Zoom tool. Alternatively, press Command+(-) (Mac) or CTRL+(-) (Windows).</a:t>
            </a:r>
            <a:br>
              <a:rPr lang="en-US" dirty="0"/>
            </a:br>
            <a:endParaRPr lang="en-US" dirty="0"/>
          </a:p>
          <a:p>
            <a:endParaRPr lang="en-US" dirty="0"/>
          </a:p>
        </p:txBody>
      </p:sp>
    </p:spTree>
    <p:extLst>
      <p:ext uri="{BB962C8B-B14F-4D97-AF65-F5344CB8AC3E}">
        <p14:creationId xmlns:p14="http://schemas.microsoft.com/office/powerpoint/2010/main" val="33190459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he tools layout in the Photoshop toolba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07156"/>
            <a:ext cx="4724400" cy="66436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3745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Tools &amp; </a:t>
            </a:r>
            <a:r>
              <a:rPr lang="en-US" b="1" dirty="0" err="1"/>
              <a:t>Subtools</a:t>
            </a:r>
            <a:br>
              <a:rPr lang="en-US" b="1" dirty="0"/>
            </a:br>
            <a:br>
              <a:rPr lang="en-US" dirty="0"/>
            </a:b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533400"/>
            <a:ext cx="3625758" cy="617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244533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35312"/>
            <a:ext cx="5649628" cy="6815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961659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9996" y="152400"/>
            <a:ext cx="6031004" cy="655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558112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2466974" y="228600"/>
            <a:ext cx="5014913" cy="617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207451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2080" y="152400"/>
            <a:ext cx="7056120" cy="624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719733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8238" y="152400"/>
            <a:ext cx="6147525" cy="655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007054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304800"/>
            <a:ext cx="6095999" cy="64713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685775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Using keyboard shortcuts</a:t>
            </a:r>
          </a:p>
        </p:txBody>
      </p:sp>
      <p:sp>
        <p:nvSpPr>
          <p:cNvPr id="3" name="Content Placeholder 2"/>
          <p:cNvSpPr>
            <a:spLocks noGrp="1"/>
          </p:cNvSpPr>
          <p:nvPr>
            <p:ph idx="1"/>
          </p:nvPr>
        </p:nvSpPr>
        <p:spPr/>
        <p:txBody>
          <a:bodyPr>
            <a:normAutofit fontScale="77500" lnSpcReduction="20000"/>
          </a:bodyPr>
          <a:lstStyle/>
          <a:p>
            <a:pPr marL="0" indent="0">
              <a:buNone/>
            </a:pPr>
            <a:r>
              <a:rPr lang="en-US" b="1" i="1" dirty="0"/>
              <a:t>A. Photoshop Keyboard Shortcuts: Move Tools</a:t>
            </a:r>
          </a:p>
          <a:p>
            <a:r>
              <a:rPr lang="en-US" dirty="0"/>
              <a:t> </a:t>
            </a:r>
            <a:r>
              <a:rPr lang="en-US" b="1" dirty="0"/>
              <a:t>Zoom Tool </a:t>
            </a:r>
            <a:r>
              <a:rPr lang="en-US" dirty="0"/>
              <a:t>- Hit the letter “Z” on your keyboard</a:t>
            </a:r>
          </a:p>
          <a:p>
            <a:r>
              <a:rPr lang="en-US" dirty="0"/>
              <a:t> </a:t>
            </a:r>
            <a:r>
              <a:rPr lang="en-US" b="1" dirty="0"/>
              <a:t>Zoom Out </a:t>
            </a:r>
            <a:r>
              <a:rPr lang="en-US" dirty="0"/>
              <a:t>- Hold the Alt/Option key</a:t>
            </a:r>
          </a:p>
          <a:p>
            <a:r>
              <a:rPr lang="en-US" dirty="0"/>
              <a:t> </a:t>
            </a:r>
            <a:r>
              <a:rPr lang="en-US" b="1" dirty="0"/>
              <a:t>Fit to Screen </a:t>
            </a:r>
            <a:r>
              <a:rPr lang="en-US" dirty="0"/>
              <a:t>- Command/Ctrl + 0</a:t>
            </a:r>
          </a:p>
          <a:p>
            <a:r>
              <a:rPr lang="en-US" dirty="0"/>
              <a:t> </a:t>
            </a:r>
            <a:r>
              <a:rPr lang="en-US" b="1" dirty="0"/>
              <a:t>Hand Tool </a:t>
            </a:r>
            <a:r>
              <a:rPr lang="en-US" dirty="0"/>
              <a:t>- Move around the image while zoomed in - Hold the spacebar</a:t>
            </a:r>
          </a:p>
          <a:p>
            <a:r>
              <a:rPr lang="en-US" b="1" dirty="0"/>
              <a:t>Rotate Your Image </a:t>
            </a:r>
            <a:r>
              <a:rPr lang="en-US" dirty="0"/>
              <a:t>- Hit the letter “R” on your keyboard, then click and drag your mouse</a:t>
            </a:r>
          </a:p>
          <a:p>
            <a:r>
              <a:rPr lang="en-US" dirty="0"/>
              <a:t> </a:t>
            </a:r>
            <a:r>
              <a:rPr lang="en-US" b="1" dirty="0"/>
              <a:t>Rotate in 15 degree increments </a:t>
            </a:r>
            <a:r>
              <a:rPr lang="en-US" dirty="0"/>
              <a:t>- Make sure your rotate tool (R) is selected + hold</a:t>
            </a:r>
            <a:br>
              <a:rPr lang="en-US" dirty="0"/>
            </a:br>
            <a:r>
              <a:rPr lang="en-US" dirty="0"/>
              <a:t>shift and drag your mouse </a:t>
            </a:r>
            <a:br>
              <a:rPr lang="en-US" dirty="0"/>
            </a:br>
            <a:endParaRPr lang="en-US" dirty="0"/>
          </a:p>
        </p:txBody>
      </p:sp>
    </p:spTree>
    <p:extLst>
      <p:ext uri="{BB962C8B-B14F-4D97-AF65-F5344CB8AC3E}">
        <p14:creationId xmlns:p14="http://schemas.microsoft.com/office/powerpoint/2010/main" val="10527487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sz="3600" b="1" dirty="0"/>
              <a:t>Photoshop Tools Summary</a:t>
            </a:r>
            <a:br>
              <a:rPr lang="en-US" sz="3600" b="1" dirty="0"/>
            </a:br>
            <a:r>
              <a:rPr lang="en-US" sz="3600" b="1" dirty="0"/>
              <a:t>1.Move </a:t>
            </a:r>
            <a:r>
              <a:rPr lang="en-US" sz="3600" dirty="0"/>
              <a:t> and Selection tools</a:t>
            </a:r>
            <a:br>
              <a:rPr lang="en-US" dirty="0"/>
            </a:br>
            <a:endParaRPr lang="en-US" dirty="0"/>
          </a:p>
        </p:txBody>
      </p:sp>
      <p:sp>
        <p:nvSpPr>
          <p:cNvPr id="3" name="Content Placeholder 2"/>
          <p:cNvSpPr>
            <a:spLocks noGrp="1"/>
          </p:cNvSpPr>
          <p:nvPr>
            <p:ph idx="1"/>
          </p:nvPr>
        </p:nvSpPr>
        <p:spPr/>
        <p:txBody>
          <a:bodyPr/>
          <a:lstStyle/>
          <a:p>
            <a:pPr marL="0" indent="0">
              <a:buNone/>
            </a:pP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19200"/>
            <a:ext cx="9144000"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140029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19200"/>
            <a:ext cx="8839200"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554323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987550"/>
            <a:ext cx="8915400" cy="4489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701754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1" y="1524000"/>
            <a:ext cx="8762999"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674817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199" y="2024063"/>
            <a:ext cx="8382001" cy="4833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259355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Measurement tools</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999" y="1676400"/>
            <a:ext cx="8534401"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225313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676400"/>
            <a:ext cx="8610600" cy="4800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459908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332" y="1524000"/>
            <a:ext cx="8229599" cy="4467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83181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990600"/>
            <a:ext cx="8382000" cy="461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506775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731837"/>
            <a:ext cx="8382000" cy="459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685056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1066800"/>
            <a:ext cx="8305800" cy="419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020450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066800"/>
            <a:ext cx="8382000" cy="3895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065677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524000"/>
            <a:ext cx="8077200" cy="3529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071291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7212" y="838200"/>
            <a:ext cx="8029575"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995626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a:t>A.Photoshop</a:t>
            </a:r>
            <a:r>
              <a:rPr lang="en-US" b="1" i="1" dirty="0"/>
              <a:t> Keyboard Shortcuts: General Tips &amp; Shortcuts</a:t>
            </a:r>
            <a:br>
              <a:rPr lang="en-US" b="1" i="1" dirty="0"/>
            </a:br>
            <a:endParaRPr lang="en-US" dirty="0"/>
          </a:p>
        </p:txBody>
      </p:sp>
      <p:sp>
        <p:nvSpPr>
          <p:cNvPr id="3" name="Content Placeholder 2"/>
          <p:cNvSpPr>
            <a:spLocks noGrp="1"/>
          </p:cNvSpPr>
          <p:nvPr>
            <p:ph idx="1"/>
          </p:nvPr>
        </p:nvSpPr>
        <p:spPr/>
        <p:txBody>
          <a:bodyPr>
            <a:normAutofit fontScale="70000" lnSpcReduction="20000"/>
          </a:bodyPr>
          <a:lstStyle/>
          <a:p>
            <a:pPr marL="0" indent="0">
              <a:buNone/>
            </a:pPr>
            <a:r>
              <a:rPr lang="en-US" b="1" dirty="0"/>
              <a:t>Unlock your background layer </a:t>
            </a:r>
            <a:r>
              <a:rPr lang="en-US" dirty="0"/>
              <a:t>- Double click your background layer and hit the “enter” key or simply click on the lock icon on your background layer.</a:t>
            </a:r>
          </a:p>
          <a:p>
            <a:r>
              <a:rPr lang="en-US" dirty="0"/>
              <a:t> </a:t>
            </a:r>
            <a:r>
              <a:rPr lang="en-US" b="1" dirty="0"/>
              <a:t>Rulers </a:t>
            </a:r>
            <a:r>
              <a:rPr lang="en-US" dirty="0"/>
              <a:t>- Command/Ctrl + R</a:t>
            </a:r>
          </a:p>
          <a:p>
            <a:r>
              <a:rPr lang="en-US" dirty="0"/>
              <a:t> </a:t>
            </a:r>
            <a:r>
              <a:rPr lang="en-US" b="1" dirty="0"/>
              <a:t>Create Guides </a:t>
            </a:r>
            <a:r>
              <a:rPr lang="en-US" dirty="0"/>
              <a:t>- Click and drag from the rulers while they are visible. This works both on the vertical and horizontal axis</a:t>
            </a:r>
          </a:p>
          <a:p>
            <a:r>
              <a:rPr lang="en-US" dirty="0"/>
              <a:t> </a:t>
            </a:r>
            <a:r>
              <a:rPr lang="en-US" b="1" dirty="0"/>
              <a:t>Hide/Show Guides </a:t>
            </a:r>
            <a:r>
              <a:rPr lang="en-US" dirty="0"/>
              <a:t>- Command/Ctrl + H</a:t>
            </a:r>
          </a:p>
          <a:p>
            <a:r>
              <a:rPr lang="en-US" dirty="0"/>
              <a:t> </a:t>
            </a:r>
            <a:r>
              <a:rPr lang="en-US" b="1" dirty="0"/>
              <a:t>Undo </a:t>
            </a:r>
            <a:r>
              <a:rPr lang="en-US" dirty="0"/>
              <a:t>- Command/Ctrl + Z (quick tip: use this keyboard shortcut over and over again to toggle your last history state)</a:t>
            </a:r>
          </a:p>
          <a:p>
            <a:r>
              <a:rPr lang="en-US" dirty="0"/>
              <a:t> </a:t>
            </a:r>
            <a:r>
              <a:rPr lang="en-US" b="1" dirty="0"/>
              <a:t>Multiple </a:t>
            </a:r>
            <a:r>
              <a:rPr lang="en-US" b="1" dirty="0" err="1"/>
              <a:t>Undos</a:t>
            </a:r>
            <a:r>
              <a:rPr lang="en-US" b="1" dirty="0"/>
              <a:t> </a:t>
            </a:r>
            <a:r>
              <a:rPr lang="en-US" dirty="0"/>
              <a:t>- Command/Ctrl + Alt/Opt + Z</a:t>
            </a:r>
          </a:p>
          <a:p>
            <a:r>
              <a:rPr lang="en-US" b="1" dirty="0"/>
              <a:t>Gradient Tool </a:t>
            </a:r>
            <a:r>
              <a:rPr lang="en-US" dirty="0"/>
              <a:t>- Hit the letter “G” on your keyboard</a:t>
            </a:r>
            <a:br>
              <a:rPr lang="en-US" dirty="0"/>
            </a:br>
            <a:endParaRPr lang="en-US" dirty="0"/>
          </a:p>
        </p:txBody>
      </p:sp>
    </p:spTree>
    <p:extLst>
      <p:ext uri="{BB962C8B-B14F-4D97-AF65-F5344CB8AC3E}">
        <p14:creationId xmlns:p14="http://schemas.microsoft.com/office/powerpoint/2010/main" val="9798211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066800"/>
            <a:ext cx="8229600" cy="4525963"/>
          </a:xfrm>
        </p:spPr>
        <p:txBody>
          <a:bodyPr>
            <a:normAutofit fontScale="92500" lnSpcReduction="20000"/>
          </a:bodyPr>
          <a:lstStyle/>
          <a:p>
            <a:r>
              <a:rPr lang="en-US" sz="4500" dirty="0"/>
              <a:t> </a:t>
            </a:r>
            <a:r>
              <a:rPr lang="en-US" sz="4500" b="1" dirty="0"/>
              <a:t>Gradient Tool with straight gradient </a:t>
            </a:r>
            <a:r>
              <a:rPr lang="en-US" sz="4500" dirty="0"/>
              <a:t>- While the gradient tool is selected, hold “Shift” then click and drag</a:t>
            </a:r>
          </a:p>
          <a:p>
            <a:r>
              <a:rPr lang="en-US" sz="4500" dirty="0"/>
              <a:t> </a:t>
            </a:r>
            <a:r>
              <a:rPr lang="en-US" sz="4500" b="1" dirty="0"/>
              <a:t>Crop Tool </a:t>
            </a:r>
            <a:r>
              <a:rPr lang="en-US" sz="4500" dirty="0"/>
              <a:t>- Hit the letter “C” on your keyboard (Quick Tip: make sure to uncheck “Delete cropped pixels”)</a:t>
            </a:r>
          </a:p>
        </p:txBody>
      </p:sp>
    </p:spTree>
    <p:extLst>
      <p:ext uri="{BB962C8B-B14F-4D97-AF65-F5344CB8AC3E}">
        <p14:creationId xmlns:p14="http://schemas.microsoft.com/office/powerpoint/2010/main" val="15871584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4525963"/>
          </a:xfrm>
        </p:spPr>
        <p:txBody>
          <a:bodyPr>
            <a:normAutofit fontScale="70000" lnSpcReduction="20000"/>
          </a:bodyPr>
          <a:lstStyle/>
          <a:p>
            <a:r>
              <a:rPr lang="en-US" b="1" dirty="0"/>
              <a:t>Access Photoshop Tool subsets </a:t>
            </a:r>
            <a:r>
              <a:rPr lang="en-US" dirty="0"/>
              <a:t>- Hold the shift key, then press the keyboard shortcut for the tool you are trying to access. </a:t>
            </a:r>
          </a:p>
          <a:p>
            <a:r>
              <a:rPr lang="en-US" dirty="0"/>
              <a:t>Doing so multiple times will let you toggle between the sets of tools available in any given panel.</a:t>
            </a:r>
          </a:p>
          <a:p>
            <a:r>
              <a:rPr lang="en-US" dirty="0"/>
              <a:t> For example hitting the letter “J” on your keyboard would let you healing brush tool. If you hold the shift key + hit the letter “J” on your keyboard, you will cycle all of the healing brush tool subsets. </a:t>
            </a:r>
          </a:p>
          <a:p>
            <a:r>
              <a:rPr lang="en-US" dirty="0"/>
              <a:t>The helpful shortcut works for all of the tools in the tool panel that have more than one tool available.</a:t>
            </a:r>
          </a:p>
          <a:p>
            <a:r>
              <a:rPr lang="en-US" b="1" dirty="0"/>
              <a:t>Quick Tip: </a:t>
            </a:r>
            <a:r>
              <a:rPr lang="en-US" dirty="0"/>
              <a:t>Hover of the tools panel to reveal the keyboard shortcut for the tool your hovering over </a:t>
            </a:r>
            <a:br>
              <a:rPr lang="en-US" dirty="0"/>
            </a:br>
            <a:endParaRPr lang="en-US" dirty="0"/>
          </a:p>
          <a:p>
            <a:endParaRPr lang="en-US" dirty="0"/>
          </a:p>
          <a:p>
            <a:endParaRPr lang="en-US" dirty="0"/>
          </a:p>
        </p:txBody>
      </p:sp>
    </p:spTree>
    <p:extLst>
      <p:ext uri="{BB962C8B-B14F-4D97-AF65-F5344CB8AC3E}">
        <p14:creationId xmlns:p14="http://schemas.microsoft.com/office/powerpoint/2010/main" val="19735433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Photoshop Keyboard Shortcuts: Brush Tool</a:t>
            </a:r>
            <a:br>
              <a:rPr lang="en-US" b="1" i="1" dirty="0"/>
            </a:br>
            <a:endParaRPr lang="en-US" dirty="0"/>
          </a:p>
        </p:txBody>
      </p:sp>
      <p:sp>
        <p:nvSpPr>
          <p:cNvPr id="3" name="Content Placeholder 2"/>
          <p:cNvSpPr>
            <a:spLocks noGrp="1"/>
          </p:cNvSpPr>
          <p:nvPr>
            <p:ph idx="1"/>
          </p:nvPr>
        </p:nvSpPr>
        <p:spPr/>
        <p:txBody>
          <a:bodyPr>
            <a:normAutofit/>
          </a:bodyPr>
          <a:lstStyle/>
          <a:p>
            <a:r>
              <a:rPr lang="en-US" b="1" dirty="0"/>
              <a:t>Brush </a:t>
            </a:r>
            <a:r>
              <a:rPr lang="en-US" dirty="0"/>
              <a:t>- Hit the letter “B” on your keyboard</a:t>
            </a:r>
          </a:p>
          <a:p>
            <a:r>
              <a:rPr lang="en-US" dirty="0"/>
              <a:t> </a:t>
            </a:r>
            <a:r>
              <a:rPr lang="en-US" b="1" dirty="0"/>
              <a:t>Make brush tool bigger </a:t>
            </a:r>
            <a:r>
              <a:rPr lang="en-US" dirty="0"/>
              <a:t>- Hit the ] key on your keyboard (right bracket key)</a:t>
            </a:r>
          </a:p>
          <a:p>
            <a:r>
              <a:rPr lang="en-US" b="1" dirty="0"/>
              <a:t>Make brush tool smaller </a:t>
            </a:r>
            <a:r>
              <a:rPr lang="en-US" dirty="0"/>
              <a:t>- Hit the [ key on your keyboard (left bracket key)</a:t>
            </a:r>
          </a:p>
          <a:p>
            <a:r>
              <a:rPr lang="en-US" dirty="0"/>
              <a:t> </a:t>
            </a:r>
            <a:r>
              <a:rPr lang="en-US" b="1" dirty="0"/>
              <a:t>Brush Resize (PC) </a:t>
            </a:r>
            <a:r>
              <a:rPr lang="en-US" dirty="0"/>
              <a:t>- Right Click + Alt + Drag left or right</a:t>
            </a:r>
          </a:p>
        </p:txBody>
      </p:sp>
    </p:spTree>
    <p:extLst>
      <p:ext uri="{BB962C8B-B14F-4D97-AF65-F5344CB8AC3E}">
        <p14:creationId xmlns:p14="http://schemas.microsoft.com/office/powerpoint/2010/main" val="38372771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4525963"/>
          </a:xfrm>
        </p:spPr>
        <p:txBody>
          <a:bodyPr>
            <a:normAutofit fontScale="25000" lnSpcReduction="20000"/>
          </a:bodyPr>
          <a:lstStyle/>
          <a:p>
            <a:r>
              <a:rPr lang="en-US" dirty="0"/>
              <a:t> </a:t>
            </a:r>
            <a:r>
              <a:rPr lang="en-US" sz="12800" b="1" dirty="0"/>
              <a:t>Brush Softness (PC) </a:t>
            </a:r>
            <a:r>
              <a:rPr lang="en-US" sz="12800" dirty="0"/>
              <a:t>- Right Click + Alt + Drag up or down</a:t>
            </a:r>
          </a:p>
          <a:p>
            <a:r>
              <a:rPr lang="en-US" sz="12800" dirty="0"/>
              <a:t> </a:t>
            </a:r>
            <a:r>
              <a:rPr lang="en-US" sz="12800" b="1" dirty="0"/>
              <a:t>Brush Resize (Mac) </a:t>
            </a:r>
            <a:r>
              <a:rPr lang="en-US" sz="12800" dirty="0"/>
              <a:t>- Command + Option + Drag left or right</a:t>
            </a:r>
          </a:p>
          <a:p>
            <a:r>
              <a:rPr lang="en-US" sz="12800" b="1" dirty="0"/>
              <a:t>Brush Softness (Mac) </a:t>
            </a:r>
            <a:r>
              <a:rPr lang="en-US" sz="12800" dirty="0"/>
              <a:t>- Command + Option + Drag up or down</a:t>
            </a:r>
          </a:p>
          <a:p>
            <a:r>
              <a:rPr lang="en-US" sz="12800" b="1" dirty="0"/>
              <a:t>Brush settings </a:t>
            </a:r>
            <a:r>
              <a:rPr lang="en-US" sz="12800" dirty="0"/>
              <a:t>- Simply right click while you have the brush tool selected. Hit the “enter” key to exit this panel</a:t>
            </a:r>
          </a:p>
          <a:p>
            <a:r>
              <a:rPr lang="en-US" sz="12800" b="1" dirty="0"/>
              <a:t>Sample colors while using the brush tool </a:t>
            </a:r>
            <a:r>
              <a:rPr lang="en-US" sz="12800" dirty="0"/>
              <a:t>- Hold the Option/Alt key to temporarily switch to the eye dropper tool </a:t>
            </a:r>
            <a:br>
              <a:rPr lang="en-US" sz="12800" dirty="0"/>
            </a:br>
            <a:endParaRPr lang="en-US" sz="12800" dirty="0"/>
          </a:p>
          <a:p>
            <a:endParaRPr lang="en-US" dirty="0"/>
          </a:p>
        </p:txBody>
      </p:sp>
    </p:spTree>
    <p:extLst>
      <p:ext uri="{BB962C8B-B14F-4D97-AF65-F5344CB8AC3E}">
        <p14:creationId xmlns:p14="http://schemas.microsoft.com/office/powerpoint/2010/main" val="26682341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Photoshop Keyboard Shortcuts: Color</a:t>
            </a:r>
            <a:br>
              <a:rPr lang="en-US" b="1" i="1" dirty="0"/>
            </a:br>
            <a:endParaRPr lang="en-US" dirty="0"/>
          </a:p>
        </p:txBody>
      </p:sp>
      <p:sp>
        <p:nvSpPr>
          <p:cNvPr id="3" name="Content Placeholder 2"/>
          <p:cNvSpPr>
            <a:spLocks noGrp="1"/>
          </p:cNvSpPr>
          <p:nvPr>
            <p:ph idx="1"/>
          </p:nvPr>
        </p:nvSpPr>
        <p:spPr/>
        <p:txBody>
          <a:bodyPr>
            <a:normAutofit/>
          </a:bodyPr>
          <a:lstStyle/>
          <a:p>
            <a:r>
              <a:rPr lang="en-US" b="1" dirty="0"/>
              <a:t>Eyedropper Tool </a:t>
            </a:r>
            <a:r>
              <a:rPr lang="en-US" dirty="0"/>
              <a:t>- Hit the letter “I” on your keyboard</a:t>
            </a:r>
          </a:p>
          <a:p>
            <a:r>
              <a:rPr lang="en-US" dirty="0"/>
              <a:t> </a:t>
            </a:r>
            <a:r>
              <a:rPr lang="en-US" b="1" dirty="0"/>
              <a:t>Toggle Foreground/Background Color </a:t>
            </a:r>
            <a:r>
              <a:rPr lang="en-US" dirty="0"/>
              <a:t>- Hit the letter “X” key on your keyboard</a:t>
            </a:r>
          </a:p>
          <a:p>
            <a:r>
              <a:rPr lang="en-US" dirty="0"/>
              <a:t> </a:t>
            </a:r>
            <a:r>
              <a:rPr lang="en-US" b="1" dirty="0"/>
              <a:t>Default Colors </a:t>
            </a:r>
            <a:r>
              <a:rPr lang="en-US" dirty="0"/>
              <a:t>- Hit the letter “D” on your keyboard </a:t>
            </a:r>
            <a:br>
              <a:rPr lang="en-US" dirty="0"/>
            </a:br>
            <a:endParaRPr lang="en-US" dirty="0"/>
          </a:p>
        </p:txBody>
      </p:sp>
    </p:spTree>
    <p:extLst>
      <p:ext uri="{BB962C8B-B14F-4D97-AF65-F5344CB8AC3E}">
        <p14:creationId xmlns:p14="http://schemas.microsoft.com/office/powerpoint/2010/main" val="34994300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Photoshop Keyboard Shortcuts: Selection Tools</a:t>
            </a:r>
            <a:br>
              <a:rPr lang="en-US" b="1" i="1" dirty="0"/>
            </a:br>
            <a:endParaRPr lang="en-US" dirty="0"/>
          </a:p>
        </p:txBody>
      </p:sp>
      <p:sp>
        <p:nvSpPr>
          <p:cNvPr id="3" name="Content Placeholder 2"/>
          <p:cNvSpPr>
            <a:spLocks noGrp="1"/>
          </p:cNvSpPr>
          <p:nvPr>
            <p:ph idx="1"/>
          </p:nvPr>
        </p:nvSpPr>
        <p:spPr/>
        <p:txBody>
          <a:bodyPr>
            <a:normAutofit fontScale="70000" lnSpcReduction="20000"/>
          </a:bodyPr>
          <a:lstStyle/>
          <a:p>
            <a:r>
              <a:rPr lang="en-US" b="1" dirty="0"/>
              <a:t>Magic Wand Tool </a:t>
            </a:r>
            <a:r>
              <a:rPr lang="en-US" dirty="0"/>
              <a:t>- Hit the letter “W” on your keyboard</a:t>
            </a:r>
          </a:p>
          <a:p>
            <a:r>
              <a:rPr lang="en-US" b="1" dirty="0"/>
              <a:t>Add to Selection </a:t>
            </a:r>
            <a:r>
              <a:rPr lang="en-US" dirty="0"/>
              <a:t>- Hold Shift key while using a selection tool</a:t>
            </a:r>
          </a:p>
          <a:p>
            <a:r>
              <a:rPr lang="en-US" dirty="0"/>
              <a:t> </a:t>
            </a:r>
            <a:r>
              <a:rPr lang="en-US" b="1" dirty="0"/>
              <a:t>Marquee Selection Tool </a:t>
            </a:r>
            <a:r>
              <a:rPr lang="en-US" dirty="0"/>
              <a:t>- Hit the letter “M” on your keyboard</a:t>
            </a:r>
          </a:p>
          <a:p>
            <a:r>
              <a:rPr lang="en-US" dirty="0"/>
              <a:t> </a:t>
            </a:r>
            <a:r>
              <a:rPr lang="en-US" b="1" dirty="0"/>
              <a:t>Deselect </a:t>
            </a:r>
            <a:r>
              <a:rPr lang="en-US" dirty="0"/>
              <a:t>- Command/Ctrl + D</a:t>
            </a:r>
          </a:p>
          <a:p>
            <a:r>
              <a:rPr lang="en-US" b="1" dirty="0"/>
              <a:t>Lasso Tool </a:t>
            </a:r>
            <a:r>
              <a:rPr lang="en-US" dirty="0"/>
              <a:t>- Hit the letter “L” on your keyboard</a:t>
            </a:r>
          </a:p>
          <a:p>
            <a:r>
              <a:rPr lang="en-US" b="1" dirty="0"/>
              <a:t>Pen Tool </a:t>
            </a:r>
            <a:r>
              <a:rPr lang="en-US" dirty="0"/>
              <a:t>- Hit the letter “P” on your keyboard</a:t>
            </a:r>
          </a:p>
          <a:p>
            <a:r>
              <a:rPr lang="en-US" dirty="0"/>
              <a:t> </a:t>
            </a:r>
            <a:r>
              <a:rPr lang="en-US" b="1" dirty="0"/>
              <a:t>Load Pen Path Selection </a:t>
            </a:r>
            <a:r>
              <a:rPr lang="en-US" dirty="0"/>
              <a:t>- Once you have a closed path, hit Command/Ctrl + Enter to load the selection</a:t>
            </a:r>
          </a:p>
          <a:p>
            <a:r>
              <a:rPr lang="en-US" dirty="0"/>
              <a:t> </a:t>
            </a:r>
            <a:r>
              <a:rPr lang="en-US" b="1" dirty="0"/>
              <a:t>Create Bezier Curve </a:t>
            </a:r>
            <a:r>
              <a:rPr lang="en-US" dirty="0"/>
              <a:t>- With the pen tool selected (letter P) click to add an anchor point, then click and drag to add another </a:t>
            </a:r>
            <a:br>
              <a:rPr lang="en-US" dirty="0"/>
            </a:br>
            <a:endParaRPr lang="en-US" dirty="0"/>
          </a:p>
        </p:txBody>
      </p:sp>
    </p:spTree>
    <p:extLst>
      <p:ext uri="{BB962C8B-B14F-4D97-AF65-F5344CB8AC3E}">
        <p14:creationId xmlns:p14="http://schemas.microsoft.com/office/powerpoint/2010/main" val="7206084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4525963"/>
          </a:xfrm>
        </p:spPr>
        <p:txBody>
          <a:bodyPr>
            <a:normAutofit fontScale="85000" lnSpcReduction="20000"/>
          </a:bodyPr>
          <a:lstStyle/>
          <a:p>
            <a:r>
              <a:rPr lang="en-US" b="1" i="1" dirty="0"/>
              <a:t>Photoshop Keyboard Shortcuts: Retouching Tools</a:t>
            </a:r>
          </a:p>
          <a:p>
            <a:r>
              <a:rPr lang="en-US" b="1" dirty="0"/>
              <a:t>Healing Brush Tool </a:t>
            </a:r>
            <a:r>
              <a:rPr lang="en-US" dirty="0"/>
              <a:t>- Hit the letter “J” on your keyboard</a:t>
            </a:r>
          </a:p>
          <a:p>
            <a:r>
              <a:rPr lang="en-US" dirty="0"/>
              <a:t> </a:t>
            </a:r>
            <a:r>
              <a:rPr lang="en-US" b="1" dirty="0"/>
              <a:t>Toggle between Healing Brush Subsets </a:t>
            </a:r>
            <a:r>
              <a:rPr lang="en-US" dirty="0"/>
              <a:t>- Hold Shift + hit the letter “J” on your keyboard</a:t>
            </a:r>
          </a:p>
          <a:p>
            <a:r>
              <a:rPr lang="en-US" dirty="0"/>
              <a:t> </a:t>
            </a:r>
            <a:r>
              <a:rPr lang="en-US" b="1" dirty="0"/>
              <a:t>Healing Brush sample point </a:t>
            </a:r>
            <a:r>
              <a:rPr lang="en-US" dirty="0"/>
              <a:t>- Hold Option/Alt, then click to choose a sample point</a:t>
            </a:r>
          </a:p>
          <a:p>
            <a:r>
              <a:rPr lang="en-US" dirty="0"/>
              <a:t> </a:t>
            </a:r>
            <a:r>
              <a:rPr lang="en-US" b="1" dirty="0"/>
              <a:t>Clone Stamp Tool </a:t>
            </a:r>
            <a:r>
              <a:rPr lang="en-US" dirty="0"/>
              <a:t>- Hit the letter “S” on your keyboard</a:t>
            </a:r>
          </a:p>
          <a:p>
            <a:r>
              <a:rPr lang="en-US" dirty="0"/>
              <a:t> </a:t>
            </a:r>
            <a:r>
              <a:rPr lang="en-US" b="1" dirty="0"/>
              <a:t>Clone Stamp Tool sample point </a:t>
            </a:r>
            <a:r>
              <a:rPr lang="en-US" dirty="0"/>
              <a:t>- Hold Option/Alt, then click to choose a sample</a:t>
            </a:r>
            <a:br>
              <a:rPr lang="en-US" dirty="0"/>
            </a:br>
            <a:r>
              <a:rPr lang="en-US" dirty="0"/>
              <a:t>point </a:t>
            </a:r>
            <a:br>
              <a:rPr lang="en-US" dirty="0"/>
            </a:br>
            <a:endParaRPr lang="en-US" dirty="0"/>
          </a:p>
        </p:txBody>
      </p:sp>
    </p:spTree>
    <p:extLst>
      <p:ext uri="{BB962C8B-B14F-4D97-AF65-F5344CB8AC3E}">
        <p14:creationId xmlns:p14="http://schemas.microsoft.com/office/powerpoint/2010/main" val="25475830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Digital images key features</a:t>
            </a:r>
            <a:endParaRPr lang="en-US" dirty="0"/>
          </a:p>
        </p:txBody>
      </p:sp>
      <p:sp>
        <p:nvSpPr>
          <p:cNvPr id="3" name="Content Placeholder 2"/>
          <p:cNvSpPr>
            <a:spLocks noGrp="1"/>
          </p:cNvSpPr>
          <p:nvPr>
            <p:ph idx="1"/>
          </p:nvPr>
        </p:nvSpPr>
        <p:spPr/>
        <p:txBody>
          <a:bodyPr>
            <a:normAutofit lnSpcReduction="10000"/>
          </a:bodyPr>
          <a:lstStyle/>
          <a:p>
            <a:pPr marL="514350" indent="-514350">
              <a:buFont typeface="+mj-lt"/>
              <a:buAutoNum type="arabicPeriod"/>
            </a:pPr>
            <a:r>
              <a:rPr lang="en-US" dirty="0"/>
              <a:t>Pixel</a:t>
            </a:r>
          </a:p>
          <a:p>
            <a:pPr marL="514350" indent="-514350">
              <a:buFont typeface="+mj-lt"/>
              <a:buAutoNum type="arabicPeriod"/>
            </a:pPr>
            <a:r>
              <a:rPr lang="en-US" dirty="0"/>
              <a:t> Resolution</a:t>
            </a:r>
          </a:p>
          <a:p>
            <a:pPr marL="514350" indent="-514350">
              <a:buFont typeface="+mj-lt"/>
              <a:buAutoNum type="arabicPeriod"/>
            </a:pPr>
            <a:r>
              <a:rPr lang="en-US" dirty="0"/>
              <a:t> Size</a:t>
            </a:r>
          </a:p>
          <a:p>
            <a:pPr marL="514350" indent="-514350">
              <a:buFont typeface="+mj-lt"/>
              <a:buAutoNum type="arabicPeriod"/>
            </a:pPr>
            <a:r>
              <a:rPr lang="en-US" dirty="0" err="1"/>
              <a:t>Lossy</a:t>
            </a:r>
            <a:r>
              <a:rPr lang="en-US" dirty="0"/>
              <a:t> image file compression</a:t>
            </a:r>
          </a:p>
          <a:p>
            <a:pPr marL="514350" indent="-514350">
              <a:buFont typeface="+mj-lt"/>
              <a:buAutoNum type="arabicPeriod"/>
            </a:pPr>
            <a:r>
              <a:rPr lang="en-US" dirty="0"/>
              <a:t>Lossless image file compression</a:t>
            </a:r>
          </a:p>
          <a:p>
            <a:pPr marL="514350" indent="-514350">
              <a:buFont typeface="+mj-lt"/>
              <a:buAutoNum type="arabicPeriod"/>
            </a:pPr>
            <a:r>
              <a:rPr lang="en-US" dirty="0"/>
              <a:t>Raster graphics</a:t>
            </a:r>
          </a:p>
          <a:p>
            <a:pPr marL="514350" indent="-514350">
              <a:buFont typeface="+mj-lt"/>
              <a:buAutoNum type="arabicPeriod"/>
            </a:pPr>
            <a:r>
              <a:rPr lang="en-US" dirty="0"/>
              <a:t>Vector graphics </a:t>
            </a:r>
            <a:br>
              <a:rPr lang="en-US" dirty="0"/>
            </a:br>
            <a:endParaRPr lang="en-US" dirty="0"/>
          </a:p>
        </p:txBody>
      </p:sp>
    </p:spTree>
    <p:extLst>
      <p:ext uri="{BB962C8B-B14F-4D97-AF65-F5344CB8AC3E}">
        <p14:creationId xmlns:p14="http://schemas.microsoft.com/office/powerpoint/2010/main" val="26539371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  Pixel</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dirty="0"/>
              <a:t>A pixel is the smallest unit of a digital image or graphic that can be displayed and represented on a digital display device. </a:t>
            </a:r>
          </a:p>
          <a:p>
            <a:r>
              <a:rPr lang="en-US" dirty="0"/>
              <a:t>A pixel is represented by a dot or square on a computer monitor display screen.</a:t>
            </a:r>
          </a:p>
          <a:p>
            <a:r>
              <a:rPr lang="en-US" dirty="0"/>
              <a:t>A pixel is the basic logical unit in digital graphics. Pixels are combined to form a complete image, video, text, or any visible thing on a computer display.</a:t>
            </a:r>
          </a:p>
          <a:p>
            <a:endParaRPr lang="en-US"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pPr marL="0" indent="0">
              <a:buNone/>
            </a:pPr>
            <a:endParaRPr lang="en-US" b="1" dirty="0"/>
          </a:p>
          <a:p>
            <a:endParaRPr lang="en-US" b="1" dirty="0"/>
          </a:p>
          <a:p>
            <a:endParaRPr lang="en-US" b="1"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5697" y="5828640"/>
            <a:ext cx="1219201" cy="1029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1800" y="5334000"/>
            <a:ext cx="2041344" cy="1293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73416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2.  Resolution</a:t>
            </a:r>
            <a:endParaRPr lang="en-US" dirty="0"/>
          </a:p>
        </p:txBody>
      </p:sp>
      <p:sp>
        <p:nvSpPr>
          <p:cNvPr id="3" name="Content Placeholder 2"/>
          <p:cNvSpPr>
            <a:spLocks noGrp="1"/>
          </p:cNvSpPr>
          <p:nvPr>
            <p:ph idx="1"/>
          </p:nvPr>
        </p:nvSpPr>
        <p:spPr/>
        <p:txBody>
          <a:bodyPr>
            <a:normAutofit fontScale="77500" lnSpcReduction="20000"/>
          </a:bodyPr>
          <a:lstStyle/>
          <a:p>
            <a:r>
              <a:rPr lang="en-US" dirty="0"/>
              <a:t>Resolution refers to the number of pixels in an image. Resolution is sometimes identified by the width and height of the image as well as the total number of pixels in the image. </a:t>
            </a:r>
          </a:p>
          <a:p>
            <a:r>
              <a:rPr lang="en-US" b="1" dirty="0"/>
              <a:t>For example</a:t>
            </a:r>
            <a:r>
              <a:rPr lang="en-US" dirty="0"/>
              <a:t>, an image that is 2048 pixels wide and 1536 pixels high (2048 x 1536) contains (multiply) 3,145,728 pixels (or 3.1 Megapixels). You could call it </a:t>
            </a:r>
            <a:r>
              <a:rPr lang="en-US" b="1" dirty="0"/>
              <a:t>a 2048 x 1536 or a 3.1 Megapixel image.</a:t>
            </a:r>
          </a:p>
          <a:p>
            <a:r>
              <a:rPr lang="en-US" dirty="0"/>
              <a:t> As the megapixels in the pickup device in your camera increase so does the possible maximum size image you can produce. This means that a 5 megapixel camera is capable of capturing a larger image than a 3 megapixel camera.</a:t>
            </a:r>
            <a:br>
              <a:rPr lang="en-US" dirty="0"/>
            </a:br>
            <a:r>
              <a:rPr lang="en-US" dirty="0"/>
              <a:t> </a:t>
            </a:r>
          </a:p>
        </p:txBody>
      </p:sp>
    </p:spTree>
    <p:extLst>
      <p:ext uri="{BB962C8B-B14F-4D97-AF65-F5344CB8AC3E}">
        <p14:creationId xmlns:p14="http://schemas.microsoft.com/office/powerpoint/2010/main" val="30439777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4525963"/>
          </a:xfrm>
        </p:spPr>
        <p:txBody>
          <a:bodyPr>
            <a:normAutofit fontScale="92500" lnSpcReduction="10000"/>
          </a:bodyPr>
          <a:lstStyle/>
          <a:p>
            <a:r>
              <a:rPr lang="en-US" dirty="0"/>
              <a:t>Image resolution is typically described in </a:t>
            </a:r>
            <a:r>
              <a:rPr lang="en-US" b="1" dirty="0"/>
              <a:t>PPI</a:t>
            </a:r>
            <a:r>
              <a:rPr lang="en-US" dirty="0"/>
              <a:t>, which refers to how many pixels are displayed per inch of an image. </a:t>
            </a:r>
          </a:p>
          <a:p>
            <a:r>
              <a:rPr lang="en-US" dirty="0"/>
              <a:t>Higher resolutions mean that there more </a:t>
            </a:r>
            <a:r>
              <a:rPr lang="en-US" b="1" dirty="0"/>
              <a:t>pixels per inch (PPI)</a:t>
            </a:r>
            <a:r>
              <a:rPr lang="en-US" dirty="0"/>
              <a:t>, resulting in more pixel information and creating a high-quality, crisp image. </a:t>
            </a:r>
          </a:p>
          <a:p>
            <a:r>
              <a:rPr lang="en-US" dirty="0"/>
              <a:t>Images with lower resolutions have fewer pixels, and if those few pixels are too large (usually when an image is stretched), they can become visible like the image below.</a:t>
            </a:r>
          </a:p>
          <a:p>
            <a:endParaRPr lang="en-US" dirty="0"/>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6812039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600" y="685800"/>
            <a:ext cx="8153400" cy="53081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36886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762000"/>
            <a:ext cx="8229600" cy="4525963"/>
          </a:xfrm>
        </p:spPr>
        <p:txBody>
          <a:bodyPr>
            <a:normAutofit fontScale="92500"/>
          </a:bodyPr>
          <a:lstStyle/>
          <a:p>
            <a:r>
              <a:rPr lang="en-US" dirty="0"/>
              <a:t>If you are going to put your image on a webpage or email it to a friend then you will want to first make it a useful size. Not too big, not too small. Maybe 200-300 pixels high would be a nice size. </a:t>
            </a:r>
          </a:p>
          <a:p>
            <a:r>
              <a:rPr lang="en-US" dirty="0"/>
              <a:t>You can also reduce the size of the file (not necessarily the size of the image) so it loads faster. You reduce the file size by </a:t>
            </a:r>
            <a:r>
              <a:rPr lang="en-US" b="1" dirty="0"/>
              <a:t>compressing </a:t>
            </a:r>
            <a:r>
              <a:rPr lang="en-US" dirty="0"/>
              <a:t>the image</a:t>
            </a:r>
            <a:br>
              <a:rPr lang="en-US" dirty="0"/>
            </a:br>
            <a:endParaRPr lang="en-US" dirty="0"/>
          </a:p>
        </p:txBody>
      </p:sp>
    </p:spTree>
    <p:extLst>
      <p:ext uri="{BB962C8B-B14F-4D97-AF65-F5344CB8AC3E}">
        <p14:creationId xmlns:p14="http://schemas.microsoft.com/office/powerpoint/2010/main" val="281859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3. size</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en-US" i="1" dirty="0"/>
              <a:t>Image size</a:t>
            </a:r>
            <a:r>
              <a:rPr lang="en-US" dirty="0"/>
              <a:t> refers to the width and height of an image, in pixels. It also refers to the total number of pixels in the image, but it's really the width and height we need to care about. </a:t>
            </a:r>
          </a:p>
          <a:p>
            <a:r>
              <a:rPr lang="en-US" dirty="0"/>
              <a:t>The picture size is measured in </a:t>
            </a:r>
            <a:r>
              <a:rPr lang="en-US" b="1" dirty="0"/>
              <a:t>pixels</a:t>
            </a:r>
            <a:r>
              <a:rPr lang="en-US" dirty="0"/>
              <a:t>, also can measured in </a:t>
            </a:r>
            <a:r>
              <a:rPr lang="en-US" b="1" dirty="0"/>
              <a:t>byte.</a:t>
            </a:r>
          </a:p>
          <a:p>
            <a:r>
              <a:rPr lang="en-US" i="1" dirty="0"/>
              <a:t>Data </a:t>
            </a:r>
            <a:r>
              <a:rPr lang="en-US" b="1" dirty="0"/>
              <a:t>Compression </a:t>
            </a:r>
            <a:r>
              <a:rPr lang="en-US" dirty="0"/>
              <a:t>is a method of decreasing the size of the data without significant/importance loss of information. </a:t>
            </a:r>
          </a:p>
          <a:p>
            <a:pPr marL="0" indent="0">
              <a:buNone/>
            </a:pPr>
            <a:r>
              <a:rPr lang="en-US" dirty="0"/>
              <a:t> </a:t>
            </a:r>
          </a:p>
          <a:p>
            <a:pPr marL="0" indent="0">
              <a:buNone/>
            </a:pPr>
            <a:endParaRPr lang="en-US" dirty="0"/>
          </a:p>
          <a:p>
            <a:endParaRPr lang="en-US" b="1" dirty="0"/>
          </a:p>
          <a:p>
            <a:endParaRPr lang="en-US" b="1" dirty="0"/>
          </a:p>
        </p:txBody>
      </p:sp>
    </p:spTree>
    <p:extLst>
      <p:ext uri="{BB962C8B-B14F-4D97-AF65-F5344CB8AC3E}">
        <p14:creationId xmlns:p14="http://schemas.microsoft.com/office/powerpoint/2010/main" val="281461450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Physical </a:t>
            </a:r>
            <a:r>
              <a:rPr lang="en-US" b="1" dirty="0" err="1"/>
              <a:t>vs</a:t>
            </a:r>
            <a:r>
              <a:rPr lang="en-US" b="1" dirty="0"/>
              <a:t> Memory Size</a:t>
            </a:r>
            <a:br>
              <a:rPr lang="en-US" b="1" dirty="0"/>
            </a:br>
            <a:endParaRPr lang="en-US" dirty="0"/>
          </a:p>
        </p:txBody>
      </p:sp>
      <p:sp>
        <p:nvSpPr>
          <p:cNvPr id="3" name="Content Placeholder 2"/>
          <p:cNvSpPr>
            <a:spLocks noGrp="1"/>
          </p:cNvSpPr>
          <p:nvPr>
            <p:ph idx="1"/>
          </p:nvPr>
        </p:nvSpPr>
        <p:spPr/>
        <p:txBody>
          <a:bodyPr/>
          <a:lstStyle/>
          <a:p>
            <a:r>
              <a:rPr lang="en-US" b="1" dirty="0"/>
              <a:t>Physical Size: </a:t>
            </a:r>
            <a:r>
              <a:rPr lang="en-US" dirty="0"/>
              <a:t>The physical size of an image refers to the dimensions in which it would print (ex: 8.5" x 11") or the pixels dimensions of an image displayed on the web (ex: 600 pixels x 800 pixels).</a:t>
            </a:r>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108721292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95400" y="1295400"/>
            <a:ext cx="5410200"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4750167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a:t>Memory </a:t>
            </a:r>
            <a:r>
              <a:rPr lang="en-US" b="1" dirty="0" err="1"/>
              <a:t>Size:</a:t>
            </a:r>
            <a:r>
              <a:rPr lang="en-US" dirty="0" err="1"/>
              <a:t>The</a:t>
            </a:r>
            <a:r>
              <a:rPr lang="en-US" dirty="0"/>
              <a:t> memory size is how much memory an image file takes up on a hard drive. For example, a JPG image saved on a computer may be 2 MB (megabytes), meaning that it will require 2MB of space on a drive to store that image. </a:t>
            </a:r>
          </a:p>
          <a:p>
            <a:endParaRPr lang="en-US" dirty="0"/>
          </a:p>
          <a:p>
            <a:pPr marL="0" indent="0">
              <a:buNone/>
            </a:pPr>
            <a:endParaRPr lang="en-US" dirty="0"/>
          </a:p>
        </p:txBody>
      </p:sp>
    </p:spTree>
    <p:extLst>
      <p:ext uri="{BB962C8B-B14F-4D97-AF65-F5344CB8AC3E}">
        <p14:creationId xmlns:p14="http://schemas.microsoft.com/office/powerpoint/2010/main" val="240458491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b="1" dirty="0"/>
              <a:t>8bits</a:t>
            </a:r>
            <a:r>
              <a:rPr lang="en-US" dirty="0"/>
              <a:t>= 1byte</a:t>
            </a:r>
          </a:p>
          <a:p>
            <a:r>
              <a:rPr lang="en-US" b="1" dirty="0"/>
              <a:t>A bit </a:t>
            </a:r>
            <a:r>
              <a:rPr lang="en-US" dirty="0"/>
              <a:t>is 1 unit of memory represented by 1 or 0.</a:t>
            </a:r>
          </a:p>
          <a:p>
            <a:r>
              <a:rPr lang="en-US" b="1" dirty="0"/>
              <a:t>A kilobyte</a:t>
            </a:r>
            <a:r>
              <a:rPr lang="en-US" dirty="0"/>
              <a:t>=1024 bytes and can store about 1000 characters.</a:t>
            </a:r>
          </a:p>
          <a:p>
            <a:r>
              <a:rPr lang="en-US" b="1" dirty="0"/>
              <a:t>A megabyte</a:t>
            </a:r>
            <a:r>
              <a:rPr lang="en-US" dirty="0"/>
              <a:t> is approximately 1000KB (i.e. 1024 KB) and can store about 1 million characters.</a:t>
            </a:r>
          </a:p>
          <a:p>
            <a:r>
              <a:rPr lang="en-US" b="1" dirty="0"/>
              <a:t>A gigabyte</a:t>
            </a:r>
            <a:r>
              <a:rPr lang="en-US" dirty="0"/>
              <a:t> is approximately 1000MB (i.e. 1024 MB) and can store 1 about billion characters.</a:t>
            </a:r>
          </a:p>
          <a:p>
            <a:r>
              <a:rPr lang="en-US" b="1" dirty="0"/>
              <a:t>A terabyte</a:t>
            </a:r>
            <a:r>
              <a:rPr lang="en-US" dirty="0"/>
              <a:t> is approximately 1000GB (i.e. 1024 GB) and can store 1 about trillion characters.</a:t>
            </a:r>
          </a:p>
          <a:p>
            <a:endParaRPr lang="en-US" dirty="0"/>
          </a:p>
          <a:p>
            <a:endParaRPr lang="en-US" dirty="0"/>
          </a:p>
        </p:txBody>
      </p:sp>
    </p:spTree>
    <p:extLst>
      <p:ext uri="{BB962C8B-B14F-4D97-AF65-F5344CB8AC3E}">
        <p14:creationId xmlns:p14="http://schemas.microsoft.com/office/powerpoint/2010/main" val="36915809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135563"/>
          </a:xfrm>
        </p:spPr>
        <p:txBody>
          <a:bodyPr>
            <a:normAutofit fontScale="70000" lnSpcReduction="20000"/>
          </a:bodyPr>
          <a:lstStyle/>
          <a:p>
            <a:pPr lvl="0"/>
            <a:r>
              <a:rPr lang="en-US" b="1" dirty="0"/>
              <a:t>Bit: </a:t>
            </a:r>
            <a:r>
              <a:rPr lang="en-US" dirty="0"/>
              <a:t>A bit is the smallest unit of information that can be represented in a computer. Bit stands for binary digit. It takes the value </a:t>
            </a:r>
            <a:r>
              <a:rPr lang="en-US" b="1" dirty="0"/>
              <a:t>1</a:t>
            </a:r>
            <a:r>
              <a:rPr lang="en-US" dirty="0"/>
              <a:t> or </a:t>
            </a:r>
            <a:r>
              <a:rPr lang="en-US" b="1" dirty="0"/>
              <a:t>0</a:t>
            </a:r>
            <a:r>
              <a:rPr lang="en-US" dirty="0"/>
              <a:t>. </a:t>
            </a:r>
          </a:p>
          <a:p>
            <a:pPr lvl="0"/>
            <a:r>
              <a:rPr lang="en-US" b="1" dirty="0"/>
              <a:t>Byte:</a:t>
            </a:r>
            <a:r>
              <a:rPr lang="en-US" dirty="0"/>
              <a:t> Is a unit of information made up of 8 bits. It is the standard basic unit for measuring memory size in digital devices. It makes it possible for example to store a character such as a letter or a figure. A unit of information made up of 16bits is generally called </a:t>
            </a:r>
            <a:r>
              <a:rPr lang="en-US" b="1" dirty="0"/>
              <a:t>word</a:t>
            </a:r>
            <a:r>
              <a:rPr lang="en-US" dirty="0"/>
              <a:t>.</a:t>
            </a:r>
          </a:p>
          <a:p>
            <a:pPr lvl="0"/>
            <a:r>
              <a:rPr lang="en-US" dirty="0"/>
              <a:t> A unit of information of 32bits length is called </a:t>
            </a:r>
            <a:r>
              <a:rPr lang="en-US" b="1" dirty="0"/>
              <a:t>double word</a:t>
            </a:r>
            <a:r>
              <a:rPr lang="en-US" dirty="0"/>
              <a:t>. For a byte, the smallest number is </a:t>
            </a:r>
            <a:r>
              <a:rPr lang="en-US" b="1" dirty="0"/>
              <a:t>0</a:t>
            </a:r>
            <a:r>
              <a:rPr lang="en-US" dirty="0"/>
              <a:t> (represented by 8zeros 00000000) and greatest is 255 (represented by 8 digits”one”11111111).</a:t>
            </a:r>
          </a:p>
          <a:p>
            <a:pPr lvl="0"/>
            <a:r>
              <a:rPr lang="en-US" b="1" dirty="0"/>
              <a:t>Nibble: </a:t>
            </a:r>
            <a:r>
              <a:rPr lang="en-US" dirty="0"/>
              <a:t>This is half a byte </a:t>
            </a:r>
            <a:r>
              <a:rPr lang="en-US" dirty="0" err="1"/>
              <a:t>i.e</a:t>
            </a:r>
            <a:r>
              <a:rPr lang="en-US" dirty="0"/>
              <a:t> a group of 4 bits.</a:t>
            </a:r>
          </a:p>
          <a:p>
            <a:pPr lvl="0"/>
            <a:r>
              <a:rPr lang="en-US" b="1" dirty="0"/>
              <a:t>Word: </a:t>
            </a:r>
            <a:r>
              <a:rPr lang="en-US" dirty="0"/>
              <a:t>two or more bytes make a word. Word length is a term used to refer to the measure of number of bits in a word. A word can have a length of 16bits, 32bits, 64bits etc.</a:t>
            </a:r>
          </a:p>
        </p:txBody>
      </p:sp>
    </p:spTree>
    <p:extLst>
      <p:ext uri="{BB962C8B-B14F-4D97-AF65-F5344CB8AC3E}">
        <p14:creationId xmlns:p14="http://schemas.microsoft.com/office/powerpoint/2010/main" val="170332282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7179" y="2139352"/>
            <a:ext cx="4458421" cy="2966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3710651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4. </a:t>
            </a:r>
            <a:r>
              <a:rPr lang="en-US" b="1" dirty="0" err="1"/>
              <a:t>Lossy</a:t>
            </a:r>
            <a:r>
              <a:rPr lang="en-US" b="1" dirty="0"/>
              <a:t> image file compression</a:t>
            </a:r>
            <a:endParaRPr lang="en-US" dirty="0"/>
          </a:p>
        </p:txBody>
      </p:sp>
      <p:sp>
        <p:nvSpPr>
          <p:cNvPr id="3" name="Content Placeholder 2"/>
          <p:cNvSpPr>
            <a:spLocks noGrp="1"/>
          </p:cNvSpPr>
          <p:nvPr>
            <p:ph idx="1"/>
          </p:nvPr>
        </p:nvSpPr>
        <p:spPr/>
        <p:txBody>
          <a:bodyPr>
            <a:normAutofit fontScale="85000" lnSpcReduction="20000"/>
          </a:bodyPr>
          <a:lstStyle/>
          <a:p>
            <a:r>
              <a:rPr lang="en-US" b="1" dirty="0" err="1"/>
              <a:t>Lossy</a:t>
            </a:r>
            <a:r>
              <a:rPr lang="en-US" b="1" dirty="0"/>
              <a:t> image compression </a:t>
            </a:r>
            <a:r>
              <a:rPr lang="en-US" dirty="0"/>
              <a:t>is a process that removes some of the data from your image file, reducing the overall file size. The </a:t>
            </a:r>
            <a:r>
              <a:rPr lang="en-US" b="1" dirty="0"/>
              <a:t>.JPEG</a:t>
            </a:r>
            <a:r>
              <a:rPr lang="en-US" dirty="0"/>
              <a:t> format is an excellent example of </a:t>
            </a:r>
            <a:r>
              <a:rPr lang="en-US" dirty="0" err="1"/>
              <a:t>lossy</a:t>
            </a:r>
            <a:r>
              <a:rPr lang="en-US" dirty="0"/>
              <a:t> compression.</a:t>
            </a:r>
          </a:p>
          <a:p>
            <a:r>
              <a:rPr lang="en-US" b="1" dirty="0"/>
              <a:t>Common </a:t>
            </a:r>
            <a:r>
              <a:rPr lang="en-US" b="1" dirty="0" err="1"/>
              <a:t>lossy</a:t>
            </a:r>
            <a:r>
              <a:rPr lang="en-US" b="1" dirty="0"/>
              <a:t> compression-based image formats </a:t>
            </a:r>
            <a:r>
              <a:rPr lang="en-US" dirty="0"/>
              <a:t>are </a:t>
            </a:r>
            <a:r>
              <a:rPr lang="en-US" b="1" dirty="0"/>
              <a:t>JPEG and MPEG</a:t>
            </a:r>
            <a:r>
              <a:rPr lang="en-US" dirty="0"/>
              <a:t>.</a:t>
            </a:r>
          </a:p>
          <a:p>
            <a:r>
              <a:rPr lang="en-US" b="1" dirty="0"/>
              <a:t>PNG: </a:t>
            </a:r>
            <a:r>
              <a:rPr lang="en-US" dirty="0"/>
              <a:t>Portable Network Graphics format. </a:t>
            </a:r>
          </a:p>
          <a:p>
            <a:r>
              <a:rPr lang="en-US" b="1" dirty="0"/>
              <a:t>TIFF: </a:t>
            </a:r>
            <a:r>
              <a:rPr lang="en-US" dirty="0"/>
              <a:t>Tagged Image File Format. </a:t>
            </a:r>
          </a:p>
          <a:p>
            <a:r>
              <a:rPr lang="en-US" b="1" dirty="0"/>
              <a:t>JPEG: </a:t>
            </a:r>
            <a:r>
              <a:rPr lang="en-US" dirty="0"/>
              <a:t>Joint Photographic Experts Group </a:t>
            </a:r>
            <a:r>
              <a:rPr lang="en-US"/>
              <a:t>format.</a:t>
            </a:r>
          </a:p>
          <a:p>
            <a:r>
              <a:rPr lang="en-US"/>
              <a:t> </a:t>
            </a:r>
            <a:r>
              <a:rPr lang="en-US" b="1" dirty="0"/>
              <a:t>GIF: </a:t>
            </a:r>
            <a:r>
              <a:rPr lang="en-US" dirty="0"/>
              <a:t>Graphics Interchange Format. </a:t>
            </a:r>
            <a:br>
              <a:rPr lang="en-US" b="1" dirty="0"/>
            </a:br>
            <a:endParaRPr lang="en-US" b="1" dirty="0"/>
          </a:p>
        </p:txBody>
      </p:sp>
    </p:spTree>
    <p:extLst>
      <p:ext uri="{BB962C8B-B14F-4D97-AF65-F5344CB8AC3E}">
        <p14:creationId xmlns:p14="http://schemas.microsoft.com/office/powerpoint/2010/main" val="299068998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5. Lossless compression</a:t>
            </a:r>
            <a:endParaRPr lang="en-US" dirty="0"/>
          </a:p>
        </p:txBody>
      </p:sp>
      <p:sp>
        <p:nvSpPr>
          <p:cNvPr id="3" name="Content Placeholder 2"/>
          <p:cNvSpPr>
            <a:spLocks noGrp="1"/>
          </p:cNvSpPr>
          <p:nvPr>
            <p:ph idx="1"/>
          </p:nvPr>
        </p:nvSpPr>
        <p:spPr/>
        <p:txBody>
          <a:bodyPr>
            <a:normAutofit fontScale="92500" lnSpcReduction="10000"/>
          </a:bodyPr>
          <a:lstStyle/>
          <a:p>
            <a:r>
              <a:rPr lang="en-US" b="1" dirty="0"/>
              <a:t>Lossless compression: </a:t>
            </a:r>
            <a:r>
              <a:rPr lang="en-US" dirty="0"/>
              <a:t>means that as the </a:t>
            </a:r>
            <a:r>
              <a:rPr lang="en-US" b="1" dirty="0"/>
              <a:t>file </a:t>
            </a:r>
            <a:r>
              <a:rPr lang="en-US" dirty="0"/>
              <a:t>size is compressed, the </a:t>
            </a:r>
            <a:r>
              <a:rPr lang="en-US" b="1" dirty="0"/>
              <a:t>picture </a:t>
            </a:r>
            <a:r>
              <a:rPr lang="en-US" dirty="0"/>
              <a:t>quality remains the same. The types of format that can benefit from lossless image compression are </a:t>
            </a:r>
            <a:r>
              <a:rPr lang="en-US" b="1" dirty="0"/>
              <a:t>.RAW</a:t>
            </a:r>
            <a:r>
              <a:rPr lang="en-US" dirty="0"/>
              <a:t>, </a:t>
            </a:r>
            <a:r>
              <a:rPr lang="en-US" b="1" dirty="0"/>
              <a:t>.BMP</a:t>
            </a:r>
            <a:r>
              <a:rPr lang="en-US" dirty="0"/>
              <a:t>, </a:t>
            </a:r>
            <a:r>
              <a:rPr lang="en-US" b="1" dirty="0"/>
              <a:t>.GIF</a:t>
            </a:r>
            <a:r>
              <a:rPr lang="en-US" dirty="0"/>
              <a:t>, and </a:t>
            </a:r>
            <a:r>
              <a:rPr lang="en-US" b="1" dirty="0"/>
              <a:t>.PNG</a:t>
            </a:r>
            <a:r>
              <a:rPr lang="en-US" dirty="0"/>
              <a:t>.</a:t>
            </a:r>
            <a:br>
              <a:rPr lang="en-US" dirty="0"/>
            </a:br>
            <a:r>
              <a:rPr lang="en-US" b="1" dirty="0"/>
              <a:t>Lossless image file compression: </a:t>
            </a:r>
            <a:r>
              <a:rPr lang="en-US" dirty="0"/>
              <a:t>Permanently removes data.</a:t>
            </a:r>
            <a:br>
              <a:rPr lang="en-US" dirty="0"/>
            </a:br>
            <a:endParaRPr lang="en-US" dirty="0"/>
          </a:p>
          <a:p>
            <a:pPr marL="0" indent="0">
              <a:buNone/>
            </a:pPr>
            <a:br>
              <a:rPr lang="en-US" dirty="0"/>
            </a:br>
            <a:endParaRPr lang="en-US" dirty="0"/>
          </a:p>
          <a:p>
            <a:endParaRPr lang="en-US" dirty="0"/>
          </a:p>
        </p:txBody>
      </p:sp>
    </p:spTree>
    <p:extLst>
      <p:ext uri="{BB962C8B-B14F-4D97-AF65-F5344CB8AC3E}">
        <p14:creationId xmlns:p14="http://schemas.microsoft.com/office/powerpoint/2010/main" val="88700236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6. Raster graphics</a:t>
            </a:r>
            <a:endParaRPr lang="en-US" dirty="0"/>
          </a:p>
        </p:txBody>
      </p:sp>
      <p:sp>
        <p:nvSpPr>
          <p:cNvPr id="3" name="Content Placeholder 2"/>
          <p:cNvSpPr>
            <a:spLocks noGrp="1"/>
          </p:cNvSpPr>
          <p:nvPr>
            <p:ph idx="1"/>
          </p:nvPr>
        </p:nvSpPr>
        <p:spPr/>
        <p:txBody>
          <a:bodyPr>
            <a:normAutofit lnSpcReduction="10000"/>
          </a:bodyPr>
          <a:lstStyle/>
          <a:p>
            <a:r>
              <a:rPr lang="en-US" b="1" dirty="0"/>
              <a:t> Raster graphics </a:t>
            </a:r>
            <a:r>
              <a:rPr lang="en-US" dirty="0"/>
              <a:t>is that </a:t>
            </a:r>
            <a:r>
              <a:rPr lang="en-US" b="1" dirty="0"/>
              <a:t>raster graphics </a:t>
            </a:r>
            <a:r>
              <a:rPr lang="en-US" dirty="0"/>
              <a:t>are composed/made up of pixels, which are small squares of color. </a:t>
            </a:r>
          </a:p>
          <a:p>
            <a:r>
              <a:rPr lang="en-US" dirty="0"/>
              <a:t>Raster images can't be scaled up without losing quality, but they can be scaled down without any problems. They are often used for photos and other complex images.</a:t>
            </a:r>
          </a:p>
          <a:p>
            <a:r>
              <a:rPr lang="en-US" dirty="0"/>
              <a:t>The most common raster file formats are </a:t>
            </a:r>
            <a:r>
              <a:rPr lang="en-US" u="sng" dirty="0">
                <a:hlinkClick r:id="rId2"/>
              </a:rPr>
              <a:t>JPEG</a:t>
            </a:r>
            <a:r>
              <a:rPr lang="en-US" dirty="0"/>
              <a:t>, </a:t>
            </a:r>
            <a:r>
              <a:rPr lang="en-US" u="sng" dirty="0">
                <a:hlinkClick r:id="rId3"/>
              </a:rPr>
              <a:t>PNG</a:t>
            </a:r>
            <a:r>
              <a:rPr lang="en-US" dirty="0"/>
              <a:t>, </a:t>
            </a:r>
            <a:r>
              <a:rPr lang="en-US" u="sng" dirty="0">
                <a:hlinkClick r:id="rId4"/>
              </a:rPr>
              <a:t>GIF</a:t>
            </a:r>
            <a:r>
              <a:rPr lang="en-US" dirty="0"/>
              <a:t>, BMP.</a:t>
            </a:r>
          </a:p>
          <a:p>
            <a:endParaRPr lang="en-US" dirty="0"/>
          </a:p>
        </p:txBody>
      </p:sp>
      <p:sp>
        <p:nvSpPr>
          <p:cNvPr id="4" name="Rectangle 1"/>
          <p:cNvSpPr>
            <a:spLocks noChangeArrowheads="1"/>
          </p:cNvSpPr>
          <p:nvPr/>
        </p:nvSpPr>
        <p:spPr bwMode="auto">
          <a:xfrm>
            <a:off x="0" y="0"/>
            <a:ext cx="9144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572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1A1A1A"/>
                </a:solidFill>
                <a:effectLst/>
                <a:latin typeface="-apple-system"/>
              </a:rPr>
              <a:t>Also called:</a:t>
            </a:r>
          </a:p>
          <a:p>
            <a:pPr marL="457200" marR="0" lvl="1" indent="-45720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1A1A1A"/>
                </a:solidFill>
                <a:effectLst/>
                <a:latin typeface="-apple-system"/>
              </a:rPr>
              <a:t> bitmap graphics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3987384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7. Vector image</a:t>
            </a:r>
          </a:p>
        </p:txBody>
      </p:sp>
      <p:sp>
        <p:nvSpPr>
          <p:cNvPr id="3" name="Content Placeholder 2"/>
          <p:cNvSpPr>
            <a:spLocks noGrp="1"/>
          </p:cNvSpPr>
          <p:nvPr>
            <p:ph idx="1"/>
          </p:nvPr>
        </p:nvSpPr>
        <p:spPr/>
        <p:txBody>
          <a:bodyPr/>
          <a:lstStyle/>
          <a:p>
            <a:r>
              <a:rPr lang="en-US" b="1" dirty="0"/>
              <a:t>Vector images </a:t>
            </a:r>
            <a:r>
              <a:rPr lang="en-US" dirty="0"/>
              <a:t>are made up of lines and shapes that are mathematically defined. This means that they can be scaled up or down without losing any quality. They are often used for logos and illustrations.</a:t>
            </a:r>
          </a:p>
          <a:p>
            <a:r>
              <a:rPr lang="en-US" dirty="0"/>
              <a:t>The most common vector file types are </a:t>
            </a:r>
            <a:r>
              <a:rPr lang="en-US" i="1" dirty="0"/>
              <a:t>SVG (</a:t>
            </a:r>
            <a:r>
              <a:rPr lang="en-US" b="1" i="1" dirty="0"/>
              <a:t>Scalable Vector Graphics</a:t>
            </a:r>
            <a:r>
              <a:rPr lang="en-US" i="1" dirty="0"/>
              <a:t>). PDF, .AI (adobe illustrator),</a:t>
            </a:r>
            <a:endParaRPr lang="en-US" dirty="0"/>
          </a:p>
        </p:txBody>
      </p:sp>
    </p:spTree>
    <p:extLst>
      <p:ext uri="{BB962C8B-B14F-4D97-AF65-F5344CB8AC3E}">
        <p14:creationId xmlns:p14="http://schemas.microsoft.com/office/powerpoint/2010/main" val="317081719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Describing common raster formats</a:t>
            </a:r>
            <a:r>
              <a:rPr lang="en-US" dirty="0"/>
              <a:t> </a:t>
            </a:r>
            <a:br>
              <a:rPr lang="en-US" dirty="0"/>
            </a:b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244805211"/>
              </p:ext>
            </p:extLst>
          </p:nvPr>
        </p:nvGraphicFramePr>
        <p:xfrm>
          <a:off x="193431" y="846138"/>
          <a:ext cx="8458200" cy="5731811"/>
        </p:xfrm>
        <a:graphic>
          <a:graphicData uri="http://schemas.openxmlformats.org/drawingml/2006/table">
            <a:tbl>
              <a:tblPr/>
              <a:tblGrid>
                <a:gridCol w="1463919">
                  <a:extLst>
                    <a:ext uri="{9D8B030D-6E8A-4147-A177-3AD203B41FA5}">
                      <a16:colId xmlns:a16="http://schemas.microsoft.com/office/drawing/2014/main" val="20000"/>
                    </a:ext>
                  </a:extLst>
                </a:gridCol>
                <a:gridCol w="6994281">
                  <a:extLst>
                    <a:ext uri="{9D8B030D-6E8A-4147-A177-3AD203B41FA5}">
                      <a16:colId xmlns:a16="http://schemas.microsoft.com/office/drawing/2014/main" val="20001"/>
                    </a:ext>
                  </a:extLst>
                </a:gridCol>
              </a:tblGrid>
              <a:tr h="622169">
                <a:tc>
                  <a:txBody>
                    <a:bodyPr/>
                    <a:lstStyle/>
                    <a:p>
                      <a:r>
                        <a:rPr lang="en-US" sz="2800" b="1" i="0" dirty="0">
                          <a:solidFill>
                            <a:srgbClr val="000000"/>
                          </a:solidFill>
                          <a:effectLst/>
                          <a:latin typeface="Times New Roman"/>
                        </a:rPr>
                        <a:t>Format </a:t>
                      </a:r>
                      <a:endParaRPr lang="en-US" sz="2800" dirty="0">
                        <a:effectLst/>
                      </a:endParaRPr>
                    </a:p>
                  </a:txBody>
                  <a:tcPr anchor="ctr">
                    <a:lnL>
                      <a:noFill/>
                    </a:lnL>
                    <a:lnR>
                      <a:noFill/>
                    </a:lnR>
                    <a:lnT>
                      <a:noFill/>
                    </a:lnT>
                    <a:lnB>
                      <a:noFill/>
                    </a:lnB>
                  </a:tcPr>
                </a:tc>
                <a:tc>
                  <a:txBody>
                    <a:bodyPr/>
                    <a:lstStyle/>
                    <a:p>
                      <a:r>
                        <a:rPr lang="en-US" sz="2800" b="1" i="0">
                          <a:solidFill>
                            <a:srgbClr val="000000"/>
                          </a:solidFill>
                          <a:effectLst/>
                          <a:latin typeface="Times New Roman"/>
                        </a:rPr>
                        <a:t>Description</a:t>
                      </a:r>
                      <a:endParaRPr lang="en-US" sz="2800">
                        <a:effectLst/>
                      </a:endParaRPr>
                    </a:p>
                  </a:txBody>
                  <a:tcPr anchor="ctr">
                    <a:lnL>
                      <a:noFill/>
                    </a:lnL>
                    <a:lnR>
                      <a:noFill/>
                    </a:lnR>
                    <a:lnT>
                      <a:noFill/>
                    </a:lnT>
                    <a:lnB>
                      <a:noFill/>
                    </a:lnB>
                  </a:tcPr>
                </a:tc>
                <a:extLst>
                  <a:ext uri="{0D108BD9-81ED-4DB2-BD59-A6C34878D82A}">
                    <a16:rowId xmlns:a16="http://schemas.microsoft.com/office/drawing/2014/main" val="10000"/>
                  </a:ext>
                </a:extLst>
              </a:tr>
              <a:tr h="1979629">
                <a:tc>
                  <a:txBody>
                    <a:bodyPr/>
                    <a:lstStyle/>
                    <a:p>
                      <a:r>
                        <a:rPr lang="en-US" sz="2800" b="1" i="0" dirty="0">
                          <a:solidFill>
                            <a:srgbClr val="000000"/>
                          </a:solidFill>
                          <a:effectLst/>
                          <a:latin typeface="Times New Roman"/>
                        </a:rPr>
                        <a:t>.JPEG </a:t>
                      </a:r>
                      <a:endParaRPr lang="en-US" sz="2800" dirty="0">
                        <a:effectLst/>
                      </a:endParaRPr>
                    </a:p>
                  </a:txBody>
                  <a:tcPr anchor="ctr">
                    <a:lnL>
                      <a:noFill/>
                    </a:lnL>
                    <a:lnR>
                      <a:noFill/>
                    </a:lnR>
                    <a:lnT>
                      <a:noFill/>
                    </a:lnT>
                    <a:lnB>
                      <a:noFill/>
                    </a:lnB>
                  </a:tcPr>
                </a:tc>
                <a:tc>
                  <a:txBody>
                    <a:bodyPr/>
                    <a:lstStyle/>
                    <a:p>
                      <a:pPr marL="457200" indent="-457200">
                        <a:buFont typeface="Arial" panose="020B0604020202020204" pitchFamily="34" charset="0"/>
                        <a:buChar char="•"/>
                      </a:pPr>
                      <a:r>
                        <a:rPr lang="en-US" sz="2000" b="1" i="0" dirty="0">
                          <a:solidFill>
                            <a:srgbClr val="000000"/>
                          </a:solidFill>
                          <a:effectLst/>
                          <a:latin typeface="Times New Roman"/>
                        </a:rPr>
                        <a:t>JPEG</a:t>
                      </a:r>
                      <a:r>
                        <a:rPr lang="en-US" sz="2000" b="0" i="0" dirty="0">
                          <a:solidFill>
                            <a:srgbClr val="000000"/>
                          </a:solidFill>
                          <a:effectLst/>
                          <a:latin typeface="Times New Roman"/>
                        </a:rPr>
                        <a:t>. Stands for "Joint Photographic Experts</a:t>
                      </a:r>
                      <a:br>
                        <a:rPr lang="en-US" sz="2000" b="0" i="0" dirty="0">
                          <a:solidFill>
                            <a:srgbClr val="000000"/>
                          </a:solidFill>
                          <a:effectLst/>
                          <a:latin typeface="Times New Roman"/>
                        </a:rPr>
                      </a:br>
                      <a:r>
                        <a:rPr lang="en-US" sz="2000" b="0" i="0" dirty="0">
                          <a:solidFill>
                            <a:srgbClr val="000000"/>
                          </a:solidFill>
                          <a:effectLst/>
                          <a:latin typeface="Times New Roman"/>
                        </a:rPr>
                        <a:t>Group." </a:t>
                      </a:r>
                      <a:r>
                        <a:rPr lang="en-US" sz="2000" b="1" i="0" dirty="0">
                          <a:solidFill>
                            <a:srgbClr val="000000"/>
                          </a:solidFill>
                          <a:effectLst/>
                          <a:latin typeface="Times New Roman"/>
                        </a:rPr>
                        <a:t>JPEG </a:t>
                      </a:r>
                      <a:r>
                        <a:rPr lang="en-US" sz="2000" b="0" i="0" dirty="0">
                          <a:solidFill>
                            <a:srgbClr val="000000"/>
                          </a:solidFill>
                          <a:effectLst/>
                          <a:latin typeface="Times New Roman"/>
                        </a:rPr>
                        <a:t>is a popular </a:t>
                      </a:r>
                      <a:r>
                        <a:rPr lang="en-US" sz="2000" b="1" i="0" dirty="0">
                          <a:solidFill>
                            <a:srgbClr val="000000"/>
                          </a:solidFill>
                          <a:effectLst/>
                          <a:latin typeface="Times New Roman"/>
                        </a:rPr>
                        <a:t>image file format</a:t>
                      </a:r>
                      <a:r>
                        <a:rPr lang="en-US" sz="2000" b="0" i="0" dirty="0">
                          <a:solidFill>
                            <a:srgbClr val="000000"/>
                          </a:solidFill>
                          <a:effectLst/>
                          <a:latin typeface="Times New Roman"/>
                        </a:rPr>
                        <a:t>.</a:t>
                      </a:r>
                    </a:p>
                    <a:p>
                      <a:pPr marL="285750" indent="-285750">
                        <a:buFont typeface="Arial" panose="020B0604020202020204" pitchFamily="34" charset="0"/>
                        <a:buChar char="•"/>
                      </a:pPr>
                      <a:r>
                        <a:rPr lang="en-US" sz="2000" b="0" i="0" kern="1200" dirty="0">
                          <a:solidFill>
                            <a:schemeClr val="tx1"/>
                          </a:solidFill>
                          <a:effectLst/>
                          <a:latin typeface="+mn-lt"/>
                          <a:ea typeface="+mn-ea"/>
                          <a:cs typeface="+mn-cs"/>
                        </a:rPr>
                        <a:t>use this file when sending images for your company's website or social media page.</a:t>
                      </a:r>
                    </a:p>
                    <a:p>
                      <a:pPr marL="285750" indent="-285750">
                        <a:buFont typeface="Arial" panose="020B0604020202020204" pitchFamily="34" charset="0"/>
                        <a:buChar char="•"/>
                      </a:pPr>
                      <a:r>
                        <a:rPr lang="en-US" sz="2000" b="0" i="0" kern="1200" dirty="0">
                          <a:solidFill>
                            <a:schemeClr val="tx1"/>
                          </a:solidFill>
                          <a:effectLst/>
                          <a:latin typeface="+mn-lt"/>
                          <a:ea typeface="+mn-ea"/>
                          <a:cs typeface="+mn-cs"/>
                        </a:rPr>
                        <a:t>If you save this file multiple times, it will continue to compress, which means it will lose quality, so consider using this file when you plan to use it immediately.</a:t>
                      </a:r>
                      <a:endParaRPr lang="en-US" sz="2000" dirty="0">
                        <a:effectLst/>
                      </a:endParaRPr>
                    </a:p>
                  </a:txBody>
                  <a:tcPr anchor="ctr">
                    <a:lnL>
                      <a:noFill/>
                    </a:lnL>
                    <a:lnR>
                      <a:noFill/>
                    </a:lnR>
                    <a:lnT>
                      <a:noFill/>
                    </a:lnT>
                    <a:lnB>
                      <a:noFill/>
                    </a:lnB>
                  </a:tcPr>
                </a:tc>
                <a:extLst>
                  <a:ext uri="{0D108BD9-81ED-4DB2-BD59-A6C34878D82A}">
                    <a16:rowId xmlns:a16="http://schemas.microsoft.com/office/drawing/2014/main" val="10001"/>
                  </a:ext>
                </a:extLst>
              </a:tr>
              <a:tr h="2884602">
                <a:tc>
                  <a:txBody>
                    <a:bodyPr/>
                    <a:lstStyle/>
                    <a:p>
                      <a:r>
                        <a:rPr lang="en-US" sz="2800" b="1" i="0" dirty="0">
                          <a:solidFill>
                            <a:srgbClr val="000000"/>
                          </a:solidFill>
                          <a:effectLst/>
                          <a:latin typeface="Times New Roman"/>
                        </a:rPr>
                        <a:t>.PNG </a:t>
                      </a:r>
                      <a:endParaRPr lang="en-US" sz="2800" dirty="0">
                        <a:effectLst/>
                      </a:endParaRPr>
                    </a:p>
                  </a:txBody>
                  <a:tcPr anchor="ctr">
                    <a:lnL>
                      <a:noFill/>
                    </a:lnL>
                    <a:lnR>
                      <a:noFill/>
                    </a:lnR>
                    <a:lnT>
                      <a:noFill/>
                    </a:lnT>
                    <a:lnB>
                      <a:noFill/>
                    </a:lnB>
                  </a:tcPr>
                </a:tc>
                <a:tc>
                  <a:txBody>
                    <a:bodyPr/>
                    <a:lstStyle/>
                    <a:p>
                      <a:r>
                        <a:rPr lang="en-US" sz="2000" b="0" i="0" dirty="0">
                          <a:solidFill>
                            <a:srgbClr val="000000"/>
                          </a:solidFill>
                          <a:effectLst/>
                          <a:latin typeface="Symbol"/>
                        </a:rPr>
                        <a:t> </a:t>
                      </a:r>
                      <a:r>
                        <a:rPr lang="en-US" sz="2000" b="1" i="0" dirty="0">
                          <a:solidFill>
                            <a:srgbClr val="000000"/>
                          </a:solidFill>
                          <a:effectLst/>
                          <a:latin typeface="Times New Roman"/>
                        </a:rPr>
                        <a:t>PNG </a:t>
                      </a:r>
                      <a:r>
                        <a:rPr lang="en-US" sz="2000" b="0" i="0" dirty="0">
                          <a:solidFill>
                            <a:srgbClr val="000000"/>
                          </a:solidFill>
                          <a:effectLst/>
                          <a:latin typeface="Times New Roman"/>
                        </a:rPr>
                        <a:t>stands for Portable Network Graphic</a:t>
                      </a:r>
                      <a:br>
                        <a:rPr lang="en-US" sz="2000" b="0" i="0" dirty="0">
                          <a:solidFill>
                            <a:srgbClr val="000000"/>
                          </a:solidFill>
                          <a:effectLst/>
                          <a:latin typeface="Times New Roman"/>
                        </a:rPr>
                      </a:br>
                      <a:r>
                        <a:rPr lang="en-US" sz="2000" b="0" i="0" dirty="0">
                          <a:solidFill>
                            <a:srgbClr val="000000"/>
                          </a:solidFill>
                          <a:effectLst/>
                          <a:latin typeface="Symbol"/>
                        </a:rPr>
                        <a:t> </a:t>
                      </a:r>
                      <a:r>
                        <a:rPr lang="en-US" sz="2000" b="0" i="0" dirty="0">
                          <a:solidFill>
                            <a:srgbClr val="000000"/>
                          </a:solidFill>
                          <a:effectLst/>
                          <a:latin typeface="Times New Roman"/>
                        </a:rPr>
                        <a:t>y</a:t>
                      </a:r>
                      <a:r>
                        <a:rPr lang="en-US" sz="2000" b="0" i="0" kern="1200" dirty="0">
                          <a:solidFill>
                            <a:schemeClr val="tx1"/>
                          </a:solidFill>
                          <a:effectLst/>
                          <a:latin typeface="+mn-lt"/>
                          <a:ea typeface="+mn-ea"/>
                          <a:cs typeface="+mn-cs"/>
                        </a:rPr>
                        <a:t>ou can use a PNG format for sending images for web pages, such as logos or photographs. This format maintains its size and quality throughout multiple saves and changes. It's lower resolution than other file types, so it's best for websites rather than printed images.</a:t>
                      </a:r>
                      <a:endParaRPr lang="en-US" sz="2000" dirty="0">
                        <a:effectLst/>
                      </a:endParaRPr>
                    </a:p>
                  </a:txBody>
                  <a:tcPr anchor="ctr">
                    <a:lnL>
                      <a:noFill/>
                    </a:lnL>
                    <a:lnR>
                      <a:noFill/>
                    </a:lnR>
                    <a:lnT>
                      <a:noFill/>
                    </a:lnT>
                    <a:lnB>
                      <a:noFill/>
                    </a:lnB>
                  </a:tcPr>
                </a:tc>
                <a:extLst>
                  <a:ext uri="{0D108BD9-81ED-4DB2-BD59-A6C34878D82A}">
                    <a16:rowId xmlns:a16="http://schemas.microsoft.com/office/drawing/2014/main" val="10002"/>
                  </a:ext>
                </a:extLst>
              </a:tr>
            </a:tbl>
          </a:graphicData>
        </a:graphic>
      </p:graphicFrame>
      <p:sp>
        <p:nvSpPr>
          <p:cNvPr id="5" name="Rectangle 1"/>
          <p:cNvSpPr>
            <a:spLocks noChangeArrowheads="1"/>
          </p:cNvSpPr>
          <p:nvPr/>
        </p:nvSpPr>
        <p:spPr bwMode="auto">
          <a:xfrm>
            <a:off x="2667000" y="24463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en-US" sz="1800" b="0" i="0" u="none" strike="noStrike" cap="none" normalizeH="0" baseline="0">
                <a:ln>
                  <a:noFill/>
                </a:ln>
                <a:solidFill>
                  <a:schemeClr val="tx1"/>
                </a:solidFill>
                <a:effectLst/>
                <a:latin typeface="Arial" pitchFamily="34" charset="0"/>
                <a:cs typeface="Arial" pitchFamily="34" charset="0"/>
              </a:rPr>
            </a:b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84242414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240630080"/>
              </p:ext>
            </p:extLst>
          </p:nvPr>
        </p:nvGraphicFramePr>
        <p:xfrm>
          <a:off x="457200" y="533400"/>
          <a:ext cx="8153400" cy="5476240"/>
        </p:xfrm>
        <a:graphic>
          <a:graphicData uri="http://schemas.openxmlformats.org/drawingml/2006/table">
            <a:tbl>
              <a:tblPr/>
              <a:tblGrid>
                <a:gridCol w="1371600">
                  <a:extLst>
                    <a:ext uri="{9D8B030D-6E8A-4147-A177-3AD203B41FA5}">
                      <a16:colId xmlns:a16="http://schemas.microsoft.com/office/drawing/2014/main" val="20000"/>
                    </a:ext>
                  </a:extLst>
                </a:gridCol>
                <a:gridCol w="6781800">
                  <a:extLst>
                    <a:ext uri="{9D8B030D-6E8A-4147-A177-3AD203B41FA5}">
                      <a16:colId xmlns:a16="http://schemas.microsoft.com/office/drawing/2014/main" val="20001"/>
                    </a:ext>
                  </a:extLst>
                </a:gridCol>
              </a:tblGrid>
              <a:tr h="1625600">
                <a:tc>
                  <a:txBody>
                    <a:bodyPr/>
                    <a:lstStyle/>
                    <a:p>
                      <a:r>
                        <a:rPr lang="en-US" sz="2800" b="1" i="0" dirty="0">
                          <a:solidFill>
                            <a:srgbClr val="000000"/>
                          </a:solidFill>
                          <a:effectLst/>
                          <a:latin typeface="Times New Roman"/>
                        </a:rPr>
                        <a:t>GIF </a:t>
                      </a:r>
                      <a:endParaRPr lang="en-US" sz="2800" dirty="0">
                        <a:effectLst/>
                      </a:endParaRPr>
                    </a:p>
                  </a:txBody>
                  <a:tcPr anchor="ctr">
                    <a:lnL>
                      <a:noFill/>
                    </a:lnL>
                    <a:lnR>
                      <a:noFill/>
                    </a:lnR>
                    <a:lnT>
                      <a:noFill/>
                    </a:lnT>
                    <a:lnB>
                      <a:noFill/>
                    </a:lnB>
                  </a:tcPr>
                </a:tc>
                <a:tc>
                  <a:txBody>
                    <a:bodyPr/>
                    <a:lstStyle/>
                    <a:p>
                      <a:pPr marL="457200" indent="-457200">
                        <a:buFont typeface="Symbol" panose="05050102010706020507" pitchFamily="18" charset="2"/>
                        <a:buChar char="·"/>
                      </a:pPr>
                      <a:r>
                        <a:rPr lang="en-US" sz="2000" b="0" i="0" dirty="0">
                          <a:solidFill>
                            <a:srgbClr val="000000"/>
                          </a:solidFill>
                          <a:effectLst/>
                          <a:latin typeface="Times New Roman"/>
                        </a:rPr>
                        <a:t>Stands for "Graphics Interchange Format.</a:t>
                      </a:r>
                    </a:p>
                    <a:p>
                      <a:pPr marL="457200" indent="-457200">
                        <a:buFont typeface="Symbol" panose="05050102010706020507" pitchFamily="18" charset="2"/>
                        <a:buChar char="·"/>
                      </a:pPr>
                      <a:r>
                        <a:rPr lang="en-US" sz="2000" b="1" i="0" dirty="0">
                          <a:solidFill>
                            <a:srgbClr val="000000"/>
                          </a:solidFill>
                          <a:effectLst/>
                          <a:latin typeface="Times New Roman"/>
                        </a:rPr>
                        <a:t>GIF </a:t>
                      </a:r>
                      <a:r>
                        <a:rPr lang="en-US" sz="2000" b="0" i="0" dirty="0">
                          <a:solidFill>
                            <a:srgbClr val="000000"/>
                          </a:solidFill>
                          <a:effectLst/>
                          <a:latin typeface="Times New Roman"/>
                        </a:rPr>
                        <a:t>is an image </a:t>
                      </a:r>
                      <a:r>
                        <a:rPr lang="en-US" sz="2000" b="1" i="0" dirty="0">
                          <a:solidFill>
                            <a:srgbClr val="000000"/>
                          </a:solidFill>
                          <a:effectLst/>
                          <a:latin typeface="Times New Roman"/>
                        </a:rPr>
                        <a:t>file format </a:t>
                      </a:r>
                      <a:r>
                        <a:rPr lang="en-US" sz="2000" b="0" i="0" dirty="0">
                          <a:solidFill>
                            <a:srgbClr val="000000"/>
                          </a:solidFill>
                          <a:effectLst/>
                          <a:latin typeface="Times New Roman"/>
                        </a:rPr>
                        <a:t>commonly used for small or simple animated files(</a:t>
                      </a:r>
                      <a:r>
                        <a:rPr lang="en-US" sz="2000" b="1" i="1" kern="1200" dirty="0">
                          <a:solidFill>
                            <a:schemeClr val="tx1"/>
                          </a:solidFill>
                          <a:effectLst/>
                          <a:latin typeface="+mn-lt"/>
                          <a:ea typeface="+mn-ea"/>
                          <a:cs typeface="+mn-cs"/>
                        </a:rPr>
                        <a:t>website, communication site or social media platform</a:t>
                      </a:r>
                      <a:r>
                        <a:rPr lang="en-US" sz="2000" b="0" i="0" kern="1200" dirty="0">
                          <a:solidFill>
                            <a:schemeClr val="tx1"/>
                          </a:solidFill>
                          <a:effectLst/>
                          <a:latin typeface="+mn-lt"/>
                          <a:ea typeface="+mn-ea"/>
                          <a:cs typeface="+mn-cs"/>
                        </a:rPr>
                        <a:t>.</a:t>
                      </a:r>
                      <a:r>
                        <a:rPr lang="en-US" sz="2000" b="0" i="0" kern="1200" dirty="0">
                          <a:solidFill>
                            <a:srgbClr val="000000"/>
                          </a:solidFill>
                          <a:effectLst/>
                          <a:latin typeface="Times New Roman"/>
                          <a:ea typeface="+mn-ea"/>
                          <a:cs typeface="+mn-cs"/>
                        </a:rPr>
                        <a:t>)</a:t>
                      </a:r>
                      <a:r>
                        <a:rPr lang="en-US" sz="2000" b="0" i="0" baseline="0" dirty="0">
                          <a:solidFill>
                            <a:srgbClr val="000000"/>
                          </a:solidFill>
                          <a:effectLst/>
                          <a:latin typeface="Times New Roman"/>
                        </a:rPr>
                        <a:t> </a:t>
                      </a:r>
                      <a:endParaRPr lang="en-US" sz="2000" dirty="0">
                        <a:effectLst/>
                      </a:endParaRPr>
                    </a:p>
                  </a:txBody>
                  <a:tcPr anchor="ctr">
                    <a:lnL>
                      <a:noFill/>
                    </a:lnL>
                    <a:lnR>
                      <a:noFill/>
                    </a:lnR>
                    <a:lnT>
                      <a:noFill/>
                    </a:lnT>
                    <a:lnB>
                      <a:noFill/>
                    </a:lnB>
                  </a:tcPr>
                </a:tc>
                <a:extLst>
                  <a:ext uri="{0D108BD9-81ED-4DB2-BD59-A6C34878D82A}">
                    <a16:rowId xmlns:a16="http://schemas.microsoft.com/office/drawing/2014/main" val="10000"/>
                  </a:ext>
                </a:extLst>
              </a:tr>
              <a:tr h="1625600">
                <a:tc>
                  <a:txBody>
                    <a:bodyPr/>
                    <a:lstStyle/>
                    <a:p>
                      <a:r>
                        <a:rPr lang="en-US" sz="2800" b="1" i="0" dirty="0">
                          <a:solidFill>
                            <a:srgbClr val="000000"/>
                          </a:solidFill>
                          <a:effectLst/>
                          <a:latin typeface="Times New Roman"/>
                        </a:rPr>
                        <a:t>.TIFF or</a:t>
                      </a:r>
                      <a:r>
                        <a:rPr lang="en-US" sz="2800" b="1" i="0" baseline="0" dirty="0">
                          <a:solidFill>
                            <a:srgbClr val="000000"/>
                          </a:solidFill>
                          <a:effectLst/>
                          <a:latin typeface="Times New Roman"/>
                        </a:rPr>
                        <a:t> </a:t>
                      </a:r>
                      <a:r>
                        <a:rPr lang="en-US" sz="2800" b="1" i="0" dirty="0">
                          <a:solidFill>
                            <a:srgbClr val="000000"/>
                          </a:solidFill>
                          <a:effectLst/>
                          <a:latin typeface="Times New Roman"/>
                        </a:rPr>
                        <a:t>TIF </a:t>
                      </a:r>
                      <a:endParaRPr lang="en-US" sz="2800" dirty="0">
                        <a:effectLst/>
                      </a:endParaRPr>
                    </a:p>
                  </a:txBody>
                  <a:tcPr anchor="ctr">
                    <a:lnL>
                      <a:noFill/>
                    </a:lnL>
                    <a:lnR>
                      <a:noFill/>
                    </a:lnR>
                    <a:lnT>
                      <a:noFill/>
                    </a:lnT>
                    <a:lnB>
                      <a:noFill/>
                    </a:lnB>
                  </a:tcPr>
                </a:tc>
                <a:tc>
                  <a:txBody>
                    <a:bodyPr/>
                    <a:lstStyle/>
                    <a:p>
                      <a:pPr marL="457200" indent="-457200">
                        <a:buFont typeface="Symbol" panose="05050102010706020507" pitchFamily="18" charset="2"/>
                        <a:buChar char="·"/>
                      </a:pPr>
                      <a:r>
                        <a:rPr lang="en-US" sz="2000" b="1" i="0" dirty="0">
                          <a:solidFill>
                            <a:srgbClr val="000000"/>
                          </a:solidFill>
                          <a:effectLst/>
                          <a:latin typeface="Times New Roman"/>
                        </a:rPr>
                        <a:t>TIFF of TIF</a:t>
                      </a:r>
                      <a:r>
                        <a:rPr lang="en-US" sz="2000" b="0" i="0" dirty="0">
                          <a:solidFill>
                            <a:srgbClr val="000000"/>
                          </a:solidFill>
                          <a:effectLst/>
                          <a:latin typeface="Times New Roman"/>
                        </a:rPr>
                        <a:t>: Tagged Image </a:t>
                      </a:r>
                      <a:r>
                        <a:rPr lang="en-US" sz="2000" b="1" i="0" dirty="0">
                          <a:solidFill>
                            <a:srgbClr val="000000"/>
                          </a:solidFill>
                          <a:effectLst/>
                          <a:latin typeface="Times New Roman"/>
                        </a:rPr>
                        <a:t>File</a:t>
                      </a:r>
                    </a:p>
                    <a:p>
                      <a:pPr marL="285750" indent="-285750">
                        <a:buFont typeface="Symbol" panose="05050102010706020507" pitchFamily="18" charset="2"/>
                        <a:buChar char="·"/>
                      </a:pPr>
                      <a:r>
                        <a:rPr lang="en-US" sz="2000" b="0" i="0" kern="1200" dirty="0">
                          <a:solidFill>
                            <a:schemeClr val="tx1"/>
                          </a:solidFill>
                          <a:effectLst/>
                          <a:latin typeface="+mn-lt"/>
                          <a:ea typeface="+mn-ea"/>
                          <a:cs typeface="+mn-cs"/>
                        </a:rPr>
                        <a:t>A TIFF file is a high-quality image file type. You may use this file type when scanning documents, using a desktop publisher program or printing high-quality items.</a:t>
                      </a:r>
                    </a:p>
                    <a:p>
                      <a:pPr marL="285750" indent="-285750">
                        <a:buFont typeface="Symbol" panose="05050102010706020507" pitchFamily="18" charset="2"/>
                        <a:buChar char="·"/>
                      </a:pPr>
                      <a:r>
                        <a:rPr lang="en-US" sz="2000" b="0" i="0" kern="1200" dirty="0">
                          <a:solidFill>
                            <a:schemeClr val="tx1"/>
                          </a:solidFill>
                          <a:effectLst/>
                          <a:latin typeface="+mn-lt"/>
                          <a:ea typeface="+mn-ea"/>
                          <a:cs typeface="+mn-cs"/>
                        </a:rPr>
                        <a:t>This can help you print high-resolution images. This is a large file type, so it's best to use an alternative image file type for your websites and web pages.</a:t>
                      </a:r>
                      <a:endParaRPr lang="en-US" sz="2000" dirty="0">
                        <a:effectLst/>
                      </a:endParaRPr>
                    </a:p>
                  </a:txBody>
                  <a:tcPr anchor="ctr">
                    <a:lnL>
                      <a:noFill/>
                    </a:lnL>
                    <a:lnR>
                      <a:noFill/>
                    </a:lnR>
                    <a:lnT>
                      <a:noFill/>
                    </a:lnT>
                    <a:lnB>
                      <a:noFill/>
                    </a:lnB>
                  </a:tcPr>
                </a:tc>
                <a:extLst>
                  <a:ext uri="{0D108BD9-81ED-4DB2-BD59-A6C34878D82A}">
                    <a16:rowId xmlns:a16="http://schemas.microsoft.com/office/drawing/2014/main" val="10001"/>
                  </a:ext>
                </a:extLst>
              </a:tr>
              <a:tr h="1625600">
                <a:tc>
                  <a:txBody>
                    <a:bodyPr/>
                    <a:lstStyle/>
                    <a:p>
                      <a:r>
                        <a:rPr lang="en-US" sz="2800" b="1" i="0" dirty="0">
                          <a:solidFill>
                            <a:srgbClr val="000000"/>
                          </a:solidFill>
                          <a:effectLst/>
                          <a:latin typeface="Times New Roman"/>
                        </a:rPr>
                        <a:t>.BMP </a:t>
                      </a:r>
                      <a:endParaRPr lang="en-US" sz="2800" dirty="0">
                        <a:effectLst/>
                      </a:endParaRPr>
                    </a:p>
                  </a:txBody>
                  <a:tcPr anchor="ctr">
                    <a:lnL>
                      <a:noFill/>
                    </a:lnL>
                    <a:lnR>
                      <a:noFill/>
                    </a:lnR>
                    <a:lnT>
                      <a:noFill/>
                    </a:lnT>
                    <a:lnB>
                      <a:noFill/>
                    </a:lnB>
                  </a:tcPr>
                </a:tc>
                <a:tc>
                  <a:txBody>
                    <a:bodyPr/>
                    <a:lstStyle/>
                    <a:p>
                      <a:r>
                        <a:rPr lang="en-US" sz="2000" b="0" i="0" dirty="0">
                          <a:solidFill>
                            <a:srgbClr val="000000"/>
                          </a:solidFill>
                          <a:effectLst/>
                          <a:latin typeface="Symbol"/>
                        </a:rPr>
                        <a:t> </a:t>
                      </a:r>
                      <a:r>
                        <a:rPr lang="en-US" sz="2000" b="0" i="0" dirty="0">
                          <a:solidFill>
                            <a:srgbClr val="000000"/>
                          </a:solidFill>
                          <a:effectLst/>
                          <a:latin typeface="Times New Roman"/>
                        </a:rPr>
                        <a:t>The </a:t>
                      </a:r>
                      <a:r>
                        <a:rPr lang="en-US" sz="2000" b="1" i="0" dirty="0">
                          <a:solidFill>
                            <a:srgbClr val="000000"/>
                          </a:solidFill>
                          <a:effectLst/>
                          <a:latin typeface="Times New Roman"/>
                        </a:rPr>
                        <a:t>BMP file format </a:t>
                      </a:r>
                      <a:r>
                        <a:rPr lang="en-US" sz="2000" b="0" i="0" dirty="0">
                          <a:solidFill>
                            <a:srgbClr val="000000"/>
                          </a:solidFill>
                          <a:effectLst/>
                          <a:latin typeface="Times New Roman"/>
                        </a:rPr>
                        <a:t>standard for </a:t>
                      </a:r>
                      <a:r>
                        <a:rPr lang="en-US" sz="2000" b="1" i="0" dirty="0">
                          <a:solidFill>
                            <a:srgbClr val="000000"/>
                          </a:solidFill>
                          <a:effectLst/>
                          <a:latin typeface="Times New Roman"/>
                        </a:rPr>
                        <a:t>bitmap</a:t>
                      </a:r>
                      <a:br>
                        <a:rPr lang="en-US" sz="2000" b="1" i="0" dirty="0">
                          <a:solidFill>
                            <a:srgbClr val="000000"/>
                          </a:solidFill>
                          <a:effectLst/>
                          <a:latin typeface="Times New Roman"/>
                        </a:rPr>
                      </a:br>
                      <a:r>
                        <a:rPr lang="en-US" sz="2000" b="0" i="0" dirty="0">
                          <a:solidFill>
                            <a:srgbClr val="000000"/>
                          </a:solidFill>
                          <a:effectLst/>
                          <a:latin typeface="Symbol"/>
                        </a:rPr>
                        <a:t> </a:t>
                      </a:r>
                      <a:r>
                        <a:rPr lang="en-US" sz="2000" b="0" i="0" dirty="0">
                          <a:solidFill>
                            <a:srgbClr val="000000"/>
                          </a:solidFill>
                          <a:effectLst/>
                          <a:latin typeface="Times New Roman"/>
                        </a:rPr>
                        <a:t>Handles graphic files within the Microsoft windows </a:t>
                      </a:r>
                      <a:r>
                        <a:rPr lang="en-US" sz="2000" b="0" i="0" dirty="0" err="1">
                          <a:solidFill>
                            <a:srgbClr val="000000"/>
                          </a:solidFill>
                          <a:effectLst/>
                          <a:latin typeface="Times New Roman"/>
                        </a:rPr>
                        <a:t>os</a:t>
                      </a:r>
                      <a:endParaRPr lang="en-US" sz="2000" dirty="0">
                        <a:effectLst/>
                      </a:endParaRPr>
                    </a:p>
                  </a:txBody>
                  <a:tcPr anchor="ctr">
                    <a:lnL>
                      <a:noFill/>
                    </a:lnL>
                    <a:lnR>
                      <a:noFill/>
                    </a:lnR>
                    <a:lnT>
                      <a:noFill/>
                    </a:lnT>
                    <a:lnB>
                      <a:noFill/>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89261135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163325428"/>
              </p:ext>
            </p:extLst>
          </p:nvPr>
        </p:nvGraphicFramePr>
        <p:xfrm>
          <a:off x="0" y="0"/>
          <a:ext cx="8763000" cy="6572632"/>
        </p:xfrm>
        <a:graphic>
          <a:graphicData uri="http://schemas.openxmlformats.org/drawingml/2006/table">
            <a:tbl>
              <a:tblPr/>
              <a:tblGrid>
                <a:gridCol w="1066800">
                  <a:extLst>
                    <a:ext uri="{9D8B030D-6E8A-4147-A177-3AD203B41FA5}">
                      <a16:colId xmlns:a16="http://schemas.microsoft.com/office/drawing/2014/main" val="20000"/>
                    </a:ext>
                  </a:extLst>
                </a:gridCol>
                <a:gridCol w="7696200">
                  <a:extLst>
                    <a:ext uri="{9D8B030D-6E8A-4147-A177-3AD203B41FA5}">
                      <a16:colId xmlns:a16="http://schemas.microsoft.com/office/drawing/2014/main" val="20001"/>
                    </a:ext>
                  </a:extLst>
                </a:gridCol>
              </a:tblGrid>
              <a:tr h="1850350">
                <a:tc>
                  <a:txBody>
                    <a:bodyPr/>
                    <a:lstStyle/>
                    <a:p>
                      <a:r>
                        <a:rPr lang="en-US" sz="2400" b="1" i="0" dirty="0">
                          <a:solidFill>
                            <a:srgbClr val="000000"/>
                          </a:solidFill>
                          <a:effectLst/>
                          <a:latin typeface="Times New Roman"/>
                        </a:rPr>
                        <a:t>PDF </a:t>
                      </a:r>
                      <a:endParaRPr lang="en-US" sz="2400" dirty="0">
                        <a:effectLst/>
                      </a:endParaRPr>
                    </a:p>
                  </a:txBody>
                  <a:tcPr marL="58779" marR="58779" marT="29389" marB="29389" anchor="ctr">
                    <a:lnL>
                      <a:noFill/>
                    </a:lnL>
                    <a:lnR>
                      <a:noFill/>
                    </a:lnR>
                    <a:lnT>
                      <a:noFill/>
                    </a:lnT>
                    <a:lnB>
                      <a:noFill/>
                    </a:lnB>
                  </a:tcPr>
                </a:tc>
                <a:tc>
                  <a:txBody>
                    <a:bodyPr/>
                    <a:lstStyle/>
                    <a:p>
                      <a:pPr marL="342900" indent="-342900">
                        <a:buFont typeface="Arial" panose="020B0604020202020204" pitchFamily="34" charset="0"/>
                        <a:buChar char="•"/>
                      </a:pPr>
                      <a:r>
                        <a:rPr lang="en-US" sz="2000" b="1" i="0" dirty="0">
                          <a:solidFill>
                            <a:srgbClr val="000000"/>
                          </a:solidFill>
                          <a:effectLst/>
                          <a:latin typeface="Times New Roman"/>
                        </a:rPr>
                        <a:t>PDF </a:t>
                      </a:r>
                      <a:r>
                        <a:rPr lang="en-US" sz="2000" b="0" i="0" dirty="0">
                          <a:solidFill>
                            <a:srgbClr val="000000"/>
                          </a:solidFill>
                          <a:effectLst/>
                          <a:latin typeface="Times New Roman"/>
                        </a:rPr>
                        <a:t>(</a:t>
                      </a:r>
                      <a:r>
                        <a:rPr lang="en-US" sz="2000" b="1" i="0" dirty="0">
                          <a:solidFill>
                            <a:srgbClr val="000000"/>
                          </a:solidFill>
                          <a:effectLst/>
                          <a:latin typeface="Times New Roman"/>
                        </a:rPr>
                        <a:t>Portable Document Format</a:t>
                      </a:r>
                      <a:r>
                        <a:rPr lang="en-US" sz="2000" b="0" i="0" dirty="0">
                          <a:solidFill>
                            <a:srgbClr val="000000"/>
                          </a:solidFill>
                          <a:effectLst/>
                          <a:latin typeface="Times New Roman"/>
                        </a:rPr>
                        <a:t>) also is</a:t>
                      </a:r>
                      <a:r>
                        <a:rPr lang="en-US" sz="2000" b="0" i="0" baseline="0" dirty="0">
                          <a:solidFill>
                            <a:srgbClr val="000000"/>
                          </a:solidFill>
                          <a:effectLst/>
                          <a:latin typeface="Times New Roman"/>
                        </a:rPr>
                        <a:t> </a:t>
                      </a:r>
                      <a:r>
                        <a:rPr lang="en-US" sz="2000" b="0" i="0" dirty="0">
                          <a:solidFill>
                            <a:srgbClr val="000000"/>
                          </a:solidFill>
                          <a:effectLst/>
                          <a:latin typeface="Times New Roman"/>
                        </a:rPr>
                        <a:t>Printer Definition </a:t>
                      </a:r>
                      <a:r>
                        <a:rPr lang="en-US" sz="2000" b="1" i="0" dirty="0">
                          <a:solidFill>
                            <a:srgbClr val="000000"/>
                          </a:solidFill>
                          <a:effectLst/>
                          <a:latin typeface="Times New Roman"/>
                        </a:rPr>
                        <a:t>File</a:t>
                      </a:r>
                    </a:p>
                    <a:p>
                      <a:pPr marL="342900" indent="-342900">
                        <a:buFont typeface="Arial" panose="020B0604020202020204" pitchFamily="34" charset="0"/>
                        <a:buChar char="•"/>
                      </a:pPr>
                      <a:r>
                        <a:rPr lang="en-US" sz="2000" b="1" i="0" kern="1200" dirty="0">
                          <a:solidFill>
                            <a:srgbClr val="000000"/>
                          </a:solidFill>
                          <a:effectLst/>
                          <a:latin typeface="Times New Roman"/>
                          <a:ea typeface="+mn-ea"/>
                          <a:cs typeface="+mn-cs"/>
                        </a:rPr>
                        <a:t>i</a:t>
                      </a:r>
                      <a:r>
                        <a:rPr lang="en-US" sz="2000" b="0" i="0" kern="1200" dirty="0">
                          <a:solidFill>
                            <a:schemeClr val="tx1"/>
                          </a:solidFill>
                          <a:effectLst/>
                          <a:latin typeface="+mn-lt"/>
                          <a:ea typeface="+mn-ea"/>
                          <a:cs typeface="+mn-cs"/>
                        </a:rPr>
                        <a:t>s a common file type in many work environments. This file maintains the original document layout, which makes it helpful for signing paperwork and sharing plans. You can email, print and scan using this file format. This is a popular choice when sending or uploading resumes, as it maintains the document's original layout and formatting.</a:t>
                      </a:r>
                      <a:endParaRPr lang="en-US" sz="2000" dirty="0">
                        <a:effectLst/>
                      </a:endParaRPr>
                    </a:p>
                  </a:txBody>
                  <a:tcPr marL="58779" marR="58779" marT="29389" marB="29389" anchor="ctr">
                    <a:lnL>
                      <a:noFill/>
                    </a:lnL>
                    <a:lnR>
                      <a:noFill/>
                    </a:lnR>
                    <a:lnT>
                      <a:noFill/>
                    </a:lnT>
                    <a:lnB>
                      <a:noFill/>
                    </a:lnB>
                  </a:tcPr>
                </a:tc>
                <a:extLst>
                  <a:ext uri="{0D108BD9-81ED-4DB2-BD59-A6C34878D82A}">
                    <a16:rowId xmlns:a16="http://schemas.microsoft.com/office/drawing/2014/main" val="10000"/>
                  </a:ext>
                </a:extLst>
              </a:tr>
              <a:tr h="1249655">
                <a:tc>
                  <a:txBody>
                    <a:bodyPr/>
                    <a:lstStyle/>
                    <a:p>
                      <a:r>
                        <a:rPr lang="en-US" sz="2400" b="1" i="0" dirty="0">
                          <a:solidFill>
                            <a:srgbClr val="000000"/>
                          </a:solidFill>
                          <a:effectLst/>
                          <a:latin typeface="Times New Roman"/>
                        </a:rPr>
                        <a:t>RAW </a:t>
                      </a:r>
                      <a:endParaRPr lang="en-US" sz="2400" dirty="0">
                        <a:effectLst/>
                      </a:endParaRPr>
                    </a:p>
                  </a:txBody>
                  <a:tcPr marL="58779" marR="58779" marT="29389" marB="29389" anchor="ctr">
                    <a:lnL>
                      <a:noFill/>
                    </a:lnL>
                    <a:lnR>
                      <a:noFill/>
                    </a:lnR>
                    <a:lnT>
                      <a:noFill/>
                    </a:lnT>
                    <a:lnB>
                      <a:noFill/>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i="0" dirty="0">
                          <a:solidFill>
                            <a:srgbClr val="000000"/>
                          </a:solidFill>
                          <a:effectLst/>
                          <a:latin typeface="Times New Roman"/>
                        </a:rPr>
                        <a:t> </a:t>
                      </a:r>
                      <a:r>
                        <a:rPr lang="en-US" sz="2000" b="0" i="0" dirty="0">
                          <a:solidFill>
                            <a:srgbClr val="000000"/>
                          </a:solidFill>
                          <a:effectLst/>
                          <a:latin typeface="Symbol"/>
                        </a:rPr>
                        <a:t> </a:t>
                      </a:r>
                      <a:r>
                        <a:rPr lang="en-US" sz="2000" b="1" i="0" dirty="0">
                          <a:solidFill>
                            <a:srgbClr val="000000"/>
                          </a:solidFill>
                          <a:effectLst/>
                          <a:latin typeface="Times New Roman"/>
                        </a:rPr>
                        <a:t>Raw file </a:t>
                      </a:r>
                      <a:r>
                        <a:rPr lang="en-US" sz="2000" b="0" i="0" dirty="0">
                          <a:solidFill>
                            <a:srgbClr val="000000"/>
                          </a:solidFill>
                          <a:effectLst/>
                          <a:latin typeface="Times New Roman"/>
                        </a:rPr>
                        <a:t>is a collection of unprocessed data.</a:t>
                      </a:r>
                      <a:br>
                        <a:rPr lang="en-US" sz="2000" b="0" i="0" dirty="0">
                          <a:solidFill>
                            <a:srgbClr val="000000"/>
                          </a:solidFill>
                          <a:effectLst/>
                          <a:latin typeface="Times New Roman"/>
                        </a:rPr>
                      </a:br>
                      <a:r>
                        <a:rPr lang="en-US" sz="2000" b="0" i="0" dirty="0">
                          <a:solidFill>
                            <a:srgbClr val="000000"/>
                          </a:solidFill>
                          <a:effectLst/>
                          <a:latin typeface="Symbol"/>
                        </a:rPr>
                        <a:t> </a:t>
                      </a:r>
                      <a:r>
                        <a:rPr lang="en-US" sz="2000" b="1" i="0" dirty="0">
                          <a:solidFill>
                            <a:srgbClr val="000000"/>
                          </a:solidFill>
                          <a:effectLst/>
                          <a:latin typeface="Times New Roman"/>
                        </a:rPr>
                        <a:t>Raw files </a:t>
                      </a:r>
                      <a:r>
                        <a:rPr lang="en-US" sz="2000" b="0" i="0" dirty="0">
                          <a:solidFill>
                            <a:srgbClr val="000000"/>
                          </a:solidFill>
                          <a:effectLst/>
                          <a:latin typeface="Times New Roman"/>
                        </a:rPr>
                        <a:t>are often used as data </a:t>
                      </a:r>
                      <a:r>
                        <a:rPr lang="en-US" sz="2000" b="1" i="0" dirty="0">
                          <a:solidFill>
                            <a:srgbClr val="000000"/>
                          </a:solidFill>
                          <a:effectLst/>
                          <a:latin typeface="Times New Roman"/>
                        </a:rPr>
                        <a:t>files </a:t>
                      </a:r>
                      <a:r>
                        <a:rPr lang="en-US" sz="2000" b="0" i="0" dirty="0">
                          <a:solidFill>
                            <a:srgbClr val="000000"/>
                          </a:solidFill>
                          <a:effectLst/>
                          <a:latin typeface="Times New Roman"/>
                        </a:rPr>
                        <a:t>by</a:t>
                      </a:r>
                      <a:r>
                        <a:rPr lang="en-US" sz="2000" b="0" i="0" baseline="0" dirty="0">
                          <a:solidFill>
                            <a:srgbClr val="000000"/>
                          </a:solidFill>
                          <a:effectLst/>
                          <a:latin typeface="Times New Roman"/>
                        </a:rPr>
                        <a:t> </a:t>
                      </a:r>
                      <a:r>
                        <a:rPr lang="en-US" sz="2000" b="0" i="0" dirty="0">
                          <a:solidFill>
                            <a:srgbClr val="000000"/>
                          </a:solidFill>
                          <a:effectLst/>
                          <a:latin typeface="Times New Roman"/>
                        </a:rPr>
                        <a:t>software programs that load and process the</a:t>
                      </a:r>
                      <a:r>
                        <a:rPr lang="en-US" sz="2000" b="0" i="0" baseline="0" dirty="0">
                          <a:solidFill>
                            <a:srgbClr val="000000"/>
                          </a:solidFill>
                          <a:effectLst/>
                          <a:latin typeface="Times New Roman"/>
                        </a:rPr>
                        <a:t> </a:t>
                      </a:r>
                      <a:r>
                        <a:rPr lang="en-US" sz="2000" b="0" i="0" dirty="0">
                          <a:solidFill>
                            <a:srgbClr val="000000"/>
                          </a:solidFill>
                          <a:effectLst/>
                          <a:latin typeface="Times New Roman"/>
                        </a:rPr>
                        <a:t>data.</a:t>
                      </a:r>
                      <a:endParaRPr lang="en-US" sz="2000" dirty="0">
                        <a:effectLst/>
                      </a:endParaRPr>
                    </a:p>
                  </a:txBody>
                  <a:tcPr marL="58779" marR="58779" marT="29389" marB="29389" anchor="ctr">
                    <a:lnL>
                      <a:noFill/>
                    </a:lnL>
                    <a:lnR>
                      <a:noFill/>
                    </a:lnR>
                    <a:lnT>
                      <a:noFill/>
                    </a:lnT>
                    <a:lnB>
                      <a:noFill/>
                    </a:lnB>
                  </a:tcPr>
                </a:tc>
                <a:extLst>
                  <a:ext uri="{0D108BD9-81ED-4DB2-BD59-A6C34878D82A}">
                    <a16:rowId xmlns:a16="http://schemas.microsoft.com/office/drawing/2014/main" val="10001"/>
                  </a:ext>
                </a:extLst>
              </a:tr>
              <a:tr h="648961">
                <a:tc>
                  <a:txBody>
                    <a:bodyPr/>
                    <a:lstStyle/>
                    <a:p>
                      <a:r>
                        <a:rPr lang="en-US" sz="2400" b="1" i="0" dirty="0">
                          <a:solidFill>
                            <a:srgbClr val="000000"/>
                          </a:solidFill>
                          <a:effectLst/>
                          <a:latin typeface="Times New Roman"/>
                        </a:rPr>
                        <a:t>.CR </a:t>
                      </a:r>
                      <a:endParaRPr lang="en-US" sz="2400" dirty="0">
                        <a:effectLst/>
                      </a:endParaRPr>
                    </a:p>
                  </a:txBody>
                  <a:tcPr marL="58779" marR="58779" marT="29389" marB="29389" anchor="ctr">
                    <a:lnL>
                      <a:noFill/>
                    </a:lnL>
                    <a:lnR>
                      <a:noFill/>
                    </a:lnR>
                    <a:lnT>
                      <a:noFill/>
                    </a:lnT>
                    <a:lnB>
                      <a:noFill/>
                    </a:lnB>
                  </a:tcPr>
                </a:tc>
                <a:tc>
                  <a:txBody>
                    <a:bodyPr/>
                    <a:lstStyle/>
                    <a:p>
                      <a:r>
                        <a:rPr lang="en-US" sz="2400" b="1" i="0" dirty="0">
                          <a:solidFill>
                            <a:srgbClr val="000000"/>
                          </a:solidFill>
                          <a:effectLst/>
                          <a:latin typeface="Times New Roman"/>
                        </a:rPr>
                        <a:t>CR stands </a:t>
                      </a:r>
                      <a:r>
                        <a:rPr lang="en-US" sz="2400" b="0" i="0" dirty="0">
                          <a:solidFill>
                            <a:srgbClr val="000000"/>
                          </a:solidFill>
                          <a:effectLst/>
                          <a:latin typeface="Times New Roman"/>
                        </a:rPr>
                        <a:t>for Canon </a:t>
                      </a:r>
                      <a:r>
                        <a:rPr lang="en-US" sz="2400" b="1" i="0" dirty="0">
                          <a:solidFill>
                            <a:srgbClr val="000000"/>
                          </a:solidFill>
                          <a:effectLst/>
                          <a:latin typeface="Times New Roman"/>
                        </a:rPr>
                        <a:t>RAW </a:t>
                      </a:r>
                      <a:r>
                        <a:rPr lang="en-US" sz="2400" b="0" i="0" dirty="0">
                          <a:solidFill>
                            <a:srgbClr val="000000"/>
                          </a:solidFill>
                          <a:effectLst/>
                          <a:latin typeface="Times New Roman"/>
                        </a:rPr>
                        <a:t>and belongs to the group</a:t>
                      </a:r>
                      <a:br>
                        <a:rPr lang="en-US" sz="2400" b="0" i="0" dirty="0">
                          <a:solidFill>
                            <a:srgbClr val="000000"/>
                          </a:solidFill>
                          <a:effectLst/>
                          <a:latin typeface="Times New Roman"/>
                        </a:rPr>
                      </a:br>
                      <a:r>
                        <a:rPr lang="en-US" sz="2400" b="0" i="0" dirty="0">
                          <a:solidFill>
                            <a:srgbClr val="000000"/>
                          </a:solidFill>
                          <a:effectLst/>
                          <a:latin typeface="Times New Roman"/>
                        </a:rPr>
                        <a:t>of </a:t>
                      </a:r>
                      <a:r>
                        <a:rPr lang="en-US" sz="2400" b="1" i="0" dirty="0">
                          <a:solidFill>
                            <a:srgbClr val="000000"/>
                          </a:solidFill>
                          <a:effectLst/>
                          <a:latin typeface="Times New Roman"/>
                        </a:rPr>
                        <a:t>RAW </a:t>
                      </a:r>
                      <a:r>
                        <a:rPr lang="en-US" sz="2400" b="0" i="0" dirty="0">
                          <a:solidFill>
                            <a:srgbClr val="000000"/>
                          </a:solidFill>
                          <a:effectLst/>
                          <a:latin typeface="Times New Roman"/>
                        </a:rPr>
                        <a:t>image file formats.</a:t>
                      </a:r>
                      <a:endParaRPr lang="en-US" sz="2400" dirty="0">
                        <a:effectLst/>
                      </a:endParaRPr>
                    </a:p>
                  </a:txBody>
                  <a:tcPr marL="58779" marR="58779" marT="29389" marB="29389" anchor="ctr">
                    <a:lnL>
                      <a:noFill/>
                    </a:lnL>
                    <a:lnR>
                      <a:noFill/>
                    </a:lnR>
                    <a:lnT>
                      <a:noFill/>
                    </a:lnT>
                    <a:lnB>
                      <a:noFill/>
                    </a:lnB>
                  </a:tcPr>
                </a:tc>
                <a:extLst>
                  <a:ext uri="{0D108BD9-81ED-4DB2-BD59-A6C34878D82A}">
                    <a16:rowId xmlns:a16="http://schemas.microsoft.com/office/drawing/2014/main" val="10002"/>
                  </a:ext>
                </a:extLst>
              </a:tr>
              <a:tr h="648961">
                <a:tc>
                  <a:txBody>
                    <a:bodyPr/>
                    <a:lstStyle/>
                    <a:p>
                      <a:r>
                        <a:rPr lang="en-US" sz="2400" b="1" i="0" dirty="0">
                          <a:solidFill>
                            <a:srgbClr val="000000"/>
                          </a:solidFill>
                          <a:effectLst/>
                          <a:latin typeface="Times New Roman"/>
                        </a:rPr>
                        <a:t>.CR2 </a:t>
                      </a:r>
                      <a:endParaRPr lang="en-US" sz="2400" dirty="0">
                        <a:effectLst/>
                      </a:endParaRPr>
                    </a:p>
                  </a:txBody>
                  <a:tcPr marL="58779" marR="58779" marT="29389" marB="29389" anchor="ctr">
                    <a:lnL>
                      <a:noFill/>
                    </a:lnL>
                    <a:lnR>
                      <a:noFill/>
                    </a:lnR>
                    <a:lnT>
                      <a:noFill/>
                    </a:lnT>
                    <a:lnB>
                      <a:noFill/>
                    </a:lnB>
                  </a:tcPr>
                </a:tc>
                <a:tc>
                  <a:txBody>
                    <a:bodyPr/>
                    <a:lstStyle/>
                    <a:p>
                      <a:r>
                        <a:rPr lang="en-US" sz="2400" b="1" i="0" dirty="0">
                          <a:solidFill>
                            <a:srgbClr val="000000"/>
                          </a:solidFill>
                          <a:effectLst/>
                          <a:latin typeface="Times New Roman"/>
                        </a:rPr>
                        <a:t>CR2 stands </a:t>
                      </a:r>
                      <a:r>
                        <a:rPr lang="en-US" sz="2400" b="0" i="0" dirty="0">
                          <a:solidFill>
                            <a:srgbClr val="000000"/>
                          </a:solidFill>
                          <a:effectLst/>
                          <a:latin typeface="Times New Roman"/>
                        </a:rPr>
                        <a:t>for Canon </a:t>
                      </a:r>
                      <a:r>
                        <a:rPr lang="en-US" sz="2400" b="1" i="0" dirty="0">
                          <a:solidFill>
                            <a:srgbClr val="000000"/>
                          </a:solidFill>
                          <a:effectLst/>
                          <a:latin typeface="Times New Roman"/>
                        </a:rPr>
                        <a:t>RAW </a:t>
                      </a:r>
                      <a:r>
                        <a:rPr lang="en-US" sz="2400" b="0" i="0" dirty="0">
                          <a:solidFill>
                            <a:srgbClr val="000000"/>
                          </a:solidFill>
                          <a:effectLst/>
                          <a:latin typeface="Times New Roman"/>
                        </a:rPr>
                        <a:t>2nd edition and belongs</a:t>
                      </a:r>
                      <a:br>
                        <a:rPr lang="en-US" sz="2400" b="0" i="0" dirty="0">
                          <a:solidFill>
                            <a:srgbClr val="000000"/>
                          </a:solidFill>
                          <a:effectLst/>
                          <a:latin typeface="Times New Roman"/>
                        </a:rPr>
                      </a:br>
                      <a:r>
                        <a:rPr lang="en-US" sz="2400" b="0" i="0" dirty="0">
                          <a:solidFill>
                            <a:srgbClr val="000000"/>
                          </a:solidFill>
                          <a:effectLst/>
                          <a:latin typeface="Times New Roman"/>
                        </a:rPr>
                        <a:t>to the group of </a:t>
                      </a:r>
                      <a:r>
                        <a:rPr lang="en-US" sz="2400" b="1" i="0" dirty="0">
                          <a:solidFill>
                            <a:srgbClr val="000000"/>
                          </a:solidFill>
                          <a:effectLst/>
                          <a:latin typeface="Times New Roman"/>
                        </a:rPr>
                        <a:t>RAW </a:t>
                      </a:r>
                      <a:r>
                        <a:rPr lang="en-US" sz="2400" b="0" i="0" dirty="0">
                          <a:solidFill>
                            <a:srgbClr val="000000"/>
                          </a:solidFill>
                          <a:effectLst/>
                          <a:latin typeface="Times New Roman"/>
                        </a:rPr>
                        <a:t>image file formats.</a:t>
                      </a:r>
                      <a:endParaRPr lang="en-US" sz="2400" dirty="0">
                        <a:effectLst/>
                      </a:endParaRPr>
                    </a:p>
                  </a:txBody>
                  <a:tcPr marL="58779" marR="58779" marT="29389" marB="29389" anchor="ctr">
                    <a:lnL>
                      <a:noFill/>
                    </a:lnL>
                    <a:lnR>
                      <a:noFill/>
                    </a:lnR>
                    <a:lnT>
                      <a:noFill/>
                    </a:lnT>
                    <a:lnB>
                      <a:noFill/>
                    </a:lnB>
                  </a:tcPr>
                </a:tc>
                <a:extLst>
                  <a:ext uri="{0D108BD9-81ED-4DB2-BD59-A6C34878D82A}">
                    <a16:rowId xmlns:a16="http://schemas.microsoft.com/office/drawing/2014/main" val="10003"/>
                  </a:ext>
                </a:extLst>
              </a:tr>
              <a:tr h="1550003">
                <a:tc>
                  <a:txBody>
                    <a:bodyPr/>
                    <a:lstStyle/>
                    <a:p>
                      <a:r>
                        <a:rPr lang="en-US" sz="2400" b="1" i="0">
                          <a:solidFill>
                            <a:srgbClr val="000000"/>
                          </a:solidFill>
                          <a:effectLst/>
                          <a:latin typeface="Times New Roman"/>
                        </a:rPr>
                        <a:t>.DNG </a:t>
                      </a:r>
                      <a:endParaRPr lang="en-US" sz="2400">
                        <a:effectLst/>
                      </a:endParaRPr>
                    </a:p>
                  </a:txBody>
                  <a:tcPr marL="58779" marR="58779" marT="29389" marB="29389" anchor="ctr">
                    <a:lnL>
                      <a:noFill/>
                    </a:lnL>
                    <a:lnR>
                      <a:noFill/>
                    </a:lnR>
                    <a:lnT>
                      <a:noFill/>
                    </a:lnT>
                    <a:lnB>
                      <a:noFill/>
                    </a:lnB>
                  </a:tcPr>
                </a:tc>
                <a:tc>
                  <a:txBody>
                    <a:bodyPr/>
                    <a:lstStyle/>
                    <a:p>
                      <a:r>
                        <a:rPr lang="en-US" sz="2400" b="0" i="0" dirty="0">
                          <a:solidFill>
                            <a:srgbClr val="000000"/>
                          </a:solidFill>
                          <a:effectLst/>
                          <a:latin typeface="Symbol"/>
                        </a:rPr>
                        <a:t> </a:t>
                      </a:r>
                      <a:r>
                        <a:rPr lang="en-US" sz="2400" b="0" i="0" dirty="0">
                          <a:solidFill>
                            <a:srgbClr val="000000"/>
                          </a:solidFill>
                          <a:effectLst/>
                          <a:latin typeface="Times New Roman"/>
                        </a:rPr>
                        <a:t>DNG stand for Digital Negative</a:t>
                      </a:r>
                      <a:br>
                        <a:rPr lang="en-US" sz="2400" b="0" i="0" dirty="0">
                          <a:solidFill>
                            <a:srgbClr val="000000"/>
                          </a:solidFill>
                          <a:effectLst/>
                          <a:latin typeface="Times New Roman"/>
                        </a:rPr>
                      </a:br>
                      <a:r>
                        <a:rPr lang="en-US" sz="2400" b="0" i="0" dirty="0">
                          <a:solidFill>
                            <a:srgbClr val="000000"/>
                          </a:solidFill>
                          <a:effectLst/>
                          <a:latin typeface="Symbol"/>
                        </a:rPr>
                        <a:t> </a:t>
                      </a:r>
                      <a:r>
                        <a:rPr lang="en-US" sz="2400" b="0" i="0" dirty="0">
                          <a:solidFill>
                            <a:srgbClr val="000000"/>
                          </a:solidFill>
                          <a:effectLst/>
                          <a:latin typeface="Times New Roman"/>
                        </a:rPr>
                        <a:t>was created to store image data in a generic,</a:t>
                      </a:r>
                      <a:br>
                        <a:rPr lang="en-US" sz="2400" b="0" i="0" dirty="0">
                          <a:solidFill>
                            <a:srgbClr val="000000"/>
                          </a:solidFill>
                          <a:effectLst/>
                          <a:latin typeface="Times New Roman"/>
                        </a:rPr>
                      </a:br>
                      <a:r>
                        <a:rPr lang="en-US" sz="2400" b="0" i="0" dirty="0">
                          <a:solidFill>
                            <a:srgbClr val="000000"/>
                          </a:solidFill>
                          <a:effectLst/>
                          <a:latin typeface="Times New Roman"/>
                        </a:rPr>
                        <a:t>highly-compatible format, unlike</a:t>
                      </a:r>
                      <a:r>
                        <a:rPr lang="en-US" sz="2400" b="0" i="0" baseline="0" dirty="0">
                          <a:solidFill>
                            <a:srgbClr val="000000"/>
                          </a:solidFill>
                          <a:effectLst/>
                          <a:latin typeface="Times New Roman"/>
                        </a:rPr>
                        <a:t> </a:t>
                      </a:r>
                      <a:r>
                        <a:rPr lang="en-US" sz="2400" b="0" i="0" dirty="0">
                          <a:solidFill>
                            <a:srgbClr val="000000"/>
                          </a:solidFill>
                          <a:effectLst/>
                          <a:latin typeface="Times New Roman"/>
                        </a:rPr>
                        <a:t>RAW </a:t>
                      </a:r>
                      <a:r>
                        <a:rPr lang="en-US" sz="2400" b="1" i="0" dirty="0">
                          <a:solidFill>
                            <a:srgbClr val="000000"/>
                          </a:solidFill>
                          <a:effectLst/>
                          <a:latin typeface="Times New Roman"/>
                        </a:rPr>
                        <a:t>files </a:t>
                      </a:r>
                      <a:r>
                        <a:rPr lang="en-US" sz="2400" b="0" i="0" dirty="0">
                          <a:solidFill>
                            <a:srgbClr val="000000"/>
                          </a:solidFill>
                          <a:effectLst/>
                          <a:latin typeface="Times New Roman"/>
                        </a:rPr>
                        <a:t>that have specific formats based on</a:t>
                      </a:r>
                      <a:r>
                        <a:rPr lang="en-US" sz="2400" b="0" i="0" baseline="0" dirty="0">
                          <a:solidFill>
                            <a:srgbClr val="000000"/>
                          </a:solidFill>
                          <a:effectLst/>
                          <a:latin typeface="Times New Roman"/>
                        </a:rPr>
                        <a:t> </a:t>
                      </a:r>
                      <a:r>
                        <a:rPr lang="en-US" sz="2400" b="0" i="0" dirty="0">
                          <a:solidFill>
                            <a:srgbClr val="000000"/>
                          </a:solidFill>
                          <a:effectLst/>
                          <a:latin typeface="Times New Roman"/>
                        </a:rPr>
                        <a:t>manufacturer and camera type</a:t>
                      </a:r>
                      <a:endParaRPr lang="en-US" sz="2400" dirty="0">
                        <a:effectLst/>
                      </a:endParaRPr>
                    </a:p>
                  </a:txBody>
                  <a:tcPr marL="58779" marR="58779" marT="29389" marB="29389" anchor="ctr">
                    <a:lnL>
                      <a:noFill/>
                    </a:lnL>
                    <a:lnR>
                      <a:noFill/>
                    </a:lnR>
                    <a:lnT>
                      <a:noFill/>
                    </a:lnT>
                    <a:lnB>
                      <a:noFill/>
                    </a:lnB>
                  </a:tcPr>
                </a:tc>
                <a:extLst>
                  <a:ext uri="{0D108BD9-81ED-4DB2-BD59-A6C34878D82A}">
                    <a16:rowId xmlns:a16="http://schemas.microsoft.com/office/drawing/2014/main" val="10004"/>
                  </a:ext>
                </a:extLst>
              </a:tr>
            </a:tbl>
          </a:graphicData>
        </a:graphic>
      </p:graphicFrame>
      <p:sp>
        <p:nvSpPr>
          <p:cNvPr id="5" name="Rectangle 1"/>
          <p:cNvSpPr>
            <a:spLocks noChangeArrowheads="1"/>
          </p:cNvSpPr>
          <p:nvPr/>
        </p:nvSpPr>
        <p:spPr bwMode="auto">
          <a:xfrm>
            <a:off x="2735263" y="1338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en-US" sz="1800" b="0" i="0" u="none" strike="noStrike" cap="none" normalizeH="0" baseline="0">
                <a:ln>
                  <a:noFill/>
                </a:ln>
                <a:solidFill>
                  <a:schemeClr val="tx1"/>
                </a:solidFill>
                <a:effectLst/>
                <a:latin typeface="Arial" pitchFamily="34" charset="0"/>
                <a:cs typeface="Arial" pitchFamily="34" charset="0"/>
              </a:rPr>
            </a:b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177221876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0000"/>
                </a:solidFill>
                <a:latin typeface="Times New Roman" pitchFamily="18" charset="0"/>
                <a:cs typeface="Times New Roman" pitchFamily="18" charset="0"/>
              </a:rPr>
              <a:t>7. Describing common vector formats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912482745"/>
              </p:ext>
            </p:extLst>
          </p:nvPr>
        </p:nvGraphicFramePr>
        <p:xfrm>
          <a:off x="228600" y="1524000"/>
          <a:ext cx="8458200" cy="5196840"/>
        </p:xfrm>
        <a:graphic>
          <a:graphicData uri="http://schemas.openxmlformats.org/drawingml/2006/table">
            <a:tbl>
              <a:tblPr/>
              <a:tblGrid>
                <a:gridCol w="1691640">
                  <a:extLst>
                    <a:ext uri="{9D8B030D-6E8A-4147-A177-3AD203B41FA5}">
                      <a16:colId xmlns:a16="http://schemas.microsoft.com/office/drawing/2014/main" val="20000"/>
                    </a:ext>
                  </a:extLst>
                </a:gridCol>
                <a:gridCol w="6766560">
                  <a:extLst>
                    <a:ext uri="{9D8B030D-6E8A-4147-A177-3AD203B41FA5}">
                      <a16:colId xmlns:a16="http://schemas.microsoft.com/office/drawing/2014/main" val="20001"/>
                    </a:ext>
                  </a:extLst>
                </a:gridCol>
              </a:tblGrid>
              <a:tr h="518160">
                <a:tc>
                  <a:txBody>
                    <a:bodyPr/>
                    <a:lstStyle/>
                    <a:p>
                      <a:r>
                        <a:rPr lang="en-US" sz="2800" b="1" i="0" dirty="0">
                          <a:solidFill>
                            <a:srgbClr val="000000"/>
                          </a:solidFill>
                          <a:effectLst/>
                          <a:latin typeface="Times New Roman"/>
                        </a:rPr>
                        <a:t>Format </a:t>
                      </a:r>
                      <a:endParaRPr lang="en-US" sz="2800" dirty="0">
                        <a:effectLst/>
                      </a:endParaRPr>
                    </a:p>
                  </a:txBody>
                  <a:tcPr anchor="ctr">
                    <a:lnL>
                      <a:noFill/>
                    </a:lnL>
                    <a:lnR>
                      <a:noFill/>
                    </a:lnR>
                    <a:lnT>
                      <a:noFill/>
                    </a:lnT>
                    <a:lnB>
                      <a:noFill/>
                    </a:lnB>
                  </a:tcPr>
                </a:tc>
                <a:tc>
                  <a:txBody>
                    <a:bodyPr/>
                    <a:lstStyle/>
                    <a:p>
                      <a:r>
                        <a:rPr lang="en-US" sz="2800" b="1" i="0">
                          <a:solidFill>
                            <a:srgbClr val="000000"/>
                          </a:solidFill>
                          <a:effectLst/>
                          <a:latin typeface="Times New Roman"/>
                        </a:rPr>
                        <a:t>Description</a:t>
                      </a:r>
                      <a:endParaRPr lang="en-US" sz="2800">
                        <a:effectLst/>
                      </a:endParaRPr>
                    </a:p>
                  </a:txBody>
                  <a:tcPr anchor="ctr">
                    <a:lnL>
                      <a:noFill/>
                    </a:lnL>
                    <a:lnR>
                      <a:noFill/>
                    </a:lnR>
                    <a:lnT>
                      <a:noFill/>
                    </a:lnT>
                    <a:lnB>
                      <a:noFill/>
                    </a:lnB>
                  </a:tcPr>
                </a:tc>
                <a:extLst>
                  <a:ext uri="{0D108BD9-81ED-4DB2-BD59-A6C34878D82A}">
                    <a16:rowId xmlns:a16="http://schemas.microsoft.com/office/drawing/2014/main" val="10000"/>
                  </a:ext>
                </a:extLst>
              </a:tr>
              <a:tr h="2072640">
                <a:tc>
                  <a:txBody>
                    <a:bodyPr/>
                    <a:lstStyle/>
                    <a:p>
                      <a:r>
                        <a:rPr lang="en-US" sz="2800" b="1" i="0" dirty="0">
                          <a:solidFill>
                            <a:srgbClr val="000000"/>
                          </a:solidFill>
                          <a:effectLst/>
                          <a:latin typeface="Times New Roman"/>
                        </a:rPr>
                        <a:t>SVG </a:t>
                      </a:r>
                      <a:endParaRPr lang="en-US" sz="2800" dirty="0">
                        <a:effectLst/>
                      </a:endParaRPr>
                    </a:p>
                  </a:txBody>
                  <a:tcPr anchor="ctr">
                    <a:lnL>
                      <a:noFill/>
                    </a:lnL>
                    <a:lnR>
                      <a:noFill/>
                    </a:lnR>
                    <a:lnT>
                      <a:noFill/>
                    </a:lnT>
                    <a:lnB>
                      <a:noFill/>
                    </a:lnB>
                  </a:tcPr>
                </a:tc>
                <a:tc>
                  <a:txBody>
                    <a:bodyPr/>
                    <a:lstStyle/>
                    <a:p>
                      <a:pPr marL="342900" indent="-342900">
                        <a:buFont typeface="Symbol" panose="05050102010706020507" pitchFamily="18" charset="2"/>
                        <a:buChar char="·"/>
                      </a:pPr>
                      <a:r>
                        <a:rPr lang="en-US" sz="2400" b="1" i="0" dirty="0">
                          <a:solidFill>
                            <a:srgbClr val="000000"/>
                          </a:solidFill>
                          <a:effectLst/>
                          <a:latin typeface="Times New Roman"/>
                        </a:rPr>
                        <a:t>SVG stand for Scalable Vector</a:t>
                      </a:r>
                      <a:r>
                        <a:rPr lang="en-US" sz="2400" b="1" i="0" baseline="0" dirty="0">
                          <a:solidFill>
                            <a:srgbClr val="000000"/>
                          </a:solidFill>
                          <a:effectLst/>
                          <a:latin typeface="Times New Roman"/>
                        </a:rPr>
                        <a:t> </a:t>
                      </a:r>
                      <a:r>
                        <a:rPr lang="en-US" sz="2400" b="1" i="0" dirty="0">
                          <a:solidFill>
                            <a:srgbClr val="000000"/>
                          </a:solidFill>
                          <a:effectLst/>
                          <a:latin typeface="Times New Roman"/>
                        </a:rPr>
                        <a:t>Graphics</a:t>
                      </a:r>
                      <a:r>
                        <a:rPr lang="en-US" sz="2400" b="1" i="0" baseline="0" dirty="0">
                          <a:solidFill>
                            <a:srgbClr val="000000"/>
                          </a:solidFill>
                          <a:effectLst/>
                          <a:latin typeface="Times New Roman"/>
                        </a:rPr>
                        <a:t> </a:t>
                      </a:r>
                      <a:r>
                        <a:rPr lang="en-US" sz="2400" b="1" i="0" dirty="0">
                          <a:solidFill>
                            <a:srgbClr val="000000"/>
                          </a:solidFill>
                          <a:effectLst/>
                          <a:latin typeface="Times New Roman"/>
                        </a:rPr>
                        <a:t>Files</a:t>
                      </a:r>
                      <a:br>
                        <a:rPr lang="en-US" sz="2400" b="1" i="0" dirty="0">
                          <a:solidFill>
                            <a:srgbClr val="000000"/>
                          </a:solidFill>
                          <a:effectLst/>
                          <a:latin typeface="Times New Roman"/>
                        </a:rPr>
                      </a:br>
                      <a:r>
                        <a:rPr lang="en-US" sz="2400" b="0" i="0" dirty="0">
                          <a:solidFill>
                            <a:srgbClr val="000000"/>
                          </a:solidFill>
                          <a:effectLst/>
                          <a:latin typeface="Symbol"/>
                        </a:rPr>
                        <a:t> </a:t>
                      </a:r>
                      <a:r>
                        <a:rPr lang="en-US" sz="2400" b="0" i="0" kern="1200" dirty="0">
                          <a:solidFill>
                            <a:schemeClr val="tx1"/>
                          </a:solidFill>
                          <a:effectLst/>
                          <a:latin typeface="+mn-lt"/>
                          <a:ea typeface="+mn-ea"/>
                          <a:cs typeface="+mn-cs"/>
                        </a:rPr>
                        <a:t>This file type is most common in website design. If you're designing a logo or graphic for a client's website or your company's website, you may work with SVG files. </a:t>
                      </a:r>
                    </a:p>
                    <a:p>
                      <a:pPr marL="342900" indent="-342900">
                        <a:buFont typeface="Symbol" panose="05050102010706020507" pitchFamily="18" charset="2"/>
                        <a:buChar char="·"/>
                      </a:pPr>
                      <a:r>
                        <a:rPr lang="en-US" sz="2400" b="0" i="0" kern="1200" dirty="0">
                          <a:solidFill>
                            <a:schemeClr val="tx1"/>
                          </a:solidFill>
                          <a:effectLst/>
                          <a:latin typeface="+mn-lt"/>
                          <a:ea typeface="+mn-ea"/>
                          <a:cs typeface="+mn-cs"/>
                        </a:rPr>
                        <a:t>This extension supports smaller image files and short animations. This file type maintains a clear resolution and may work well with search engines, which could help clients find your graphic.</a:t>
                      </a:r>
                      <a:endParaRPr lang="en-US" sz="2400" dirty="0">
                        <a:effectLst/>
                      </a:endParaRPr>
                    </a:p>
                  </a:txBody>
                  <a:tcPr anchor="ctr">
                    <a:lnL>
                      <a:noFill/>
                    </a:lnL>
                    <a:lnR>
                      <a:noFill/>
                    </a:lnR>
                    <a:lnT>
                      <a:noFill/>
                    </a:lnT>
                    <a:lnB>
                      <a:noFill/>
                    </a:lnB>
                  </a:tcPr>
                </a:tc>
                <a:extLst>
                  <a:ext uri="{0D108BD9-81ED-4DB2-BD59-A6C34878D82A}">
                    <a16:rowId xmlns:a16="http://schemas.microsoft.com/office/drawing/2014/main" val="10001"/>
                  </a:ext>
                </a:extLst>
              </a:tr>
              <a:tr h="1295400">
                <a:tc>
                  <a:txBody>
                    <a:bodyPr/>
                    <a:lstStyle/>
                    <a:p>
                      <a:r>
                        <a:rPr lang="en-US" sz="2800" b="1" i="0" dirty="0">
                          <a:solidFill>
                            <a:srgbClr val="000000"/>
                          </a:solidFill>
                          <a:effectLst/>
                          <a:latin typeface="Times New Roman"/>
                        </a:rPr>
                        <a:t>EPS </a:t>
                      </a:r>
                      <a:endParaRPr lang="en-US" sz="2800" dirty="0">
                        <a:effectLst/>
                      </a:endParaRPr>
                    </a:p>
                  </a:txBody>
                  <a:tcPr anchor="ctr">
                    <a:lnL>
                      <a:noFill/>
                    </a:lnL>
                    <a:lnR>
                      <a:noFill/>
                    </a:lnR>
                    <a:lnT>
                      <a:noFill/>
                    </a:lnT>
                    <a:lnB>
                      <a:noFill/>
                    </a:lnB>
                  </a:tcPr>
                </a:tc>
                <a:tc>
                  <a:txBody>
                    <a:bodyPr/>
                    <a:lstStyle/>
                    <a:p>
                      <a:r>
                        <a:rPr lang="en-US" sz="2400" b="0" i="0" dirty="0">
                          <a:solidFill>
                            <a:srgbClr val="000000"/>
                          </a:solidFill>
                          <a:effectLst/>
                          <a:latin typeface="Symbol"/>
                        </a:rPr>
                        <a:t> </a:t>
                      </a:r>
                      <a:r>
                        <a:rPr lang="en-US" sz="2400" b="1" i="0" dirty="0">
                          <a:solidFill>
                            <a:srgbClr val="000000"/>
                          </a:solidFill>
                          <a:effectLst/>
                          <a:latin typeface="Times New Roman"/>
                        </a:rPr>
                        <a:t>EPS </a:t>
                      </a:r>
                      <a:r>
                        <a:rPr lang="en-US" sz="2400" b="0" i="0" dirty="0">
                          <a:solidFill>
                            <a:srgbClr val="000000"/>
                          </a:solidFill>
                          <a:effectLst/>
                          <a:latin typeface="Times New Roman"/>
                        </a:rPr>
                        <a:t>stands for Encapsulated PostScript</a:t>
                      </a:r>
                      <a:br>
                        <a:rPr lang="en-US" sz="2400" b="0" i="0" dirty="0">
                          <a:solidFill>
                            <a:srgbClr val="000000"/>
                          </a:solidFill>
                          <a:effectLst/>
                          <a:latin typeface="Times New Roman"/>
                        </a:rPr>
                      </a:br>
                      <a:r>
                        <a:rPr lang="en-US" sz="2400" b="0" i="0" dirty="0">
                          <a:solidFill>
                            <a:srgbClr val="000000"/>
                          </a:solidFill>
                          <a:effectLst/>
                          <a:latin typeface="Symbol"/>
                        </a:rPr>
                        <a:t> </a:t>
                      </a:r>
                      <a:r>
                        <a:rPr lang="en-US" sz="2400" b="0" i="0" dirty="0">
                          <a:solidFill>
                            <a:srgbClr val="000000"/>
                          </a:solidFill>
                          <a:effectLst/>
                          <a:latin typeface="Times New Roman"/>
                        </a:rPr>
                        <a:t>Used in vector-based images in Adobe</a:t>
                      </a:r>
                      <a:br>
                        <a:rPr lang="en-US" sz="2400" b="0" i="0" dirty="0">
                          <a:solidFill>
                            <a:srgbClr val="000000"/>
                          </a:solidFill>
                          <a:effectLst/>
                          <a:latin typeface="Times New Roman"/>
                        </a:rPr>
                      </a:br>
                      <a:r>
                        <a:rPr lang="en-US" sz="2400" b="0" i="0" dirty="0">
                          <a:solidFill>
                            <a:srgbClr val="000000"/>
                          </a:solidFill>
                          <a:effectLst/>
                          <a:latin typeface="Times New Roman"/>
                        </a:rPr>
                        <a:t>Illustrator</a:t>
                      </a:r>
                      <a:endParaRPr lang="en-US" sz="2400" dirty="0">
                        <a:effectLst/>
                      </a:endParaRPr>
                    </a:p>
                  </a:txBody>
                  <a:tcPr anchor="ctr">
                    <a:lnL>
                      <a:noFill/>
                    </a:lnL>
                    <a:lnR>
                      <a:noFill/>
                    </a:lnR>
                    <a:lnT>
                      <a:noFill/>
                    </a:lnT>
                    <a:lnB>
                      <a:noFill/>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23578990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1.1.4 Describing application formats</a:t>
            </a:r>
            <a:endParaRPr lang="en-US" dirty="0"/>
          </a:p>
        </p:txBody>
      </p:sp>
      <p:sp>
        <p:nvSpPr>
          <p:cNvPr id="3" name="Content Placeholder 2"/>
          <p:cNvSpPr>
            <a:spLocks noGrp="1"/>
          </p:cNvSpPr>
          <p:nvPr>
            <p:ph idx="1"/>
          </p:nvPr>
        </p:nvSpPr>
        <p:spPr/>
        <p:txBody>
          <a:bodyPr>
            <a:normAutofit/>
          </a:bodyPr>
          <a:lstStyle/>
          <a:p>
            <a:r>
              <a:rPr lang="en-US" dirty="0"/>
              <a:t> </a:t>
            </a:r>
            <a:r>
              <a:rPr lang="en-US" b="1" dirty="0"/>
              <a:t>Photoshop(PSD)</a:t>
            </a:r>
          </a:p>
          <a:p>
            <a:r>
              <a:rPr lang="en-US" dirty="0"/>
              <a:t> stands for </a:t>
            </a:r>
            <a:r>
              <a:rPr lang="en-US" b="1" dirty="0"/>
              <a:t>Photoshop </a:t>
            </a:r>
            <a:r>
              <a:rPr lang="en-US" dirty="0"/>
              <a:t>Document</a:t>
            </a:r>
          </a:p>
          <a:p>
            <a:r>
              <a:rPr lang="en-US" dirty="0"/>
              <a:t>Is the default </a:t>
            </a:r>
            <a:r>
              <a:rPr lang="en-US" b="1" dirty="0"/>
              <a:t>format </a:t>
            </a:r>
            <a:r>
              <a:rPr lang="en-US" dirty="0"/>
              <a:t>that </a:t>
            </a:r>
            <a:r>
              <a:rPr lang="en-US" b="1" dirty="0"/>
              <a:t>Photoshop </a:t>
            </a:r>
            <a:r>
              <a:rPr lang="en-US" dirty="0"/>
              <a:t>uses for saving data?</a:t>
            </a:r>
          </a:p>
          <a:p>
            <a:r>
              <a:rPr lang="en-US" b="1" dirty="0"/>
              <a:t>PSD </a:t>
            </a:r>
            <a:r>
              <a:rPr lang="en-US" dirty="0"/>
              <a:t>is a proprietary </a:t>
            </a:r>
            <a:r>
              <a:rPr lang="en-US" b="1" dirty="0"/>
              <a:t>file </a:t>
            </a:r>
            <a:r>
              <a:rPr lang="en-US" dirty="0"/>
              <a:t>that allows the user to work with the images' individual layers even after the </a:t>
            </a:r>
            <a:r>
              <a:rPr lang="en-US" b="1" dirty="0"/>
              <a:t>file </a:t>
            </a:r>
            <a:r>
              <a:rPr lang="en-US" dirty="0"/>
              <a:t>has been saved.</a:t>
            </a:r>
            <a:br>
              <a:rPr lang="en-US" dirty="0"/>
            </a:br>
            <a:endParaRPr lang="en-US" dirty="0"/>
          </a:p>
        </p:txBody>
      </p:sp>
    </p:spTree>
    <p:extLst>
      <p:ext uri="{BB962C8B-B14F-4D97-AF65-F5344CB8AC3E}">
        <p14:creationId xmlns:p14="http://schemas.microsoft.com/office/powerpoint/2010/main" val="223211550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b="1" dirty="0"/>
              <a:t>PSB</a:t>
            </a:r>
            <a:br>
              <a:rPr lang="en-US" b="1" dirty="0"/>
            </a:br>
            <a:r>
              <a:rPr lang="en-US" dirty="0"/>
              <a:t> Stands for (Photoshop Big)</a:t>
            </a:r>
          </a:p>
          <a:p>
            <a:r>
              <a:rPr lang="en-US" dirty="0"/>
              <a:t>File extension is an Adobe Photoshop Large Document file.</a:t>
            </a:r>
          </a:p>
          <a:p>
            <a:r>
              <a:rPr lang="en-US" b="1" dirty="0"/>
              <a:t>Illustrator (AI)</a:t>
            </a:r>
          </a:p>
          <a:p>
            <a:r>
              <a:rPr lang="en-US" dirty="0"/>
              <a:t> </a:t>
            </a:r>
            <a:r>
              <a:rPr lang="en-US" b="1" dirty="0"/>
              <a:t>AI file extension </a:t>
            </a:r>
            <a:r>
              <a:rPr lang="en-US" dirty="0"/>
              <a:t>represents Adobe </a:t>
            </a:r>
            <a:r>
              <a:rPr lang="en-US" b="1" dirty="0"/>
              <a:t>Illustrator </a:t>
            </a:r>
            <a:r>
              <a:rPr lang="en-US" dirty="0"/>
              <a:t>Artwork </a:t>
            </a:r>
            <a:r>
              <a:rPr lang="en-US" b="1" dirty="0"/>
              <a:t>file</a:t>
            </a:r>
            <a:r>
              <a:rPr lang="en-US" dirty="0"/>
              <a:t>. </a:t>
            </a:r>
          </a:p>
          <a:p>
            <a:r>
              <a:rPr lang="en-US" dirty="0"/>
              <a:t>This graphics </a:t>
            </a:r>
            <a:r>
              <a:rPr lang="en-US" b="1" dirty="0"/>
              <a:t>file </a:t>
            </a:r>
            <a:r>
              <a:rPr lang="en-US" dirty="0"/>
              <a:t>is a creation of Adobe systems for containing </a:t>
            </a:r>
            <a:r>
              <a:rPr lang="en-US" b="1" dirty="0"/>
              <a:t>vector </a:t>
            </a:r>
            <a:r>
              <a:rPr lang="en-US" dirty="0"/>
              <a:t>based graphics in a single page.</a:t>
            </a:r>
            <a:br>
              <a:rPr lang="en-US" dirty="0"/>
            </a:br>
            <a:endParaRPr lang="en-US" dirty="0"/>
          </a:p>
        </p:txBody>
      </p:sp>
    </p:spTree>
    <p:extLst>
      <p:ext uri="{BB962C8B-B14F-4D97-AF65-F5344CB8AC3E}">
        <p14:creationId xmlns:p14="http://schemas.microsoft.com/office/powerpoint/2010/main" val="195881084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dirty="0"/>
              <a:t> </a:t>
            </a:r>
            <a:r>
              <a:rPr lang="en-US" b="1" dirty="0"/>
              <a:t>InDesign(INDD)</a:t>
            </a:r>
          </a:p>
          <a:p>
            <a:r>
              <a:rPr lang="en-US" dirty="0"/>
              <a:t>An </a:t>
            </a:r>
            <a:r>
              <a:rPr lang="en-US" b="1" dirty="0"/>
              <a:t>INDD file </a:t>
            </a:r>
            <a:r>
              <a:rPr lang="en-US" dirty="0"/>
              <a:t>is a professional page layout project created with Adobe InDesign.</a:t>
            </a:r>
          </a:p>
          <a:p>
            <a:r>
              <a:rPr lang="en-US" dirty="0"/>
              <a:t> It includes page formatting information, page content, linked </a:t>
            </a:r>
            <a:r>
              <a:rPr lang="en-US" b="1" dirty="0"/>
              <a:t>files</a:t>
            </a:r>
            <a:r>
              <a:rPr lang="en-US" dirty="0"/>
              <a:t>, styles, and swatches.</a:t>
            </a:r>
          </a:p>
          <a:p>
            <a:r>
              <a:rPr lang="en-US" b="1" dirty="0"/>
              <a:t>INDD files </a:t>
            </a:r>
            <a:r>
              <a:rPr lang="en-US" dirty="0"/>
              <a:t>are commonly used for creating and formatting books, magazines, newspapers, flyers, and brochures. </a:t>
            </a:r>
            <a:br>
              <a:rPr lang="en-US" dirty="0"/>
            </a:br>
            <a:endParaRPr lang="en-US" dirty="0"/>
          </a:p>
          <a:p>
            <a:endParaRPr lang="en-US" dirty="0"/>
          </a:p>
        </p:txBody>
      </p:sp>
    </p:spTree>
    <p:extLst>
      <p:ext uri="{BB962C8B-B14F-4D97-AF65-F5344CB8AC3E}">
        <p14:creationId xmlns:p14="http://schemas.microsoft.com/office/powerpoint/2010/main" val="160670818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L.U 3: Apply illustrator basics</a:t>
            </a:r>
            <a:r>
              <a:rPr lang="en-US" dirty="0"/>
              <a:t> </a:t>
            </a:r>
            <a:endParaRPr lang="en-US" b="1" dirty="0"/>
          </a:p>
        </p:txBody>
      </p:sp>
      <p:sp>
        <p:nvSpPr>
          <p:cNvPr id="3" name="Content Placeholder 2"/>
          <p:cNvSpPr>
            <a:spLocks noGrp="1"/>
          </p:cNvSpPr>
          <p:nvPr>
            <p:ph idx="1"/>
          </p:nvPr>
        </p:nvSpPr>
        <p:spPr/>
        <p:txBody>
          <a:bodyPr>
            <a:normAutofit fontScale="85000" lnSpcReduction="10000"/>
          </a:bodyPr>
          <a:lstStyle/>
          <a:p>
            <a:r>
              <a:rPr lang="en-US" b="1" dirty="0"/>
              <a:t>Adobe Illustrator </a:t>
            </a:r>
            <a:r>
              <a:rPr lang="en-US" dirty="0"/>
              <a:t>is a popular software application frequently used by artists ,graphic designers, web designers, and illustrators to create </a:t>
            </a:r>
            <a:r>
              <a:rPr lang="en-US" b="1" dirty="0"/>
              <a:t>vector</a:t>
            </a:r>
            <a:r>
              <a:rPr lang="en-US" dirty="0"/>
              <a:t> </a:t>
            </a:r>
            <a:r>
              <a:rPr lang="en-US" b="1" dirty="0"/>
              <a:t>graphics/illustrations (any thing you can imagine).</a:t>
            </a:r>
            <a:r>
              <a:rPr lang="en-US" dirty="0"/>
              <a:t> </a:t>
            </a:r>
          </a:p>
          <a:p>
            <a:r>
              <a:rPr lang="en-US" dirty="0"/>
              <a:t>It offers sophisticated digital drawing tools for creating logos, icons, drawings, typography, and complex illustrations for any medium.</a:t>
            </a:r>
          </a:p>
          <a:p>
            <a:r>
              <a:rPr lang="en-US" b="1" dirty="0"/>
              <a:t>Vector graphics </a:t>
            </a:r>
            <a:r>
              <a:rPr lang="en-US" dirty="0"/>
              <a:t>is a form of computer graphics in which visual images are created directly from geometric shapes defined on a Cartesian plane, such as points, lines, curves and polygons.</a:t>
            </a:r>
          </a:p>
          <a:p>
            <a:endParaRPr lang="en-US" dirty="0"/>
          </a:p>
        </p:txBody>
      </p:sp>
    </p:spTree>
    <p:extLst>
      <p:ext uri="{BB962C8B-B14F-4D97-AF65-F5344CB8AC3E}">
        <p14:creationId xmlns:p14="http://schemas.microsoft.com/office/powerpoint/2010/main" val="125838510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terms in illustrator</a:t>
            </a:r>
          </a:p>
        </p:txBody>
      </p:sp>
      <p:sp>
        <p:nvSpPr>
          <p:cNvPr id="3" name="Content Placeholder 2"/>
          <p:cNvSpPr>
            <a:spLocks noGrp="1"/>
          </p:cNvSpPr>
          <p:nvPr>
            <p:ph idx="1"/>
          </p:nvPr>
        </p:nvSpPr>
        <p:spPr/>
        <p:txBody>
          <a:bodyPr>
            <a:normAutofit fontScale="62500" lnSpcReduction="20000"/>
          </a:bodyPr>
          <a:lstStyle/>
          <a:p>
            <a:r>
              <a:rPr lang="en-US" b="1" dirty="0"/>
              <a:t>Path: A line in Illustrator </a:t>
            </a:r>
            <a:r>
              <a:rPr lang="en-US" dirty="0"/>
              <a:t>is called a </a:t>
            </a:r>
            <a:r>
              <a:rPr lang="en-US" b="1" dirty="0"/>
              <a:t>path</a:t>
            </a:r>
            <a:r>
              <a:rPr lang="en-US" dirty="0"/>
              <a:t> which is composed of at least two anchor points, a start and an end anchor point.</a:t>
            </a:r>
          </a:p>
          <a:p>
            <a:r>
              <a:rPr lang="en-US" b="1" dirty="0"/>
              <a:t>Artboard</a:t>
            </a:r>
            <a:r>
              <a:rPr lang="en-US" dirty="0"/>
              <a:t>: In Illustrator, an artboard is </a:t>
            </a:r>
            <a:r>
              <a:rPr lang="en-US" b="1" dirty="0"/>
              <a:t>like a sheet of white paper that forms the base for your artistic work</a:t>
            </a:r>
            <a:r>
              <a:rPr lang="en-US" dirty="0"/>
              <a:t>. An Artboard in Illustrator </a:t>
            </a:r>
            <a:r>
              <a:rPr lang="en-US" b="1" dirty="0"/>
              <a:t>works like a physical piece of paper on a desk</a:t>
            </a:r>
            <a:r>
              <a:rPr lang="en-US" dirty="0"/>
              <a:t>.</a:t>
            </a:r>
          </a:p>
          <a:p>
            <a:r>
              <a:rPr lang="en-US" dirty="0"/>
              <a:t>Simply </a:t>
            </a:r>
            <a:r>
              <a:rPr lang="en-US" b="1" dirty="0"/>
              <a:t>It's an empty space where you express your creativity in the digital world</a:t>
            </a:r>
            <a:r>
              <a:rPr lang="en-US" dirty="0"/>
              <a:t>.</a:t>
            </a:r>
          </a:p>
          <a:p>
            <a:r>
              <a:rPr lang="en-US" b="1" dirty="0"/>
              <a:t>An illustrator: </a:t>
            </a:r>
            <a:r>
              <a:rPr lang="en-US" dirty="0"/>
              <a:t>a person who draws pictures for books, magazines, </a:t>
            </a:r>
            <a:r>
              <a:rPr lang="en-US" dirty="0" err="1"/>
              <a:t>etc</a:t>
            </a:r>
            <a:endParaRPr lang="en-US" dirty="0"/>
          </a:p>
          <a:p>
            <a:r>
              <a:rPr lang="en-US" b="1" dirty="0"/>
              <a:t>Artwork: </a:t>
            </a:r>
            <a:r>
              <a:rPr lang="en-US" dirty="0"/>
              <a:t>something that is created with imagination and skill and that is beautiful or that expresses important ideas or feelings</a:t>
            </a:r>
          </a:p>
          <a:p>
            <a:r>
              <a:rPr lang="en-US" dirty="0"/>
              <a:t>Or</a:t>
            </a:r>
          </a:p>
          <a:p>
            <a:r>
              <a:rPr lang="en-US" b="1" dirty="0"/>
              <a:t>The </a:t>
            </a:r>
            <a:r>
              <a:rPr lang="en-US" b="1" dirty="0">
                <a:hlinkClick r:id="rId2" tooltip="pieces"/>
              </a:rPr>
              <a:t>pieces</a:t>
            </a:r>
            <a:r>
              <a:rPr lang="en-US" b="1" dirty="0"/>
              <a:t> of </a:t>
            </a:r>
            <a:r>
              <a:rPr lang="en-US" b="1" dirty="0">
                <a:hlinkClick r:id="rId3" tooltip="art"/>
              </a:rPr>
              <a:t>art</a:t>
            </a:r>
            <a:r>
              <a:rPr lang="en-US" b="1" dirty="0"/>
              <a:t>, such as </a:t>
            </a:r>
            <a:r>
              <a:rPr lang="en-US" b="1" dirty="0">
                <a:hlinkClick r:id="rId4" tooltip="drawings"/>
              </a:rPr>
              <a:t>drawings</a:t>
            </a:r>
            <a:r>
              <a:rPr lang="en-US" b="1" dirty="0"/>
              <a:t> and </a:t>
            </a:r>
            <a:r>
              <a:rPr lang="en-US" b="1" dirty="0">
                <a:hlinkClick r:id="rId5" tooltip="photographs"/>
              </a:rPr>
              <a:t>photographs</a:t>
            </a:r>
            <a:r>
              <a:rPr lang="en-US" b="1" dirty="0"/>
              <a:t>, that are used in </a:t>
            </a:r>
            <a:r>
              <a:rPr lang="en-US" b="1" dirty="0">
                <a:hlinkClick r:id="rId6" tooltip="books"/>
              </a:rPr>
              <a:t>books</a:t>
            </a:r>
            <a:r>
              <a:rPr lang="en-US" b="1" dirty="0"/>
              <a:t>, </a:t>
            </a:r>
            <a:r>
              <a:rPr lang="en-US" b="1" dirty="0">
                <a:hlinkClick r:id="rId7" tooltip="newspapers"/>
              </a:rPr>
              <a:t>newspapers</a:t>
            </a:r>
            <a:r>
              <a:rPr lang="en-US" b="1" dirty="0"/>
              <a:t>, and </a:t>
            </a:r>
            <a:r>
              <a:rPr lang="en-US" b="1" dirty="0">
                <a:hlinkClick r:id="rId8" tooltip="magazines"/>
              </a:rPr>
              <a:t>magazines</a:t>
            </a:r>
            <a:r>
              <a:rPr lang="en-US" b="1" dirty="0"/>
              <a:t>,..</a:t>
            </a:r>
          </a:p>
          <a:p>
            <a:r>
              <a:rPr lang="en-US" b="1" dirty="0"/>
              <a:t>Art</a:t>
            </a:r>
            <a:r>
              <a:rPr lang="en-US" dirty="0"/>
              <a:t> is the expression of ideas and emotions through a physical medium, like </a:t>
            </a:r>
            <a:r>
              <a:rPr lang="en-US" b="1" dirty="0"/>
              <a:t>painting</a:t>
            </a:r>
            <a:r>
              <a:rPr lang="en-US" dirty="0"/>
              <a:t>, sculpture, film, dance, writing, photography, or theatre.</a:t>
            </a:r>
            <a:endParaRPr lang="en-US" b="1" dirty="0"/>
          </a:p>
        </p:txBody>
      </p:sp>
    </p:spTree>
    <p:extLst>
      <p:ext uri="{BB962C8B-B14F-4D97-AF65-F5344CB8AC3E}">
        <p14:creationId xmlns:p14="http://schemas.microsoft.com/office/powerpoint/2010/main" val="248448451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What is vector-based imaging mean?</a:t>
            </a:r>
          </a:p>
        </p:txBody>
      </p:sp>
      <p:sp>
        <p:nvSpPr>
          <p:cNvPr id="3" name="Content Placeholder 2"/>
          <p:cNvSpPr>
            <a:spLocks noGrp="1"/>
          </p:cNvSpPr>
          <p:nvPr>
            <p:ph idx="1"/>
          </p:nvPr>
        </p:nvSpPr>
        <p:spPr/>
        <p:txBody>
          <a:bodyPr/>
          <a:lstStyle/>
          <a:p>
            <a:r>
              <a:rPr lang="en-US" dirty="0"/>
              <a:t>It means that your image can be scaled  it can be scaled to any size without losing quality.</a:t>
            </a:r>
          </a:p>
          <a:p>
            <a:r>
              <a:rPr lang="en-US" dirty="0"/>
              <a:t>This allows for flexible artwork that can be used at various different sizes. </a:t>
            </a:r>
          </a:p>
          <a:p>
            <a:r>
              <a:rPr lang="en-US" dirty="0"/>
              <a:t>In contrast, </a:t>
            </a:r>
            <a:r>
              <a:rPr lang="en-US" b="1" dirty="0"/>
              <a:t>bitmap images </a:t>
            </a:r>
            <a:r>
              <a:rPr lang="en-US" dirty="0"/>
              <a:t>(also known as </a:t>
            </a:r>
            <a:r>
              <a:rPr lang="en-US" b="1" dirty="0"/>
              <a:t>raster images</a:t>
            </a:r>
            <a:r>
              <a:rPr lang="en-US" dirty="0"/>
              <a:t>) are made up of pixels, which can become blurry or distorted when they are enlarged.</a:t>
            </a:r>
          </a:p>
        </p:txBody>
      </p:sp>
    </p:spTree>
    <p:extLst>
      <p:ext uri="{BB962C8B-B14F-4D97-AF65-F5344CB8AC3E}">
        <p14:creationId xmlns:p14="http://schemas.microsoft.com/office/powerpoint/2010/main" val="137024879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What is Adobe Illustrator used for? </a:t>
            </a:r>
            <a:br>
              <a:rPr lang="en-US" b="1" dirty="0"/>
            </a:br>
            <a:endParaRPr lang="en-US" dirty="0"/>
          </a:p>
        </p:txBody>
      </p:sp>
      <p:sp>
        <p:nvSpPr>
          <p:cNvPr id="3" name="Content Placeholder 2"/>
          <p:cNvSpPr>
            <a:spLocks noGrp="1"/>
          </p:cNvSpPr>
          <p:nvPr>
            <p:ph idx="1"/>
          </p:nvPr>
        </p:nvSpPr>
        <p:spPr/>
        <p:txBody>
          <a:bodyPr>
            <a:normAutofit fontScale="92500"/>
          </a:bodyPr>
          <a:lstStyle/>
          <a:p>
            <a:r>
              <a:rPr lang="en-US" dirty="0"/>
              <a:t>Illustrator is used to create scalable vector art for using projects for both print and web. </a:t>
            </a:r>
          </a:p>
          <a:p>
            <a:r>
              <a:rPr lang="en-US" dirty="0"/>
              <a:t>Adobe Illustrator is commonly used to create logos, promotional or branded content, icons, website graphics, digital artwork, and more. </a:t>
            </a:r>
          </a:p>
          <a:p>
            <a:r>
              <a:rPr lang="en-US" dirty="0"/>
              <a:t>It is popular in the business world for graphic design projects related to marketing, advertising, and branding, as well as with artists who create digital artwork personally and professionally. </a:t>
            </a:r>
          </a:p>
          <a:p>
            <a:endParaRPr lang="en-US" dirty="0"/>
          </a:p>
          <a:p>
            <a:endParaRPr lang="en-US" dirty="0"/>
          </a:p>
        </p:txBody>
      </p:sp>
    </p:spTree>
    <p:extLst>
      <p:ext uri="{BB962C8B-B14F-4D97-AF65-F5344CB8AC3E}">
        <p14:creationId xmlns:p14="http://schemas.microsoft.com/office/powerpoint/2010/main" val="217356217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Introduction: Creating a Workspace </a:t>
            </a:r>
            <a:br>
              <a:rPr lang="en-US" dirty="0"/>
            </a:br>
            <a:r>
              <a:rPr lang="en-US" dirty="0"/>
              <a:t>Illustrator Workspace Overview</a:t>
            </a:r>
            <a:br>
              <a:rPr lang="en-US" dirty="0"/>
            </a:br>
            <a:endParaRPr lang="en-US" dirty="0"/>
          </a:p>
        </p:txBody>
      </p:sp>
      <p:sp>
        <p:nvSpPr>
          <p:cNvPr id="3" name="Content Placeholder 2"/>
          <p:cNvSpPr>
            <a:spLocks noGrp="1"/>
          </p:cNvSpPr>
          <p:nvPr>
            <p:ph idx="1"/>
          </p:nvPr>
        </p:nvSpPr>
        <p:spPr/>
        <p:txBody>
          <a:bodyPr>
            <a:normAutofit/>
          </a:bodyPr>
          <a:lstStyle/>
          <a:p>
            <a:r>
              <a:rPr lang="en-US" dirty="0"/>
              <a:t>The Adobe Illustrator has an efficient work area and user interface to create and edit our designs and artwork for print, using on the web, and on mobile devices.</a:t>
            </a:r>
          </a:p>
          <a:p>
            <a:pPr marL="0" indent="0">
              <a:buNone/>
            </a:pPr>
            <a:br>
              <a:rPr lang="en-US" dirty="0"/>
            </a:br>
            <a:endParaRPr lang="en-US" dirty="0"/>
          </a:p>
        </p:txBody>
      </p:sp>
    </p:spTree>
    <p:extLst>
      <p:ext uri="{BB962C8B-B14F-4D97-AF65-F5344CB8AC3E}">
        <p14:creationId xmlns:p14="http://schemas.microsoft.com/office/powerpoint/2010/main" val="56600215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3881" y="304800"/>
            <a:ext cx="9050119" cy="6324600"/>
          </a:xfrm>
          <a:prstGeom prst="rect">
            <a:avLst/>
          </a:prstGeom>
        </p:spPr>
      </p:pic>
    </p:spTree>
    <p:extLst>
      <p:ext uri="{BB962C8B-B14F-4D97-AF65-F5344CB8AC3E}">
        <p14:creationId xmlns:p14="http://schemas.microsoft.com/office/powerpoint/2010/main" val="276353453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Create a new document in Illustrator</a:t>
            </a:r>
            <a:br>
              <a:rPr lang="en-US" b="1" dirty="0"/>
            </a:br>
            <a:endParaRPr lang="en-US" dirty="0"/>
          </a:p>
        </p:txBody>
      </p:sp>
      <p:sp>
        <p:nvSpPr>
          <p:cNvPr id="3" name="Content Placeholder 2"/>
          <p:cNvSpPr>
            <a:spLocks noGrp="1"/>
          </p:cNvSpPr>
          <p:nvPr>
            <p:ph idx="1"/>
          </p:nvPr>
        </p:nvSpPr>
        <p:spPr/>
        <p:txBody>
          <a:bodyPr/>
          <a:lstStyle/>
          <a:p>
            <a:r>
              <a:rPr lang="en-US" dirty="0"/>
              <a:t>1) Launch Adobe Illustrator. </a:t>
            </a:r>
          </a:p>
          <a:p>
            <a:r>
              <a:rPr lang="en-US" dirty="0"/>
              <a:t>2) Go to File &gt; New... </a:t>
            </a:r>
          </a:p>
          <a:p>
            <a:r>
              <a:rPr lang="en-US" dirty="0"/>
              <a:t>3) A dialog box will appear that will allow you to set the parameters for your file. </a:t>
            </a:r>
          </a:p>
          <a:p>
            <a:r>
              <a:rPr lang="en-US" dirty="0"/>
              <a:t>In Illustrator, you work with Artboards. Note that you can easily change the size of your artboard as you work on it if you need more space</a:t>
            </a:r>
          </a:p>
        </p:txBody>
      </p:sp>
    </p:spTree>
    <p:extLst>
      <p:ext uri="{BB962C8B-B14F-4D97-AF65-F5344CB8AC3E}">
        <p14:creationId xmlns:p14="http://schemas.microsoft.com/office/powerpoint/2010/main" val="389712997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Give your file a name. For now, let’s start with 1 Artboard with the </a:t>
            </a:r>
            <a:r>
              <a:rPr lang="en-US" dirty="0" err="1"/>
              <a:t>dimensions</a:t>
            </a:r>
            <a:r>
              <a:rPr lang="en-US" dirty="0"/>
              <a:t> 600px by 600px. We’ll be working pixels, but feel free to work in any units you are most </a:t>
            </a:r>
            <a:r>
              <a:rPr lang="en-US" dirty="0" err="1"/>
              <a:t>comfortable</a:t>
            </a:r>
            <a:r>
              <a:rPr lang="en-US" dirty="0"/>
              <a:t> in. Lastly, we want it to be in Landscape </a:t>
            </a:r>
            <a:r>
              <a:rPr lang="en-US" dirty="0" err="1"/>
              <a:t>orientaion</a:t>
            </a:r>
            <a:r>
              <a:rPr lang="en-US" dirty="0"/>
              <a:t>. Once you’ve made all those adjustments, click OK</a:t>
            </a:r>
          </a:p>
        </p:txBody>
      </p:sp>
    </p:spTree>
    <p:extLst>
      <p:ext uri="{BB962C8B-B14F-4D97-AF65-F5344CB8AC3E}">
        <p14:creationId xmlns:p14="http://schemas.microsoft.com/office/powerpoint/2010/main" val="103892360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0" y="0"/>
            <a:ext cx="9144000" cy="6797623"/>
          </a:xfrm>
          <a:prstGeom prst="rect">
            <a:avLst/>
          </a:prstGeom>
        </p:spPr>
      </p:pic>
    </p:spTree>
    <p:extLst>
      <p:ext uri="{BB962C8B-B14F-4D97-AF65-F5344CB8AC3E}">
        <p14:creationId xmlns:p14="http://schemas.microsoft.com/office/powerpoint/2010/main" val="205808735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427037"/>
            <a:ext cx="8305800" cy="5745163"/>
          </a:xfrm>
        </p:spPr>
        <p:txBody>
          <a:bodyPr>
            <a:normAutofit fontScale="77500" lnSpcReduction="20000"/>
          </a:bodyPr>
          <a:lstStyle/>
          <a:p>
            <a:r>
              <a:rPr lang="en-US" b="1" dirty="0"/>
              <a:t>Color Mode:</a:t>
            </a:r>
            <a:r>
              <a:rPr lang="en-US" dirty="0"/>
              <a:t> The color mode for the new document will be specified using this option.</a:t>
            </a:r>
          </a:p>
          <a:p>
            <a:r>
              <a:rPr lang="en-US" dirty="0"/>
              <a:t> If we try to change the color mode, it will convert the default contents of the selected new document profile to a new color mode that results in a change of color-an information message will pop-up before applying the changes.</a:t>
            </a:r>
          </a:p>
          <a:p>
            <a:r>
              <a:rPr lang="en-US" b="1" dirty="0"/>
              <a:t>Raster Effects:</a:t>
            </a:r>
            <a:r>
              <a:rPr lang="en-US" dirty="0"/>
              <a:t> This option is used to specify the resolution for raster effects inside the document. </a:t>
            </a:r>
          </a:p>
          <a:p>
            <a:r>
              <a:rPr lang="en-US" dirty="0"/>
              <a:t>The raster effect is set to high by default. We can fix this to High when we all plan to give output to a high-end printer at very high resolution.</a:t>
            </a:r>
          </a:p>
          <a:p>
            <a:r>
              <a:rPr lang="en-US" b="1" dirty="0"/>
              <a:t>Transparency Grid:</a:t>
            </a:r>
            <a:r>
              <a:rPr lang="en-US" dirty="0"/>
              <a:t> This option is used to specify the prospects for the transparency grid for documents of the Video and Film profile.</a:t>
            </a:r>
          </a:p>
          <a:p>
            <a:r>
              <a:rPr lang="en-US" b="1" dirty="0"/>
              <a:t>Preview Mode:</a:t>
            </a:r>
            <a:r>
              <a:rPr lang="en-US" dirty="0"/>
              <a:t> The preview mode sets the default view for the document.</a:t>
            </a:r>
          </a:p>
        </p:txBody>
      </p:sp>
    </p:spTree>
    <p:extLst>
      <p:ext uri="{BB962C8B-B14F-4D97-AF65-F5344CB8AC3E}">
        <p14:creationId xmlns:p14="http://schemas.microsoft.com/office/powerpoint/2010/main" val="376906849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b="1" i="1" dirty="0"/>
              <a:t>Default</a:t>
            </a:r>
            <a:r>
              <a:rPr lang="en-US" i="1" dirty="0"/>
              <a:t>:</a:t>
            </a:r>
            <a:r>
              <a:rPr lang="en-US" dirty="0"/>
              <a:t> It displays artwork created in vector view inside the document with full color. Zoom in/out retains smoothness in the curves.</a:t>
            </a:r>
          </a:p>
          <a:p>
            <a:r>
              <a:rPr lang="en-US" b="1" i="1" dirty="0"/>
              <a:t>Pixel</a:t>
            </a:r>
            <a:r>
              <a:rPr lang="en-US" i="1" dirty="0"/>
              <a:t>:</a:t>
            </a:r>
            <a:r>
              <a:rPr lang="en-US" dirty="0"/>
              <a:t> The pixel mode displays artwork with a pixilated appearance. It is used to display a simulated preview.</a:t>
            </a:r>
          </a:p>
          <a:p>
            <a:r>
              <a:rPr lang="en-US" b="1" i="1" dirty="0"/>
              <a:t>Overprint</a:t>
            </a:r>
            <a:r>
              <a:rPr lang="en-US" i="1" dirty="0"/>
              <a:t>:</a:t>
            </a:r>
            <a:r>
              <a:rPr lang="en-US" dirty="0"/>
              <a:t> This mode is used to display an "ink preview," which helps to approximate that how transparency, blending and overprinting will appear in color-separated output.</a:t>
            </a:r>
          </a:p>
          <a:p>
            <a:endParaRPr lang="en-US" dirty="0"/>
          </a:p>
        </p:txBody>
      </p:sp>
    </p:spTree>
    <p:extLst>
      <p:ext uri="{BB962C8B-B14F-4D97-AF65-F5344CB8AC3E}">
        <p14:creationId xmlns:p14="http://schemas.microsoft.com/office/powerpoint/2010/main" val="301468747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Creating Shapes &amp; Adding Fill and Strokes</a:t>
            </a:r>
          </a:p>
        </p:txBody>
      </p:sp>
      <p:sp>
        <p:nvSpPr>
          <p:cNvPr id="3" name="Content Placeholder 2"/>
          <p:cNvSpPr>
            <a:spLocks noGrp="1"/>
          </p:cNvSpPr>
          <p:nvPr>
            <p:ph idx="1"/>
          </p:nvPr>
        </p:nvSpPr>
        <p:spPr>
          <a:xfrm>
            <a:off x="457200" y="1600200"/>
            <a:ext cx="8229600" cy="5105400"/>
          </a:xfrm>
        </p:spPr>
        <p:txBody>
          <a:bodyPr>
            <a:normAutofit/>
          </a:bodyPr>
          <a:lstStyle/>
          <a:p>
            <a:r>
              <a:rPr lang="en-US" dirty="0"/>
              <a:t>1) Click on the Rectangle Tool in the tool bar. If you click and hold on it on the toolbar, you’ll notice lots of different shape tools at your disposal. </a:t>
            </a:r>
          </a:p>
        </p:txBody>
      </p:sp>
      <p:pic>
        <p:nvPicPr>
          <p:cNvPr id="4" name="Picture 3"/>
          <p:cNvPicPr>
            <a:picLocks noChangeAspect="1"/>
          </p:cNvPicPr>
          <p:nvPr/>
        </p:nvPicPr>
        <p:blipFill>
          <a:blip r:embed="rId2"/>
          <a:stretch>
            <a:fillRect/>
          </a:stretch>
        </p:blipFill>
        <p:spPr>
          <a:xfrm>
            <a:off x="2590800" y="2971800"/>
            <a:ext cx="5879187" cy="3733800"/>
          </a:xfrm>
          <a:prstGeom prst="rect">
            <a:avLst/>
          </a:prstGeom>
        </p:spPr>
      </p:pic>
    </p:spTree>
    <p:extLst>
      <p:ext uri="{BB962C8B-B14F-4D97-AF65-F5344CB8AC3E}">
        <p14:creationId xmlns:p14="http://schemas.microsoft.com/office/powerpoint/2010/main" val="235240245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229600" cy="4525963"/>
          </a:xfrm>
        </p:spPr>
        <p:txBody>
          <a:bodyPr>
            <a:normAutofit/>
          </a:bodyPr>
          <a:lstStyle/>
          <a:p>
            <a:r>
              <a:rPr lang="en-US" dirty="0"/>
              <a:t>2) Click and drag until you’ve got the shape desired or double click on the screen until a dialog window shows up that allows you to input specific dimensions for your rectangle. </a:t>
            </a:r>
          </a:p>
          <a:p>
            <a:r>
              <a:rPr lang="en-US" dirty="0"/>
              <a:t>You can always adjust the size manually later by dragging the markers around the shape or on the top toolbar, you can adjust the width and height by inputting specific dimensions. </a:t>
            </a:r>
          </a:p>
        </p:txBody>
      </p:sp>
      <p:pic>
        <p:nvPicPr>
          <p:cNvPr id="4" name="Picture 3"/>
          <p:cNvPicPr>
            <a:picLocks noChangeAspect="1"/>
          </p:cNvPicPr>
          <p:nvPr/>
        </p:nvPicPr>
        <p:blipFill>
          <a:blip r:embed="rId2"/>
          <a:stretch>
            <a:fillRect/>
          </a:stretch>
        </p:blipFill>
        <p:spPr>
          <a:xfrm>
            <a:off x="1066800" y="5029200"/>
            <a:ext cx="7052963" cy="1447800"/>
          </a:xfrm>
          <a:prstGeom prst="rect">
            <a:avLst/>
          </a:prstGeom>
        </p:spPr>
      </p:pic>
    </p:spTree>
    <p:extLst>
      <p:ext uri="{BB962C8B-B14F-4D97-AF65-F5344CB8AC3E}">
        <p14:creationId xmlns:p14="http://schemas.microsoft.com/office/powerpoint/2010/main" val="364067477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a:bodyPr>
          <a:lstStyle/>
          <a:p>
            <a:r>
              <a:rPr lang="en-US" dirty="0"/>
              <a:t>3) Now, we need to change the stroke and fill of our shape. Feel free to make it any color you want. </a:t>
            </a:r>
          </a:p>
          <a:p>
            <a:r>
              <a:rPr lang="en-US" dirty="0"/>
              <a:t>You can access this in your side toolbar. It usually defaults to a white fill and black stroke. Let us double click on the fill box and change it to a sea foam green. </a:t>
            </a:r>
          </a:p>
        </p:txBody>
      </p:sp>
      <p:pic>
        <p:nvPicPr>
          <p:cNvPr id="4" name="Picture 3"/>
          <p:cNvPicPr>
            <a:picLocks noChangeAspect="1"/>
          </p:cNvPicPr>
          <p:nvPr/>
        </p:nvPicPr>
        <p:blipFill>
          <a:blip r:embed="rId2"/>
          <a:stretch>
            <a:fillRect/>
          </a:stretch>
        </p:blipFill>
        <p:spPr>
          <a:xfrm>
            <a:off x="4953000" y="3664634"/>
            <a:ext cx="2971800" cy="3169920"/>
          </a:xfrm>
          <a:prstGeom prst="rect">
            <a:avLst/>
          </a:prstGeom>
        </p:spPr>
      </p:pic>
    </p:spTree>
    <p:extLst>
      <p:ext uri="{BB962C8B-B14F-4D97-AF65-F5344CB8AC3E}">
        <p14:creationId xmlns:p14="http://schemas.microsoft.com/office/powerpoint/2010/main" val="350752748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81000"/>
            <a:ext cx="8382000" cy="5745163"/>
          </a:xfrm>
        </p:spPr>
        <p:txBody>
          <a:bodyPr/>
          <a:lstStyle/>
          <a:p>
            <a:r>
              <a:rPr lang="en-US" dirty="0"/>
              <a:t>4) Single click on the stroke box and click on the handy ‘No Fill’ button underneath the Stroke/Fill box. My Stroke and Fill now looks like this on the toolbar:</a:t>
            </a:r>
          </a:p>
        </p:txBody>
      </p:sp>
      <p:pic>
        <p:nvPicPr>
          <p:cNvPr id="4" name="Picture 3"/>
          <p:cNvPicPr>
            <a:picLocks noChangeAspect="1"/>
          </p:cNvPicPr>
          <p:nvPr/>
        </p:nvPicPr>
        <p:blipFill>
          <a:blip r:embed="rId2"/>
          <a:stretch>
            <a:fillRect/>
          </a:stretch>
        </p:blipFill>
        <p:spPr>
          <a:xfrm>
            <a:off x="4876800" y="2792412"/>
            <a:ext cx="2667000" cy="3333751"/>
          </a:xfrm>
          <a:prstGeom prst="rect">
            <a:avLst/>
          </a:prstGeom>
        </p:spPr>
      </p:pic>
    </p:spTree>
    <p:extLst>
      <p:ext uri="{BB962C8B-B14F-4D97-AF65-F5344CB8AC3E}">
        <p14:creationId xmlns:p14="http://schemas.microsoft.com/office/powerpoint/2010/main" val="39100160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5) My shape appears like this</a:t>
            </a:r>
          </a:p>
        </p:txBody>
      </p:sp>
      <p:pic>
        <p:nvPicPr>
          <p:cNvPr id="4" name="Picture 3"/>
          <p:cNvPicPr>
            <a:picLocks noChangeAspect="1"/>
          </p:cNvPicPr>
          <p:nvPr/>
        </p:nvPicPr>
        <p:blipFill>
          <a:blip r:embed="rId2"/>
          <a:stretch>
            <a:fillRect/>
          </a:stretch>
        </p:blipFill>
        <p:spPr>
          <a:xfrm>
            <a:off x="1752600" y="2514600"/>
            <a:ext cx="4803733" cy="3076073"/>
          </a:xfrm>
          <a:prstGeom prst="rect">
            <a:avLst/>
          </a:prstGeom>
        </p:spPr>
      </p:pic>
    </p:spTree>
    <p:extLst>
      <p:ext uri="{BB962C8B-B14F-4D97-AF65-F5344CB8AC3E}">
        <p14:creationId xmlns:p14="http://schemas.microsoft.com/office/powerpoint/2010/main" val="226135048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Using the Paintbrush Tool</a:t>
            </a:r>
          </a:p>
        </p:txBody>
      </p:sp>
      <p:sp>
        <p:nvSpPr>
          <p:cNvPr id="3" name="Content Placeholder 2"/>
          <p:cNvSpPr>
            <a:spLocks noGrp="1"/>
          </p:cNvSpPr>
          <p:nvPr>
            <p:ph idx="1"/>
          </p:nvPr>
        </p:nvSpPr>
        <p:spPr/>
        <p:txBody>
          <a:bodyPr/>
          <a:lstStyle/>
          <a:p>
            <a:r>
              <a:rPr lang="en-US" dirty="0"/>
              <a:t>To place a cursive lettering of the initials(created logo) on top of the rectangle in white. In this case, let us use the paintbrush tool. </a:t>
            </a:r>
          </a:p>
          <a:p>
            <a:r>
              <a:rPr lang="en-US" dirty="0"/>
              <a:t>Note: you can also use a premade type here, but we want ours to have a homemade look.</a:t>
            </a:r>
          </a:p>
        </p:txBody>
      </p:sp>
    </p:spTree>
    <p:extLst>
      <p:ext uri="{BB962C8B-B14F-4D97-AF65-F5344CB8AC3E}">
        <p14:creationId xmlns:p14="http://schemas.microsoft.com/office/powerpoint/2010/main" val="386468588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1) Open up the Paintbrush tool. </a:t>
            </a:r>
          </a:p>
          <a:p>
            <a:r>
              <a:rPr lang="en-US" dirty="0"/>
              <a:t>2) Hold and start painting on your artboard. </a:t>
            </a:r>
          </a:p>
          <a:p>
            <a:r>
              <a:rPr lang="en-US" dirty="0"/>
              <a:t>3) Change the stroke of your line to white. This is what mine looks like:</a:t>
            </a:r>
          </a:p>
        </p:txBody>
      </p:sp>
      <p:pic>
        <p:nvPicPr>
          <p:cNvPr id="4" name="Picture 3"/>
          <p:cNvPicPr>
            <a:picLocks noChangeAspect="1"/>
          </p:cNvPicPr>
          <p:nvPr/>
        </p:nvPicPr>
        <p:blipFill>
          <a:blip r:embed="rId2"/>
          <a:stretch>
            <a:fillRect/>
          </a:stretch>
        </p:blipFill>
        <p:spPr>
          <a:xfrm>
            <a:off x="6248400" y="1092200"/>
            <a:ext cx="1219200" cy="1015999"/>
          </a:xfrm>
          <a:prstGeom prst="rect">
            <a:avLst/>
          </a:prstGeom>
        </p:spPr>
      </p:pic>
      <p:pic>
        <p:nvPicPr>
          <p:cNvPr id="5" name="Picture 4"/>
          <p:cNvPicPr>
            <a:picLocks noChangeAspect="1"/>
          </p:cNvPicPr>
          <p:nvPr/>
        </p:nvPicPr>
        <p:blipFill>
          <a:blip r:embed="rId3"/>
          <a:stretch>
            <a:fillRect/>
          </a:stretch>
        </p:blipFill>
        <p:spPr>
          <a:xfrm>
            <a:off x="1676400" y="3898350"/>
            <a:ext cx="3677163" cy="1619476"/>
          </a:xfrm>
          <a:prstGeom prst="rect">
            <a:avLst/>
          </a:prstGeom>
        </p:spPr>
      </p:pic>
    </p:spTree>
    <p:extLst>
      <p:ext uri="{BB962C8B-B14F-4D97-AF65-F5344CB8AC3E}">
        <p14:creationId xmlns:p14="http://schemas.microsoft.com/office/powerpoint/2010/main" val="263276772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r>
              <a:rPr lang="en-US" dirty="0"/>
              <a:t>You can also make adjusts to the line you’ve created by going to your top toolbar, where you can change the fill/stroke, stoke line width, opacity, and style.</a:t>
            </a:r>
          </a:p>
          <a:p>
            <a:endParaRPr lang="en-US" dirty="0"/>
          </a:p>
          <a:p>
            <a:endParaRPr lang="en-US" dirty="0"/>
          </a:p>
          <a:p>
            <a:endParaRPr lang="en-US" dirty="0"/>
          </a:p>
          <a:p>
            <a:r>
              <a:rPr lang="en-US" dirty="0"/>
              <a:t>Illustrator gives you lots of options for preset styles. In this case, I’ve used the default 5pt. Round. If you click on the little triangle next to it, it will drop down a menu with different types of brushes that you can use.</a:t>
            </a:r>
          </a:p>
          <a:p>
            <a:endParaRPr lang="en-US" dirty="0"/>
          </a:p>
        </p:txBody>
      </p:sp>
      <p:pic>
        <p:nvPicPr>
          <p:cNvPr id="4" name="Picture 3"/>
          <p:cNvPicPr>
            <a:picLocks noChangeAspect="1"/>
          </p:cNvPicPr>
          <p:nvPr/>
        </p:nvPicPr>
        <p:blipFill>
          <a:blip r:embed="rId2"/>
          <a:stretch>
            <a:fillRect/>
          </a:stretch>
        </p:blipFill>
        <p:spPr>
          <a:xfrm>
            <a:off x="0" y="3124200"/>
            <a:ext cx="9144000" cy="984900"/>
          </a:xfrm>
          <a:prstGeom prst="rect">
            <a:avLst/>
          </a:prstGeom>
        </p:spPr>
      </p:pic>
    </p:spTree>
    <p:extLst>
      <p:ext uri="{BB962C8B-B14F-4D97-AF65-F5344CB8AC3E}">
        <p14:creationId xmlns:p14="http://schemas.microsoft.com/office/powerpoint/2010/main" val="349524227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Understanding &amp; Drawing Path Points</a:t>
            </a:r>
          </a:p>
        </p:txBody>
      </p:sp>
      <p:sp>
        <p:nvSpPr>
          <p:cNvPr id="3" name="Content Placeholder 2"/>
          <p:cNvSpPr>
            <a:spLocks noGrp="1"/>
          </p:cNvSpPr>
          <p:nvPr>
            <p:ph idx="1"/>
          </p:nvPr>
        </p:nvSpPr>
        <p:spPr/>
        <p:txBody>
          <a:bodyPr>
            <a:normAutofit/>
          </a:bodyPr>
          <a:lstStyle/>
          <a:p>
            <a:r>
              <a:rPr lang="en-US" b="1" dirty="0"/>
              <a:t>Paths </a:t>
            </a:r>
            <a:r>
              <a:rPr lang="en-US" dirty="0"/>
              <a:t>are the line segments that make up the overall structure of the artwork that you create (the skeleton).</a:t>
            </a:r>
          </a:p>
          <a:p>
            <a:r>
              <a:rPr lang="en-US" dirty="0"/>
              <a:t> For instance, a rectangle is made up of a path that has four vertical lines that all connect and there are four anchor points (the joints) in the corners. Every shape and object will have path and anchor points. </a:t>
            </a:r>
          </a:p>
        </p:txBody>
      </p:sp>
    </p:spTree>
    <p:extLst>
      <p:ext uri="{BB962C8B-B14F-4D97-AF65-F5344CB8AC3E}">
        <p14:creationId xmlns:p14="http://schemas.microsoft.com/office/powerpoint/2010/main" val="32065546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066800"/>
            <a:ext cx="8382000" cy="5059363"/>
          </a:xfrm>
        </p:spPr>
        <p:txBody>
          <a:bodyPr>
            <a:normAutofit/>
          </a:bodyPr>
          <a:lstStyle/>
          <a:p>
            <a:r>
              <a:rPr lang="en-US" dirty="0"/>
              <a:t>You can also draw your own paths using the Pen Tool, essentially creating your own artwork within Illustrator.</a:t>
            </a:r>
          </a:p>
          <a:p>
            <a:r>
              <a:rPr lang="en-US" dirty="0"/>
              <a:t> The Pen Tool has some advanced features, but we’re going to go over basics to using the Pen Tool. </a:t>
            </a:r>
          </a:p>
          <a:p>
            <a:r>
              <a:rPr lang="en-US" dirty="0"/>
              <a:t>Essentially, you are setting the dots and drawing the lines for your artwork object.</a:t>
            </a:r>
          </a:p>
          <a:p>
            <a:r>
              <a:rPr lang="en-US" dirty="0"/>
              <a:t> You can create both straight and curved lines. </a:t>
            </a:r>
          </a:p>
        </p:txBody>
      </p:sp>
    </p:spTree>
    <p:extLst>
      <p:ext uri="{BB962C8B-B14F-4D97-AF65-F5344CB8AC3E}">
        <p14:creationId xmlns:p14="http://schemas.microsoft.com/office/powerpoint/2010/main" val="146108181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28967" y="1435223"/>
            <a:ext cx="8990441" cy="3060577"/>
          </a:xfrm>
          <a:prstGeom prst="rect">
            <a:avLst/>
          </a:prstGeom>
        </p:spPr>
      </p:pic>
    </p:spTree>
    <p:extLst>
      <p:ext uri="{BB962C8B-B14F-4D97-AF65-F5344CB8AC3E}">
        <p14:creationId xmlns:p14="http://schemas.microsoft.com/office/powerpoint/2010/main" val="373718124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For my logo, I want to create some abstract shapes underneath my rectangle in different shades of green/blue, which will serve as the background for my title: “Graphic Designer &amp; Artist.” In this case, I just need to draw straight lines with the Pen tool.</a:t>
            </a:r>
          </a:p>
          <a:p>
            <a:endParaRPr lang="en-US" dirty="0"/>
          </a:p>
        </p:txBody>
      </p:sp>
    </p:spTree>
    <p:extLst>
      <p:ext uri="{BB962C8B-B14F-4D97-AF65-F5344CB8AC3E}">
        <p14:creationId xmlns:p14="http://schemas.microsoft.com/office/powerpoint/2010/main" val="342355393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r>
              <a:rPr lang="en-US" dirty="0"/>
              <a:t>1) Select the </a:t>
            </a:r>
            <a:r>
              <a:rPr lang="en-US" b="1" dirty="0"/>
              <a:t>Pen Tool</a:t>
            </a:r>
            <a:r>
              <a:rPr lang="en-US" dirty="0"/>
              <a:t>.</a:t>
            </a:r>
          </a:p>
          <a:p>
            <a:r>
              <a:rPr lang="en-US" dirty="0"/>
              <a:t> 2) Click anywhere to start drawing your object. </a:t>
            </a:r>
          </a:p>
          <a:p>
            <a:r>
              <a:rPr lang="en-US" dirty="0"/>
              <a:t>3) Continue clicking to create your object.</a:t>
            </a:r>
          </a:p>
          <a:p>
            <a:r>
              <a:rPr lang="en-US" dirty="0"/>
              <a:t> 4) To close your object, click back on the first point. You should see a small circle next to the Pen tool that indicates that you are closing your path. I’m going to continue making abstract shapes until it creates a big enough cluster to add my title. </a:t>
            </a:r>
          </a:p>
        </p:txBody>
      </p:sp>
    </p:spTree>
    <p:extLst>
      <p:ext uri="{BB962C8B-B14F-4D97-AF65-F5344CB8AC3E}">
        <p14:creationId xmlns:p14="http://schemas.microsoft.com/office/powerpoint/2010/main" val="415473463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209801" y="1590848"/>
            <a:ext cx="5105400" cy="4911171"/>
          </a:xfrm>
          <a:prstGeom prst="rect">
            <a:avLst/>
          </a:prstGeom>
        </p:spPr>
      </p:pic>
    </p:spTree>
    <p:extLst>
      <p:ext uri="{BB962C8B-B14F-4D97-AF65-F5344CB8AC3E}">
        <p14:creationId xmlns:p14="http://schemas.microsoft.com/office/powerpoint/2010/main" val="200608961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57200" y="1417637"/>
            <a:ext cx="7010400" cy="3830072"/>
          </a:xfrm>
          <a:prstGeom prst="rect">
            <a:avLst/>
          </a:prstGeom>
        </p:spPr>
      </p:pic>
    </p:spTree>
    <p:extLst>
      <p:ext uri="{BB962C8B-B14F-4D97-AF65-F5344CB8AC3E}">
        <p14:creationId xmlns:p14="http://schemas.microsoft.com/office/powerpoint/2010/main" val="266560820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My logo now looks like this:</a:t>
            </a:r>
          </a:p>
          <a:p>
            <a:endParaRPr lang="en-US" dirty="0"/>
          </a:p>
        </p:txBody>
      </p:sp>
      <p:pic>
        <p:nvPicPr>
          <p:cNvPr id="4" name="Picture 3"/>
          <p:cNvPicPr>
            <a:picLocks noChangeAspect="1"/>
          </p:cNvPicPr>
          <p:nvPr/>
        </p:nvPicPr>
        <p:blipFill>
          <a:blip r:embed="rId2"/>
          <a:stretch>
            <a:fillRect/>
          </a:stretch>
        </p:blipFill>
        <p:spPr>
          <a:xfrm>
            <a:off x="838200" y="2362200"/>
            <a:ext cx="7848600" cy="4293220"/>
          </a:xfrm>
          <a:prstGeom prst="rect">
            <a:avLst/>
          </a:prstGeom>
        </p:spPr>
      </p:pic>
    </p:spTree>
    <p:extLst>
      <p:ext uri="{BB962C8B-B14F-4D97-AF65-F5344CB8AC3E}">
        <p14:creationId xmlns:p14="http://schemas.microsoft.com/office/powerpoint/2010/main" val="219488036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a:t>When working with paths, you can adjust your anchor/paths by using the </a:t>
            </a:r>
            <a:r>
              <a:rPr lang="en-US" b="1" dirty="0"/>
              <a:t>Direct Selection Tool</a:t>
            </a:r>
            <a:r>
              <a:rPr lang="en-US" dirty="0"/>
              <a:t>. </a:t>
            </a:r>
          </a:p>
          <a:p>
            <a:endParaRPr lang="en-US" dirty="0"/>
          </a:p>
          <a:p>
            <a:pPr marL="0" indent="0">
              <a:buNone/>
            </a:pPr>
            <a:endParaRPr lang="en-US" dirty="0"/>
          </a:p>
          <a:p>
            <a:r>
              <a:rPr lang="en-US" dirty="0"/>
              <a:t>The Direct Selection Tool will allow you to select the points within a path and move them around. For instance, let’s say I draw that last shape and don’t like how it looks.</a:t>
            </a:r>
          </a:p>
          <a:p>
            <a:r>
              <a:rPr lang="en-US" dirty="0"/>
              <a:t> Instead of creating a whole new path, I can use the Direct Selection Tool to adjust the points. </a:t>
            </a:r>
          </a:p>
        </p:txBody>
      </p:sp>
      <p:pic>
        <p:nvPicPr>
          <p:cNvPr id="4" name="Picture 3"/>
          <p:cNvPicPr>
            <a:picLocks noChangeAspect="1"/>
          </p:cNvPicPr>
          <p:nvPr/>
        </p:nvPicPr>
        <p:blipFill>
          <a:blip r:embed="rId2"/>
          <a:stretch>
            <a:fillRect/>
          </a:stretch>
        </p:blipFill>
        <p:spPr>
          <a:xfrm>
            <a:off x="3352800" y="2286000"/>
            <a:ext cx="990600" cy="1083469"/>
          </a:xfrm>
          <a:prstGeom prst="rect">
            <a:avLst/>
          </a:prstGeom>
        </p:spPr>
      </p:pic>
    </p:spTree>
    <p:extLst>
      <p:ext uri="{BB962C8B-B14F-4D97-AF65-F5344CB8AC3E}">
        <p14:creationId xmlns:p14="http://schemas.microsoft.com/office/powerpoint/2010/main" val="223736533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1) Select the Direct Selection Tool and click on the shape. With this tool, you select points one at a time.</a:t>
            </a:r>
          </a:p>
          <a:p>
            <a:r>
              <a:rPr lang="en-US" dirty="0"/>
              <a:t> A selected point will be a filled in blue anchor point and an unselected point will have white in the middle</a:t>
            </a:r>
          </a:p>
        </p:txBody>
      </p:sp>
    </p:spTree>
    <p:extLst>
      <p:ext uri="{BB962C8B-B14F-4D97-AF65-F5344CB8AC3E}">
        <p14:creationId xmlns:p14="http://schemas.microsoft.com/office/powerpoint/2010/main" val="36241606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57200" y="1261318"/>
            <a:ext cx="8489522" cy="5368081"/>
          </a:xfrm>
          <a:prstGeom prst="rect">
            <a:avLst/>
          </a:prstGeom>
        </p:spPr>
      </p:pic>
    </p:spTree>
    <p:extLst>
      <p:ext uri="{BB962C8B-B14F-4D97-AF65-F5344CB8AC3E}">
        <p14:creationId xmlns:p14="http://schemas.microsoft.com/office/powerpoint/2010/main" val="120356687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2) Click and drag the anchor points to change the shape of your object. The shape now looks like this:</a:t>
            </a:r>
          </a:p>
        </p:txBody>
      </p:sp>
      <p:pic>
        <p:nvPicPr>
          <p:cNvPr id="4" name="Picture 3"/>
          <p:cNvPicPr>
            <a:picLocks noChangeAspect="1"/>
          </p:cNvPicPr>
          <p:nvPr/>
        </p:nvPicPr>
        <p:blipFill>
          <a:blip r:embed="rId2"/>
          <a:stretch>
            <a:fillRect/>
          </a:stretch>
        </p:blipFill>
        <p:spPr>
          <a:xfrm>
            <a:off x="2170443" y="2667000"/>
            <a:ext cx="6498772" cy="3886200"/>
          </a:xfrm>
          <a:prstGeom prst="rect">
            <a:avLst/>
          </a:prstGeom>
        </p:spPr>
      </p:pic>
    </p:spTree>
    <p:extLst>
      <p:ext uri="{BB962C8B-B14F-4D97-AF65-F5344CB8AC3E}">
        <p14:creationId xmlns:p14="http://schemas.microsoft.com/office/powerpoint/2010/main" val="322064299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81000"/>
            <a:ext cx="8305800" cy="5745163"/>
          </a:xfrm>
        </p:spPr>
        <p:txBody>
          <a:bodyPr>
            <a:normAutofit/>
          </a:bodyPr>
          <a:lstStyle/>
          <a:p>
            <a:r>
              <a:rPr lang="en-US" dirty="0"/>
              <a:t>Now my rectangle doesn’t match my bottom artwork, so now I want to adjust the shape of the rectangle to mimic the at strait look. With the Pen Tool, you can also add and subtract points. </a:t>
            </a:r>
          </a:p>
          <a:p>
            <a:r>
              <a:rPr lang="en-US" dirty="0"/>
              <a:t>1) Click and hold down on the Pen Tool until you see a drop down menu. Select Add Anchor Point Tool. </a:t>
            </a:r>
          </a:p>
        </p:txBody>
      </p:sp>
      <p:pic>
        <p:nvPicPr>
          <p:cNvPr id="4" name="Picture 3"/>
          <p:cNvPicPr>
            <a:picLocks noChangeAspect="1"/>
          </p:cNvPicPr>
          <p:nvPr/>
        </p:nvPicPr>
        <p:blipFill>
          <a:blip r:embed="rId2"/>
          <a:stretch>
            <a:fillRect/>
          </a:stretch>
        </p:blipFill>
        <p:spPr>
          <a:xfrm>
            <a:off x="2590800" y="4114800"/>
            <a:ext cx="6165268" cy="2286000"/>
          </a:xfrm>
          <a:prstGeom prst="rect">
            <a:avLst/>
          </a:prstGeom>
        </p:spPr>
      </p:pic>
    </p:spTree>
    <p:extLst>
      <p:ext uri="{BB962C8B-B14F-4D97-AF65-F5344CB8AC3E}">
        <p14:creationId xmlns:p14="http://schemas.microsoft.com/office/powerpoint/2010/main" val="160570206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2) Now hover over the path of the rectangle and click anywhere on the path to add an anchor point. </a:t>
            </a:r>
          </a:p>
          <a:p>
            <a:r>
              <a:rPr lang="en-US" dirty="0"/>
              <a:t>3) This will create new Anchor points and you’ll see new blue points on the path. Now, you can use the Direct Selection Tool to move those points around and create a completely new shape.</a:t>
            </a:r>
          </a:p>
        </p:txBody>
      </p:sp>
    </p:spTree>
    <p:extLst>
      <p:ext uri="{BB962C8B-B14F-4D97-AF65-F5344CB8AC3E}">
        <p14:creationId xmlns:p14="http://schemas.microsoft.com/office/powerpoint/2010/main" val="177818296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730290" y="1828799"/>
            <a:ext cx="7956509" cy="4213377"/>
          </a:xfrm>
          <a:prstGeom prst="rect">
            <a:avLst/>
          </a:prstGeom>
        </p:spPr>
      </p:pic>
    </p:spTree>
    <p:extLst>
      <p:ext uri="{BB962C8B-B14F-4D97-AF65-F5344CB8AC3E}">
        <p14:creationId xmlns:p14="http://schemas.microsoft.com/office/powerpoint/2010/main" val="132906574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Type &amp; Creating Outlines</a:t>
            </a:r>
          </a:p>
        </p:txBody>
      </p:sp>
      <p:sp>
        <p:nvSpPr>
          <p:cNvPr id="3" name="Content Placeholder 2"/>
          <p:cNvSpPr>
            <a:spLocks noGrp="1"/>
          </p:cNvSpPr>
          <p:nvPr>
            <p:ph idx="1"/>
          </p:nvPr>
        </p:nvSpPr>
        <p:spPr>
          <a:xfrm>
            <a:off x="422031" y="1311276"/>
            <a:ext cx="8229600" cy="4525963"/>
          </a:xfrm>
        </p:spPr>
        <p:txBody>
          <a:bodyPr>
            <a:normAutofit fontScale="92500" lnSpcReduction="10000"/>
          </a:bodyPr>
          <a:lstStyle/>
          <a:p>
            <a:r>
              <a:rPr lang="en-US" dirty="0"/>
              <a:t>Now, I want to add “Graphic Designer &amp; Artist on top of my shapes. </a:t>
            </a:r>
          </a:p>
          <a:p>
            <a:r>
              <a:rPr lang="en-US" dirty="0"/>
              <a:t>1) Select </a:t>
            </a:r>
            <a:r>
              <a:rPr lang="en-US" b="1" dirty="0"/>
              <a:t>the Type Tool. </a:t>
            </a:r>
          </a:p>
          <a:p>
            <a:r>
              <a:rPr lang="en-US" dirty="0"/>
              <a:t>2) Click anywhere and a cursor will appear for you to start typing. </a:t>
            </a:r>
          </a:p>
          <a:p>
            <a:r>
              <a:rPr lang="en-US" dirty="0"/>
              <a:t>3) Once done typing, click on the </a:t>
            </a:r>
            <a:r>
              <a:rPr lang="en-US" b="1" dirty="0"/>
              <a:t>Selection Tool </a:t>
            </a:r>
            <a:r>
              <a:rPr lang="en-US" dirty="0"/>
              <a:t>to move your text around. This will create a box around your text. Hover over it and you’ll get a cursor that will allow you to move your text around your artboard. </a:t>
            </a:r>
          </a:p>
        </p:txBody>
      </p:sp>
      <p:pic>
        <p:nvPicPr>
          <p:cNvPr id="4" name="Picture 3"/>
          <p:cNvPicPr>
            <a:picLocks noChangeAspect="1"/>
          </p:cNvPicPr>
          <p:nvPr/>
        </p:nvPicPr>
        <p:blipFill>
          <a:blip r:embed="rId2"/>
          <a:stretch>
            <a:fillRect/>
          </a:stretch>
        </p:blipFill>
        <p:spPr>
          <a:xfrm>
            <a:off x="3984919" y="1981201"/>
            <a:ext cx="739481" cy="692280"/>
          </a:xfrm>
          <a:prstGeom prst="rect">
            <a:avLst/>
          </a:prstGeom>
        </p:spPr>
      </p:pic>
      <p:pic>
        <p:nvPicPr>
          <p:cNvPr id="5" name="Picture 4"/>
          <p:cNvPicPr>
            <a:picLocks noChangeAspect="1"/>
          </p:cNvPicPr>
          <p:nvPr/>
        </p:nvPicPr>
        <p:blipFill>
          <a:blip r:embed="rId3"/>
          <a:stretch>
            <a:fillRect/>
          </a:stretch>
        </p:blipFill>
        <p:spPr>
          <a:xfrm>
            <a:off x="2769686" y="5664693"/>
            <a:ext cx="6374314" cy="1091100"/>
          </a:xfrm>
          <a:prstGeom prst="rect">
            <a:avLst/>
          </a:prstGeom>
        </p:spPr>
      </p:pic>
    </p:spTree>
    <p:extLst>
      <p:ext uri="{BB962C8B-B14F-4D97-AF65-F5344CB8AC3E}">
        <p14:creationId xmlns:p14="http://schemas.microsoft.com/office/powerpoint/2010/main" val="362822883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4) Once I’ve placed it on top of my artwork, I can double click on it to highlight the text and change the font/size using the top toolbar. I’ve changed my font to “Modern No. 20”, size 22pt</a:t>
            </a:r>
          </a:p>
        </p:txBody>
      </p:sp>
      <p:pic>
        <p:nvPicPr>
          <p:cNvPr id="4" name="Picture 3"/>
          <p:cNvPicPr>
            <a:picLocks noChangeAspect="1"/>
          </p:cNvPicPr>
          <p:nvPr/>
        </p:nvPicPr>
        <p:blipFill>
          <a:blip r:embed="rId2"/>
          <a:stretch>
            <a:fillRect/>
          </a:stretch>
        </p:blipFill>
        <p:spPr>
          <a:xfrm>
            <a:off x="-76208" y="4191000"/>
            <a:ext cx="9220208" cy="838200"/>
          </a:xfrm>
          <a:prstGeom prst="rect">
            <a:avLst/>
          </a:prstGeom>
        </p:spPr>
      </p:pic>
    </p:spTree>
    <p:extLst>
      <p:ext uri="{BB962C8B-B14F-4D97-AF65-F5344CB8AC3E}">
        <p14:creationId xmlns:p14="http://schemas.microsoft.com/office/powerpoint/2010/main" val="263891330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79051" y="1600200"/>
            <a:ext cx="8471195" cy="4571999"/>
          </a:xfrm>
          <a:prstGeom prst="rect">
            <a:avLst/>
          </a:prstGeom>
        </p:spPr>
      </p:pic>
    </p:spTree>
    <p:extLst>
      <p:ext uri="{BB962C8B-B14F-4D97-AF65-F5344CB8AC3E}">
        <p14:creationId xmlns:p14="http://schemas.microsoft.com/office/powerpoint/2010/main" val="269344235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r>
              <a:rPr lang="en-US" dirty="0"/>
              <a:t>In some cases, you’ll want to convert your text to outlines. This will allow you to manipulate the text in interesting ways. However, you will not be able to use the Text Tool to change what the text says after creating it into outlines.</a:t>
            </a:r>
          </a:p>
          <a:p>
            <a:r>
              <a:rPr lang="en-US" dirty="0"/>
              <a:t> 1) To convert your text to outlines, click on the text with </a:t>
            </a:r>
            <a:r>
              <a:rPr lang="en-US" b="1" dirty="0"/>
              <a:t>the Selection Tool</a:t>
            </a:r>
            <a:r>
              <a:rPr lang="en-US" dirty="0"/>
              <a:t>. </a:t>
            </a:r>
          </a:p>
          <a:p>
            <a:r>
              <a:rPr lang="en-US" dirty="0"/>
              <a:t>2) </a:t>
            </a:r>
            <a:r>
              <a:rPr lang="en-US" b="1" dirty="0"/>
              <a:t>Go to Type </a:t>
            </a:r>
            <a:r>
              <a:rPr lang="en-US" dirty="0"/>
              <a:t>&gt; </a:t>
            </a:r>
            <a:r>
              <a:rPr lang="en-US" b="1" dirty="0"/>
              <a:t>Create Outlines</a:t>
            </a:r>
            <a:r>
              <a:rPr lang="en-US" dirty="0"/>
              <a:t>. This will create outlines around each individual letter. However, the text is still grouped together. In order to manipulate each letter individually, you’ll need to ungroup the text. </a:t>
            </a:r>
          </a:p>
        </p:txBody>
      </p:sp>
    </p:spTree>
    <p:extLst>
      <p:ext uri="{BB962C8B-B14F-4D97-AF65-F5344CB8AC3E}">
        <p14:creationId xmlns:p14="http://schemas.microsoft.com/office/powerpoint/2010/main" val="55634052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793774" y="274639"/>
            <a:ext cx="4988026" cy="6442868"/>
          </a:xfrm>
          <a:prstGeom prst="rect">
            <a:avLst/>
          </a:prstGeom>
        </p:spPr>
      </p:pic>
    </p:spTree>
    <p:extLst>
      <p:ext uri="{BB962C8B-B14F-4D97-AF65-F5344CB8AC3E}">
        <p14:creationId xmlns:p14="http://schemas.microsoft.com/office/powerpoint/2010/main" val="423095115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3) </a:t>
            </a:r>
            <a:r>
              <a:rPr lang="en-US" b="1" dirty="0"/>
              <a:t>Go to Object &gt; Ungroup</a:t>
            </a:r>
            <a:r>
              <a:rPr lang="en-US" dirty="0"/>
              <a:t>. You will not be able to select each letter individual and change its size and give the letter different fill/stroke colors.</a:t>
            </a:r>
          </a:p>
          <a:p>
            <a:pPr marL="0" indent="0">
              <a:buNone/>
            </a:pPr>
            <a:endParaRPr lang="en-US" dirty="0"/>
          </a:p>
        </p:txBody>
      </p:sp>
    </p:spTree>
    <p:extLst>
      <p:ext uri="{BB962C8B-B14F-4D97-AF65-F5344CB8AC3E}">
        <p14:creationId xmlns:p14="http://schemas.microsoft.com/office/powerpoint/2010/main" val="114471979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015584" y="533400"/>
            <a:ext cx="6452016" cy="6040859"/>
          </a:xfrm>
          <a:prstGeom prst="rect">
            <a:avLst/>
          </a:prstGeom>
        </p:spPr>
      </p:pic>
    </p:spTree>
    <p:extLst>
      <p:ext uri="{BB962C8B-B14F-4D97-AF65-F5344CB8AC3E}">
        <p14:creationId xmlns:p14="http://schemas.microsoft.com/office/powerpoint/2010/main" val="279028331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199" y="1600200"/>
            <a:ext cx="8505439" cy="4876800"/>
          </a:xfrm>
        </p:spPr>
        <p:txBody>
          <a:bodyPr/>
          <a:lstStyle/>
          <a:p>
            <a:r>
              <a:rPr lang="en-US" dirty="0"/>
              <a:t>4) Click on the G with the </a:t>
            </a:r>
            <a:r>
              <a:rPr lang="en-US" b="1" dirty="0"/>
              <a:t>Selection Tool </a:t>
            </a:r>
            <a:r>
              <a:rPr lang="en-US" dirty="0"/>
              <a:t>and increase the size by dragging the corner out. Hold down shift at the same time to ensure that it keeps the same proportions. </a:t>
            </a:r>
          </a:p>
          <a:p>
            <a:r>
              <a:rPr lang="en-US" dirty="0"/>
              <a:t>5) Rotate the letter by using the </a:t>
            </a:r>
            <a:r>
              <a:rPr lang="en-US" b="1" dirty="0"/>
              <a:t>Rotate tool</a:t>
            </a:r>
            <a:r>
              <a:rPr lang="en-US" dirty="0"/>
              <a:t>. You should then be able to click and rotate the object as desired. I did this both for the G and A as pictured below:</a:t>
            </a:r>
          </a:p>
        </p:txBody>
      </p:sp>
      <p:pic>
        <p:nvPicPr>
          <p:cNvPr id="4" name="Picture 3"/>
          <p:cNvPicPr>
            <a:picLocks noChangeAspect="1"/>
          </p:cNvPicPr>
          <p:nvPr/>
        </p:nvPicPr>
        <p:blipFill>
          <a:blip r:embed="rId2"/>
          <a:stretch>
            <a:fillRect/>
          </a:stretch>
        </p:blipFill>
        <p:spPr>
          <a:xfrm>
            <a:off x="8239063" y="3682180"/>
            <a:ext cx="723576" cy="585020"/>
          </a:xfrm>
          <a:prstGeom prst="rect">
            <a:avLst/>
          </a:prstGeom>
        </p:spPr>
      </p:pic>
    </p:spTree>
    <p:extLst>
      <p:ext uri="{BB962C8B-B14F-4D97-AF65-F5344CB8AC3E}">
        <p14:creationId xmlns:p14="http://schemas.microsoft.com/office/powerpoint/2010/main" val="115468108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27892" y="692884"/>
            <a:ext cx="8497825" cy="5290037"/>
          </a:xfrm>
          <a:prstGeom prst="rect">
            <a:avLst/>
          </a:prstGeom>
        </p:spPr>
      </p:pic>
    </p:spTree>
    <p:extLst>
      <p:ext uri="{BB962C8B-B14F-4D97-AF65-F5344CB8AC3E}">
        <p14:creationId xmlns:p14="http://schemas.microsoft.com/office/powerpoint/2010/main" val="195361045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Exporting</a:t>
            </a:r>
          </a:p>
        </p:txBody>
      </p:sp>
      <p:sp>
        <p:nvSpPr>
          <p:cNvPr id="3" name="Content Placeholder 2"/>
          <p:cNvSpPr>
            <a:spLocks noGrp="1"/>
          </p:cNvSpPr>
          <p:nvPr>
            <p:ph idx="1"/>
          </p:nvPr>
        </p:nvSpPr>
        <p:spPr/>
        <p:txBody>
          <a:bodyPr>
            <a:normAutofit/>
          </a:bodyPr>
          <a:lstStyle/>
          <a:p>
            <a:r>
              <a:rPr lang="en-US" dirty="0"/>
              <a:t>Now that I’ve completed my logo, I can adjust my artboard accordingly to fit around my logo.</a:t>
            </a:r>
          </a:p>
          <a:p>
            <a:r>
              <a:rPr lang="en-US" dirty="0"/>
              <a:t> This is crucial if you want your image to export with certain border dimensions around it. </a:t>
            </a:r>
          </a:p>
          <a:p>
            <a:r>
              <a:rPr lang="en-US" dirty="0"/>
              <a:t>However, in this case, I’m exporting as a .</a:t>
            </a:r>
            <a:r>
              <a:rPr lang="en-US" dirty="0" err="1"/>
              <a:t>png</a:t>
            </a:r>
            <a:r>
              <a:rPr lang="en-US" dirty="0"/>
              <a:t> to allow the image to have a transparent background. </a:t>
            </a:r>
          </a:p>
        </p:txBody>
      </p:sp>
    </p:spTree>
    <p:extLst>
      <p:ext uri="{BB962C8B-B14F-4D97-AF65-F5344CB8AC3E}">
        <p14:creationId xmlns:p14="http://schemas.microsoft.com/office/powerpoint/2010/main" val="384100803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228600"/>
            <a:ext cx="8229600" cy="4525963"/>
          </a:xfrm>
        </p:spPr>
        <p:txBody>
          <a:bodyPr/>
          <a:lstStyle/>
          <a:p>
            <a:r>
              <a:rPr lang="en-US" dirty="0"/>
              <a:t>1) Go to File &gt; Export... </a:t>
            </a:r>
          </a:p>
          <a:p>
            <a:pPr marL="0" indent="0">
              <a:buNone/>
            </a:pPr>
            <a:endParaRPr lang="en-US" dirty="0"/>
          </a:p>
        </p:txBody>
      </p:sp>
      <p:pic>
        <p:nvPicPr>
          <p:cNvPr id="4" name="Picture 3"/>
          <p:cNvPicPr>
            <a:picLocks noChangeAspect="1"/>
          </p:cNvPicPr>
          <p:nvPr/>
        </p:nvPicPr>
        <p:blipFill>
          <a:blip r:embed="rId2"/>
          <a:stretch>
            <a:fillRect/>
          </a:stretch>
        </p:blipFill>
        <p:spPr>
          <a:xfrm>
            <a:off x="2386944" y="775234"/>
            <a:ext cx="4065311" cy="6065181"/>
          </a:xfrm>
          <a:prstGeom prst="rect">
            <a:avLst/>
          </a:prstGeom>
        </p:spPr>
      </p:pic>
    </p:spTree>
    <p:extLst>
      <p:ext uri="{BB962C8B-B14F-4D97-AF65-F5344CB8AC3E}">
        <p14:creationId xmlns:p14="http://schemas.microsoft.com/office/powerpoint/2010/main" val="229264047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228600"/>
            <a:ext cx="8229600" cy="4525963"/>
          </a:xfrm>
        </p:spPr>
        <p:txBody>
          <a:bodyPr/>
          <a:lstStyle/>
          <a:p>
            <a:r>
              <a:rPr lang="en-US" dirty="0"/>
              <a:t>2) A new dialog box will open that allows you to name your file and select the format. I’ve chosen PNG.</a:t>
            </a:r>
          </a:p>
          <a:p>
            <a:pPr marL="0" indent="0">
              <a:buNone/>
            </a:pPr>
            <a:endParaRPr lang="en-US" dirty="0"/>
          </a:p>
        </p:txBody>
      </p:sp>
      <p:pic>
        <p:nvPicPr>
          <p:cNvPr id="4" name="Picture 3"/>
          <p:cNvPicPr>
            <a:picLocks noChangeAspect="1"/>
          </p:cNvPicPr>
          <p:nvPr/>
        </p:nvPicPr>
        <p:blipFill>
          <a:blip r:embed="rId2"/>
          <a:stretch>
            <a:fillRect/>
          </a:stretch>
        </p:blipFill>
        <p:spPr>
          <a:xfrm>
            <a:off x="838200" y="1635369"/>
            <a:ext cx="8022924" cy="5222631"/>
          </a:xfrm>
          <a:prstGeom prst="rect">
            <a:avLst/>
          </a:prstGeom>
        </p:spPr>
      </p:pic>
    </p:spTree>
    <p:extLst>
      <p:ext uri="{BB962C8B-B14F-4D97-AF65-F5344CB8AC3E}">
        <p14:creationId xmlns:p14="http://schemas.microsoft.com/office/powerpoint/2010/main" val="169792942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3) Once done, click Export. </a:t>
            </a:r>
          </a:p>
          <a:p>
            <a:r>
              <a:rPr lang="en-US" dirty="0"/>
              <a:t>4) Depending on the format that you select, another dialog box may open that will give you more options in terms of the quality and size of the image file. This will depend on what you need for your image / artwork</a:t>
            </a:r>
          </a:p>
        </p:txBody>
      </p:sp>
    </p:spTree>
    <p:extLst>
      <p:ext uri="{BB962C8B-B14F-4D97-AF65-F5344CB8AC3E}">
        <p14:creationId xmlns:p14="http://schemas.microsoft.com/office/powerpoint/2010/main" val="390867530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0000"/>
                </a:solidFill>
                <a:latin typeface="BookmanOldStyle-Bold"/>
              </a:rPr>
              <a:t>Description of brand identity</a:t>
            </a:r>
            <a:br>
              <a:rPr lang="en-US" b="1" dirty="0">
                <a:solidFill>
                  <a:srgbClr val="000000"/>
                </a:solidFill>
                <a:latin typeface="BookmanOldStyle-Bold"/>
              </a:rPr>
            </a:br>
            <a:endParaRPr lang="en-US" dirty="0"/>
          </a:p>
        </p:txBody>
      </p:sp>
      <p:sp>
        <p:nvSpPr>
          <p:cNvPr id="3" name="Content Placeholder 2"/>
          <p:cNvSpPr>
            <a:spLocks noGrp="1"/>
          </p:cNvSpPr>
          <p:nvPr>
            <p:ph idx="1"/>
          </p:nvPr>
        </p:nvSpPr>
        <p:spPr/>
        <p:txBody>
          <a:bodyPr/>
          <a:lstStyle/>
          <a:p>
            <a:pPr marL="0" indent="0">
              <a:buNone/>
            </a:pPr>
            <a:r>
              <a:rPr lang="en-US" dirty="0">
                <a:solidFill>
                  <a:srgbClr val="000000"/>
                </a:solidFill>
                <a:latin typeface="SegoeUISymbol"/>
              </a:rPr>
              <a:t>✔ </a:t>
            </a:r>
            <a:r>
              <a:rPr lang="en-US" dirty="0">
                <a:solidFill>
                  <a:srgbClr val="000000"/>
                </a:solidFill>
                <a:latin typeface="BookmanOldStyle"/>
              </a:rPr>
              <a:t>Brand </a:t>
            </a:r>
          </a:p>
          <a:p>
            <a:pPr marL="0" indent="0">
              <a:buNone/>
            </a:pPr>
            <a:r>
              <a:rPr lang="en-US" dirty="0">
                <a:solidFill>
                  <a:srgbClr val="000000"/>
                </a:solidFill>
                <a:latin typeface="SegoeUISymbol"/>
              </a:rPr>
              <a:t>✔ </a:t>
            </a:r>
            <a:r>
              <a:rPr lang="en-US" dirty="0">
                <a:solidFill>
                  <a:srgbClr val="000000"/>
                </a:solidFill>
                <a:latin typeface="BookmanOldStyle"/>
              </a:rPr>
              <a:t>Brand identity </a:t>
            </a:r>
          </a:p>
          <a:p>
            <a:pPr marL="0" indent="0">
              <a:buNone/>
            </a:pPr>
            <a:r>
              <a:rPr lang="en-US" dirty="0">
                <a:solidFill>
                  <a:srgbClr val="000000"/>
                </a:solidFill>
                <a:latin typeface="SegoeUISymbol"/>
              </a:rPr>
              <a:t>✔ </a:t>
            </a:r>
            <a:r>
              <a:rPr lang="en-US" dirty="0">
                <a:solidFill>
                  <a:srgbClr val="000000"/>
                </a:solidFill>
                <a:latin typeface="BookmanOldStyle"/>
              </a:rPr>
              <a:t>Brand icon</a:t>
            </a:r>
          </a:p>
          <a:p>
            <a:pPr marL="0" indent="0">
              <a:buNone/>
            </a:pPr>
            <a:r>
              <a:rPr lang="en-US" dirty="0">
                <a:solidFill>
                  <a:srgbClr val="000000"/>
                </a:solidFill>
                <a:latin typeface="SegoeUISymbol"/>
              </a:rPr>
              <a:t>✔ </a:t>
            </a:r>
            <a:r>
              <a:rPr lang="en-US" dirty="0">
                <a:solidFill>
                  <a:srgbClr val="000000"/>
                </a:solidFill>
                <a:latin typeface="BookmanOldStyle"/>
              </a:rPr>
              <a:t>Brand identity guidelines </a:t>
            </a:r>
          </a:p>
          <a:p>
            <a:pPr marL="0" indent="0">
              <a:buNone/>
            </a:pPr>
            <a:r>
              <a:rPr lang="en-US" dirty="0">
                <a:solidFill>
                  <a:srgbClr val="000000"/>
                </a:solidFill>
                <a:latin typeface="SegoeUISymbol"/>
              </a:rPr>
              <a:t>✔ </a:t>
            </a:r>
            <a:r>
              <a:rPr lang="en-US" dirty="0">
                <a:solidFill>
                  <a:srgbClr val="000000"/>
                </a:solidFill>
                <a:latin typeface="BookmanOldStyle"/>
              </a:rPr>
              <a:t>Logo</a:t>
            </a:r>
            <a:endParaRPr lang="en-US" dirty="0"/>
          </a:p>
          <a:p>
            <a:endParaRPr lang="en-US" dirty="0"/>
          </a:p>
        </p:txBody>
      </p:sp>
    </p:spTree>
    <p:extLst>
      <p:ext uri="{BB962C8B-B14F-4D97-AF65-F5344CB8AC3E}">
        <p14:creationId xmlns:p14="http://schemas.microsoft.com/office/powerpoint/2010/main" val="240017388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609600"/>
            <a:ext cx="8458200" cy="5516563"/>
          </a:xfrm>
        </p:spPr>
        <p:txBody>
          <a:bodyPr>
            <a:normAutofit fontScale="77500" lnSpcReduction="20000"/>
          </a:bodyPr>
          <a:lstStyle/>
          <a:p>
            <a:pPr lvl="0"/>
            <a:r>
              <a:rPr lang="en-US" b="1" dirty="0"/>
              <a:t>Brand</a:t>
            </a:r>
            <a:r>
              <a:rPr lang="en-US" dirty="0"/>
              <a:t>: Is a Unique design, sign, symbol, words, or a combination of these, employed in creating an image that identifies a product and differentiates it from its competitors.</a:t>
            </a:r>
          </a:p>
          <a:p>
            <a:pPr lvl="0"/>
            <a:r>
              <a:rPr lang="en-US" b="1" dirty="0"/>
              <a:t>Brand identity</a:t>
            </a:r>
            <a:r>
              <a:rPr lang="en-US" dirty="0"/>
              <a:t>: Is the visible elements of a brand, such as color, design, and Logo, that identify and distinguish the brand in consumer’s minds.(These items are the name, logo, tone, tagline, typeface, and shape that create an appeal.) Brand identity is the message the consumer receives from the product, person, or thing.</a:t>
            </a:r>
          </a:p>
          <a:p>
            <a:pPr lvl="0"/>
            <a:r>
              <a:rPr lang="en-US" b="1" dirty="0"/>
              <a:t>Icon</a:t>
            </a:r>
            <a:r>
              <a:rPr lang="en-US" dirty="0"/>
              <a:t>: Is a symbol that conveys strong, universal values and ideas that make it immediately recognizable. The icon is just a part of the logo. An icon directly represents and idea, perception, operation or action. Icons simplify or summarize an operation through a graphical representation, and relay this to the user.</a:t>
            </a:r>
          </a:p>
          <a:p>
            <a:endParaRPr lang="en-US" dirty="0"/>
          </a:p>
        </p:txBody>
      </p:sp>
    </p:spTree>
    <p:extLst>
      <p:ext uri="{BB962C8B-B14F-4D97-AF65-F5344CB8AC3E}">
        <p14:creationId xmlns:p14="http://schemas.microsoft.com/office/powerpoint/2010/main" val="200908796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 LOGO</a:t>
            </a:r>
          </a:p>
        </p:txBody>
      </p:sp>
      <p:sp>
        <p:nvSpPr>
          <p:cNvPr id="3" name="Content Placeholder 2"/>
          <p:cNvSpPr>
            <a:spLocks noGrp="1"/>
          </p:cNvSpPr>
          <p:nvPr>
            <p:ph idx="1"/>
          </p:nvPr>
        </p:nvSpPr>
        <p:spPr/>
        <p:txBody>
          <a:bodyPr/>
          <a:lstStyle/>
          <a:p>
            <a:r>
              <a:rPr lang="en-US" dirty="0"/>
              <a:t>Logo is the graphic symbol that represents a person, company or organization.</a:t>
            </a:r>
          </a:p>
          <a:p>
            <a:r>
              <a:rPr lang="en-US" dirty="0"/>
              <a:t> A good Logo helps customers understand what you do, who you are and what you value. </a:t>
            </a:r>
          </a:p>
          <a:p>
            <a:r>
              <a:rPr lang="en-US" dirty="0"/>
              <a:t>The most function of a Logo is giving your business a unique mark that that differentiates you from other businesses.</a:t>
            </a:r>
          </a:p>
          <a:p>
            <a:endParaRPr lang="en-US" dirty="0"/>
          </a:p>
        </p:txBody>
      </p:sp>
    </p:spTree>
    <p:extLst>
      <p:ext uri="{BB962C8B-B14F-4D97-AF65-F5344CB8AC3E}">
        <p14:creationId xmlns:p14="http://schemas.microsoft.com/office/powerpoint/2010/main" val="252335376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2" algn="ctr" rtl="0">
              <a:spcBef>
                <a:spcPct val="0"/>
              </a:spcBef>
            </a:pPr>
            <a:r>
              <a:rPr lang="en-US" sz="3600" b="1" dirty="0"/>
              <a:t>Logo types</a:t>
            </a:r>
            <a:br>
              <a:rPr lang="en-US" sz="4000" dirty="0"/>
            </a:br>
            <a:endParaRPr lang="en-US" sz="3600" dirty="0"/>
          </a:p>
        </p:txBody>
      </p:sp>
      <p:sp>
        <p:nvSpPr>
          <p:cNvPr id="3" name="Content Placeholder 2"/>
          <p:cNvSpPr>
            <a:spLocks noGrp="1"/>
          </p:cNvSpPr>
          <p:nvPr>
            <p:ph idx="1"/>
          </p:nvPr>
        </p:nvSpPr>
        <p:spPr/>
        <p:txBody>
          <a:bodyPr>
            <a:normAutofit/>
          </a:bodyPr>
          <a:lstStyle/>
          <a:p>
            <a:pPr lvl="2"/>
            <a:r>
              <a:rPr lang="en-US" sz="3300" dirty="0"/>
              <a:t>A logo is a visual symbol consisting of an image, word, or combination of the two that represents your company.</a:t>
            </a:r>
            <a:endParaRPr lang="en-US" sz="4400" dirty="0"/>
          </a:p>
          <a:p>
            <a:r>
              <a:rPr lang="en-US" dirty="0"/>
              <a:t>They are different types of Logos:</a:t>
            </a:r>
            <a:endParaRPr lang="en-US" sz="2800" dirty="0"/>
          </a:p>
        </p:txBody>
      </p:sp>
    </p:spTree>
    <p:extLst>
      <p:ext uri="{BB962C8B-B14F-4D97-AF65-F5344CB8AC3E}">
        <p14:creationId xmlns:p14="http://schemas.microsoft.com/office/powerpoint/2010/main" val="405298693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228600"/>
            <a:ext cx="8458200" cy="6324600"/>
          </a:xfrm>
        </p:spPr>
        <p:txBody>
          <a:bodyPr>
            <a:normAutofit fontScale="25000" lnSpcReduction="20000"/>
          </a:bodyPr>
          <a:lstStyle/>
          <a:p>
            <a:pPr lvl="0"/>
            <a:r>
              <a:rPr lang="en-US" sz="11200" b="1" dirty="0"/>
              <a:t>Letter marks (or Monogram logos):  Is a typographic Logo using only letters.</a:t>
            </a:r>
            <a:endParaRPr lang="en-US" sz="11200" dirty="0"/>
          </a:p>
          <a:p>
            <a:pPr marL="0" indent="0">
              <a:buNone/>
            </a:pPr>
            <a:r>
              <a:rPr lang="en-US" sz="11200" b="1" dirty="0"/>
              <a:t>A letter mark </a:t>
            </a:r>
            <a:r>
              <a:rPr lang="en-US" sz="11200" dirty="0"/>
              <a:t>is a typography-based logo that’s comprised of a few letters, usually a company’s initials (</a:t>
            </a:r>
            <a:r>
              <a:rPr lang="en-US" sz="11200" dirty="0" err="1"/>
              <a:t>Abreviations</a:t>
            </a:r>
            <a:r>
              <a:rPr lang="en-US" sz="11200" dirty="0"/>
              <a:t>). </a:t>
            </a:r>
            <a:r>
              <a:rPr lang="en-US" sz="11200" dirty="0" err="1"/>
              <a:t>E.g</a:t>
            </a:r>
            <a:r>
              <a:rPr lang="en-US" sz="11200" dirty="0"/>
              <a:t>: </a:t>
            </a:r>
          </a:p>
          <a:p>
            <a:pPr lvl="0"/>
            <a:r>
              <a:rPr lang="en-US" sz="11200" dirty="0"/>
              <a:t>Cable News Network(CNN)</a:t>
            </a:r>
          </a:p>
          <a:p>
            <a:pPr lvl="0"/>
            <a:r>
              <a:rPr lang="en-US" sz="11200" dirty="0"/>
              <a:t>Home Box Office(HBO)</a:t>
            </a:r>
          </a:p>
          <a:p>
            <a:pPr lvl="0"/>
            <a:r>
              <a:rPr lang="en-US" sz="11200" dirty="0"/>
              <a:t>The National Aeronautics and Space Administration (NASA)</a:t>
            </a:r>
          </a:p>
          <a:p>
            <a:pPr lvl="0"/>
            <a:r>
              <a:rPr lang="en-US" sz="11200" dirty="0"/>
              <a:t>Protector and Gamble(P&amp;G)</a:t>
            </a:r>
          </a:p>
          <a:p>
            <a:pPr lvl="0"/>
            <a:r>
              <a:rPr lang="en-US" sz="11200" dirty="0"/>
              <a:t>Electronic Arts(EA)</a:t>
            </a:r>
          </a:p>
          <a:p>
            <a:r>
              <a:rPr lang="en-US" sz="11200" dirty="0"/>
              <a:t>As these examples suggest, a letter mark is a good choice for a company whose name is difficult to pronounce, or too long to work as a ;Logo in most media.</a:t>
            </a:r>
          </a:p>
          <a:p>
            <a:r>
              <a:rPr lang="en-US" sz="11200" dirty="0" err="1"/>
              <a:t>e.g</a:t>
            </a:r>
            <a:r>
              <a:rPr lang="en-US" sz="11200" dirty="0"/>
              <a:t>: IKEA, CNN, FedEx, McDonalds, Word Press, Yahoo</a:t>
            </a:r>
          </a:p>
          <a:p>
            <a:pPr marL="0" indent="0">
              <a:buNone/>
            </a:pPr>
            <a:endParaRPr lang="en-US" dirty="0"/>
          </a:p>
        </p:txBody>
      </p:sp>
    </p:spTree>
    <p:extLst>
      <p:ext uri="{BB962C8B-B14F-4D97-AF65-F5344CB8AC3E}">
        <p14:creationId xmlns:p14="http://schemas.microsoft.com/office/powerpoint/2010/main" val="281839325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err="1"/>
              <a:t>e.g</a:t>
            </a:r>
            <a:r>
              <a:rPr lang="en-US" dirty="0"/>
              <a:t>: IKEA, CNN, FedEx, McDonalds, Word Press, Yahoo</a:t>
            </a:r>
          </a:p>
          <a:p>
            <a:endParaRPr lang="en-US" dirty="0"/>
          </a:p>
        </p:txBody>
      </p:sp>
      <p:pic>
        <p:nvPicPr>
          <p:cNvPr id="4" name="Picture 3" descr="https://www.tailorbrands.com/wp-content/uploads/2018/11/Screen-Shot-2018-11-19-at-4.55.41-PM.png"/>
          <p:cNvPicPr/>
          <p:nvPr/>
        </p:nvPicPr>
        <p:blipFill>
          <a:blip r:embed="rId2" cstate="print"/>
          <a:srcRect/>
          <a:stretch>
            <a:fillRect/>
          </a:stretch>
        </p:blipFill>
        <p:spPr bwMode="auto">
          <a:xfrm>
            <a:off x="3048000" y="2286000"/>
            <a:ext cx="5334000" cy="1974117"/>
          </a:xfrm>
          <a:prstGeom prst="rect">
            <a:avLst/>
          </a:prstGeom>
          <a:noFill/>
          <a:ln w="9525">
            <a:noFill/>
            <a:miter lim="800000"/>
            <a:headEnd/>
            <a:tailEnd/>
          </a:ln>
        </p:spPr>
      </p:pic>
      <p:pic>
        <p:nvPicPr>
          <p:cNvPr id="5" name="Picture 4" descr="examples of letter forms logos"/>
          <p:cNvPicPr/>
          <p:nvPr/>
        </p:nvPicPr>
        <p:blipFill>
          <a:blip r:embed="rId3" cstate="print"/>
          <a:srcRect/>
          <a:stretch>
            <a:fillRect/>
          </a:stretch>
        </p:blipFill>
        <p:spPr bwMode="auto">
          <a:xfrm>
            <a:off x="1676400" y="4683124"/>
            <a:ext cx="6315075" cy="1870075"/>
          </a:xfrm>
          <a:prstGeom prst="rect">
            <a:avLst/>
          </a:prstGeom>
          <a:noFill/>
          <a:ln w="9525">
            <a:noFill/>
            <a:miter lim="800000"/>
            <a:headEnd/>
            <a:tailEnd/>
          </a:ln>
        </p:spPr>
      </p:pic>
    </p:spTree>
    <p:extLst>
      <p:ext uri="{BB962C8B-B14F-4D97-AF65-F5344CB8AC3E}">
        <p14:creationId xmlns:p14="http://schemas.microsoft.com/office/powerpoint/2010/main" val="95674661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2. Word marks (or logo types)</a:t>
            </a:r>
            <a:endParaRPr lang="en-US" dirty="0"/>
          </a:p>
        </p:txBody>
      </p:sp>
      <p:sp>
        <p:nvSpPr>
          <p:cNvPr id="3" name="Content Placeholder 2"/>
          <p:cNvSpPr>
            <a:spLocks noGrp="1"/>
          </p:cNvSpPr>
          <p:nvPr>
            <p:ph idx="1"/>
          </p:nvPr>
        </p:nvSpPr>
        <p:spPr/>
        <p:txBody>
          <a:bodyPr/>
          <a:lstStyle/>
          <a:p>
            <a:pPr marL="0" lvl="0" indent="0">
              <a:buNone/>
            </a:pPr>
            <a:r>
              <a:rPr lang="en-US" dirty="0"/>
              <a:t>These types of logos consist of text only – company names, monograms or initials. </a:t>
            </a:r>
          </a:p>
          <a:p>
            <a:r>
              <a:rPr lang="en-US" dirty="0"/>
              <a:t>Essentially, logotypes are just a company name set in some kind of particular typeface. </a:t>
            </a:r>
          </a:p>
          <a:p>
            <a:r>
              <a:rPr lang="en-US" b="1" dirty="0" err="1"/>
              <a:t>e.g</a:t>
            </a:r>
            <a:r>
              <a:rPr lang="en-US" b="1" dirty="0"/>
              <a:t>:</a:t>
            </a:r>
            <a:r>
              <a:rPr lang="en-US" dirty="0"/>
              <a:t> Subway, </a:t>
            </a:r>
            <a:r>
              <a:rPr lang="en-US" dirty="0" err="1"/>
              <a:t>Uber</a:t>
            </a:r>
            <a:r>
              <a:rPr lang="en-US" dirty="0"/>
              <a:t>, Camelback, Coca-Cola, Google, ….</a:t>
            </a:r>
          </a:p>
          <a:p>
            <a:pPr marL="0" indent="0">
              <a:buNone/>
            </a:pPr>
            <a:endParaRPr lang="en-US" dirty="0"/>
          </a:p>
        </p:txBody>
      </p:sp>
    </p:spTree>
    <p:extLst>
      <p:ext uri="{BB962C8B-B14F-4D97-AF65-F5344CB8AC3E}">
        <p14:creationId xmlns:p14="http://schemas.microsoft.com/office/powerpoint/2010/main" val="333729647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examples of word mark logos"/>
          <p:cNvPicPr>
            <a:picLocks noGrp="1"/>
          </p:cNvPicPr>
          <p:nvPr>
            <p:ph idx="1"/>
          </p:nvPr>
        </p:nvPicPr>
        <p:blipFill>
          <a:blip r:embed="rId2" cstate="print"/>
          <a:srcRect/>
          <a:stretch>
            <a:fillRect/>
          </a:stretch>
        </p:blipFill>
        <p:spPr bwMode="auto">
          <a:xfrm>
            <a:off x="457200" y="3475892"/>
            <a:ext cx="8229600" cy="2971800"/>
          </a:xfrm>
          <a:prstGeom prst="rect">
            <a:avLst/>
          </a:prstGeom>
          <a:noFill/>
          <a:ln w="9525">
            <a:noFill/>
            <a:miter lim="800000"/>
            <a:headEnd/>
            <a:tailEnd/>
          </a:ln>
        </p:spPr>
      </p:pic>
      <p:pic>
        <p:nvPicPr>
          <p:cNvPr id="5" name="Picture 4"/>
          <p:cNvPicPr/>
          <p:nvPr/>
        </p:nvPicPr>
        <p:blipFill>
          <a:blip r:embed="rId3"/>
          <a:stretch>
            <a:fillRect/>
          </a:stretch>
        </p:blipFill>
        <p:spPr>
          <a:xfrm>
            <a:off x="762000" y="134814"/>
            <a:ext cx="7239000" cy="2743200"/>
          </a:xfrm>
          <a:prstGeom prst="rect">
            <a:avLst/>
          </a:prstGeom>
        </p:spPr>
      </p:pic>
    </p:spTree>
    <p:extLst>
      <p:ext uri="{BB962C8B-B14F-4D97-AF65-F5344CB8AC3E}">
        <p14:creationId xmlns:p14="http://schemas.microsoft.com/office/powerpoint/2010/main" val="3076690150"/>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3. Brand marks</a:t>
            </a:r>
            <a:r>
              <a:rPr lang="en-US" dirty="0"/>
              <a:t> /</a:t>
            </a:r>
            <a:r>
              <a:rPr lang="en-US" b="1" dirty="0"/>
              <a:t>Pictorial marks / logo symbols</a:t>
            </a:r>
            <a:endParaRPr lang="en-US" dirty="0"/>
          </a:p>
        </p:txBody>
      </p:sp>
      <p:sp>
        <p:nvSpPr>
          <p:cNvPr id="3" name="Content Placeholder 2"/>
          <p:cNvSpPr>
            <a:spLocks noGrp="1"/>
          </p:cNvSpPr>
          <p:nvPr>
            <p:ph idx="1"/>
          </p:nvPr>
        </p:nvSpPr>
        <p:spPr/>
        <p:txBody>
          <a:bodyPr/>
          <a:lstStyle/>
          <a:p>
            <a:pPr lvl="0"/>
            <a:r>
              <a:rPr lang="en-US" dirty="0"/>
              <a:t>Also known as a pictorial mark, a brand mark contains no text but is an image, icon or symbol that represents the company or brand. </a:t>
            </a:r>
            <a:r>
              <a:rPr lang="en-US" b="1" dirty="0"/>
              <a:t>Famous examples</a:t>
            </a:r>
            <a:r>
              <a:rPr lang="en-US" dirty="0"/>
              <a:t> include the Apple ,the Nike ‘Swoosh’, the Red Cross symbol …</a:t>
            </a:r>
          </a:p>
          <a:p>
            <a:r>
              <a:rPr lang="en-US" dirty="0" err="1"/>
              <a:t>e.g</a:t>
            </a:r>
            <a:r>
              <a:rPr lang="en-US" dirty="0"/>
              <a:t>: </a:t>
            </a:r>
            <a:r>
              <a:rPr lang="en-US" dirty="0" err="1"/>
              <a:t>Airbnb</a:t>
            </a:r>
            <a:r>
              <a:rPr lang="en-US" dirty="0"/>
              <a:t>, Pepsi, Microsoft (Windows)</a:t>
            </a:r>
          </a:p>
          <a:p>
            <a:pPr marL="0" indent="0">
              <a:buNone/>
            </a:pPr>
            <a:endParaRPr lang="en-US" dirty="0"/>
          </a:p>
        </p:txBody>
      </p:sp>
    </p:spTree>
    <p:extLst>
      <p:ext uri="{BB962C8B-B14F-4D97-AF65-F5344CB8AC3E}">
        <p14:creationId xmlns:p14="http://schemas.microsoft.com/office/powerpoint/2010/main" val="260476924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bstract logo marks"/>
          <p:cNvPicPr>
            <a:picLocks noGrp="1"/>
          </p:cNvPicPr>
          <p:nvPr>
            <p:ph idx="1"/>
          </p:nvPr>
        </p:nvPicPr>
        <p:blipFill>
          <a:blip r:embed="rId2" cstate="print"/>
          <a:srcRect/>
          <a:stretch>
            <a:fillRect/>
          </a:stretch>
        </p:blipFill>
        <p:spPr bwMode="auto">
          <a:xfrm>
            <a:off x="152400" y="392724"/>
            <a:ext cx="8763000" cy="2582055"/>
          </a:xfrm>
          <a:prstGeom prst="rect">
            <a:avLst/>
          </a:prstGeom>
          <a:noFill/>
          <a:ln w="9525">
            <a:noFill/>
            <a:miter lim="800000"/>
            <a:headEnd/>
            <a:tailEnd/>
          </a:ln>
        </p:spPr>
      </p:pic>
      <p:pic>
        <p:nvPicPr>
          <p:cNvPr id="5" name="Picture 4"/>
          <p:cNvPicPr/>
          <p:nvPr/>
        </p:nvPicPr>
        <p:blipFill>
          <a:blip r:embed="rId3"/>
          <a:stretch>
            <a:fillRect/>
          </a:stretch>
        </p:blipFill>
        <p:spPr>
          <a:xfrm>
            <a:off x="457200" y="3751384"/>
            <a:ext cx="8077200" cy="2895600"/>
          </a:xfrm>
          <a:prstGeom prst="rect">
            <a:avLst/>
          </a:prstGeom>
        </p:spPr>
      </p:pic>
    </p:spTree>
    <p:extLst>
      <p:ext uri="{BB962C8B-B14F-4D97-AF65-F5344CB8AC3E}">
        <p14:creationId xmlns:p14="http://schemas.microsoft.com/office/powerpoint/2010/main" val="3985896674"/>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4. Combination mark</a:t>
            </a:r>
            <a:endParaRPr lang="en-US" dirty="0"/>
          </a:p>
        </p:txBody>
      </p:sp>
      <p:sp>
        <p:nvSpPr>
          <p:cNvPr id="3" name="Content Placeholder 2"/>
          <p:cNvSpPr>
            <a:spLocks noGrp="1"/>
          </p:cNvSpPr>
          <p:nvPr>
            <p:ph idx="1"/>
          </p:nvPr>
        </p:nvSpPr>
        <p:spPr/>
        <p:txBody>
          <a:bodyPr/>
          <a:lstStyle/>
          <a:p>
            <a:pPr marL="0" lvl="0" indent="0">
              <a:buNone/>
            </a:pPr>
            <a:r>
              <a:rPr lang="en-US" dirty="0"/>
              <a:t>Combination marks logos are comprised of any combination of images and words that you choose.</a:t>
            </a:r>
          </a:p>
          <a:p>
            <a:r>
              <a:rPr lang="en-US" b="1" dirty="0" err="1"/>
              <a:t>e.g.</a:t>
            </a:r>
            <a:r>
              <a:rPr lang="en-US" dirty="0" err="1"/>
              <a:t>Taco</a:t>
            </a:r>
            <a:r>
              <a:rPr lang="en-US" dirty="0"/>
              <a:t> Bell, CVS, </a:t>
            </a:r>
            <a:r>
              <a:rPr lang="en-US" dirty="0" err="1"/>
              <a:t>Toblerone</a:t>
            </a:r>
            <a:r>
              <a:rPr lang="en-US" dirty="0"/>
              <a:t>.  </a:t>
            </a:r>
          </a:p>
          <a:p>
            <a:endParaRPr lang="en-US" dirty="0"/>
          </a:p>
        </p:txBody>
      </p:sp>
    </p:spTree>
    <p:extLst>
      <p:ext uri="{BB962C8B-B14F-4D97-AF65-F5344CB8AC3E}">
        <p14:creationId xmlns:p14="http://schemas.microsoft.com/office/powerpoint/2010/main" val="118157724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ombination mark logos"/>
          <p:cNvPicPr>
            <a:picLocks noGrp="1"/>
          </p:cNvPicPr>
          <p:nvPr>
            <p:ph idx="1"/>
          </p:nvPr>
        </p:nvPicPr>
        <p:blipFill>
          <a:blip r:embed="rId2" cstate="print"/>
          <a:srcRect/>
          <a:stretch>
            <a:fillRect/>
          </a:stretch>
        </p:blipFill>
        <p:spPr bwMode="auto">
          <a:xfrm>
            <a:off x="0" y="181706"/>
            <a:ext cx="8915400" cy="3018693"/>
          </a:xfrm>
          <a:prstGeom prst="rect">
            <a:avLst/>
          </a:prstGeom>
          <a:noFill/>
          <a:ln w="9525">
            <a:noFill/>
            <a:miter lim="800000"/>
            <a:headEnd/>
            <a:tailEnd/>
          </a:ln>
        </p:spPr>
      </p:pic>
      <p:pic>
        <p:nvPicPr>
          <p:cNvPr id="5" name="Picture 4"/>
          <p:cNvPicPr/>
          <p:nvPr/>
        </p:nvPicPr>
        <p:blipFill>
          <a:blip r:embed="rId3"/>
          <a:stretch>
            <a:fillRect/>
          </a:stretch>
        </p:blipFill>
        <p:spPr>
          <a:xfrm>
            <a:off x="6400800" y="3962400"/>
            <a:ext cx="2514600" cy="2286000"/>
          </a:xfrm>
          <a:prstGeom prst="rect">
            <a:avLst/>
          </a:prstGeom>
        </p:spPr>
      </p:pic>
      <p:pic>
        <p:nvPicPr>
          <p:cNvPr id="6" name="Picture 5" descr="http://modassicmarketing.com/wp-content/uploads/2012/02/combination-marks.png">
            <a:hlinkClick r:id="rId4"/>
          </p:cNvPr>
          <p:cNvPicPr/>
          <p:nvPr/>
        </p:nvPicPr>
        <p:blipFill>
          <a:blip r:embed="rId5" cstate="print"/>
          <a:srcRect/>
          <a:stretch>
            <a:fillRect/>
          </a:stretch>
        </p:blipFill>
        <p:spPr bwMode="auto">
          <a:xfrm>
            <a:off x="990600" y="3705225"/>
            <a:ext cx="5181600" cy="2771775"/>
          </a:xfrm>
          <a:prstGeom prst="rect">
            <a:avLst/>
          </a:prstGeom>
          <a:noFill/>
          <a:ln w="9525">
            <a:noFill/>
            <a:miter lim="800000"/>
            <a:headEnd/>
            <a:tailEnd/>
          </a:ln>
        </p:spPr>
      </p:pic>
    </p:spTree>
    <p:extLst>
      <p:ext uri="{BB962C8B-B14F-4D97-AF65-F5344CB8AC3E}">
        <p14:creationId xmlns:p14="http://schemas.microsoft.com/office/powerpoint/2010/main" val="323456847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5. The emblem</a:t>
            </a:r>
            <a:endParaRPr lang="en-US" dirty="0"/>
          </a:p>
        </p:txBody>
      </p:sp>
      <p:sp>
        <p:nvSpPr>
          <p:cNvPr id="3" name="Content Placeholder 2"/>
          <p:cNvSpPr>
            <a:spLocks noGrp="1"/>
          </p:cNvSpPr>
          <p:nvPr>
            <p:ph idx="1"/>
          </p:nvPr>
        </p:nvSpPr>
        <p:spPr/>
        <p:txBody>
          <a:bodyPr/>
          <a:lstStyle/>
          <a:p>
            <a:pPr marL="0" lvl="0" indent="0">
              <a:buNone/>
            </a:pPr>
            <a:r>
              <a:rPr lang="en-US" dirty="0"/>
              <a:t>These logos consist of typeface that sits within a border – usually a seal or a crest. Think universities and government organizations. </a:t>
            </a:r>
          </a:p>
          <a:p>
            <a:r>
              <a:rPr lang="en-US" b="1" dirty="0" err="1"/>
              <a:t>E.g</a:t>
            </a:r>
            <a:r>
              <a:rPr lang="en-US" dirty="0"/>
              <a:t>: Starbucks, Stella Artois, Superman</a:t>
            </a:r>
          </a:p>
          <a:p>
            <a:endParaRPr lang="en-US" dirty="0"/>
          </a:p>
        </p:txBody>
      </p:sp>
    </p:spTree>
    <p:extLst>
      <p:ext uri="{BB962C8B-B14F-4D97-AF65-F5344CB8AC3E}">
        <p14:creationId xmlns:p14="http://schemas.microsoft.com/office/powerpoint/2010/main" val="368382287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examples of emblem style logos"/>
          <p:cNvPicPr>
            <a:picLocks noGrp="1"/>
          </p:cNvPicPr>
          <p:nvPr>
            <p:ph idx="1"/>
          </p:nvPr>
        </p:nvPicPr>
        <p:blipFill>
          <a:blip r:embed="rId2" cstate="print"/>
          <a:srcRect/>
          <a:stretch>
            <a:fillRect/>
          </a:stretch>
        </p:blipFill>
        <p:spPr bwMode="auto">
          <a:xfrm>
            <a:off x="0" y="1676400"/>
            <a:ext cx="9144000" cy="3134614"/>
          </a:xfrm>
          <a:prstGeom prst="rect">
            <a:avLst/>
          </a:prstGeom>
          <a:noFill/>
          <a:ln w="9525">
            <a:noFill/>
            <a:miter lim="800000"/>
            <a:headEnd/>
            <a:tailEnd/>
          </a:ln>
        </p:spPr>
      </p:pic>
    </p:spTree>
    <p:extLst>
      <p:ext uri="{BB962C8B-B14F-4D97-AF65-F5344CB8AC3E}">
        <p14:creationId xmlns:p14="http://schemas.microsoft.com/office/powerpoint/2010/main" val="215079166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r>
              <a:rPr lang="en-US" b="1" dirty="0"/>
              <a:t>6. Abstract logo marks </a:t>
            </a:r>
            <a:endParaRPr lang="en-US" dirty="0"/>
          </a:p>
        </p:txBody>
      </p:sp>
      <p:sp>
        <p:nvSpPr>
          <p:cNvPr id="3" name="Content Placeholder 2"/>
          <p:cNvSpPr>
            <a:spLocks noGrp="1"/>
          </p:cNvSpPr>
          <p:nvPr>
            <p:ph idx="1"/>
          </p:nvPr>
        </p:nvSpPr>
        <p:spPr/>
        <p:txBody>
          <a:bodyPr/>
          <a:lstStyle/>
          <a:p>
            <a:r>
              <a:rPr lang="en-US" dirty="0"/>
              <a:t>An abstract mark is a specific type of pictorial logo. Instead of being a recognizable image— like an apple or a bird—it’s an abstract geometric form that represents your business. </a:t>
            </a:r>
          </a:p>
          <a:p>
            <a:r>
              <a:rPr lang="en-US" dirty="0"/>
              <a:t>A few famous examples include the BP starburst-y logo, the Pepsi divided circle and the strip-y Adidas flower. </a:t>
            </a:r>
          </a:p>
          <a:p>
            <a:endParaRPr lang="en-US" dirty="0"/>
          </a:p>
        </p:txBody>
      </p:sp>
    </p:spTree>
    <p:extLst>
      <p:ext uri="{BB962C8B-B14F-4D97-AF65-F5344CB8AC3E}">
        <p14:creationId xmlns:p14="http://schemas.microsoft.com/office/powerpoint/2010/main" val="380007268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a:stretch>
            <a:fillRect/>
          </a:stretch>
        </p:blipFill>
        <p:spPr>
          <a:xfrm>
            <a:off x="457200" y="2343150"/>
            <a:ext cx="8229600" cy="3219450"/>
          </a:xfrm>
          <a:prstGeom prst="rect">
            <a:avLst/>
          </a:prstGeom>
        </p:spPr>
      </p:pic>
    </p:spTree>
    <p:extLst>
      <p:ext uri="{BB962C8B-B14F-4D97-AF65-F5344CB8AC3E}">
        <p14:creationId xmlns:p14="http://schemas.microsoft.com/office/powerpoint/2010/main" val="100238282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Logo design considerations</a:t>
            </a:r>
            <a:br>
              <a:rPr lang="en-US" b="1" dirty="0"/>
            </a:br>
            <a:endParaRPr lang="en-US" b="1" dirty="0"/>
          </a:p>
        </p:txBody>
      </p:sp>
      <p:sp>
        <p:nvSpPr>
          <p:cNvPr id="3" name="Content Placeholder 2"/>
          <p:cNvSpPr>
            <a:spLocks noGrp="1"/>
          </p:cNvSpPr>
          <p:nvPr>
            <p:ph idx="1"/>
          </p:nvPr>
        </p:nvSpPr>
        <p:spPr/>
        <p:txBody>
          <a:bodyPr>
            <a:normAutofit fontScale="77500" lnSpcReduction="20000"/>
          </a:bodyPr>
          <a:lstStyle/>
          <a:p>
            <a:r>
              <a:rPr lang="en-US" b="1" dirty="0"/>
              <a:t>What makes a good logo?</a:t>
            </a:r>
            <a:endParaRPr lang="en-US" dirty="0"/>
          </a:p>
          <a:p>
            <a:r>
              <a:rPr lang="en-US" dirty="0"/>
              <a:t> A good logo is distinctive, appropriate, practical, graphic, simple in form and conveys an intended message. There are five principles that you should follow to ensure that this is so… An effective logo is: </a:t>
            </a:r>
          </a:p>
          <a:p>
            <a:pPr lvl="0"/>
            <a:r>
              <a:rPr lang="en-US" dirty="0"/>
              <a:t>Simple </a:t>
            </a:r>
          </a:p>
          <a:p>
            <a:pPr lvl="0"/>
            <a:r>
              <a:rPr lang="en-US" dirty="0"/>
              <a:t>Memorable </a:t>
            </a:r>
          </a:p>
          <a:p>
            <a:pPr lvl="0"/>
            <a:r>
              <a:rPr lang="en-US" dirty="0"/>
              <a:t>Timeless </a:t>
            </a:r>
          </a:p>
          <a:p>
            <a:pPr lvl="0"/>
            <a:r>
              <a:rPr lang="en-US" dirty="0"/>
              <a:t>Versatile</a:t>
            </a:r>
          </a:p>
          <a:p>
            <a:pPr lvl="0"/>
            <a:r>
              <a:rPr lang="en-US" dirty="0"/>
              <a:t>Appropriate</a:t>
            </a:r>
          </a:p>
          <a:p>
            <a:pPr lvl="0"/>
            <a:r>
              <a:rPr lang="en-US" dirty="0"/>
              <a:t>Consistent</a:t>
            </a:r>
          </a:p>
          <a:p>
            <a:pPr lvl="0"/>
            <a:r>
              <a:rPr lang="en-US" dirty="0"/>
              <a:t>unique</a:t>
            </a:r>
          </a:p>
          <a:p>
            <a:endParaRPr lang="en-US" dirty="0"/>
          </a:p>
        </p:txBody>
      </p:sp>
    </p:spTree>
    <p:extLst>
      <p:ext uri="{BB962C8B-B14F-4D97-AF65-F5344CB8AC3E}">
        <p14:creationId xmlns:p14="http://schemas.microsoft.com/office/powerpoint/2010/main" val="107778150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marL="0" lvl="0" indent="0">
              <a:buNone/>
            </a:pPr>
            <a:r>
              <a:rPr lang="en-US" b="1" dirty="0"/>
              <a:t>1. Simple: </a:t>
            </a:r>
            <a:r>
              <a:rPr lang="en-US" dirty="0"/>
              <a:t>Simple logos are the ones people can recognize as soon as they see them. </a:t>
            </a:r>
          </a:p>
          <a:p>
            <a:r>
              <a:rPr lang="en-US" dirty="0"/>
              <a:t>A simple logo design allows for easy recognition and allows the logo to be memorable. </a:t>
            </a:r>
          </a:p>
          <a:p>
            <a:pPr marL="0" lvl="0" indent="0">
              <a:buNone/>
            </a:pPr>
            <a:r>
              <a:rPr lang="en-US" b="1" dirty="0"/>
              <a:t>2. Memorable / Impactful: </a:t>
            </a:r>
            <a:r>
              <a:rPr lang="en-US" dirty="0"/>
              <a:t>A great logo should be impactful. You want to capture your viewer’s attentions and leave an impression (a positive impression, hopefully). </a:t>
            </a:r>
          </a:p>
          <a:p>
            <a:r>
              <a:rPr lang="en-US" dirty="0"/>
              <a:t>An effective logo design should be memorable and this is achieved by having a simple, yet, appropriate logo.</a:t>
            </a:r>
          </a:p>
        </p:txBody>
      </p:sp>
    </p:spTree>
    <p:extLst>
      <p:ext uri="{BB962C8B-B14F-4D97-AF65-F5344CB8AC3E}">
        <p14:creationId xmlns:p14="http://schemas.microsoft.com/office/powerpoint/2010/main" val="422023966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p:spPr>
        <p:txBody>
          <a:bodyPr>
            <a:normAutofit lnSpcReduction="10000"/>
          </a:bodyPr>
          <a:lstStyle/>
          <a:p>
            <a:pPr lvl="0"/>
            <a:r>
              <a:rPr lang="en-US" b="1" dirty="0"/>
              <a:t>3. Timeless:</a:t>
            </a:r>
            <a:r>
              <a:rPr lang="en-US" dirty="0"/>
              <a:t>  An effective logo should be timeless – that is, it will endure the ages. Will the logo still be effective in 10, 20, 50 years?</a:t>
            </a:r>
          </a:p>
          <a:p>
            <a:pPr lvl="0"/>
            <a:r>
              <a:rPr lang="en-US" dirty="0"/>
              <a:t> Probably the best example of a timeless logo is the Coca- Cola logo… if you compare it to the Pepsi logo below, you can see just how effective creating a timeless logo can be. </a:t>
            </a:r>
          </a:p>
          <a:p>
            <a:pPr lvl="0"/>
            <a:r>
              <a:rPr lang="en-US" dirty="0"/>
              <a:t>Notice how the Coca Cola logo has barely changed since 1885? That is timeless design.</a:t>
            </a:r>
          </a:p>
          <a:p>
            <a:endParaRPr lang="en-US" dirty="0"/>
          </a:p>
        </p:txBody>
      </p:sp>
    </p:spTree>
    <p:extLst>
      <p:ext uri="{BB962C8B-B14F-4D97-AF65-F5344CB8AC3E}">
        <p14:creationId xmlns:p14="http://schemas.microsoft.com/office/powerpoint/2010/main" val="428211398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219200"/>
            <a:ext cx="8241323" cy="5257800"/>
          </a:xfrm>
        </p:spPr>
        <p:txBody>
          <a:bodyPr>
            <a:normAutofit fontScale="55000" lnSpcReduction="20000"/>
          </a:bodyPr>
          <a:lstStyle/>
          <a:p>
            <a:pPr marL="0" lvl="0" indent="0">
              <a:buNone/>
            </a:pPr>
            <a:r>
              <a:rPr lang="en-US" sz="4500" b="1" dirty="0"/>
              <a:t>4. Versatile/ Scalable: </a:t>
            </a:r>
            <a:r>
              <a:rPr lang="en-US" sz="4500" dirty="0"/>
              <a:t>A great logo should be simple enough to be able to be scaled down or up and still look good.</a:t>
            </a:r>
          </a:p>
          <a:p>
            <a:r>
              <a:rPr lang="en-US" sz="4500" dirty="0"/>
              <a:t>A great logo should look equally good on any web device and on any kind of print material. The logo should be functional. For this reason a logo should be designed in vector format, to ensure that it can be scaled to any size. </a:t>
            </a:r>
          </a:p>
          <a:p>
            <a:r>
              <a:rPr lang="en-US" sz="4500" dirty="0"/>
              <a:t>The logo should be able to work both in horizontal and vertical formats. Ask yourself; is a logo still effective if: </a:t>
            </a:r>
          </a:p>
          <a:p>
            <a:pPr lvl="0"/>
            <a:r>
              <a:rPr lang="en-US" sz="4500" dirty="0"/>
              <a:t>Printed in one color?</a:t>
            </a:r>
          </a:p>
          <a:p>
            <a:pPr lvl="0"/>
            <a:r>
              <a:rPr lang="en-US" sz="4500" dirty="0"/>
              <a:t>Printed on the something the size of a postage stamp? </a:t>
            </a:r>
          </a:p>
          <a:p>
            <a:pPr lvl="0"/>
            <a:r>
              <a:rPr lang="en-US" sz="4500" dirty="0"/>
              <a:t> Printed on something as large as a billboard? </a:t>
            </a:r>
          </a:p>
          <a:p>
            <a:pPr lvl="0"/>
            <a:r>
              <a:rPr lang="en-US" sz="4500" dirty="0"/>
              <a:t> Printed in reverse (i.e. light logo on dark background)</a:t>
            </a:r>
          </a:p>
          <a:p>
            <a:endParaRPr lang="en-US" dirty="0"/>
          </a:p>
        </p:txBody>
      </p:sp>
    </p:spTree>
    <p:extLst>
      <p:ext uri="{BB962C8B-B14F-4D97-AF65-F5344CB8AC3E}">
        <p14:creationId xmlns:p14="http://schemas.microsoft.com/office/powerpoint/2010/main" val="158528398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pPr marL="0" lvl="0" indent="0">
              <a:buNone/>
            </a:pPr>
            <a:r>
              <a:rPr lang="en-US" b="1" dirty="0"/>
              <a:t>5.  Relevant/Appropriate: </a:t>
            </a:r>
            <a:r>
              <a:rPr lang="en-US" dirty="0"/>
              <a:t>A great logo should be relevant to your practice. It has to have meaning that relates to the work you are doing. How you position the logo should be appropriate for its intended purpose.</a:t>
            </a:r>
          </a:p>
          <a:p>
            <a:pPr marL="0" lvl="0" indent="0">
              <a:buNone/>
            </a:pPr>
            <a:r>
              <a:rPr lang="en-US" b="1" dirty="0"/>
              <a:t>6. Consistency:</a:t>
            </a:r>
            <a:r>
              <a:rPr lang="en-US" dirty="0"/>
              <a:t> Your brand should build awareness and develop trust and loyalty with customers.  </a:t>
            </a:r>
          </a:p>
          <a:p>
            <a:pPr marL="0" lvl="0" indent="0">
              <a:buNone/>
            </a:pPr>
            <a:r>
              <a:rPr lang="en-US" dirty="0"/>
              <a:t> 7. </a:t>
            </a:r>
            <a:r>
              <a:rPr lang="en-US" b="1" dirty="0"/>
              <a:t>Uniqueness:</a:t>
            </a:r>
            <a:r>
              <a:rPr lang="en-US" dirty="0"/>
              <a:t> a logo should be designed on a new concept that has not been used before by anyone. </a:t>
            </a:r>
          </a:p>
          <a:p>
            <a:endParaRPr lang="en-US" dirty="0"/>
          </a:p>
        </p:txBody>
      </p:sp>
    </p:spTree>
    <p:extLst>
      <p:ext uri="{BB962C8B-B14F-4D97-AF65-F5344CB8AC3E}">
        <p14:creationId xmlns:p14="http://schemas.microsoft.com/office/powerpoint/2010/main" val="1186244721"/>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2" algn="ctr" rtl="0">
              <a:spcBef>
                <a:spcPct val="0"/>
              </a:spcBef>
            </a:pPr>
            <a:r>
              <a:rPr lang="en-US" sz="2800" b="1" dirty="0"/>
              <a:t>Logo design process</a:t>
            </a:r>
            <a:br>
              <a:rPr lang="en-US" sz="3200" dirty="0"/>
            </a:br>
            <a:endParaRPr lang="en-US" sz="2800" dirty="0"/>
          </a:p>
        </p:txBody>
      </p:sp>
      <p:sp>
        <p:nvSpPr>
          <p:cNvPr id="3" name="Content Placeholder 2"/>
          <p:cNvSpPr>
            <a:spLocks noGrp="1"/>
          </p:cNvSpPr>
          <p:nvPr>
            <p:ph idx="1"/>
          </p:nvPr>
        </p:nvSpPr>
        <p:spPr/>
        <p:txBody>
          <a:bodyPr/>
          <a:lstStyle/>
          <a:p>
            <a:r>
              <a:rPr lang="en-US" dirty="0"/>
              <a:t>Logo design process is a combination of investigation, strategic thinking and design excellence. </a:t>
            </a:r>
          </a:p>
          <a:p>
            <a:r>
              <a:rPr lang="en-US" sz="4000" dirty="0"/>
              <a:t> </a:t>
            </a:r>
            <a:r>
              <a:rPr lang="en-US" dirty="0"/>
              <a:t>Every designer has his or her own process, and it is rarely linear, but in general this is how the branding process is completed, which can be used as a guide to establish your own.</a:t>
            </a:r>
            <a:endParaRPr lang="en-US" sz="3600" dirty="0"/>
          </a:p>
          <a:p>
            <a:endParaRPr lang="en-US" dirty="0"/>
          </a:p>
        </p:txBody>
      </p:sp>
    </p:spTree>
    <p:extLst>
      <p:ext uri="{BB962C8B-B14F-4D97-AF65-F5344CB8AC3E}">
        <p14:creationId xmlns:p14="http://schemas.microsoft.com/office/powerpoint/2010/main" val="287112782"/>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Steps for logo design process</a:t>
            </a:r>
            <a:endParaRPr lang="en-US" dirty="0"/>
          </a:p>
        </p:txBody>
      </p:sp>
      <p:sp>
        <p:nvSpPr>
          <p:cNvPr id="3" name="Content Placeholder 2"/>
          <p:cNvSpPr>
            <a:spLocks noGrp="1"/>
          </p:cNvSpPr>
          <p:nvPr>
            <p:ph idx="1"/>
          </p:nvPr>
        </p:nvSpPr>
        <p:spPr/>
        <p:txBody>
          <a:bodyPr>
            <a:normAutofit fontScale="77500" lnSpcReduction="20000"/>
          </a:bodyPr>
          <a:lstStyle/>
          <a:p>
            <a:pPr marL="0" lvl="0" indent="0">
              <a:buNone/>
            </a:pPr>
            <a:r>
              <a:rPr lang="en-US" b="1" dirty="0">
                <a:hlinkClick r:id="rId2"/>
              </a:rPr>
              <a:t>1. Design Brief:</a:t>
            </a:r>
            <a:r>
              <a:rPr lang="en-US" b="1" u="sng" dirty="0">
                <a:hlinkClick r:id="rId2"/>
              </a:rPr>
              <a:t> </a:t>
            </a:r>
            <a:r>
              <a:rPr lang="en-US" dirty="0"/>
              <a:t> Conduct a questionnaire or interview with the client to get the design brief. Get to know the client’s business. Understanding the company’s goals for the logo is critical. </a:t>
            </a:r>
          </a:p>
          <a:p>
            <a:pPr lvl="0"/>
            <a:r>
              <a:rPr lang="en-US" dirty="0"/>
              <a:t>The designer should gather as much information from the client as possible. It is important to learn where the logo will be used, on what scale and in what capacity. designer should also learn about the company’s target audience. </a:t>
            </a:r>
          </a:p>
          <a:p>
            <a:pPr marL="0" lvl="0" indent="0">
              <a:buNone/>
            </a:pPr>
            <a:r>
              <a:rPr lang="en-US" b="1" dirty="0">
                <a:hlinkClick r:id="rId3"/>
              </a:rPr>
              <a:t>2. Research</a:t>
            </a:r>
            <a:r>
              <a:rPr lang="en-US" b="1" dirty="0"/>
              <a:t>: </a:t>
            </a:r>
            <a:r>
              <a:rPr lang="en-US" dirty="0"/>
              <a:t>Conduct research focused on the industry, its history, and competitors.</a:t>
            </a:r>
          </a:p>
          <a:p>
            <a:pPr marL="0" lvl="0" indent="0">
              <a:buNone/>
            </a:pPr>
            <a:r>
              <a:rPr lang="en-US" b="1" dirty="0">
                <a:hlinkClick r:id="rId4"/>
              </a:rPr>
              <a:t>3. Brainstorming: </a:t>
            </a:r>
            <a:r>
              <a:rPr lang="en-US" dirty="0"/>
              <a:t>Conceptualize ideas and make decisions on the possible design directions.</a:t>
            </a:r>
          </a:p>
        </p:txBody>
      </p:sp>
    </p:spTree>
    <p:extLst>
      <p:ext uri="{BB962C8B-B14F-4D97-AF65-F5344CB8AC3E}">
        <p14:creationId xmlns:p14="http://schemas.microsoft.com/office/powerpoint/2010/main" val="73102324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marL="0" lvl="0" indent="0">
              <a:buNone/>
            </a:pPr>
            <a:r>
              <a:rPr lang="en-US" b="1" dirty="0">
                <a:hlinkClick r:id="rId2"/>
              </a:rPr>
              <a:t>4. Sketching: </a:t>
            </a:r>
            <a:r>
              <a:rPr lang="en-US" dirty="0"/>
              <a:t>Develop the logo design concepts around the brief and research.</a:t>
            </a:r>
          </a:p>
          <a:p>
            <a:pPr marL="0" lvl="0" indent="0">
              <a:buNone/>
            </a:pPr>
            <a:r>
              <a:rPr lang="en-US" b="1" dirty="0">
                <a:hlinkClick r:id="rId3"/>
              </a:rPr>
              <a:t>5. Design Execution</a:t>
            </a:r>
            <a:r>
              <a:rPr lang="en-US" b="1" dirty="0"/>
              <a:t>: </a:t>
            </a:r>
            <a:r>
              <a:rPr lang="en-US" dirty="0"/>
              <a:t>Select promising logo design concepts and execute them digitally.</a:t>
            </a:r>
          </a:p>
          <a:p>
            <a:pPr marL="0" lvl="0" indent="0">
              <a:buNone/>
            </a:pPr>
            <a:r>
              <a:rPr lang="en-US" b="1" dirty="0">
                <a:hlinkClick r:id="rId4"/>
              </a:rPr>
              <a:t>6. Presentation</a:t>
            </a:r>
            <a:r>
              <a:rPr lang="en-US" b="1" dirty="0"/>
              <a:t>: </a:t>
            </a:r>
            <a:r>
              <a:rPr lang="en-US" dirty="0"/>
              <a:t>Present logo designs concepts in context of applications relevant to the client.</a:t>
            </a:r>
          </a:p>
          <a:p>
            <a:pPr marL="0" lvl="0" indent="0">
              <a:buNone/>
            </a:pPr>
            <a:r>
              <a:rPr lang="en-US" b="1" dirty="0">
                <a:hlinkClick r:id="rId5"/>
              </a:rPr>
              <a:t>7. Revisions / Approval</a:t>
            </a:r>
            <a:r>
              <a:rPr lang="en-US" b="1" dirty="0"/>
              <a:t>: </a:t>
            </a:r>
            <a:r>
              <a:rPr lang="en-US" dirty="0"/>
              <a:t>Make changes if necessary. Together with the client arrive on the best solution.</a:t>
            </a:r>
          </a:p>
          <a:p>
            <a:pPr marL="0" lvl="0" indent="0">
              <a:buNone/>
            </a:pPr>
            <a:r>
              <a:rPr lang="en-US" b="1" dirty="0">
                <a:hlinkClick r:id="rId6"/>
              </a:rPr>
              <a:t>8. Delivery</a:t>
            </a:r>
            <a:r>
              <a:rPr lang="en-US" b="1" dirty="0"/>
              <a:t>: </a:t>
            </a:r>
            <a:r>
              <a:rPr lang="en-US" dirty="0"/>
              <a:t>Deliver the final logo artwork and identity guidelines.</a:t>
            </a:r>
          </a:p>
          <a:p>
            <a:endParaRPr lang="en-US" dirty="0"/>
          </a:p>
        </p:txBody>
      </p:sp>
    </p:spTree>
    <p:extLst>
      <p:ext uri="{BB962C8B-B14F-4D97-AF65-F5344CB8AC3E}">
        <p14:creationId xmlns:p14="http://schemas.microsoft.com/office/powerpoint/2010/main" val="221995991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Specify logo design requirements </a:t>
            </a:r>
            <a:endParaRPr lang="en-US" sz="4000" dirty="0"/>
          </a:p>
        </p:txBody>
      </p:sp>
      <p:sp>
        <p:nvSpPr>
          <p:cNvPr id="3" name="Content Placeholder 2"/>
          <p:cNvSpPr>
            <a:spLocks noGrp="1"/>
          </p:cNvSpPr>
          <p:nvPr>
            <p:ph idx="1"/>
          </p:nvPr>
        </p:nvSpPr>
        <p:spPr/>
        <p:txBody>
          <a:bodyPr>
            <a:normAutofit fontScale="85000" lnSpcReduction="20000"/>
          </a:bodyPr>
          <a:lstStyle/>
          <a:p>
            <a:r>
              <a:rPr lang="en-US" dirty="0"/>
              <a:t>Here is what </a:t>
            </a:r>
            <a:r>
              <a:rPr lang="en-US" u="sng" dirty="0">
                <a:hlinkClick r:id="rId2" tooltip="we"/>
              </a:rPr>
              <a:t>we</a:t>
            </a:r>
            <a:r>
              <a:rPr lang="en-US" dirty="0"/>
              <a:t> look for when we </a:t>
            </a:r>
            <a:r>
              <a:rPr lang="en-US" u="sng" dirty="0">
                <a:hlinkClick r:id="rId3" tooltip="evaluate"/>
              </a:rPr>
              <a:t>evaluate</a:t>
            </a:r>
            <a:r>
              <a:rPr lang="en-US" dirty="0"/>
              <a:t> logo design:</a:t>
            </a:r>
            <a:endParaRPr lang="en-US" sz="2800" dirty="0"/>
          </a:p>
          <a:p>
            <a:r>
              <a:rPr lang="en-US" b="1" i="1" dirty="0"/>
              <a:t>Memorable – highest recognition and recall</a:t>
            </a:r>
            <a:r>
              <a:rPr lang="en-US" dirty="0"/>
              <a:t> (both of which can be tested for)</a:t>
            </a:r>
            <a:endParaRPr lang="en-US" sz="2800" dirty="0"/>
          </a:p>
          <a:p>
            <a:pPr lvl="0"/>
            <a:r>
              <a:rPr lang="en-US" dirty="0"/>
              <a:t>Including recognition at maximum distances (can be tested for)</a:t>
            </a:r>
            <a:endParaRPr lang="en-US" sz="2800" dirty="0"/>
          </a:p>
          <a:p>
            <a:pPr lvl="0"/>
            <a:r>
              <a:rPr lang="en-US" dirty="0"/>
              <a:t>Aesthetically pleasing</a:t>
            </a:r>
            <a:endParaRPr lang="en-US" sz="2800" dirty="0"/>
          </a:p>
          <a:p>
            <a:pPr lvl="0"/>
            <a:r>
              <a:rPr lang="en-US" dirty="0"/>
              <a:t>Timeless quality – the logo will not become dated</a:t>
            </a:r>
            <a:endParaRPr lang="en-US" sz="2800" dirty="0"/>
          </a:p>
          <a:p>
            <a:pPr lvl="0"/>
            <a:r>
              <a:rPr lang="en-US" dirty="0"/>
              <a:t>Appropriate for the product/service category</a:t>
            </a:r>
            <a:endParaRPr lang="en-US" sz="2800" dirty="0"/>
          </a:p>
          <a:p>
            <a:pPr lvl="0"/>
            <a:r>
              <a:rPr lang="en-US" dirty="0"/>
              <a:t>Has “breakthrough” quality, that is, it stands out in the midst of other logos (can be tested for)</a:t>
            </a:r>
            <a:endParaRPr lang="en-US" sz="2800" dirty="0"/>
          </a:p>
          <a:p>
            <a:pPr marL="0" indent="0">
              <a:buNone/>
            </a:pPr>
            <a:endParaRPr lang="en-US" dirty="0"/>
          </a:p>
        </p:txBody>
      </p:sp>
    </p:spTree>
    <p:extLst>
      <p:ext uri="{BB962C8B-B14F-4D97-AF65-F5344CB8AC3E}">
        <p14:creationId xmlns:p14="http://schemas.microsoft.com/office/powerpoint/2010/main" val="190824759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pPr lvl="0"/>
            <a:r>
              <a:rPr lang="en-US" dirty="0"/>
              <a:t>Reinforces the brand name or tagline or both (can be tested for)</a:t>
            </a:r>
            <a:endParaRPr lang="en-US" sz="2800" dirty="0"/>
          </a:p>
          <a:p>
            <a:pPr lvl="0"/>
            <a:r>
              <a:rPr lang="en-US" dirty="0"/>
              <a:t>Evokes positive emotions (can be tested for)</a:t>
            </a:r>
            <a:endParaRPr lang="en-US" sz="2800" dirty="0"/>
          </a:p>
          <a:p>
            <a:pPr lvl="0"/>
            <a:r>
              <a:rPr lang="en-US" dirty="0"/>
              <a:t>Has positive brand associations (can be tested for)</a:t>
            </a:r>
            <a:endParaRPr lang="en-US" sz="2800" dirty="0"/>
          </a:p>
          <a:p>
            <a:pPr lvl="0"/>
            <a:r>
              <a:rPr lang="en-US" dirty="0"/>
              <a:t>The icon does not evoke negative or unintended associations among the target audiences (can be tested for)</a:t>
            </a:r>
            <a:endParaRPr lang="en-US" sz="2800" dirty="0"/>
          </a:p>
          <a:p>
            <a:pPr lvl="0"/>
            <a:r>
              <a:rPr lang="en-US" dirty="0"/>
              <a:t>Fits in the spaces in which it will most likely appear – has the most advantageous (vertical/horizontal) orientation </a:t>
            </a:r>
            <a:endParaRPr lang="en-US" sz="2800" dirty="0"/>
          </a:p>
          <a:p>
            <a:pPr lvl="1"/>
            <a:r>
              <a:rPr lang="en-US" dirty="0"/>
              <a:t>Including, is recognizable in small (e.g. business card) spaces</a:t>
            </a:r>
            <a:endParaRPr lang="en-US" sz="2400" dirty="0"/>
          </a:p>
          <a:p>
            <a:pPr lvl="1"/>
            <a:r>
              <a:rPr lang="en-US" dirty="0"/>
              <a:t>A version of it looks good in black and white</a:t>
            </a:r>
            <a:endParaRPr lang="en-US" sz="2400" dirty="0"/>
          </a:p>
          <a:p>
            <a:pPr lvl="1"/>
            <a:r>
              <a:rPr lang="en-US" dirty="0"/>
              <a:t>Works well with sub-brand or endorsed brand identities</a:t>
            </a:r>
            <a:endParaRPr lang="en-US" sz="2400" dirty="0"/>
          </a:p>
        </p:txBody>
      </p:sp>
    </p:spTree>
    <p:extLst>
      <p:ext uri="{BB962C8B-B14F-4D97-AF65-F5344CB8AC3E}">
        <p14:creationId xmlns:p14="http://schemas.microsoft.com/office/powerpoint/2010/main" val="245999177"/>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b="1"/>
              <a:t>Establish Creative briefs </a:t>
            </a:r>
            <a:br>
              <a:rPr lang="en-US"/>
            </a:br>
            <a:endParaRPr lang="en-US"/>
          </a:p>
        </p:txBody>
      </p:sp>
      <p:sp>
        <p:nvSpPr>
          <p:cNvPr id="3" name="Content Placeholder 2"/>
          <p:cNvSpPr>
            <a:spLocks noGrp="1"/>
          </p:cNvSpPr>
          <p:nvPr>
            <p:ph idx="1"/>
          </p:nvPr>
        </p:nvSpPr>
        <p:spPr/>
        <p:txBody>
          <a:bodyPr>
            <a:normAutofit fontScale="70000" lnSpcReduction="20000"/>
          </a:bodyPr>
          <a:lstStyle/>
          <a:p>
            <a:r>
              <a:rPr lang="en-US" dirty="0"/>
              <a:t>Creative brief is a document that explains the ins and outs of a project for the creative team, agency, or designer who'll be working on it. </a:t>
            </a:r>
            <a:r>
              <a:rPr lang="en-US" b="1" dirty="0"/>
              <a:t> </a:t>
            </a:r>
            <a:endParaRPr lang="en-US" dirty="0"/>
          </a:p>
          <a:p>
            <a:pPr lvl="0"/>
            <a:r>
              <a:rPr lang="en-US" dirty="0"/>
              <a:t>Brand identity </a:t>
            </a:r>
          </a:p>
          <a:p>
            <a:pPr lvl="0"/>
            <a:r>
              <a:rPr lang="en-US" dirty="0"/>
              <a:t> Background information </a:t>
            </a:r>
          </a:p>
          <a:p>
            <a:pPr lvl="0"/>
            <a:r>
              <a:rPr lang="en-US" dirty="0"/>
              <a:t> New project or redesign</a:t>
            </a:r>
          </a:p>
          <a:p>
            <a:pPr lvl="0"/>
            <a:r>
              <a:rPr lang="en-US" dirty="0"/>
              <a:t> Output expectations </a:t>
            </a:r>
          </a:p>
          <a:p>
            <a:pPr lvl="0"/>
            <a:r>
              <a:rPr lang="en-US" dirty="0"/>
              <a:t>Design preferences</a:t>
            </a:r>
          </a:p>
          <a:p>
            <a:pPr lvl="0"/>
            <a:r>
              <a:rPr lang="en-US" dirty="0"/>
              <a:t> Logo type  </a:t>
            </a:r>
          </a:p>
          <a:p>
            <a:pPr lvl="0"/>
            <a:r>
              <a:rPr lang="en-US" dirty="0"/>
              <a:t>  Logo shape </a:t>
            </a:r>
          </a:p>
          <a:p>
            <a:pPr lvl="0"/>
            <a:r>
              <a:rPr lang="en-US" dirty="0"/>
              <a:t> Budget </a:t>
            </a:r>
          </a:p>
          <a:p>
            <a:pPr lvl="0"/>
            <a:r>
              <a:rPr lang="en-US" dirty="0"/>
              <a:t> Deadlines </a:t>
            </a:r>
          </a:p>
          <a:p>
            <a:pPr lvl="0"/>
            <a:r>
              <a:rPr lang="en-US" dirty="0"/>
              <a:t> Additional information</a:t>
            </a:r>
          </a:p>
          <a:p>
            <a:endParaRPr lang="en-US" dirty="0"/>
          </a:p>
        </p:txBody>
      </p:sp>
    </p:spTree>
    <p:extLst>
      <p:ext uri="{BB962C8B-B14F-4D97-AF65-F5344CB8AC3E}">
        <p14:creationId xmlns:p14="http://schemas.microsoft.com/office/powerpoint/2010/main" val="77155089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a brand?</a:t>
            </a:r>
          </a:p>
        </p:txBody>
      </p:sp>
      <p:sp>
        <p:nvSpPr>
          <p:cNvPr id="3" name="Content Placeholder 2"/>
          <p:cNvSpPr>
            <a:spLocks noGrp="1"/>
          </p:cNvSpPr>
          <p:nvPr>
            <p:ph idx="1"/>
          </p:nvPr>
        </p:nvSpPr>
        <p:spPr/>
        <p:txBody>
          <a:bodyPr>
            <a:normAutofit fontScale="77500" lnSpcReduction="20000"/>
          </a:bodyPr>
          <a:lstStyle/>
          <a:p>
            <a:r>
              <a:rPr lang="en-US" dirty="0"/>
              <a:t>The term brand refers to a business and </a:t>
            </a:r>
            <a:r>
              <a:rPr lang="en-US" u="sng" dirty="0">
                <a:hlinkClick r:id="rId2"/>
              </a:rPr>
              <a:t>marketing</a:t>
            </a:r>
            <a:r>
              <a:rPr lang="en-US" dirty="0"/>
              <a:t> concept that helps people identify a particular company, product, or individual. </a:t>
            </a:r>
          </a:p>
          <a:p>
            <a:r>
              <a:rPr lang="en-US" dirty="0"/>
              <a:t>Brands are intangible, which means you can't actually touch or see them.</a:t>
            </a:r>
          </a:p>
          <a:p>
            <a:pPr marL="0" indent="0">
              <a:buNone/>
            </a:pPr>
            <a:r>
              <a:rPr lang="en-US" dirty="0"/>
              <a:t>or</a:t>
            </a:r>
          </a:p>
          <a:p>
            <a:r>
              <a:rPr lang="en-US" dirty="0"/>
              <a:t>A </a:t>
            </a:r>
            <a:r>
              <a:rPr lang="en-US" b="1" dirty="0"/>
              <a:t>brand</a:t>
            </a:r>
            <a:r>
              <a:rPr lang="en-US" dirty="0"/>
              <a:t> is a name, term, design, symbol or any other feature that distinguishes one seller's good or service from those of other sellers. </a:t>
            </a:r>
          </a:p>
          <a:p>
            <a:r>
              <a:rPr lang="en-US" dirty="0"/>
              <a:t>Brands are used in </a:t>
            </a:r>
            <a:r>
              <a:rPr lang="en-US" dirty="0">
                <a:hlinkClick r:id="rId3" tooltip="Business"/>
              </a:rPr>
              <a:t>business</a:t>
            </a:r>
            <a:r>
              <a:rPr lang="en-US" dirty="0"/>
              <a:t>, </a:t>
            </a:r>
            <a:r>
              <a:rPr lang="en-US" dirty="0">
                <a:hlinkClick r:id="rId4" tooltip="Marketing"/>
              </a:rPr>
              <a:t>marketing</a:t>
            </a:r>
            <a:r>
              <a:rPr lang="en-US" dirty="0"/>
              <a:t>, and </a:t>
            </a:r>
            <a:r>
              <a:rPr lang="en-US" dirty="0">
                <a:hlinkClick r:id="rId5" tooltip="Advertising"/>
              </a:rPr>
              <a:t>advertising</a:t>
            </a:r>
            <a:r>
              <a:rPr lang="en-US" dirty="0"/>
              <a:t> for recognition and, importantly, to create and store value as brand equity for the object identified, to the benefit of the brand's customers, its owners and </a:t>
            </a:r>
            <a:r>
              <a:rPr lang="en-US" dirty="0">
                <a:hlinkClick r:id="rId6" tooltip="Shareholder"/>
              </a:rPr>
              <a:t>shareholders</a:t>
            </a:r>
            <a:endParaRPr lang="en-US" dirty="0"/>
          </a:p>
        </p:txBody>
      </p:sp>
    </p:spTree>
    <p:extLst>
      <p:ext uri="{BB962C8B-B14F-4D97-AF65-F5344CB8AC3E}">
        <p14:creationId xmlns:p14="http://schemas.microsoft.com/office/powerpoint/2010/main" val="1160477007"/>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What Is Brand Identity?</a:t>
            </a:r>
            <a:br>
              <a:rPr lang="en-US" b="1" dirty="0"/>
            </a:br>
            <a:endParaRPr lang="en-US" dirty="0"/>
          </a:p>
        </p:txBody>
      </p:sp>
      <p:sp>
        <p:nvSpPr>
          <p:cNvPr id="3" name="Content Placeholder 2"/>
          <p:cNvSpPr>
            <a:spLocks noGrp="1"/>
          </p:cNvSpPr>
          <p:nvPr>
            <p:ph idx="1"/>
          </p:nvPr>
        </p:nvSpPr>
        <p:spPr/>
        <p:txBody>
          <a:bodyPr/>
          <a:lstStyle/>
          <a:p>
            <a:r>
              <a:rPr lang="en-US" dirty="0"/>
              <a:t>Brand identity is the visible elements of a brand, such as </a:t>
            </a:r>
            <a:r>
              <a:rPr lang="en-US" u="sng" dirty="0">
                <a:hlinkClick r:id="rId2"/>
              </a:rPr>
              <a:t>color, design, and logo</a:t>
            </a:r>
            <a:r>
              <a:rPr lang="en-US" dirty="0"/>
              <a:t>, that identify and distinguish the brand in consumers' </a:t>
            </a:r>
            <a:r>
              <a:rPr lang="en-US"/>
              <a:t>minds.</a:t>
            </a:r>
            <a:endParaRPr lang="en-US" dirty="0"/>
          </a:p>
          <a:p>
            <a:endParaRPr lang="en-US" dirty="0"/>
          </a:p>
        </p:txBody>
      </p:sp>
    </p:spTree>
    <p:extLst>
      <p:ext uri="{BB962C8B-B14F-4D97-AF65-F5344CB8AC3E}">
        <p14:creationId xmlns:p14="http://schemas.microsoft.com/office/powerpoint/2010/main" val="490607813"/>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b="1" dirty="0"/>
              <a:t>2.5 Design </a:t>
            </a:r>
            <a:r>
              <a:rPr lang="fr-FR" b="1" dirty="0" err="1"/>
              <a:t>infographics</a:t>
            </a:r>
            <a:r>
              <a:rPr lang="en-US" b="1" dirty="0"/>
              <a:t> </a:t>
            </a:r>
            <a:r>
              <a:rPr lang="en-GB" b="1" dirty="0"/>
              <a:t> </a:t>
            </a:r>
            <a:endParaRPr lang="en-US" dirty="0"/>
          </a:p>
        </p:txBody>
      </p:sp>
      <p:sp>
        <p:nvSpPr>
          <p:cNvPr id="3" name="Content Placeholder 2"/>
          <p:cNvSpPr>
            <a:spLocks noGrp="1"/>
          </p:cNvSpPr>
          <p:nvPr>
            <p:ph idx="1"/>
          </p:nvPr>
        </p:nvSpPr>
        <p:spPr/>
        <p:txBody>
          <a:bodyPr>
            <a:normAutofit fontScale="92500" lnSpcReduction="20000"/>
          </a:bodyPr>
          <a:lstStyle/>
          <a:p>
            <a:r>
              <a:rPr lang="en-US" b="1" dirty="0"/>
              <a:t>An infographic </a:t>
            </a:r>
            <a:r>
              <a:rPr lang="en-US" dirty="0"/>
              <a:t>is a collection of imagery, data visualizations and minimal text that gives an easy-to-understand overview of a topic.</a:t>
            </a:r>
            <a:endParaRPr lang="en-GB" b="1" dirty="0"/>
          </a:p>
          <a:p>
            <a:r>
              <a:rPr lang="en-GB" b="1" dirty="0"/>
              <a:t>✔ Icon</a:t>
            </a:r>
            <a:endParaRPr lang="en-US" dirty="0"/>
          </a:p>
          <a:p>
            <a:r>
              <a:rPr lang="en-GB" dirty="0"/>
              <a:t>An icon is </a:t>
            </a:r>
            <a:r>
              <a:rPr lang="en-GB" i="1" dirty="0"/>
              <a:t>a graphic image, a small picture or object that represents a file, program, web page, or command</a:t>
            </a:r>
            <a:r>
              <a:rPr lang="en-GB" dirty="0"/>
              <a:t>.</a:t>
            </a:r>
            <a:endParaRPr lang="en-US" dirty="0"/>
          </a:p>
          <a:p>
            <a:r>
              <a:rPr lang="en-GB" b="1" dirty="0"/>
              <a:t>✔ Logo</a:t>
            </a:r>
            <a:endParaRPr lang="en-US" dirty="0"/>
          </a:p>
          <a:p>
            <a:r>
              <a:rPr lang="en-GB" dirty="0"/>
              <a:t>A Logo is </a:t>
            </a:r>
            <a:r>
              <a:rPr lang="en-GB" i="1" dirty="0"/>
              <a:t>symbols with a combination of text and images that helps a user or customer identify brands and differentiate between companies</a:t>
            </a:r>
            <a:r>
              <a:rPr lang="en-GB" dirty="0"/>
              <a:t>.</a:t>
            </a:r>
            <a:endParaRPr lang="en-US" dirty="0"/>
          </a:p>
        </p:txBody>
      </p:sp>
    </p:spTree>
    <p:extLst>
      <p:ext uri="{BB962C8B-B14F-4D97-AF65-F5344CB8AC3E}">
        <p14:creationId xmlns:p14="http://schemas.microsoft.com/office/powerpoint/2010/main" val="3455620185"/>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GB" b="1" dirty="0"/>
              <a:t>✔ Web banners </a:t>
            </a:r>
            <a:endParaRPr lang="en-US" dirty="0"/>
          </a:p>
          <a:p>
            <a:r>
              <a:rPr lang="en-GB" dirty="0"/>
              <a:t>A web banner is a promotional advertisement that is displayed on websites or in search engine results. These banners are usually used for branding purposes and are generally cheaper than other types of online advertising, like pay-per-click ads.</a:t>
            </a:r>
            <a:endParaRPr lang="en-US" dirty="0"/>
          </a:p>
          <a:p>
            <a:r>
              <a:rPr lang="en-GB" b="1" dirty="0"/>
              <a:t>✔ Flyer</a:t>
            </a:r>
            <a:endParaRPr lang="en-US" dirty="0"/>
          </a:p>
          <a:p>
            <a:r>
              <a:rPr lang="en-GB" dirty="0"/>
              <a:t>A flyer is a small sheet of paper containing printed text that advertises an event, product, or service. </a:t>
            </a:r>
            <a:endParaRPr lang="en-US" dirty="0"/>
          </a:p>
          <a:p>
            <a:endParaRPr lang="en-US" dirty="0"/>
          </a:p>
        </p:txBody>
      </p:sp>
    </p:spTree>
    <p:extLst>
      <p:ext uri="{BB962C8B-B14F-4D97-AF65-F5344CB8AC3E}">
        <p14:creationId xmlns:p14="http://schemas.microsoft.com/office/powerpoint/2010/main" val="2443468390"/>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Learning outcome 3: Export file</a:t>
            </a:r>
            <a:br>
              <a:rPr lang="en-US" b="1" dirty="0"/>
            </a:br>
            <a:endParaRPr lang="en-US" dirty="0"/>
          </a:p>
        </p:txBody>
      </p:sp>
      <p:sp>
        <p:nvSpPr>
          <p:cNvPr id="3" name="Content Placeholder 2"/>
          <p:cNvSpPr>
            <a:spLocks noGrp="1"/>
          </p:cNvSpPr>
          <p:nvPr>
            <p:ph idx="1"/>
          </p:nvPr>
        </p:nvSpPr>
        <p:spPr/>
        <p:txBody>
          <a:bodyPr>
            <a:normAutofit/>
          </a:bodyPr>
          <a:lstStyle/>
          <a:p>
            <a:r>
              <a:rPr lang="en-US" dirty="0">
                <a:solidFill>
                  <a:srgbClr val="000000"/>
                </a:solidFill>
                <a:latin typeface="BookmanOldStyle"/>
              </a:rPr>
              <a:t>Description of file formats</a:t>
            </a:r>
          </a:p>
          <a:p>
            <a:r>
              <a:rPr lang="en-GB" b="1" dirty="0"/>
              <a:t>Image</a:t>
            </a:r>
            <a:r>
              <a:rPr lang="en-GB" dirty="0"/>
              <a:t> is the visual representation of someone or something</a:t>
            </a:r>
            <a:endParaRPr lang="en-US" dirty="0">
              <a:solidFill>
                <a:srgbClr val="000000"/>
              </a:solidFill>
              <a:latin typeface="BookmanOldStyle"/>
            </a:endParaRPr>
          </a:p>
          <a:p>
            <a:r>
              <a:rPr lang="en-US" b="1" dirty="0"/>
              <a:t>What is an image file format?</a:t>
            </a:r>
          </a:p>
          <a:p>
            <a:r>
              <a:rPr lang="en-US" dirty="0"/>
              <a:t>An image file format refers to a way of storing and organizing a digital image. </a:t>
            </a:r>
          </a:p>
          <a:p>
            <a:r>
              <a:rPr lang="en-US" dirty="0"/>
              <a:t>There are many formats that can be used, such as </a:t>
            </a:r>
            <a:r>
              <a:rPr lang="en-US" dirty="0">
                <a:hlinkClick r:id="rId2" tooltip="JPEG"/>
              </a:rPr>
              <a:t>JPEG</a:t>
            </a:r>
            <a:r>
              <a:rPr lang="en-US" dirty="0"/>
              <a:t>, </a:t>
            </a:r>
            <a:r>
              <a:rPr lang="en-US" dirty="0">
                <a:hlinkClick r:id="rId3" tooltip="Portable Network Graphics"/>
              </a:rPr>
              <a:t>PNG</a:t>
            </a:r>
            <a:r>
              <a:rPr lang="en-US" dirty="0"/>
              <a:t>, </a:t>
            </a:r>
            <a:r>
              <a:rPr lang="en-US" dirty="0">
                <a:hlinkClick r:id="rId4" tooltip="GIF"/>
              </a:rPr>
              <a:t>GIF</a:t>
            </a:r>
            <a:r>
              <a:rPr lang="en-US" dirty="0"/>
              <a:t>,….</a:t>
            </a:r>
          </a:p>
          <a:p>
            <a:pPr marL="0" indent="0">
              <a:buNone/>
            </a:pPr>
            <a:endParaRPr lang="en-US" dirty="0"/>
          </a:p>
          <a:p>
            <a:endParaRPr lang="en-US" dirty="0"/>
          </a:p>
        </p:txBody>
      </p:sp>
    </p:spTree>
    <p:extLst>
      <p:ext uri="{BB962C8B-B14F-4D97-AF65-F5344CB8AC3E}">
        <p14:creationId xmlns:p14="http://schemas.microsoft.com/office/powerpoint/2010/main" val="1748114146"/>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r>
              <a:rPr lang="en-GB" b="1" dirty="0"/>
              <a:t>RAW images </a:t>
            </a:r>
            <a:r>
              <a:rPr lang="en-GB" dirty="0"/>
              <a:t>are images that are unprocessed that have been created by a camera or scanner. Many digital SLR cameras can shoot in RAW, whether it be a .raw, .cr2, or .</a:t>
            </a:r>
            <a:r>
              <a:rPr lang="en-GB" dirty="0" err="1"/>
              <a:t>nef</a:t>
            </a:r>
            <a:r>
              <a:rPr lang="en-GB" dirty="0"/>
              <a:t>. </a:t>
            </a:r>
          </a:p>
          <a:p>
            <a:r>
              <a:rPr lang="fr-FR" dirty="0"/>
              <a:t>RAW Image Files (.</a:t>
            </a:r>
            <a:r>
              <a:rPr lang="fr-FR" dirty="0" err="1"/>
              <a:t>raw</a:t>
            </a:r>
            <a:r>
              <a:rPr lang="fr-FR" dirty="0"/>
              <a:t>, .cr2(Canon </a:t>
            </a:r>
            <a:r>
              <a:rPr lang="fr-FR" dirty="0" err="1"/>
              <a:t>Raw</a:t>
            </a:r>
            <a:r>
              <a:rPr lang="fr-FR" dirty="0"/>
              <a:t> 2 </a:t>
            </a:r>
            <a:r>
              <a:rPr lang="fr-FR" dirty="0" err="1"/>
              <a:t>is</a:t>
            </a:r>
            <a:r>
              <a:rPr lang="fr-FR" dirty="0"/>
              <a:t> digit file format for </a:t>
            </a:r>
            <a:r>
              <a:rPr lang="fr-FR" dirty="0" err="1"/>
              <a:t>any</a:t>
            </a:r>
            <a:r>
              <a:rPr lang="fr-FR" dirty="0"/>
              <a:t> </a:t>
            </a:r>
            <a:r>
              <a:rPr lang="fr-FR" dirty="0" err="1"/>
              <a:t>photograph</a:t>
            </a:r>
            <a:r>
              <a:rPr lang="fr-FR" dirty="0"/>
              <a:t> </a:t>
            </a:r>
            <a:r>
              <a:rPr lang="fr-FR" dirty="0" err="1"/>
              <a:t>taken</a:t>
            </a:r>
            <a:r>
              <a:rPr lang="fr-FR" dirty="0"/>
              <a:t> on canon cameras and </a:t>
            </a:r>
            <a:r>
              <a:rPr lang="fr-FR" dirty="0" err="1"/>
              <a:t>uploaded</a:t>
            </a:r>
            <a:r>
              <a:rPr lang="fr-FR" dirty="0"/>
              <a:t> on a computer), .nef(Nikon </a:t>
            </a:r>
            <a:r>
              <a:rPr lang="fr-FR" dirty="0" err="1"/>
              <a:t>Electronic</a:t>
            </a:r>
            <a:r>
              <a:rPr lang="fr-FR" dirty="0"/>
              <a:t> Format </a:t>
            </a:r>
            <a:r>
              <a:rPr lang="fr-FR" dirty="0" err="1"/>
              <a:t>is</a:t>
            </a:r>
            <a:r>
              <a:rPr lang="fr-FR" dirty="0"/>
              <a:t> a </a:t>
            </a:r>
            <a:r>
              <a:rPr lang="fr-FR" dirty="0" err="1"/>
              <a:t>raw</a:t>
            </a:r>
            <a:r>
              <a:rPr lang="fr-FR" dirty="0"/>
              <a:t> file format for </a:t>
            </a:r>
            <a:r>
              <a:rPr lang="fr-FR" dirty="0" err="1"/>
              <a:t>containing</a:t>
            </a:r>
            <a:r>
              <a:rPr lang="fr-FR" dirty="0"/>
              <a:t> digital photos </a:t>
            </a:r>
            <a:r>
              <a:rPr lang="fr-FR" dirty="0" err="1"/>
              <a:t>taken</a:t>
            </a:r>
            <a:r>
              <a:rPr lang="fr-FR" dirty="0"/>
              <a:t> by Nikon cameras ), .</a:t>
            </a:r>
            <a:r>
              <a:rPr lang="fr-FR" dirty="0" err="1"/>
              <a:t>orf</a:t>
            </a:r>
            <a:r>
              <a:rPr lang="fr-FR" dirty="0"/>
              <a:t>(</a:t>
            </a:r>
            <a:r>
              <a:rPr lang="fr-FR" dirty="0" err="1"/>
              <a:t>is</a:t>
            </a:r>
            <a:r>
              <a:rPr lang="fr-FR" dirty="0"/>
              <a:t> a </a:t>
            </a:r>
            <a:r>
              <a:rPr lang="fr-FR" dirty="0" err="1"/>
              <a:t>raw</a:t>
            </a:r>
            <a:r>
              <a:rPr lang="fr-FR" dirty="0"/>
              <a:t> file format </a:t>
            </a:r>
            <a:r>
              <a:rPr lang="fr-FR" dirty="0" err="1"/>
              <a:t>used</a:t>
            </a:r>
            <a:r>
              <a:rPr lang="fr-FR" dirty="0"/>
              <a:t> by Olympus digital cameras), .sr2(</a:t>
            </a:r>
            <a:r>
              <a:rPr lang="fr-FR" dirty="0" err="1"/>
              <a:t>is</a:t>
            </a:r>
            <a:r>
              <a:rPr lang="fr-FR" dirty="0"/>
              <a:t> a </a:t>
            </a:r>
            <a:r>
              <a:rPr lang="fr-FR" dirty="0" err="1"/>
              <a:t>raw</a:t>
            </a:r>
            <a:r>
              <a:rPr lang="fr-FR" dirty="0"/>
              <a:t> file format </a:t>
            </a:r>
            <a:r>
              <a:rPr lang="fr-FR" dirty="0" err="1"/>
              <a:t>associated</a:t>
            </a:r>
            <a:r>
              <a:rPr lang="fr-FR" dirty="0"/>
              <a:t> </a:t>
            </a:r>
            <a:r>
              <a:rPr lang="fr-FR" dirty="0" err="1"/>
              <a:t>with</a:t>
            </a:r>
            <a:r>
              <a:rPr lang="fr-FR" dirty="0"/>
              <a:t> </a:t>
            </a:r>
            <a:r>
              <a:rPr lang="fr-FR" dirty="0" err="1"/>
              <a:t>sony</a:t>
            </a:r>
            <a:r>
              <a:rPr lang="fr-FR" dirty="0"/>
              <a:t> cameras).</a:t>
            </a:r>
            <a:endParaRPr lang="en-US" dirty="0"/>
          </a:p>
          <a:p>
            <a:endParaRPr lang="en-US" dirty="0"/>
          </a:p>
        </p:txBody>
      </p:sp>
    </p:spTree>
    <p:extLst>
      <p:ext uri="{BB962C8B-B14F-4D97-AF65-F5344CB8AC3E}">
        <p14:creationId xmlns:p14="http://schemas.microsoft.com/office/powerpoint/2010/main" val="1544572801"/>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a:solidFill>
                  <a:srgbClr val="000000"/>
                </a:solidFill>
                <a:latin typeface="BookmanOldStyle-Bold"/>
              </a:rPr>
              <a:t>Identification of Image </a:t>
            </a:r>
            <a:r>
              <a:rPr lang="en-US" sz="3200" b="1" dirty="0" err="1">
                <a:solidFill>
                  <a:srgbClr val="000000"/>
                </a:solidFill>
                <a:latin typeface="BookmanOldStyle-Bold"/>
              </a:rPr>
              <a:t>optimisation</a:t>
            </a:r>
            <a:r>
              <a:rPr lang="en-US" sz="3200" b="1" dirty="0">
                <a:solidFill>
                  <a:srgbClr val="000000"/>
                </a:solidFill>
                <a:latin typeface="BookmanOldStyle-Bold"/>
              </a:rPr>
              <a:t> tools and programs</a:t>
            </a:r>
            <a:endParaRPr lang="en-US" sz="3200" dirty="0"/>
          </a:p>
        </p:txBody>
      </p:sp>
      <p:sp>
        <p:nvSpPr>
          <p:cNvPr id="3" name="Content Placeholder 2"/>
          <p:cNvSpPr>
            <a:spLocks noGrp="1"/>
          </p:cNvSpPr>
          <p:nvPr>
            <p:ph idx="1"/>
          </p:nvPr>
        </p:nvSpPr>
        <p:spPr/>
        <p:txBody>
          <a:bodyPr>
            <a:normAutofit fontScale="55000" lnSpcReduction="20000"/>
          </a:bodyPr>
          <a:lstStyle/>
          <a:p>
            <a:r>
              <a:rPr lang="en-US" sz="4400" dirty="0">
                <a:solidFill>
                  <a:srgbClr val="000000"/>
                </a:solidFill>
                <a:latin typeface="SegoeUISymbol"/>
              </a:rPr>
              <a:t>✔ </a:t>
            </a:r>
            <a:r>
              <a:rPr lang="en-US" sz="4400" dirty="0">
                <a:solidFill>
                  <a:srgbClr val="000000"/>
                </a:solidFill>
                <a:latin typeface="BookmanOldStyle"/>
              </a:rPr>
              <a:t>Compression</a:t>
            </a:r>
          </a:p>
          <a:p>
            <a:r>
              <a:rPr lang="en-GB" sz="4400" b="1" dirty="0"/>
              <a:t>Image compression</a:t>
            </a:r>
            <a:r>
              <a:rPr lang="en-GB" sz="4400" dirty="0"/>
              <a:t> is the process of encoding or converting or minimizing the size of an image file in order to consume less space than the original file.</a:t>
            </a:r>
          </a:p>
          <a:p>
            <a:r>
              <a:rPr lang="en-US" sz="4400" b="1" dirty="0"/>
              <a:t>Why compress files?</a:t>
            </a:r>
          </a:p>
          <a:p>
            <a:r>
              <a:rPr lang="en-US" sz="4400" dirty="0"/>
              <a:t>Processing power and storage space is very valuable on a computer. To get the best out of both, it can mean that we need to reduce the file size of text, image and audio </a:t>
            </a:r>
            <a:r>
              <a:rPr lang="en-US" sz="4400" b="1" dirty="0"/>
              <a:t>data</a:t>
            </a:r>
            <a:r>
              <a:rPr lang="en-US" sz="4400" dirty="0"/>
              <a:t> in order to transfer it more quickly and so that it takes up less storage space.</a:t>
            </a:r>
          </a:p>
          <a:p>
            <a:r>
              <a:rPr lang="en-US" sz="4400" dirty="0"/>
              <a:t>In addition, large files take a lot longer to </a:t>
            </a:r>
            <a:r>
              <a:rPr lang="en-US" sz="4400" b="1" dirty="0"/>
              <a:t>download</a:t>
            </a:r>
            <a:r>
              <a:rPr lang="en-US" sz="4400" dirty="0"/>
              <a:t> or </a:t>
            </a:r>
            <a:r>
              <a:rPr lang="en-US" sz="4400" b="1" dirty="0"/>
              <a:t>upload</a:t>
            </a:r>
            <a:r>
              <a:rPr lang="en-US" sz="4400" dirty="0"/>
              <a:t> which leads to web pages, songs and videos that take longer to load and play when using the internet.</a:t>
            </a:r>
          </a:p>
          <a:p>
            <a:pPr marL="0" indent="0">
              <a:buNone/>
            </a:pPr>
            <a:endParaRPr lang="en-US" dirty="0">
              <a:solidFill>
                <a:srgbClr val="000000"/>
              </a:solidFill>
              <a:latin typeface="BookmanOldStyle"/>
            </a:endParaRPr>
          </a:p>
          <a:p>
            <a:endParaRPr lang="en-US" dirty="0"/>
          </a:p>
        </p:txBody>
      </p:sp>
    </p:spTree>
    <p:extLst>
      <p:ext uri="{BB962C8B-B14F-4D97-AF65-F5344CB8AC3E}">
        <p14:creationId xmlns:p14="http://schemas.microsoft.com/office/powerpoint/2010/main" val="1473792439"/>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32500" lnSpcReduction="20000"/>
          </a:bodyPr>
          <a:lstStyle/>
          <a:p>
            <a:pPr marL="0" indent="0">
              <a:buNone/>
            </a:pPr>
            <a:r>
              <a:rPr lang="en-GB" sz="7400" b="1" dirty="0"/>
              <a:t>Types of compression: </a:t>
            </a:r>
            <a:r>
              <a:rPr lang="en-US" sz="7400" dirty="0"/>
              <a:t>There are two main types of compression: </a:t>
            </a:r>
            <a:r>
              <a:rPr lang="en-US" sz="7400" dirty="0" err="1"/>
              <a:t>lossy</a:t>
            </a:r>
            <a:r>
              <a:rPr lang="en-US" sz="7400" dirty="0"/>
              <a:t> and lossless.</a:t>
            </a:r>
          </a:p>
          <a:p>
            <a:pPr marL="0" indent="0">
              <a:buNone/>
            </a:pPr>
            <a:endParaRPr lang="en-US" sz="7400" dirty="0">
              <a:solidFill>
                <a:srgbClr val="000000"/>
              </a:solidFill>
              <a:latin typeface="BookmanOldStyle"/>
            </a:endParaRPr>
          </a:p>
          <a:p>
            <a:pPr marL="0" indent="0">
              <a:buNone/>
            </a:pPr>
            <a:r>
              <a:rPr lang="en-US" sz="7400" dirty="0">
                <a:solidFill>
                  <a:srgbClr val="000000"/>
                </a:solidFill>
              </a:rPr>
              <a:t>●L</a:t>
            </a:r>
            <a:r>
              <a:rPr lang="en-GB" sz="7400" b="1" dirty="0" err="1"/>
              <a:t>ossy</a:t>
            </a:r>
            <a:r>
              <a:rPr lang="en-GB" sz="7400" b="1" dirty="0"/>
              <a:t> compression</a:t>
            </a:r>
            <a:r>
              <a:rPr lang="en-GB" sz="7400" dirty="0"/>
              <a:t> refers to compression in which some of the </a:t>
            </a:r>
            <a:r>
              <a:rPr lang="en-GB" sz="7400" b="1" dirty="0"/>
              <a:t>data from the original file is lost.</a:t>
            </a:r>
            <a:endParaRPr lang="en-US" sz="7400" dirty="0"/>
          </a:p>
          <a:p>
            <a:pPr lvl="1"/>
            <a:r>
              <a:rPr lang="en-GB" sz="7400" dirty="0"/>
              <a:t>The more you compress it, the more degradation occurs. </a:t>
            </a:r>
          </a:p>
          <a:p>
            <a:pPr lvl="1"/>
            <a:r>
              <a:rPr lang="en-US" sz="7400" dirty="0"/>
              <a:t>A popular </a:t>
            </a:r>
            <a:r>
              <a:rPr lang="en-US" sz="7400" dirty="0" err="1"/>
              <a:t>lossy</a:t>
            </a:r>
            <a:r>
              <a:rPr lang="en-US" sz="7400" dirty="0"/>
              <a:t> compression method for images is the </a:t>
            </a:r>
            <a:r>
              <a:rPr lang="en-US" sz="7400" b="1" dirty="0"/>
              <a:t>JPEG</a:t>
            </a:r>
            <a:endParaRPr lang="en-US" sz="7400" dirty="0"/>
          </a:p>
          <a:p>
            <a:pPr marL="400050" lvl="1" indent="0">
              <a:buNone/>
            </a:pPr>
            <a:endParaRPr lang="en-US" sz="7400" dirty="0">
              <a:solidFill>
                <a:srgbClr val="000000"/>
              </a:solidFill>
              <a:latin typeface="BookmanOldStyle"/>
            </a:endParaRPr>
          </a:p>
          <a:p>
            <a:pPr marL="0" indent="0">
              <a:buNone/>
            </a:pPr>
            <a:r>
              <a:rPr lang="en-US" sz="7400" dirty="0">
                <a:solidFill>
                  <a:srgbClr val="000000"/>
                </a:solidFill>
              </a:rPr>
              <a:t>● </a:t>
            </a:r>
            <a:r>
              <a:rPr lang="en-GB" sz="7400" b="1" dirty="0"/>
              <a:t>Lossless compression</a:t>
            </a:r>
            <a:r>
              <a:rPr lang="en-GB" sz="7400" dirty="0"/>
              <a:t> means that as the </a:t>
            </a:r>
            <a:r>
              <a:rPr lang="en-GB" sz="7400" b="1" dirty="0"/>
              <a:t>file</a:t>
            </a:r>
            <a:r>
              <a:rPr lang="en-GB" sz="7400" dirty="0"/>
              <a:t> size is compressed, the </a:t>
            </a:r>
            <a:r>
              <a:rPr lang="en-GB" sz="7400" b="1" dirty="0"/>
              <a:t>picture</a:t>
            </a:r>
            <a:r>
              <a:rPr lang="en-GB" sz="7400" dirty="0"/>
              <a:t> quality remains the same.</a:t>
            </a:r>
          </a:p>
          <a:p>
            <a:pPr marL="0" indent="0">
              <a:buNone/>
            </a:pPr>
            <a:r>
              <a:rPr lang="en-US" sz="7400" b="1" dirty="0"/>
              <a:t>Zip</a:t>
            </a:r>
            <a:r>
              <a:rPr lang="en-US" sz="7400" dirty="0"/>
              <a:t> files are an example of lossless compression.</a:t>
            </a:r>
          </a:p>
          <a:p>
            <a:pPr marL="0" indent="0">
              <a:buNone/>
            </a:pPr>
            <a:r>
              <a:rPr lang="en-GB" sz="7400" dirty="0"/>
              <a:t> </a:t>
            </a:r>
            <a:endParaRPr lang="en-US" sz="7400" dirty="0"/>
          </a:p>
          <a:p>
            <a:r>
              <a:rPr lang="en-GB" sz="7400" b="1" dirty="0"/>
              <a:t>The big benefit</a:t>
            </a:r>
            <a:r>
              <a:rPr lang="en-GB" sz="7400" dirty="0"/>
              <a:t> to lossless compression is that you can keep the quality of your image and still achieve a smaller file size. </a:t>
            </a:r>
            <a:endParaRPr lang="en-US" sz="7400" dirty="0"/>
          </a:p>
          <a:p>
            <a:endParaRPr lang="en-US" dirty="0"/>
          </a:p>
        </p:txBody>
      </p:sp>
    </p:spTree>
    <p:extLst>
      <p:ext uri="{BB962C8B-B14F-4D97-AF65-F5344CB8AC3E}">
        <p14:creationId xmlns:p14="http://schemas.microsoft.com/office/powerpoint/2010/main" val="2183341613"/>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Compressing techniques</a:t>
            </a:r>
            <a:br>
              <a:rPr lang="en-US" dirty="0"/>
            </a:br>
            <a:endParaRPr lang="en-US" dirty="0"/>
          </a:p>
        </p:txBody>
      </p:sp>
      <p:sp>
        <p:nvSpPr>
          <p:cNvPr id="3" name="Content Placeholder 2"/>
          <p:cNvSpPr>
            <a:spLocks noGrp="1"/>
          </p:cNvSpPr>
          <p:nvPr>
            <p:ph idx="1"/>
          </p:nvPr>
        </p:nvSpPr>
        <p:spPr/>
        <p:txBody>
          <a:bodyPr>
            <a:normAutofit fontScale="77500" lnSpcReduction="20000"/>
          </a:bodyPr>
          <a:lstStyle/>
          <a:p>
            <a:pPr lvl="0"/>
            <a:r>
              <a:rPr lang="en-GB" b="1" dirty="0"/>
              <a:t>RLE (Run Length Encoding) :</a:t>
            </a:r>
            <a:r>
              <a:rPr lang="en-GB" dirty="0"/>
              <a:t> is a form of </a:t>
            </a:r>
            <a:r>
              <a:rPr lang="en-GB" b="1" dirty="0"/>
              <a:t>lossless</a:t>
            </a:r>
            <a:r>
              <a:rPr lang="en-GB" dirty="0"/>
              <a:t> data </a:t>
            </a:r>
            <a:r>
              <a:rPr lang="en-GB" b="1" dirty="0"/>
              <a:t>compression</a:t>
            </a:r>
            <a:r>
              <a:rPr lang="en-GB" dirty="0"/>
              <a:t> in which </a:t>
            </a:r>
            <a:r>
              <a:rPr lang="en-GB" b="1" dirty="0"/>
              <a:t>runs</a:t>
            </a:r>
            <a:r>
              <a:rPr lang="en-GB" dirty="0"/>
              <a:t> of data </a:t>
            </a:r>
            <a:r>
              <a:rPr lang="en-GB" b="1" dirty="0"/>
              <a:t>.</a:t>
            </a:r>
            <a:r>
              <a:rPr lang="en-GB" dirty="0"/>
              <a:t>This is most useful on data that contains many such </a:t>
            </a:r>
            <a:r>
              <a:rPr lang="en-GB" b="1" dirty="0"/>
              <a:t>runs</a:t>
            </a:r>
            <a:r>
              <a:rPr lang="en-US" dirty="0"/>
              <a:t>.</a:t>
            </a:r>
            <a:r>
              <a:rPr lang="en-GB" b="1" dirty="0"/>
              <a:t> </a:t>
            </a:r>
            <a:endParaRPr lang="en-US" dirty="0"/>
          </a:p>
          <a:p>
            <a:pPr lvl="0"/>
            <a:r>
              <a:rPr lang="en-GB" b="1" dirty="0"/>
              <a:t>LZW (</a:t>
            </a:r>
            <a:r>
              <a:rPr lang="en-GB" b="1" dirty="0" err="1"/>
              <a:t>Lemple-ZifWelch</a:t>
            </a:r>
            <a:r>
              <a:rPr lang="en-GB" b="1" dirty="0"/>
              <a:t>) :</a:t>
            </a:r>
            <a:r>
              <a:rPr lang="en-GB" dirty="0"/>
              <a:t> </a:t>
            </a:r>
            <a:r>
              <a:rPr lang="en-GB" b="1" dirty="0"/>
              <a:t>LZW compression works</a:t>
            </a:r>
            <a:r>
              <a:rPr lang="en-GB" dirty="0"/>
              <a:t> by reading a sequence of symbols, grouping the symbols into strings, and converting the strings into codes. </a:t>
            </a:r>
            <a:endParaRPr lang="en-US" dirty="0"/>
          </a:p>
          <a:p>
            <a:r>
              <a:rPr lang="en-GB" b="1" dirty="0"/>
              <a:t>LZW (</a:t>
            </a:r>
            <a:r>
              <a:rPr lang="en-GB" b="1" dirty="0" err="1"/>
              <a:t>Lemple</a:t>
            </a:r>
            <a:r>
              <a:rPr lang="en-GB" b="1" dirty="0"/>
              <a:t>-</a:t>
            </a:r>
            <a:r>
              <a:rPr lang="en-GB" b="1" dirty="0" err="1"/>
              <a:t>Zif</a:t>
            </a:r>
            <a:r>
              <a:rPr lang="en-GB" b="1" dirty="0"/>
              <a:t>-Welch)</a:t>
            </a:r>
            <a:r>
              <a:rPr lang="en-GB" dirty="0"/>
              <a:t>Lossless compression; supported by TIFF, PDF, GIF, and PostScript language file formats. Most useful for images with large areas of single </a:t>
            </a:r>
            <a:r>
              <a:rPr lang="en-GB" dirty="0" err="1"/>
              <a:t>color</a:t>
            </a:r>
            <a:r>
              <a:rPr lang="en-GB" dirty="0"/>
              <a:t>.</a:t>
            </a:r>
            <a:r>
              <a:rPr lang="en-GB" b="1" dirty="0"/>
              <a:t> </a:t>
            </a:r>
            <a:endParaRPr lang="en-US" dirty="0"/>
          </a:p>
          <a:p>
            <a:pPr lvl="0"/>
            <a:r>
              <a:rPr lang="en-GB" dirty="0"/>
              <a:t>JPEG : </a:t>
            </a:r>
            <a:r>
              <a:rPr lang="en-GB" b="1" dirty="0"/>
              <a:t>JPEG</a:t>
            </a:r>
            <a:r>
              <a:rPr lang="en-GB" dirty="0"/>
              <a:t> uses a </a:t>
            </a:r>
            <a:r>
              <a:rPr lang="en-GB" dirty="0" err="1"/>
              <a:t>lossy</a:t>
            </a:r>
            <a:r>
              <a:rPr lang="en-GB" dirty="0"/>
              <a:t> form of </a:t>
            </a:r>
            <a:r>
              <a:rPr lang="en-GB" b="1" dirty="0"/>
              <a:t>compression</a:t>
            </a:r>
            <a:r>
              <a:rPr lang="en-GB" dirty="0"/>
              <a:t> based on the discrete cosine transform (DCT). </a:t>
            </a:r>
            <a:endParaRPr lang="en-US" dirty="0"/>
          </a:p>
        </p:txBody>
      </p:sp>
    </p:spTree>
    <p:extLst>
      <p:ext uri="{BB962C8B-B14F-4D97-AF65-F5344CB8AC3E}">
        <p14:creationId xmlns:p14="http://schemas.microsoft.com/office/powerpoint/2010/main" val="1062145405"/>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85000" lnSpcReduction="10000"/>
          </a:bodyPr>
          <a:lstStyle/>
          <a:p>
            <a:pPr lvl="0"/>
            <a:r>
              <a:rPr lang="en-GB" dirty="0"/>
              <a:t>CCITT : </a:t>
            </a:r>
            <a:r>
              <a:rPr lang="en-GB" b="1" dirty="0"/>
              <a:t>CCITT</a:t>
            </a:r>
            <a:r>
              <a:rPr lang="en-GB" dirty="0"/>
              <a:t> (International Telegraph and </a:t>
            </a:r>
            <a:r>
              <a:rPr lang="en-GB" dirty="0" err="1"/>
              <a:t>Telekeyed</a:t>
            </a:r>
            <a:r>
              <a:rPr lang="en-GB" dirty="0"/>
              <a:t> </a:t>
            </a:r>
            <a:r>
              <a:rPr lang="en-GB" dirty="0" err="1"/>
              <a:t>Consultive</a:t>
            </a:r>
            <a:r>
              <a:rPr lang="en-GB" dirty="0"/>
              <a:t> Committee)Group 4 </a:t>
            </a:r>
            <a:r>
              <a:rPr lang="en-GB" b="1" dirty="0"/>
              <a:t>compression</a:t>
            </a:r>
            <a:r>
              <a:rPr lang="en-GB" dirty="0"/>
              <a:t>, also referred to as G4 or Modified </a:t>
            </a:r>
            <a:r>
              <a:rPr lang="en-GB" dirty="0" err="1"/>
              <a:t>Modified</a:t>
            </a:r>
            <a:r>
              <a:rPr lang="en-GB" dirty="0"/>
              <a:t> READ (MMR), is a lossless </a:t>
            </a:r>
            <a:r>
              <a:rPr lang="en-GB" b="1" dirty="0"/>
              <a:t>method</a:t>
            </a:r>
            <a:r>
              <a:rPr lang="en-GB" dirty="0"/>
              <a:t> of image </a:t>
            </a:r>
            <a:r>
              <a:rPr lang="en-GB" b="1" dirty="0"/>
              <a:t>compression</a:t>
            </a:r>
            <a:r>
              <a:rPr lang="en-GB" dirty="0"/>
              <a:t> used in Group 4 fax machines defined in the ITU-T T. 6 fax standard.</a:t>
            </a:r>
          </a:p>
          <a:p>
            <a:pPr lvl="0"/>
            <a:r>
              <a:rPr lang="en-GB" dirty="0"/>
              <a:t> It is only used for </a:t>
            </a:r>
            <a:r>
              <a:rPr lang="en-GB" dirty="0" err="1"/>
              <a:t>bitonal</a:t>
            </a:r>
            <a:r>
              <a:rPr lang="en-GB" dirty="0"/>
              <a:t> (black-and-white images, supported by the PDF and PostScript language file formats) images.</a:t>
            </a:r>
            <a:endParaRPr lang="en-US" dirty="0"/>
          </a:p>
          <a:p>
            <a:pPr lvl="0"/>
            <a:r>
              <a:rPr lang="en-GB" dirty="0"/>
              <a:t>Zip (Zipped up): </a:t>
            </a:r>
            <a:r>
              <a:rPr lang="en-GB" b="1" dirty="0"/>
              <a:t>ZIP</a:t>
            </a:r>
            <a:r>
              <a:rPr lang="en-GB" dirty="0"/>
              <a:t> is an archive </a:t>
            </a:r>
            <a:r>
              <a:rPr lang="en-GB" b="1" dirty="0"/>
              <a:t>file format</a:t>
            </a:r>
            <a:r>
              <a:rPr lang="en-GB" dirty="0"/>
              <a:t> that supports lossless data </a:t>
            </a:r>
            <a:r>
              <a:rPr lang="en-GB" b="1" dirty="0"/>
              <a:t>compression</a:t>
            </a:r>
            <a:r>
              <a:rPr lang="en-GB" dirty="0"/>
              <a:t>. A </a:t>
            </a:r>
            <a:r>
              <a:rPr lang="en-GB" b="1" dirty="0"/>
              <a:t>ZIP file</a:t>
            </a:r>
            <a:r>
              <a:rPr lang="en-GB" dirty="0"/>
              <a:t>  may contain one or more files or directories that may have been </a:t>
            </a:r>
            <a:r>
              <a:rPr lang="en-GB" b="1" dirty="0"/>
              <a:t>compressed</a:t>
            </a:r>
            <a:r>
              <a:rPr lang="en-GB" dirty="0"/>
              <a:t>. </a:t>
            </a:r>
            <a:endParaRPr lang="en-US" dirty="0"/>
          </a:p>
          <a:p>
            <a:r>
              <a:rPr lang="en-GB" dirty="0"/>
              <a:t>Lossless compression; supported by PDF and TIFF file formats. </a:t>
            </a:r>
            <a:endParaRPr lang="en-US" dirty="0"/>
          </a:p>
          <a:p>
            <a:endParaRPr lang="en-US" dirty="0"/>
          </a:p>
        </p:txBody>
      </p:sp>
    </p:spTree>
    <p:extLst>
      <p:ext uri="{BB962C8B-B14F-4D97-AF65-F5344CB8AC3E}">
        <p14:creationId xmlns:p14="http://schemas.microsoft.com/office/powerpoint/2010/main" val="3213524306"/>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0000"/>
                </a:solidFill>
                <a:latin typeface="SegoeUISymbol"/>
              </a:rPr>
              <a:t>✔ </a:t>
            </a:r>
            <a:r>
              <a:rPr lang="en-US" dirty="0">
                <a:solidFill>
                  <a:srgbClr val="000000"/>
                </a:solidFill>
                <a:latin typeface="BookmanOldStyle"/>
              </a:rPr>
              <a:t>Resizing image to scale</a:t>
            </a:r>
            <a:br>
              <a:rPr lang="en-US" dirty="0">
                <a:solidFill>
                  <a:srgbClr val="000000"/>
                </a:solidFill>
                <a:latin typeface="BookmanOldStyle"/>
              </a:rPr>
            </a:br>
            <a:endParaRPr lang="en-US" dirty="0"/>
          </a:p>
        </p:txBody>
      </p:sp>
      <p:sp>
        <p:nvSpPr>
          <p:cNvPr id="3" name="Content Placeholder 2"/>
          <p:cNvSpPr>
            <a:spLocks noGrp="1"/>
          </p:cNvSpPr>
          <p:nvPr>
            <p:ph idx="1"/>
          </p:nvPr>
        </p:nvSpPr>
        <p:spPr/>
        <p:txBody>
          <a:bodyPr>
            <a:normAutofit fontScale="92500" lnSpcReduction="10000"/>
          </a:bodyPr>
          <a:lstStyle/>
          <a:p>
            <a:r>
              <a:rPr lang="en-GB" b="1" dirty="0"/>
              <a:t>To resize an image in Photoshop:</a:t>
            </a:r>
            <a:endParaRPr lang="en-US" dirty="0"/>
          </a:p>
          <a:p>
            <a:pPr lvl="0"/>
            <a:r>
              <a:rPr lang="en-GB" dirty="0"/>
              <a:t>Open your image in </a:t>
            </a:r>
            <a:r>
              <a:rPr lang="en-GB" b="1" dirty="0"/>
              <a:t>Photoshop</a:t>
            </a:r>
            <a:r>
              <a:rPr lang="en-GB" dirty="0"/>
              <a:t>.</a:t>
            </a:r>
            <a:endParaRPr lang="en-US" dirty="0"/>
          </a:p>
          <a:p>
            <a:pPr lvl="0"/>
            <a:r>
              <a:rPr lang="en-GB" dirty="0"/>
              <a:t>Go to “Image”, located at the top of the window.</a:t>
            </a:r>
            <a:endParaRPr lang="en-US" dirty="0"/>
          </a:p>
          <a:p>
            <a:pPr lvl="0"/>
            <a:r>
              <a:rPr lang="en-GB" dirty="0"/>
              <a:t>Select “Image Size”.</a:t>
            </a:r>
            <a:endParaRPr lang="en-US" dirty="0"/>
          </a:p>
          <a:p>
            <a:pPr lvl="0"/>
            <a:r>
              <a:rPr lang="en-GB" dirty="0"/>
              <a:t>A new window will open.</a:t>
            </a:r>
            <a:endParaRPr lang="en-US" dirty="0"/>
          </a:p>
          <a:p>
            <a:pPr lvl="0"/>
            <a:r>
              <a:rPr lang="en-GB" dirty="0"/>
              <a:t>To maintain the proportions of your image, click the box next to “Constrain Proportions”.</a:t>
            </a:r>
            <a:endParaRPr lang="en-US" dirty="0"/>
          </a:p>
          <a:p>
            <a:pPr lvl="0"/>
            <a:r>
              <a:rPr lang="en-GB" dirty="0"/>
              <a:t>Under “Document Size”:</a:t>
            </a:r>
            <a:endParaRPr lang="en-US" dirty="0"/>
          </a:p>
          <a:p>
            <a:pPr lvl="0"/>
            <a:r>
              <a:rPr lang="en-GB" b="1" dirty="0"/>
              <a:t>Save</a:t>
            </a:r>
            <a:r>
              <a:rPr lang="en-GB" dirty="0"/>
              <a:t> your file </a:t>
            </a:r>
            <a:endParaRPr lang="en-US" dirty="0"/>
          </a:p>
          <a:p>
            <a:endParaRPr lang="en-US" dirty="0">
              <a:solidFill>
                <a:srgbClr val="000000"/>
              </a:solidFill>
              <a:latin typeface="BookmanOldStyle"/>
            </a:endParaRPr>
          </a:p>
          <a:p>
            <a:endParaRPr lang="en-US" dirty="0"/>
          </a:p>
        </p:txBody>
      </p:sp>
    </p:spTree>
    <p:extLst>
      <p:ext uri="{BB962C8B-B14F-4D97-AF65-F5344CB8AC3E}">
        <p14:creationId xmlns:p14="http://schemas.microsoft.com/office/powerpoint/2010/main" val="3079502022"/>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457200"/>
            <a:ext cx="8305800" cy="5668963"/>
          </a:xfrm>
        </p:spPr>
        <p:txBody>
          <a:bodyPr>
            <a:normAutofit fontScale="62500" lnSpcReduction="20000"/>
          </a:bodyPr>
          <a:lstStyle/>
          <a:p>
            <a:r>
              <a:rPr lang="en-GB" b="1" dirty="0"/>
              <a:t>Setting file saving preferences</a:t>
            </a:r>
            <a:endParaRPr lang="en-US" dirty="0"/>
          </a:p>
          <a:p>
            <a:pPr lvl="0"/>
            <a:r>
              <a:rPr lang="en-GB" b="1" dirty="0"/>
              <a:t>Image Previews :</a:t>
            </a:r>
            <a:r>
              <a:rPr lang="en-GB" dirty="0"/>
              <a:t> The </a:t>
            </a:r>
            <a:r>
              <a:rPr lang="en-GB" b="1" dirty="0"/>
              <a:t>Preview Image</a:t>
            </a:r>
            <a:r>
              <a:rPr lang="en-GB" dirty="0"/>
              <a:t> Size differs from the general </a:t>
            </a:r>
            <a:r>
              <a:rPr lang="en-GB" b="1" dirty="0"/>
              <a:t>image</a:t>
            </a:r>
            <a:r>
              <a:rPr lang="en-GB" dirty="0"/>
              <a:t> size.  This </a:t>
            </a:r>
            <a:r>
              <a:rPr lang="en-GB" b="1" dirty="0"/>
              <a:t>preview</a:t>
            </a:r>
            <a:r>
              <a:rPr lang="en-GB" dirty="0"/>
              <a:t> is, sometimes, saved as an extra or additional little </a:t>
            </a:r>
            <a:r>
              <a:rPr lang="en-GB" b="1" dirty="0"/>
              <a:t>image</a:t>
            </a:r>
            <a:r>
              <a:rPr lang="en-GB" dirty="0"/>
              <a:t> inside your bigger </a:t>
            </a:r>
            <a:r>
              <a:rPr lang="en-GB" b="1" dirty="0"/>
              <a:t>image</a:t>
            </a:r>
            <a:r>
              <a:rPr lang="en-GB" dirty="0"/>
              <a:t> file. In other instances, the </a:t>
            </a:r>
            <a:r>
              <a:rPr lang="en-GB" b="1" dirty="0"/>
              <a:t>image</a:t>
            </a:r>
            <a:r>
              <a:rPr lang="en-GB" dirty="0"/>
              <a:t> is just a scaled-down version of the original </a:t>
            </a:r>
            <a:r>
              <a:rPr lang="en-GB" b="1" dirty="0"/>
              <a:t>image</a:t>
            </a:r>
            <a:r>
              <a:rPr lang="en-GB" dirty="0"/>
              <a:t>.</a:t>
            </a:r>
            <a:endParaRPr lang="en-US" dirty="0"/>
          </a:p>
          <a:p>
            <a:pPr lvl="0"/>
            <a:r>
              <a:rPr lang="en-GB" dirty="0"/>
              <a:t>File Extension : A </a:t>
            </a:r>
            <a:r>
              <a:rPr lang="en-GB" b="1" i="1" dirty="0"/>
              <a:t>file extension</a:t>
            </a:r>
            <a:r>
              <a:rPr lang="en-GB" dirty="0"/>
              <a:t>, or </a:t>
            </a:r>
            <a:r>
              <a:rPr lang="en-GB" b="1" i="1" dirty="0"/>
              <a:t>filename extension</a:t>
            </a:r>
            <a:r>
              <a:rPr lang="en-GB" dirty="0"/>
              <a:t>, is a suffix at the end of a computer file. It comes after the period, and is usually two-four characters long.</a:t>
            </a:r>
            <a:endParaRPr lang="en-US" dirty="0"/>
          </a:p>
          <a:p>
            <a:pPr lvl="0"/>
            <a:r>
              <a:rPr lang="en-GB" dirty="0"/>
              <a:t>Save As to Original Folder: When choosing File &gt; Save As, Photoshop takes you to the folder where your last file was saved, which may not be the same folder as where your current file </a:t>
            </a:r>
            <a:r>
              <a:rPr lang="en-GB" dirty="0" err="1"/>
              <a:t>resides.If</a:t>
            </a:r>
            <a:r>
              <a:rPr lang="en-GB" dirty="0"/>
              <a:t> you would like Photoshop to instead take you to the same folder where your current file resides, go to Edit &gt; Preferences File Handling, and check “</a:t>
            </a:r>
            <a:r>
              <a:rPr lang="en-GB" i="1" dirty="0"/>
              <a:t>Save As to Original Folder</a:t>
            </a:r>
            <a:r>
              <a:rPr lang="en-GB" dirty="0"/>
              <a:t>”</a:t>
            </a:r>
            <a:endParaRPr lang="en-US" dirty="0"/>
          </a:p>
          <a:p>
            <a:pPr lvl="0"/>
            <a:r>
              <a:rPr lang="en-GB" dirty="0"/>
              <a:t>Ignore Camera Data (EXIF) Profiles : </a:t>
            </a:r>
            <a:r>
              <a:rPr lang="en-GB" i="1" dirty="0"/>
              <a:t>"Most digital cameras use the Exchangeable Image File (EXIF) format to store information in image files, including JPEG files. The EXIF format is limited to two </a:t>
            </a:r>
            <a:r>
              <a:rPr lang="en-GB" i="1" dirty="0" err="1"/>
              <a:t>color</a:t>
            </a:r>
            <a:r>
              <a:rPr lang="en-GB" i="1" dirty="0"/>
              <a:t> space tags--</a:t>
            </a:r>
            <a:r>
              <a:rPr lang="en-GB" i="1" dirty="0" err="1"/>
              <a:t>sRGB</a:t>
            </a:r>
            <a:r>
              <a:rPr lang="en-GB" i="1" dirty="0"/>
              <a:t> and </a:t>
            </a:r>
            <a:r>
              <a:rPr lang="en-GB" i="1" dirty="0" err="1"/>
              <a:t>Uncalibrated</a:t>
            </a:r>
            <a:r>
              <a:rPr lang="en-GB" i="1" dirty="0"/>
              <a:t> RGB. Most digital cameras.</a:t>
            </a:r>
            <a:endParaRPr lang="en-US" dirty="0"/>
          </a:p>
          <a:p>
            <a:pPr lvl="0"/>
            <a:r>
              <a:rPr lang="en-GB" dirty="0"/>
              <a:t>Maximize PSD File Compatibility</a:t>
            </a:r>
            <a:endParaRPr lang="en-US" dirty="0"/>
          </a:p>
        </p:txBody>
      </p:sp>
    </p:spTree>
    <p:extLst>
      <p:ext uri="{BB962C8B-B14F-4D97-AF65-F5344CB8AC3E}">
        <p14:creationId xmlns:p14="http://schemas.microsoft.com/office/powerpoint/2010/main" val="3597915728"/>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62500" lnSpcReduction="20000"/>
          </a:bodyPr>
          <a:lstStyle/>
          <a:p>
            <a:r>
              <a:rPr lang="fr-FR" b="1" dirty="0" err="1"/>
              <a:t>Maximize</a:t>
            </a:r>
            <a:r>
              <a:rPr lang="fr-FR" b="1" dirty="0"/>
              <a:t> compatibility for PSD and PSB files</a:t>
            </a:r>
            <a:endParaRPr lang="en-US" b="1" dirty="0"/>
          </a:p>
          <a:p>
            <a:r>
              <a:rPr lang="en-GB" dirty="0"/>
              <a:t>If you work with PSD and PSB files in older versions of Photoshop or applications that don’t support layers, you can add a flattened version of the image to the saved file.</a:t>
            </a:r>
            <a:endParaRPr lang="en-US" dirty="0"/>
          </a:p>
          <a:p>
            <a:r>
              <a:rPr lang="en-GB" b="1" dirty="0"/>
              <a:t>Note:</a:t>
            </a:r>
            <a:endParaRPr lang="en-US" dirty="0"/>
          </a:p>
          <a:p>
            <a:r>
              <a:rPr lang="en-GB" dirty="0"/>
              <a:t>If you save an image in an earlier version of Photoshop, features that version doesn’t support are discarded.</a:t>
            </a:r>
            <a:endParaRPr lang="en-US" dirty="0"/>
          </a:p>
          <a:p>
            <a:pPr lvl="0"/>
            <a:r>
              <a:rPr lang="en-GB" dirty="0"/>
              <a:t>Choose Edit &gt; Preferences &gt; File Handling (Windows) or Photoshop &gt; .</a:t>
            </a:r>
            <a:endParaRPr lang="en-US" dirty="0"/>
          </a:p>
          <a:p>
            <a:pPr lvl="0"/>
            <a:r>
              <a:rPr lang="en-GB" dirty="0"/>
              <a:t>From the Maximize PSD and PSB File Compatibility menu, choose any of the following:</a:t>
            </a:r>
            <a:endParaRPr lang="en-US" dirty="0"/>
          </a:p>
          <a:p>
            <a:r>
              <a:rPr lang="en-GB" b="1" dirty="0"/>
              <a:t>Always</a:t>
            </a:r>
            <a:endParaRPr lang="en-US" dirty="0"/>
          </a:p>
          <a:p>
            <a:r>
              <a:rPr lang="en-GB" dirty="0"/>
              <a:t>Saves a composite (flattened) image along with the layers of your document.</a:t>
            </a:r>
            <a:endParaRPr lang="en-US" dirty="0"/>
          </a:p>
          <a:p>
            <a:r>
              <a:rPr lang="en-GB" b="1" dirty="0"/>
              <a:t>Ask</a:t>
            </a:r>
            <a:endParaRPr lang="en-US" dirty="0"/>
          </a:p>
          <a:p>
            <a:r>
              <a:rPr lang="en-GB" dirty="0"/>
              <a:t>Asks whether to maximize compatibility when you save.</a:t>
            </a:r>
            <a:endParaRPr lang="en-US" dirty="0"/>
          </a:p>
          <a:p>
            <a:r>
              <a:rPr lang="en-GB" b="1" dirty="0"/>
              <a:t>Never</a:t>
            </a:r>
            <a:endParaRPr lang="en-US" dirty="0"/>
          </a:p>
          <a:p>
            <a:r>
              <a:rPr lang="en-GB" dirty="0"/>
              <a:t>Saves only a layered image.</a:t>
            </a:r>
            <a:endParaRPr lang="en-US" dirty="0"/>
          </a:p>
          <a:p>
            <a:r>
              <a:rPr lang="en-GB" b="1" dirty="0"/>
              <a:t>Note:</a:t>
            </a:r>
            <a:endParaRPr lang="en-US" dirty="0"/>
          </a:p>
          <a:p>
            <a:r>
              <a:rPr lang="en-GB" dirty="0"/>
              <a:t>Choose Ask or Never if you want to significantly reduce file size.</a:t>
            </a:r>
            <a:endParaRPr lang="en-US" dirty="0"/>
          </a:p>
          <a:p>
            <a:endParaRPr lang="en-US" dirty="0"/>
          </a:p>
        </p:txBody>
      </p:sp>
    </p:spTree>
    <p:extLst>
      <p:ext uri="{BB962C8B-B14F-4D97-AF65-F5344CB8AC3E}">
        <p14:creationId xmlns:p14="http://schemas.microsoft.com/office/powerpoint/2010/main" val="16687866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3084</TotalTime>
  <Words>9850</Words>
  <Application>Microsoft Office PowerPoint</Application>
  <PresentationFormat>On-screen Show (4:3)</PresentationFormat>
  <Paragraphs>624</Paragraphs>
  <Slides>163</Slides>
  <Notes>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163</vt:i4>
      </vt:variant>
    </vt:vector>
  </HeadingPairs>
  <TitlesOfParts>
    <vt:vector size="173" baseType="lpstr">
      <vt:lpstr>-apple-system</vt:lpstr>
      <vt:lpstr>Arial</vt:lpstr>
      <vt:lpstr>BookmanOldStyle</vt:lpstr>
      <vt:lpstr>BookmanOldStyle-Bold</vt:lpstr>
      <vt:lpstr>Calibri</vt:lpstr>
      <vt:lpstr>SegoeUISymbol</vt:lpstr>
      <vt:lpstr>Symbol</vt:lpstr>
      <vt:lpstr>Times New Roman</vt:lpstr>
      <vt:lpstr>Wingdings</vt:lpstr>
      <vt:lpstr>Office Theme</vt:lpstr>
      <vt:lpstr>GENGD 301: BASIC GRAPHIC DESIGN</vt:lpstr>
      <vt:lpstr>Purpose statement</vt:lpstr>
      <vt:lpstr>Course content  </vt:lpstr>
      <vt:lpstr>0. General introduction </vt:lpstr>
      <vt:lpstr>0.1.2 Graphic designer Duties/responsibilities</vt:lpstr>
      <vt:lpstr>0.1.3: Identify essential elements of design</vt:lpstr>
      <vt:lpstr>PowerPoint Presentation</vt:lpstr>
      <vt:lpstr>PowerPoint Presentation</vt:lpstr>
      <vt:lpstr>1. Primary colors</vt:lpstr>
      <vt:lpstr>2. Secondary colors</vt:lpstr>
      <vt:lpstr>3. Tertiary colors</vt:lpstr>
      <vt:lpstr>Learning outcome: Edit photos with Adobe Photoshop.</vt:lpstr>
      <vt:lpstr>PowerPoint Presentation</vt:lpstr>
      <vt:lpstr>PowerPoint Presentation</vt:lpstr>
      <vt:lpstr> Use of Photoshop Interface elements </vt:lpstr>
      <vt:lpstr>PowerPoint Presentation</vt:lpstr>
      <vt:lpstr>PowerPoint Presentation</vt:lpstr>
      <vt:lpstr>Workspaces </vt:lpstr>
      <vt:lpstr>PowerPoint Presentation</vt:lpstr>
      <vt:lpstr>Using Panels </vt:lpstr>
      <vt:lpstr>Zooming In and Out </vt:lpstr>
      <vt:lpstr>PowerPoint Presentation</vt:lpstr>
      <vt:lpstr>Tools &amp; Subtools  </vt:lpstr>
      <vt:lpstr>PowerPoint Presentation</vt:lpstr>
      <vt:lpstr>PowerPoint Presentation</vt:lpstr>
      <vt:lpstr>PowerPoint Presentation</vt:lpstr>
      <vt:lpstr>PowerPoint Presentation</vt:lpstr>
      <vt:lpstr>PowerPoint Presentation</vt:lpstr>
      <vt:lpstr>PowerPoint Presentation</vt:lpstr>
      <vt:lpstr>Using keyboard shortcuts</vt:lpstr>
      <vt:lpstr> Photoshop Tools Summary 1.Move  and Selection tools </vt:lpstr>
      <vt:lpstr>PowerPoint Presentation</vt:lpstr>
      <vt:lpstr>PowerPoint Presentation</vt:lpstr>
      <vt:lpstr>PowerPoint Presentation</vt:lpstr>
      <vt:lpstr>PowerPoint Presentation</vt:lpstr>
      <vt:lpstr>Measurement tools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A.Photoshop Keyboard Shortcuts: General Tips &amp; Shortcuts </vt:lpstr>
      <vt:lpstr>PowerPoint Presentation</vt:lpstr>
      <vt:lpstr>PowerPoint Presentation</vt:lpstr>
      <vt:lpstr> Photoshop Keyboard Shortcuts: Brush Tool </vt:lpstr>
      <vt:lpstr>PowerPoint Presentation</vt:lpstr>
      <vt:lpstr>Photoshop Keyboard Shortcuts: Color </vt:lpstr>
      <vt:lpstr> Photoshop Keyboard Shortcuts: Selection Tools </vt:lpstr>
      <vt:lpstr>PowerPoint Presentation</vt:lpstr>
      <vt:lpstr> Digital images key features</vt:lpstr>
      <vt:lpstr>1.  Pixel</vt:lpstr>
      <vt:lpstr>2.  Resolution</vt:lpstr>
      <vt:lpstr>PowerPoint Presentation</vt:lpstr>
      <vt:lpstr>PowerPoint Presentation</vt:lpstr>
      <vt:lpstr>PowerPoint Presentation</vt:lpstr>
      <vt:lpstr>3. size</vt:lpstr>
      <vt:lpstr>Physical vs Memory Size </vt:lpstr>
      <vt:lpstr>PowerPoint Presentation</vt:lpstr>
      <vt:lpstr>PowerPoint Presentation</vt:lpstr>
      <vt:lpstr>PowerPoint Presentation</vt:lpstr>
      <vt:lpstr>PowerPoint Presentation</vt:lpstr>
      <vt:lpstr>PowerPoint Presentation</vt:lpstr>
      <vt:lpstr>4. Lossy image file compression</vt:lpstr>
      <vt:lpstr>5. Lossless compression</vt:lpstr>
      <vt:lpstr>6. Raster graphics</vt:lpstr>
      <vt:lpstr>7. Vector image</vt:lpstr>
      <vt:lpstr>Describing common raster formats  </vt:lpstr>
      <vt:lpstr>PowerPoint Presentation</vt:lpstr>
      <vt:lpstr>PowerPoint Presentation</vt:lpstr>
      <vt:lpstr>7. Describing common vector formats</vt:lpstr>
      <vt:lpstr>1.1.4 Describing application formats</vt:lpstr>
      <vt:lpstr>PowerPoint Presentation</vt:lpstr>
      <vt:lpstr>PowerPoint Presentation</vt:lpstr>
      <vt:lpstr>L.U 3: Apply illustrator basics </vt:lpstr>
      <vt:lpstr>Key terms in illustrator</vt:lpstr>
      <vt:lpstr>What is vector-based imaging mean?</vt:lpstr>
      <vt:lpstr>What is Adobe Illustrator used for?  </vt:lpstr>
      <vt:lpstr>Introduction: Creating a Workspace  Illustrator Workspace Overview </vt:lpstr>
      <vt:lpstr>PowerPoint Presentation</vt:lpstr>
      <vt:lpstr>Create a new document in Illustrator </vt:lpstr>
      <vt:lpstr>PowerPoint Presentation</vt:lpstr>
      <vt:lpstr>PowerPoint Presentation</vt:lpstr>
      <vt:lpstr>PowerPoint Presentation</vt:lpstr>
      <vt:lpstr>PowerPoint Presentation</vt:lpstr>
      <vt:lpstr>Creating Shapes &amp; Adding Fill and Strokes</vt:lpstr>
      <vt:lpstr>PowerPoint Presentation</vt:lpstr>
      <vt:lpstr>PowerPoint Presentation</vt:lpstr>
      <vt:lpstr>PowerPoint Presentation</vt:lpstr>
      <vt:lpstr>PowerPoint Presentation</vt:lpstr>
      <vt:lpstr>Using the Paintbrush Tool</vt:lpstr>
      <vt:lpstr>PowerPoint Presentation</vt:lpstr>
      <vt:lpstr>PowerPoint Presentation</vt:lpstr>
      <vt:lpstr>Understanding &amp; Drawing Path Points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Using Type &amp; Creating Outlines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Exporting</vt:lpstr>
      <vt:lpstr>PowerPoint Presentation</vt:lpstr>
      <vt:lpstr>PowerPoint Presentation</vt:lpstr>
      <vt:lpstr>PowerPoint Presentation</vt:lpstr>
      <vt:lpstr>Description of brand identity </vt:lpstr>
      <vt:lpstr>PowerPoint Presentation</vt:lpstr>
      <vt:lpstr>WHAT IS A LOGO</vt:lpstr>
      <vt:lpstr>Logo types </vt:lpstr>
      <vt:lpstr>PowerPoint Presentation</vt:lpstr>
      <vt:lpstr>PowerPoint Presentation</vt:lpstr>
      <vt:lpstr>2. Word marks (or logo types)</vt:lpstr>
      <vt:lpstr>PowerPoint Presentation</vt:lpstr>
      <vt:lpstr>3. Brand marks /Pictorial marks / logo symbols</vt:lpstr>
      <vt:lpstr>PowerPoint Presentation</vt:lpstr>
      <vt:lpstr>4. Combination mark</vt:lpstr>
      <vt:lpstr>PowerPoint Presentation</vt:lpstr>
      <vt:lpstr>5. The emblem</vt:lpstr>
      <vt:lpstr>PowerPoint Presentation</vt:lpstr>
      <vt:lpstr>6. Abstract logo marks </vt:lpstr>
      <vt:lpstr>PowerPoint Presentation</vt:lpstr>
      <vt:lpstr>Logo design considerations </vt:lpstr>
      <vt:lpstr>PowerPoint Presentation</vt:lpstr>
      <vt:lpstr>PowerPoint Presentation</vt:lpstr>
      <vt:lpstr>PowerPoint Presentation</vt:lpstr>
      <vt:lpstr>PowerPoint Presentation</vt:lpstr>
      <vt:lpstr>Logo design process </vt:lpstr>
      <vt:lpstr>Steps for logo design process</vt:lpstr>
      <vt:lpstr>PowerPoint Presentation</vt:lpstr>
      <vt:lpstr>Specify logo design requirements </vt:lpstr>
      <vt:lpstr>PowerPoint Presentation</vt:lpstr>
      <vt:lpstr>Establish Creative briefs  </vt:lpstr>
      <vt:lpstr>What is a brand?</vt:lpstr>
      <vt:lpstr>What Is Brand Identity? </vt:lpstr>
      <vt:lpstr>2.5 Design infographics  </vt:lpstr>
      <vt:lpstr>PowerPoint Presentation</vt:lpstr>
      <vt:lpstr>Learning outcome 3: Export file </vt:lpstr>
      <vt:lpstr>PowerPoint Presentation</vt:lpstr>
      <vt:lpstr>Identification of Image optimisation tools and programs</vt:lpstr>
      <vt:lpstr>PowerPoint Presentation</vt:lpstr>
      <vt:lpstr>Compressing techniques </vt:lpstr>
      <vt:lpstr>PowerPoint Presentation</vt:lpstr>
      <vt:lpstr>✔ Resizing image to scale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GENBG 301: BASIC GRAPHIC DESIGN</dc:title>
  <dc:creator>USER</dc:creator>
  <cp:lastModifiedBy>user</cp:lastModifiedBy>
  <cp:revision>591</cp:revision>
  <dcterms:created xsi:type="dcterms:W3CDTF">2022-10-07T13:14:11Z</dcterms:created>
  <dcterms:modified xsi:type="dcterms:W3CDTF">2024-09-25T06:07:35Z</dcterms:modified>
</cp:coreProperties>
</file>