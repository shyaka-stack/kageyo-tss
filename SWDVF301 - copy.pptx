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68" d="100"/>
          <a:sy n="68" d="100"/>
        </p:scale>
        <p:origin x="50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C57C-033B-4CA5-8363-6C517B2A522A}" type="datetimeFigureOut">
              <a:rPr lang="en-US" smtClean="0"/>
              <a:t>3/6/2025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98AE7-1F45-44D1-B747-970A9C6988A8}" type="slidenum">
              <a:rPr lang="en-US" smtClean="0"/>
              <a:t>‹#›</a:t>
            </a:fld>
            <a:endParaRPr lang="en-US"/>
          </a:p>
        </p:txBody>
      </p:sp>
    </p:spTree>
    <p:extLst>
      <p:ext uri="{BB962C8B-B14F-4D97-AF65-F5344CB8AC3E}">
        <p14:creationId xmlns:p14="http://schemas.microsoft.com/office/powerpoint/2010/main" val="3177843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398AE7-1F45-44D1-B747-970A9C6988A8}" type="slidenum">
              <a:rPr lang="en-US" smtClean="0"/>
              <a:t>17</a:t>
            </a:fld>
            <a:endParaRPr lang="en-US"/>
          </a:p>
        </p:txBody>
      </p:sp>
    </p:spTree>
    <p:extLst>
      <p:ext uri="{BB962C8B-B14F-4D97-AF65-F5344CB8AC3E}">
        <p14:creationId xmlns:p14="http://schemas.microsoft.com/office/powerpoint/2010/main" val="1881333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8BDF2-5E1B-DDEE-2ED6-6DB9C6A0BA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45E558-8C58-25D2-E4C4-AA73627025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38D292-4D55-572A-A61E-E533F59E50FD}"/>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5" name="Footer Placeholder 4">
            <a:extLst>
              <a:ext uri="{FF2B5EF4-FFF2-40B4-BE49-F238E27FC236}">
                <a16:creationId xmlns:a16="http://schemas.microsoft.com/office/drawing/2014/main" id="{B59B3634-4E29-0E56-4745-63B9C10D63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89712E-2207-346B-FE51-5D45E2D7EBAA}"/>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1091110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74ABE-DAE4-598A-96B2-6E803D4969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FDD76F-3D62-5129-4570-48182D1BF9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98B605-D62C-8ABD-9AED-FB585C54517C}"/>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5" name="Footer Placeholder 4">
            <a:extLst>
              <a:ext uri="{FF2B5EF4-FFF2-40B4-BE49-F238E27FC236}">
                <a16:creationId xmlns:a16="http://schemas.microsoft.com/office/drawing/2014/main" id="{8BFDEDC0-9E0C-8157-EA0C-AED2A8982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544F0-77C1-EE53-3264-446F8A9664C7}"/>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124824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56250-85C2-E237-AD3F-557F55074B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E64AD0-9299-F3F1-0584-47C80C953C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A96A79-BB82-55FF-7365-263809E5BC14}"/>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5" name="Footer Placeholder 4">
            <a:extLst>
              <a:ext uri="{FF2B5EF4-FFF2-40B4-BE49-F238E27FC236}">
                <a16:creationId xmlns:a16="http://schemas.microsoft.com/office/drawing/2014/main" id="{CB8A6761-A271-1737-6C9F-54BB7E59D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FDADB-9E0E-9AA6-E103-B779525E18E2}"/>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281721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0026-9B4C-9EDA-2F05-4A42BCF945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17F7E3-313C-8DE0-D954-5AE82F45C5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01C144-418B-48DC-B2D2-D33CA04847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CA6353-AA60-B9AC-30F6-F03B589D8D8C}"/>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6" name="Footer Placeholder 5">
            <a:extLst>
              <a:ext uri="{FF2B5EF4-FFF2-40B4-BE49-F238E27FC236}">
                <a16:creationId xmlns:a16="http://schemas.microsoft.com/office/drawing/2014/main" id="{9BB36693-9598-4626-6BB4-C339C18EC7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2ECAF8-2D45-551C-1548-977DF63D14F3}"/>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3544432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66748-675D-320C-038E-F3AD4DBE3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AF4E9C-E11C-B8F5-07C7-95CB83638E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B06712-0DD7-F25D-0A95-CA28AE85F0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7A0FE6-3E94-E049-9856-5B607D894E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FC748F-AC99-5E8E-7A84-0D56FE6F59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325D41-BF5C-A962-EFB0-2A812D4F0974}"/>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8" name="Footer Placeholder 7">
            <a:extLst>
              <a:ext uri="{FF2B5EF4-FFF2-40B4-BE49-F238E27FC236}">
                <a16:creationId xmlns:a16="http://schemas.microsoft.com/office/drawing/2014/main" id="{AF37A4FF-EF81-6A22-CF08-926030B3B7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2269DB-25B8-2BF3-76F6-D31A9C2061A6}"/>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266499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732F-4944-08F4-5CFF-BA3D1FA192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112490-0889-392B-F1B2-221B02CF8940}"/>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4" name="Footer Placeholder 3">
            <a:extLst>
              <a:ext uri="{FF2B5EF4-FFF2-40B4-BE49-F238E27FC236}">
                <a16:creationId xmlns:a16="http://schemas.microsoft.com/office/drawing/2014/main" id="{CB638856-7B14-6A05-BCCA-1996CE6CC3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DF80ED-6BEB-7943-14B3-14DBB7A9E08C}"/>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2512549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A4347C-1FA3-FA3B-BEEE-43BCED4AF59D}"/>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3" name="Footer Placeholder 2">
            <a:extLst>
              <a:ext uri="{FF2B5EF4-FFF2-40B4-BE49-F238E27FC236}">
                <a16:creationId xmlns:a16="http://schemas.microsoft.com/office/drawing/2014/main" id="{51D5F06E-948D-DFD7-70C2-ADD1724EAC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430408-6606-A5FE-EB05-792B253B85A3}"/>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2546806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55053-4EDC-5CEF-BA7B-568051884C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96C5D1-EE6C-81E1-F1C7-0D604245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DD5354-FBE3-B45E-E764-58BB58E5F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E0367D-BEE8-C584-3258-F0B73AB0C714}"/>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6" name="Footer Placeholder 5">
            <a:extLst>
              <a:ext uri="{FF2B5EF4-FFF2-40B4-BE49-F238E27FC236}">
                <a16:creationId xmlns:a16="http://schemas.microsoft.com/office/drawing/2014/main" id="{15E44424-E3D5-391F-24B9-A525993FCD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8354D5-84CE-B6F4-B4F3-05C1D3D114A9}"/>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805453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91517-3EE5-6D76-EE57-B8507C57F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F685C-254E-80CC-8184-3D091EDB5B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FF4AD2-CFA1-0A16-5325-2F2EC3731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1066EA-F076-3653-BED8-D3BAC11596AD}"/>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6" name="Footer Placeholder 5">
            <a:extLst>
              <a:ext uri="{FF2B5EF4-FFF2-40B4-BE49-F238E27FC236}">
                <a16:creationId xmlns:a16="http://schemas.microsoft.com/office/drawing/2014/main" id="{3929AFDD-975A-6BE1-64A8-0CAFA121E4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80EC7-EDDF-6E5B-C552-B61937292BBB}"/>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4000259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70F2-5D4C-8D99-85F8-8068AFAB84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BB7780-22B9-4F9E-8FEC-E1404FB2F4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AE3DE3-4673-F350-53E4-CE3613F1C7B9}"/>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5" name="Footer Placeholder 4">
            <a:extLst>
              <a:ext uri="{FF2B5EF4-FFF2-40B4-BE49-F238E27FC236}">
                <a16:creationId xmlns:a16="http://schemas.microsoft.com/office/drawing/2014/main" id="{4E84BE3A-5AB8-309C-0242-3BD0F9ACFA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F4CE0B-C71C-510F-A241-EFBD5A06C794}"/>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2859673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B35B70-D568-85F5-6E2F-3D367C06FD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66BB2A-EC8D-E641-0CA6-0F36ABB5E7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D17FE8-FAAC-842B-D3C4-46B58A98256E}"/>
              </a:ext>
            </a:extLst>
          </p:cNvPr>
          <p:cNvSpPr>
            <a:spLocks noGrp="1"/>
          </p:cNvSpPr>
          <p:nvPr>
            <p:ph type="dt" sz="half" idx="10"/>
          </p:nvPr>
        </p:nvSpPr>
        <p:spPr/>
        <p:txBody>
          <a:bodyPr/>
          <a:lstStyle/>
          <a:p>
            <a:fld id="{038D7347-2124-4C03-B497-858B92CF8911}" type="datetimeFigureOut">
              <a:rPr lang="en-US" smtClean="0"/>
              <a:t>3/6/2025</a:t>
            </a:fld>
            <a:endParaRPr lang="en-US"/>
          </a:p>
        </p:txBody>
      </p:sp>
      <p:sp>
        <p:nvSpPr>
          <p:cNvPr id="5" name="Footer Placeholder 4">
            <a:extLst>
              <a:ext uri="{FF2B5EF4-FFF2-40B4-BE49-F238E27FC236}">
                <a16:creationId xmlns:a16="http://schemas.microsoft.com/office/drawing/2014/main" id="{AF07E20E-C15E-1041-1B0C-ED0CAD6ECF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3628D0-7C58-30A5-2F6D-B761D6A471B2}"/>
              </a:ext>
            </a:extLst>
          </p:cNvPr>
          <p:cNvSpPr>
            <a:spLocks noGrp="1"/>
          </p:cNvSpPr>
          <p:nvPr>
            <p:ph type="sldNum" sz="quarter" idx="12"/>
          </p:nvPr>
        </p:nvSpPr>
        <p:spPr/>
        <p:txBody>
          <a:bodyPr/>
          <a:lstStyle/>
          <a:p>
            <a:fld id="{2F93E5A8-7AA9-4324-B0E4-B7F6CEE975B7}" type="slidenum">
              <a:rPr lang="en-US" smtClean="0"/>
              <a:t>‹#›</a:t>
            </a:fld>
            <a:endParaRPr lang="en-US"/>
          </a:p>
        </p:txBody>
      </p:sp>
    </p:spTree>
    <p:extLst>
      <p:ext uri="{BB962C8B-B14F-4D97-AF65-F5344CB8AC3E}">
        <p14:creationId xmlns:p14="http://schemas.microsoft.com/office/powerpoint/2010/main" val="4114453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20756-6BA3-8AB1-6B64-898DCF81AA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F8853B-CBE7-594D-F93E-E8533EB9AB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C55B2-4F31-9CB2-1A4A-D48280C9E5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8D7347-2124-4C03-B497-858B92CF8911}" type="datetimeFigureOut">
              <a:rPr lang="en-US" smtClean="0"/>
              <a:t>3/6/2025</a:t>
            </a:fld>
            <a:endParaRPr lang="en-US"/>
          </a:p>
        </p:txBody>
      </p:sp>
      <p:sp>
        <p:nvSpPr>
          <p:cNvPr id="5" name="Footer Placeholder 4">
            <a:extLst>
              <a:ext uri="{FF2B5EF4-FFF2-40B4-BE49-F238E27FC236}">
                <a16:creationId xmlns:a16="http://schemas.microsoft.com/office/drawing/2014/main" id="{60736A7E-44A0-79ED-CBA3-AACC62FD02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A10B06-6C51-3200-36D6-8EDC7EE48E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3E5A8-7AA9-4324-B0E4-B7F6CEE975B7}" type="slidenum">
              <a:rPr lang="en-US" smtClean="0"/>
              <a:t>‹#›</a:t>
            </a:fld>
            <a:endParaRPr lang="en-US"/>
          </a:p>
        </p:txBody>
      </p:sp>
    </p:spTree>
    <p:extLst>
      <p:ext uri="{BB962C8B-B14F-4D97-AF65-F5344CB8AC3E}">
        <p14:creationId xmlns:p14="http://schemas.microsoft.com/office/powerpoint/2010/main" val="3225209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nodejs.dev/downloa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53E5C-FA08-9066-7FB2-083925DC6BFC}"/>
              </a:ext>
            </a:extLst>
          </p:cNvPr>
          <p:cNvSpPr>
            <a:spLocks noGrp="1"/>
          </p:cNvSpPr>
          <p:nvPr>
            <p:ph type="title"/>
          </p:nvPr>
        </p:nvSpPr>
        <p:spPr/>
        <p:txBody>
          <a:bodyPr>
            <a:normAutofit/>
          </a:bodyPr>
          <a:lstStyle/>
          <a:p>
            <a:r>
              <a:rPr lang="en-US" sz="2800" b="1" i="0" u="none" strike="noStrike" baseline="0" dirty="0">
                <a:latin typeface="Times New Roman" panose="02020603050405020304" pitchFamily="18" charset="0"/>
              </a:rPr>
              <a:t>DEVELOP SIMPLE GAME IN VUE</a:t>
            </a:r>
            <a:br>
              <a:rPr lang="en-US" sz="2800" b="0" i="0" u="none" strike="noStrike" baseline="0" dirty="0">
                <a:latin typeface="Times New Roman" panose="02020603050405020304" pitchFamily="18" charset="0"/>
              </a:rPr>
            </a:br>
            <a:endParaRPr lang="en-US" sz="2800" dirty="0"/>
          </a:p>
        </p:txBody>
      </p:sp>
      <p:sp>
        <p:nvSpPr>
          <p:cNvPr id="3" name="Content Placeholder 2">
            <a:extLst>
              <a:ext uri="{FF2B5EF4-FFF2-40B4-BE49-F238E27FC236}">
                <a16:creationId xmlns:a16="http://schemas.microsoft.com/office/drawing/2014/main" id="{819055B1-BDFE-3D30-68BC-46A0816AD30F}"/>
              </a:ext>
            </a:extLst>
          </p:cNvPr>
          <p:cNvSpPr>
            <a:spLocks noGrp="1"/>
          </p:cNvSpPr>
          <p:nvPr>
            <p:ph idx="1"/>
          </p:nvPr>
        </p:nvSpPr>
        <p:spPr>
          <a:xfrm>
            <a:off x="838200" y="1825624"/>
            <a:ext cx="10781146" cy="4565343"/>
          </a:xfrm>
        </p:spPr>
        <p:txBody>
          <a:bodyPr>
            <a:normAutofit/>
          </a:bodyPr>
          <a:lstStyle/>
          <a:p>
            <a:pPr marL="0" indent="0">
              <a:buNone/>
            </a:pPr>
            <a:r>
              <a:rPr lang="en-US" sz="2400" b="1" i="0" u="none" strike="noStrike" baseline="0" dirty="0">
                <a:latin typeface="Times New Roman" panose="02020603050405020304" pitchFamily="18" charset="0"/>
              </a:rPr>
              <a:t>LO1: SETUP ENVIRONMENT</a:t>
            </a:r>
          </a:p>
          <a:p>
            <a:pPr marL="0" indent="0">
              <a:buNone/>
            </a:pPr>
            <a:r>
              <a:rPr lang="en-US" sz="1800" b="1" i="0" u="none" strike="noStrike" baseline="0" dirty="0">
                <a:latin typeface="Times New Roman" panose="02020603050405020304" pitchFamily="18" charset="0"/>
              </a:rPr>
              <a:t>INTRODUCTION TO VUE FRAMEWORK</a:t>
            </a:r>
          </a:p>
          <a:p>
            <a:r>
              <a:rPr lang="en-US" sz="2400" b="1" i="0" u="none" strike="noStrike" baseline="0" dirty="0">
                <a:latin typeface="Times New Roman" panose="02020603050405020304" pitchFamily="18" charset="0"/>
              </a:rPr>
              <a:t>Vue </a:t>
            </a:r>
            <a:r>
              <a:rPr lang="en-US" sz="2400" b="0" i="0" u="none" strike="noStrike" baseline="0" dirty="0">
                <a:latin typeface="Times New Roman" panose="02020603050405020304" pitchFamily="18" charset="0"/>
              </a:rPr>
              <a:t>is a JavaScript framework for building user interfaces. Its core part is focused mainly on the view layer and it is very easy to understand. The version of Vue that we are going to use in this tutorial is 2.0.</a:t>
            </a:r>
          </a:p>
          <a:p>
            <a:pPr marL="0" indent="0">
              <a:buNone/>
            </a:pPr>
            <a:r>
              <a:rPr lang="en-US" sz="2400" dirty="0">
                <a:latin typeface="Times New Roman" panose="02020603050405020304" pitchFamily="18" charset="0"/>
              </a:rPr>
              <a:t>As Vue is built for frontend development, we are going to deal with a lot of HTML, JavaScript, and CSS files in the upcoming chapters. To understand the details, let us start with a simple example.</a:t>
            </a:r>
          </a:p>
        </p:txBody>
      </p:sp>
    </p:spTree>
    <p:extLst>
      <p:ext uri="{BB962C8B-B14F-4D97-AF65-F5344CB8AC3E}">
        <p14:creationId xmlns:p14="http://schemas.microsoft.com/office/powerpoint/2010/main" val="140940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9F8C8-AD64-09E0-5524-1DA9CE16B822}"/>
              </a:ext>
            </a:extLst>
          </p:cNvPr>
          <p:cNvSpPr>
            <a:spLocks noGrp="1"/>
          </p:cNvSpPr>
          <p:nvPr>
            <p:ph type="title"/>
          </p:nvPr>
        </p:nvSpPr>
        <p:spPr>
          <a:xfrm>
            <a:off x="785091" y="365125"/>
            <a:ext cx="10568709" cy="891020"/>
          </a:xfrm>
        </p:spPr>
        <p:txBody>
          <a:bodyPr>
            <a:normAutofit/>
          </a:bodyPr>
          <a:lstStyle/>
          <a:p>
            <a:r>
              <a:rPr lang="en-US" sz="3200" b="1" dirty="0"/>
              <a:t>Example:</a:t>
            </a:r>
          </a:p>
        </p:txBody>
      </p:sp>
      <p:sp>
        <p:nvSpPr>
          <p:cNvPr id="3" name="Content Placeholder 2">
            <a:extLst>
              <a:ext uri="{FF2B5EF4-FFF2-40B4-BE49-F238E27FC236}">
                <a16:creationId xmlns:a16="http://schemas.microsoft.com/office/drawing/2014/main" id="{D9FA1F7F-4991-E935-D9E6-A9F314D92250}"/>
              </a:ext>
            </a:extLst>
          </p:cNvPr>
          <p:cNvSpPr>
            <a:spLocks noGrp="1"/>
          </p:cNvSpPr>
          <p:nvPr>
            <p:ph idx="1"/>
          </p:nvPr>
        </p:nvSpPr>
        <p:spPr>
          <a:xfrm>
            <a:off x="480291" y="1366982"/>
            <a:ext cx="10873509" cy="5246254"/>
          </a:xfrm>
        </p:spPr>
        <p:txBody>
          <a:bodyPr>
            <a:noAutofit/>
          </a:bodyPr>
          <a:lstStyle/>
          <a:p>
            <a:pPr marL="0" indent="0" algn="l">
              <a:buNone/>
            </a:pPr>
            <a:r>
              <a:rPr lang="en-US" sz="2400" b="0" i="0" u="none" strike="noStrike" baseline="0" dirty="0">
                <a:latin typeface="Times New Roman" panose="02020603050405020304" pitchFamily="18" charset="0"/>
              </a:rPr>
              <a:t>&lt;html&gt;</a:t>
            </a:r>
          </a:p>
          <a:p>
            <a:pPr marL="0" indent="0" algn="l">
              <a:buNone/>
            </a:pPr>
            <a:r>
              <a:rPr lang="en-US" sz="2400" b="0" i="0" u="none" strike="noStrike" baseline="0" dirty="0">
                <a:latin typeface="Times New Roman" panose="02020603050405020304" pitchFamily="18" charset="0"/>
              </a:rPr>
              <a:t>&lt;head&gt;</a:t>
            </a:r>
          </a:p>
          <a:p>
            <a:pPr marL="0" indent="0" algn="l">
              <a:buNone/>
            </a:pPr>
            <a:r>
              <a:rPr lang="en-US" sz="2400" b="0" i="0" u="none" strike="noStrike" baseline="0" dirty="0">
                <a:latin typeface="Times New Roman" panose="02020603050405020304" pitchFamily="18" charset="0"/>
              </a:rPr>
              <a:t>&lt;title&gt;</a:t>
            </a:r>
            <a:r>
              <a:rPr lang="en-US" sz="2400" b="0" i="0" u="none" strike="noStrike" baseline="0" dirty="0" err="1">
                <a:latin typeface="Times New Roman" panose="02020603050405020304" pitchFamily="18" charset="0"/>
              </a:rPr>
              <a:t>VueJs</a:t>
            </a:r>
            <a:r>
              <a:rPr lang="en-US" sz="2400" b="0" i="0" u="none" strike="noStrike" baseline="0" dirty="0">
                <a:latin typeface="Times New Roman" panose="02020603050405020304" pitchFamily="18" charset="0"/>
              </a:rPr>
              <a:t> Introduction&lt;/title&gt;</a:t>
            </a:r>
          </a:p>
          <a:p>
            <a:pPr marL="0" indent="0" algn="l">
              <a:buNone/>
            </a:pPr>
            <a:r>
              <a:rPr lang="en-US" sz="2400" b="0" i="0" u="none" strike="noStrike" baseline="0" dirty="0">
                <a:latin typeface="Times New Roman" panose="02020603050405020304" pitchFamily="18" charset="0"/>
              </a:rPr>
              <a:t>&lt;script type = "text/</a:t>
            </a:r>
            <a:r>
              <a:rPr lang="en-US" sz="2400" b="0" i="0" u="none" strike="noStrike" baseline="0" dirty="0" err="1">
                <a:latin typeface="Times New Roman" panose="02020603050405020304" pitchFamily="18" charset="0"/>
              </a:rPr>
              <a:t>javascript</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src</a:t>
            </a:r>
            <a:r>
              <a:rPr lang="en-US" sz="2400" b="0" i="0" u="none" strike="noStrike" baseline="0" dirty="0">
                <a:latin typeface="Times New Roman" panose="02020603050405020304" pitchFamily="18" charset="0"/>
              </a:rPr>
              <a:t> = "</a:t>
            </a:r>
            <a:r>
              <a:rPr lang="en-US" sz="2400" b="0" i="0" u="none" strike="noStrike" baseline="0" dirty="0" err="1">
                <a:latin typeface="Times New Roman" panose="02020603050405020304" pitchFamily="18" charset="0"/>
              </a:rPr>
              <a:t>js</a:t>
            </a:r>
            <a:r>
              <a:rPr lang="en-US" sz="2400" b="0" i="0" u="none" strike="noStrike" baseline="0" dirty="0">
                <a:latin typeface="Times New Roman" panose="02020603050405020304" pitchFamily="18" charset="0"/>
              </a:rPr>
              <a:t>/vue.js"&gt;&lt;/script&gt;</a:t>
            </a:r>
          </a:p>
          <a:p>
            <a:pPr marL="0" indent="0" algn="l">
              <a:buNone/>
            </a:pPr>
            <a:r>
              <a:rPr lang="en-US" sz="2400" b="0" i="0" u="none" strike="noStrike" baseline="0" dirty="0">
                <a:latin typeface="Times New Roman" panose="02020603050405020304" pitchFamily="18" charset="0"/>
              </a:rPr>
              <a:t>&lt;/head&gt;</a:t>
            </a:r>
          </a:p>
          <a:p>
            <a:pPr marL="0" indent="0" algn="l">
              <a:buNone/>
            </a:pPr>
            <a:r>
              <a:rPr lang="en-US" sz="2400" b="0" i="0" u="none" strike="noStrike" baseline="0" dirty="0">
                <a:latin typeface="Times New Roman" panose="02020603050405020304" pitchFamily="18" charset="0"/>
              </a:rPr>
              <a:t>&lt;body&gt;</a:t>
            </a:r>
          </a:p>
          <a:p>
            <a:pPr marL="0" indent="0" algn="l">
              <a:buNone/>
            </a:pPr>
            <a:r>
              <a:rPr lang="en-US" sz="2400" b="0" i="0" u="none" strike="noStrike" baseline="0" dirty="0">
                <a:latin typeface="Times New Roman" panose="02020603050405020304" pitchFamily="18" charset="0"/>
              </a:rPr>
              <a:t>&lt;div id = "intro" style = "</a:t>
            </a:r>
            <a:r>
              <a:rPr lang="en-US" sz="2400" b="0" i="0" u="none" strike="noStrike" baseline="0" dirty="0" err="1">
                <a:latin typeface="Times New Roman" panose="02020603050405020304" pitchFamily="18" charset="0"/>
              </a:rPr>
              <a:t>text-align:center</a:t>
            </a:r>
            <a:r>
              <a:rPr lang="en-US" sz="2400" b="0" i="0" u="none" strike="noStrike" baseline="0" dirty="0">
                <a:latin typeface="Times New Roman" panose="02020603050405020304" pitchFamily="18" charset="0"/>
              </a:rPr>
              <a:t>;"&gt;</a:t>
            </a:r>
          </a:p>
          <a:p>
            <a:pPr marL="0" indent="0" algn="l">
              <a:buNone/>
            </a:pPr>
            <a:r>
              <a:rPr lang="en-US" sz="2400" b="0" i="0" u="none" strike="noStrike" baseline="0" dirty="0">
                <a:latin typeface="Times New Roman" panose="02020603050405020304" pitchFamily="18" charset="0"/>
              </a:rPr>
              <a:t>&lt;h1&gt;{{ message }}&lt;/h1&gt;</a:t>
            </a:r>
          </a:p>
          <a:p>
            <a:pPr marL="0" indent="0" algn="l">
              <a:buNone/>
            </a:pPr>
            <a:r>
              <a:rPr lang="en-US" sz="2400" b="0" i="0" u="none" strike="noStrike" baseline="0" dirty="0">
                <a:latin typeface="Times New Roman" panose="02020603050405020304" pitchFamily="18" charset="0"/>
              </a:rPr>
              <a:t>&lt;/div&gt;</a:t>
            </a:r>
          </a:p>
          <a:p>
            <a:pPr marL="0" indent="0" algn="l">
              <a:buNone/>
            </a:pPr>
            <a:endParaRPr lang="en-US" sz="1800" dirty="0"/>
          </a:p>
        </p:txBody>
      </p:sp>
    </p:spTree>
    <p:extLst>
      <p:ext uri="{BB962C8B-B14F-4D97-AF65-F5344CB8AC3E}">
        <p14:creationId xmlns:p14="http://schemas.microsoft.com/office/powerpoint/2010/main" val="1581303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07083-D544-D019-A4D4-37F58F035EB8}"/>
              </a:ext>
            </a:extLst>
          </p:cNvPr>
          <p:cNvSpPr>
            <a:spLocks noGrp="1"/>
          </p:cNvSpPr>
          <p:nvPr>
            <p:ph type="title"/>
          </p:nvPr>
        </p:nvSpPr>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A4B0C63B-6AF0-DE04-4D54-9E207CB45DD4}"/>
              </a:ext>
            </a:extLst>
          </p:cNvPr>
          <p:cNvSpPr>
            <a:spLocks noGrp="1"/>
          </p:cNvSpPr>
          <p:nvPr>
            <p:ph idx="1"/>
          </p:nvPr>
        </p:nvSpPr>
        <p:spPr>
          <a:xfrm>
            <a:off x="838199" y="1825624"/>
            <a:ext cx="10661073" cy="4833793"/>
          </a:xfrm>
        </p:spPr>
        <p:txBody>
          <a:bodyPr>
            <a:normAutofit/>
          </a:bodyPr>
          <a:lstStyle/>
          <a:p>
            <a:pPr marL="0" indent="0" algn="l">
              <a:buNone/>
            </a:pPr>
            <a:r>
              <a:rPr lang="en-US" sz="2800" b="0" i="0" u="none" strike="noStrike" baseline="0" dirty="0">
                <a:latin typeface="Times New Roman" panose="02020603050405020304" pitchFamily="18" charset="0"/>
              </a:rPr>
              <a:t>&lt;script type = "text/</a:t>
            </a:r>
            <a:r>
              <a:rPr lang="en-US" sz="2800" b="0" i="0" u="none" strike="noStrike" baseline="0" dirty="0" err="1">
                <a:latin typeface="Times New Roman" panose="02020603050405020304" pitchFamily="18" charset="0"/>
              </a:rPr>
              <a:t>javascript</a:t>
            </a:r>
            <a:r>
              <a:rPr lang="en-US" sz="2800" b="0" i="0" u="none" strike="noStrike" baseline="0" dirty="0">
                <a:latin typeface="Times New Roman" panose="02020603050405020304" pitchFamily="18" charset="0"/>
              </a:rPr>
              <a:t>"&gt; var</a:t>
            </a:r>
          </a:p>
          <a:p>
            <a:pPr marL="0" indent="0" algn="l">
              <a:buNone/>
            </a:pPr>
            <a:r>
              <a:rPr lang="fr-FR" sz="2800" b="0" i="0" u="none" strike="noStrike" baseline="0" dirty="0" err="1">
                <a:latin typeface="Times New Roman" panose="02020603050405020304" pitchFamily="18" charset="0"/>
              </a:rPr>
              <a:t>vue_det</a:t>
            </a:r>
            <a:r>
              <a:rPr lang="fr-FR" sz="2800" b="0" i="0" u="none" strike="noStrike" baseline="0" dirty="0">
                <a:latin typeface="Times New Roman" panose="02020603050405020304" pitchFamily="18" charset="0"/>
              </a:rPr>
              <a:t> = new Vue({ el: '#intro',</a:t>
            </a:r>
          </a:p>
          <a:p>
            <a:pPr marL="0" indent="0" algn="l">
              <a:buNone/>
            </a:pPr>
            <a:r>
              <a:rPr lang="en-US" sz="2800" b="0" i="0" u="none" strike="noStrike" baseline="0" dirty="0">
                <a:latin typeface="Times New Roman" panose="02020603050405020304" pitchFamily="18" charset="0"/>
              </a:rPr>
              <a:t>data: {</a:t>
            </a:r>
          </a:p>
          <a:p>
            <a:pPr marL="0" indent="0" algn="l">
              <a:buNone/>
            </a:pPr>
            <a:r>
              <a:rPr lang="en-US" sz="2800" b="0" i="0" u="none" strike="noStrike" baseline="0" dirty="0">
                <a:latin typeface="Times New Roman" panose="02020603050405020304" pitchFamily="18" charset="0"/>
              </a:rPr>
              <a:t>message: 'My first </a:t>
            </a:r>
            <a:r>
              <a:rPr lang="en-US" sz="2800" b="0" i="0" u="none" strike="noStrike" baseline="0" dirty="0" err="1">
                <a:latin typeface="Times New Roman" panose="02020603050405020304" pitchFamily="18" charset="0"/>
              </a:rPr>
              <a:t>VueJS</a:t>
            </a:r>
            <a:r>
              <a:rPr lang="en-US" sz="2800" b="0" i="0" u="none" strike="noStrike" baseline="0" dirty="0">
                <a:latin typeface="Times New Roman" panose="02020603050405020304" pitchFamily="18" charset="0"/>
              </a:rPr>
              <a:t> Task'</a:t>
            </a:r>
          </a:p>
          <a:p>
            <a:pPr marL="0" indent="0" algn="l">
              <a:buNone/>
            </a:pPr>
            <a:r>
              <a:rPr lang="en-US" sz="2800" b="0" i="0" u="none" strike="noStrike" baseline="0" dirty="0">
                <a:latin typeface="Times New Roman" panose="02020603050405020304" pitchFamily="18" charset="0"/>
              </a:rPr>
              <a:t>}</a:t>
            </a:r>
          </a:p>
          <a:p>
            <a:pPr marL="0" indent="0" algn="l">
              <a:buNone/>
            </a:pPr>
            <a:r>
              <a:rPr lang="en-US" sz="2800" b="0" i="0" u="none" strike="noStrike" baseline="0" dirty="0">
                <a:latin typeface="Times New Roman" panose="02020603050405020304" pitchFamily="18" charset="0"/>
              </a:rPr>
              <a:t>});</a:t>
            </a:r>
          </a:p>
          <a:p>
            <a:pPr marL="0" indent="0" algn="l">
              <a:buNone/>
            </a:pPr>
            <a:r>
              <a:rPr lang="en-US" sz="2800" b="0" i="0" u="none" strike="noStrike" baseline="0" dirty="0">
                <a:latin typeface="Times New Roman" panose="02020603050405020304" pitchFamily="18" charset="0"/>
              </a:rPr>
              <a:t>&lt;/script&gt;</a:t>
            </a:r>
          </a:p>
          <a:p>
            <a:pPr marL="0" indent="0" algn="l">
              <a:buNone/>
            </a:pPr>
            <a:r>
              <a:rPr lang="en-US" sz="2800" b="0" i="0" u="none" strike="noStrike" baseline="0" dirty="0">
                <a:latin typeface="Times New Roman" panose="02020603050405020304" pitchFamily="18" charset="0"/>
              </a:rPr>
              <a:t>&lt;/body&gt;</a:t>
            </a:r>
          </a:p>
          <a:p>
            <a:pPr marL="0" indent="0" algn="l">
              <a:buNone/>
            </a:pPr>
            <a:r>
              <a:rPr lang="en-US" sz="2800" b="0" i="0" u="none" strike="noStrike" baseline="0" dirty="0">
                <a:latin typeface="Times New Roman" panose="02020603050405020304" pitchFamily="18" charset="0"/>
              </a:rPr>
              <a:t>&lt;/html&gt;</a:t>
            </a:r>
            <a:endParaRPr lang="en-US" dirty="0"/>
          </a:p>
        </p:txBody>
      </p:sp>
    </p:spTree>
    <p:extLst>
      <p:ext uri="{BB962C8B-B14F-4D97-AF65-F5344CB8AC3E}">
        <p14:creationId xmlns:p14="http://schemas.microsoft.com/office/powerpoint/2010/main" val="80880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2C3-898C-1284-4E99-576445CC029B}"/>
              </a:ext>
            </a:extLst>
          </p:cNvPr>
          <p:cNvSpPr>
            <a:spLocks noGrp="1"/>
          </p:cNvSpPr>
          <p:nvPr>
            <p:ph type="title"/>
          </p:nvPr>
        </p:nvSpPr>
        <p:spPr/>
        <p:txBody>
          <a:bodyPr/>
          <a:lstStyle/>
          <a:p>
            <a:r>
              <a:rPr lang="en-US" b="1" dirty="0"/>
              <a:t>Expected Output</a:t>
            </a:r>
          </a:p>
        </p:txBody>
      </p:sp>
      <p:pic>
        <p:nvPicPr>
          <p:cNvPr id="5" name="Content Placeholder 4">
            <a:extLst>
              <a:ext uri="{FF2B5EF4-FFF2-40B4-BE49-F238E27FC236}">
                <a16:creationId xmlns:a16="http://schemas.microsoft.com/office/drawing/2014/main" id="{21EEC9A9-998D-0DAC-5F12-ECB2DD28C446}"/>
              </a:ext>
            </a:extLst>
          </p:cNvPr>
          <p:cNvPicPr>
            <a:picLocks noGrp="1" noChangeAspect="1"/>
          </p:cNvPicPr>
          <p:nvPr>
            <p:ph idx="1"/>
          </p:nvPr>
        </p:nvPicPr>
        <p:blipFill>
          <a:blip r:embed="rId2"/>
          <a:stretch>
            <a:fillRect/>
          </a:stretch>
        </p:blipFill>
        <p:spPr>
          <a:xfrm>
            <a:off x="615546" y="2276781"/>
            <a:ext cx="9926435" cy="2857899"/>
          </a:xfrm>
        </p:spPr>
      </p:pic>
    </p:spTree>
    <p:extLst>
      <p:ext uri="{BB962C8B-B14F-4D97-AF65-F5344CB8AC3E}">
        <p14:creationId xmlns:p14="http://schemas.microsoft.com/office/powerpoint/2010/main" val="3598127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8DF3-6760-56C3-39B9-A91ED0A1ED6F}"/>
              </a:ext>
            </a:extLst>
          </p:cNvPr>
          <p:cNvSpPr>
            <a:spLocks noGrp="1"/>
          </p:cNvSpPr>
          <p:nvPr>
            <p:ph type="title"/>
          </p:nvPr>
        </p:nvSpPr>
        <p:spPr/>
        <p:txBody>
          <a:bodyPr/>
          <a:lstStyle/>
          <a:p>
            <a:r>
              <a:rPr lang="en-US" b="1" dirty="0"/>
              <a:t>Explanations </a:t>
            </a:r>
          </a:p>
        </p:txBody>
      </p:sp>
      <p:sp>
        <p:nvSpPr>
          <p:cNvPr id="3" name="Content Placeholder 2">
            <a:extLst>
              <a:ext uri="{FF2B5EF4-FFF2-40B4-BE49-F238E27FC236}">
                <a16:creationId xmlns:a16="http://schemas.microsoft.com/office/drawing/2014/main" id="{C703ED7A-ECD6-F1F4-0337-863F3A0B3011}"/>
              </a:ext>
            </a:extLst>
          </p:cNvPr>
          <p:cNvSpPr>
            <a:spLocks noGrp="1"/>
          </p:cNvSpPr>
          <p:nvPr>
            <p:ph idx="1"/>
          </p:nvPr>
        </p:nvSpPr>
        <p:spPr>
          <a:xfrm>
            <a:off x="838199" y="1825625"/>
            <a:ext cx="10698019" cy="4741430"/>
          </a:xfrm>
        </p:spPr>
        <p:txBody>
          <a:bodyPr/>
          <a:lstStyle/>
          <a:p>
            <a:pPr algn="l"/>
            <a:r>
              <a:rPr lang="en-US" sz="1800" b="0" i="0" u="none" strike="noStrike" baseline="0" dirty="0">
                <a:latin typeface="Times New Roman" panose="02020603050405020304" pitchFamily="18" charset="0"/>
              </a:rPr>
              <a:t>This is the first app we have created using </a:t>
            </a:r>
            <a:r>
              <a:rPr lang="en-US" sz="1800" b="0" i="0" u="none" strike="noStrike" baseline="0" dirty="0" err="1">
                <a:latin typeface="Times New Roman" panose="02020603050405020304" pitchFamily="18" charset="0"/>
              </a:rPr>
              <a:t>VueJS</a:t>
            </a:r>
            <a:r>
              <a:rPr lang="en-US" sz="1800" b="0" i="0" u="none" strike="noStrike" baseline="0" dirty="0">
                <a:latin typeface="Times New Roman" panose="02020603050405020304" pitchFamily="18" charset="0"/>
              </a:rPr>
              <a:t>. As seen in the above code, we have included </a:t>
            </a:r>
            <a:r>
              <a:rPr lang="en-US" sz="1800" b="1" i="0" u="none" strike="noStrike" baseline="0" dirty="0">
                <a:latin typeface="Times New Roman" panose="02020603050405020304" pitchFamily="18" charset="0"/>
              </a:rPr>
              <a:t>vue.js </a:t>
            </a:r>
            <a:r>
              <a:rPr lang="en-US" sz="1800" b="0" i="0" u="none" strike="noStrike" baseline="0" dirty="0">
                <a:latin typeface="Times New Roman" panose="02020603050405020304" pitchFamily="18" charset="0"/>
              </a:rPr>
              <a:t>at the start of the .html file.</a:t>
            </a:r>
          </a:p>
          <a:p>
            <a:pPr marL="0" indent="0" algn="l">
              <a:buNone/>
            </a:pPr>
            <a:endParaRPr lang="en-US" dirty="0"/>
          </a:p>
          <a:p>
            <a:pPr marL="0" indent="0" algn="l">
              <a:buNone/>
            </a:pPr>
            <a:r>
              <a:rPr lang="en-US" sz="1800" b="0" i="0" u="none" strike="noStrike" baseline="0" dirty="0">
                <a:latin typeface="Times New Roman" panose="02020603050405020304" pitchFamily="18" charset="0"/>
              </a:rPr>
              <a:t>There is a div which is added in the body that prints </a:t>
            </a:r>
            <a:r>
              <a:rPr lang="en-US" sz="1800" b="1" i="0" u="none" strike="noStrike" baseline="0" dirty="0">
                <a:latin typeface="TimesNewRomanPS-BoldMT"/>
              </a:rPr>
              <a:t>“My first </a:t>
            </a:r>
            <a:r>
              <a:rPr lang="en-US" sz="1800" b="1" i="0" u="none" strike="noStrike" baseline="0" dirty="0" err="1">
                <a:latin typeface="TimesNewRomanPS-BoldMT"/>
              </a:rPr>
              <a:t>VueJS</a:t>
            </a:r>
            <a:r>
              <a:rPr lang="en-US" sz="1800" b="1" i="0" u="none" strike="noStrike" baseline="0" dirty="0">
                <a:latin typeface="TimesNewRomanPS-BoldMT"/>
              </a:rPr>
              <a:t> Task” </a:t>
            </a:r>
            <a:r>
              <a:rPr lang="en-US" sz="1800" b="0" i="0" u="none" strike="noStrike" baseline="0" dirty="0">
                <a:latin typeface="Times New Roman" panose="02020603050405020304" pitchFamily="18" charset="0"/>
              </a:rPr>
              <a:t>in the browser.</a:t>
            </a:r>
          </a:p>
          <a:p>
            <a:pPr marL="0" indent="0" algn="l">
              <a:buNone/>
            </a:pPr>
            <a:endParaRPr lang="en-US" sz="1800" dirty="0">
              <a:latin typeface="Times New Roman" panose="02020603050405020304" pitchFamily="18" charset="0"/>
            </a:endParaRPr>
          </a:p>
          <a:p>
            <a:pPr marL="0" indent="0" algn="l">
              <a:buNone/>
            </a:pPr>
            <a:endParaRPr lang="en-US" sz="1800" b="0" i="0" u="none" strike="noStrike" baseline="0" dirty="0">
              <a:latin typeface="Times New Roman" panose="02020603050405020304" pitchFamily="18" charset="0"/>
            </a:endParaRPr>
          </a:p>
          <a:p>
            <a:pPr marL="0" indent="0" algn="l">
              <a:buNone/>
            </a:pPr>
            <a:endParaRPr lang="en-US" sz="1800" dirty="0">
              <a:latin typeface="Times New Roman" panose="02020603050405020304" pitchFamily="18" charset="0"/>
            </a:endParaRPr>
          </a:p>
          <a:p>
            <a:pPr marL="0" indent="0" algn="l">
              <a:buNone/>
            </a:pPr>
            <a:endParaRPr lang="en-US" sz="1800" b="0" i="0" u="none" strike="noStrike" baseline="0" dirty="0">
              <a:latin typeface="Times New Roman" panose="02020603050405020304" pitchFamily="18" charset="0"/>
            </a:endParaRPr>
          </a:p>
          <a:p>
            <a:pPr algn="l"/>
            <a:r>
              <a:rPr lang="en-US" sz="1800" b="0" i="0" u="none" strike="noStrike" baseline="0" dirty="0">
                <a:latin typeface="Times New Roman" panose="02020603050405020304" pitchFamily="18" charset="0"/>
              </a:rPr>
              <a:t>We have also added a message in a interpolation, i.e. </a:t>
            </a:r>
            <a:r>
              <a:rPr lang="en-US" sz="1800" b="1" i="0" u="none" strike="noStrike" baseline="0" dirty="0">
                <a:latin typeface="Times New Roman" panose="02020603050405020304" pitchFamily="18" charset="0"/>
              </a:rPr>
              <a:t>{{}}</a:t>
            </a:r>
            <a:r>
              <a:rPr lang="en-US" sz="1800" b="0" i="0" u="none" strike="noStrike" baseline="0" dirty="0">
                <a:latin typeface="Times New Roman" panose="02020603050405020304" pitchFamily="18" charset="0"/>
              </a:rPr>
              <a:t>. This interacts with </a:t>
            </a:r>
            <a:r>
              <a:rPr lang="en-US" sz="1800" b="0" i="0" u="none" strike="noStrike" baseline="0" dirty="0" err="1">
                <a:latin typeface="Times New Roman" panose="02020603050405020304" pitchFamily="18" charset="0"/>
              </a:rPr>
              <a:t>VueJS</a:t>
            </a:r>
            <a:r>
              <a:rPr lang="en-US" sz="1800" b="0" i="0" u="none" strike="noStrike" baseline="0" dirty="0">
                <a:latin typeface="Times New Roman" panose="02020603050405020304" pitchFamily="18" charset="0"/>
              </a:rPr>
              <a:t> and prints the data in the browser. To get the value of the message in the </a:t>
            </a:r>
            <a:r>
              <a:rPr lang="en-US" sz="1800" b="0" i="0" u="none" strike="noStrike" baseline="0" dirty="0">
                <a:latin typeface="TimesNewRomanPSMT"/>
              </a:rPr>
              <a:t>DOM, we are creating an instance of </a:t>
            </a:r>
            <a:r>
              <a:rPr lang="en-US" sz="1800" b="0" i="0" u="none" strike="noStrike" baseline="0" dirty="0" err="1">
                <a:latin typeface="TimesNewRomanPSMT"/>
              </a:rPr>
              <a:t>vuejs</a:t>
            </a:r>
            <a:r>
              <a:rPr lang="en-US" sz="1800" b="0" i="0" u="none" strike="noStrike" baseline="0" dirty="0">
                <a:latin typeface="TimesNewRomanPSMT"/>
              </a:rPr>
              <a:t> as follows −</a:t>
            </a:r>
            <a:endParaRPr lang="en-US" sz="1800" b="0" i="0" u="none" strike="noStrike" baseline="0" dirty="0">
              <a:latin typeface="Times New Roman" panose="02020603050405020304" pitchFamily="18" charset="0"/>
            </a:endParaRPr>
          </a:p>
          <a:p>
            <a:pPr marL="0" indent="0" algn="l">
              <a:buNone/>
            </a:pPr>
            <a:endParaRPr lang="en-US" dirty="0"/>
          </a:p>
        </p:txBody>
      </p:sp>
      <p:pic>
        <p:nvPicPr>
          <p:cNvPr id="5" name="Picture 4">
            <a:extLst>
              <a:ext uri="{FF2B5EF4-FFF2-40B4-BE49-F238E27FC236}">
                <a16:creationId xmlns:a16="http://schemas.microsoft.com/office/drawing/2014/main" id="{A9538B3D-87A0-F181-B12D-31120BFE2D3C}"/>
              </a:ext>
            </a:extLst>
          </p:cNvPr>
          <p:cNvPicPr>
            <a:picLocks noChangeAspect="1"/>
          </p:cNvPicPr>
          <p:nvPr/>
        </p:nvPicPr>
        <p:blipFill>
          <a:blip r:embed="rId2"/>
          <a:stretch>
            <a:fillRect/>
          </a:stretch>
        </p:blipFill>
        <p:spPr>
          <a:xfrm>
            <a:off x="1376218" y="2326517"/>
            <a:ext cx="8885382" cy="523948"/>
          </a:xfrm>
          <a:prstGeom prst="rect">
            <a:avLst/>
          </a:prstGeom>
        </p:spPr>
      </p:pic>
      <p:pic>
        <p:nvPicPr>
          <p:cNvPr id="7" name="Picture 6">
            <a:extLst>
              <a:ext uri="{FF2B5EF4-FFF2-40B4-BE49-F238E27FC236}">
                <a16:creationId xmlns:a16="http://schemas.microsoft.com/office/drawing/2014/main" id="{F8F3F8A8-B258-D1FF-012B-16CB373A7F77}"/>
              </a:ext>
            </a:extLst>
          </p:cNvPr>
          <p:cNvPicPr>
            <a:picLocks noChangeAspect="1"/>
          </p:cNvPicPr>
          <p:nvPr/>
        </p:nvPicPr>
        <p:blipFill>
          <a:blip r:embed="rId3"/>
          <a:stretch>
            <a:fillRect/>
          </a:stretch>
        </p:blipFill>
        <p:spPr>
          <a:xfrm>
            <a:off x="1228434" y="3429000"/>
            <a:ext cx="8885383" cy="1181265"/>
          </a:xfrm>
          <a:prstGeom prst="rect">
            <a:avLst/>
          </a:prstGeom>
        </p:spPr>
      </p:pic>
    </p:spTree>
    <p:extLst>
      <p:ext uri="{BB962C8B-B14F-4D97-AF65-F5344CB8AC3E}">
        <p14:creationId xmlns:p14="http://schemas.microsoft.com/office/powerpoint/2010/main" val="3571205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D42EFC-FACD-0B78-FAC5-8C054C3F8875}"/>
              </a:ext>
            </a:extLst>
          </p:cNvPr>
          <p:cNvPicPr>
            <a:picLocks noGrp="1" noChangeAspect="1"/>
          </p:cNvPicPr>
          <p:nvPr>
            <p:ph idx="1"/>
          </p:nvPr>
        </p:nvPicPr>
        <p:blipFill>
          <a:blip r:embed="rId2"/>
          <a:stretch>
            <a:fillRect/>
          </a:stretch>
        </p:blipFill>
        <p:spPr>
          <a:xfrm>
            <a:off x="997527" y="523803"/>
            <a:ext cx="9550400" cy="2248149"/>
          </a:xfrm>
        </p:spPr>
      </p:pic>
    </p:spTree>
    <p:extLst>
      <p:ext uri="{BB962C8B-B14F-4D97-AF65-F5344CB8AC3E}">
        <p14:creationId xmlns:p14="http://schemas.microsoft.com/office/powerpoint/2010/main" val="2098892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D45AA-D449-A417-9B8A-C7C2CC8C23A6}"/>
              </a:ext>
            </a:extLst>
          </p:cNvPr>
          <p:cNvSpPr>
            <a:spLocks noGrp="1"/>
          </p:cNvSpPr>
          <p:nvPr>
            <p:ph type="title"/>
          </p:nvPr>
        </p:nvSpPr>
        <p:spPr>
          <a:xfrm>
            <a:off x="960582" y="281998"/>
            <a:ext cx="10393218" cy="955675"/>
          </a:xfrm>
        </p:spPr>
        <p:txBody>
          <a:bodyPr>
            <a:normAutofit fontScale="90000"/>
          </a:bodyPr>
          <a:lstStyle/>
          <a:p>
            <a:r>
              <a:rPr lang="en-US" sz="2800" b="1" i="0" u="none" strike="noStrike" baseline="0" dirty="0">
                <a:solidFill>
                  <a:srgbClr val="000000"/>
                </a:solidFill>
                <a:latin typeface="Times New Roman" panose="02020603050405020304" pitchFamily="18" charset="0"/>
              </a:rPr>
              <a:t>INSTALLATION OF NODEJS</a:t>
            </a:r>
            <a:br>
              <a:rPr lang="en-US" sz="4400" b="1" i="0" u="none" strike="noStrike" baseline="0" dirty="0">
                <a:solidFill>
                  <a:srgbClr val="000000"/>
                </a:solidFill>
                <a:latin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BDD9E64-C2C9-4462-5E17-02954F39B392}"/>
              </a:ext>
            </a:extLst>
          </p:cNvPr>
          <p:cNvSpPr>
            <a:spLocks noGrp="1"/>
          </p:cNvSpPr>
          <p:nvPr>
            <p:ph idx="1"/>
          </p:nvPr>
        </p:nvSpPr>
        <p:spPr>
          <a:xfrm>
            <a:off x="674255" y="660400"/>
            <a:ext cx="10679546" cy="5915602"/>
          </a:xfrm>
        </p:spPr>
        <p:txBody>
          <a:bodyPr>
            <a:normAutofit/>
          </a:bodyPr>
          <a:lstStyle/>
          <a:p>
            <a:pPr marL="0" indent="0" algn="l">
              <a:buNone/>
            </a:pPr>
            <a:r>
              <a:rPr lang="en-US" sz="2400" b="0" i="0" u="none" strike="noStrike" baseline="0" dirty="0">
                <a:solidFill>
                  <a:srgbClr val="000000"/>
                </a:solidFill>
                <a:latin typeface="Times New Roman" panose="02020603050405020304" pitchFamily="18" charset="0"/>
              </a:rPr>
              <a:t>Node.js can be installed in different ways. This post highlights the most common and convenient ones. Official packages for all the major platforms are available at </a:t>
            </a:r>
            <a:r>
              <a:rPr lang="en-US" sz="2400" b="0" i="0" u="none" strike="noStrike" baseline="0" dirty="0">
                <a:solidFill>
                  <a:srgbClr val="4472C5"/>
                </a:solidFill>
                <a:latin typeface="Times New Roman" panose="02020603050405020304" pitchFamily="18" charset="0"/>
                <a:hlinkClick r:id="rId2"/>
              </a:rPr>
              <a:t>https://nodejs.dev/download/</a:t>
            </a:r>
            <a:r>
              <a:rPr lang="en-US" sz="2400" b="0" i="0" u="none" strike="noStrike" baseline="0" dirty="0">
                <a:solidFill>
                  <a:srgbClr val="4472C5"/>
                </a:solidFill>
                <a:latin typeface="Times New Roman" panose="02020603050405020304" pitchFamily="18" charset="0"/>
              </a:rPr>
              <a:t>.</a:t>
            </a:r>
          </a:p>
          <a:p>
            <a:pPr marL="0" indent="0" algn="l">
              <a:buNone/>
            </a:pPr>
            <a:r>
              <a:rPr lang="en-US" sz="2400" dirty="0">
                <a:solidFill>
                  <a:srgbClr val="000000"/>
                </a:solidFill>
                <a:latin typeface="Times New Roman" panose="02020603050405020304" pitchFamily="18" charset="0"/>
              </a:rPr>
              <a:t>In any case, when Node.js is installed you'll have access to the node executable program in the command line. </a:t>
            </a:r>
            <a:r>
              <a:rPr lang="en-US" sz="2400" b="1" dirty="0">
                <a:solidFill>
                  <a:srgbClr val="000000"/>
                </a:solidFill>
                <a:latin typeface="Times New Roman" panose="02020603050405020304" pitchFamily="18" charset="0"/>
              </a:rPr>
              <a:t>Verify Installation</a:t>
            </a:r>
          </a:p>
          <a:p>
            <a:pPr marL="0" indent="0" algn="l">
              <a:buNone/>
            </a:pPr>
            <a:r>
              <a:rPr lang="en-US" sz="2400" dirty="0">
                <a:solidFill>
                  <a:srgbClr val="000000"/>
                </a:solidFill>
                <a:latin typeface="Times New Roman" panose="02020603050405020304" pitchFamily="18" charset="0"/>
              </a:rPr>
              <a:t>Once you install Node.js on your computer, you can verify it by opening the command prompt and typing </a:t>
            </a:r>
            <a:r>
              <a:rPr lang="en-US" sz="2400" b="1" dirty="0">
                <a:solidFill>
                  <a:srgbClr val="000000"/>
                </a:solidFill>
                <a:latin typeface="Times New Roman" panose="02020603050405020304" pitchFamily="18" charset="0"/>
              </a:rPr>
              <a:t>node -v. </a:t>
            </a:r>
            <a:r>
              <a:rPr lang="en-US" sz="2400" dirty="0">
                <a:solidFill>
                  <a:srgbClr val="000000"/>
                </a:solidFill>
                <a:latin typeface="Times New Roman" panose="02020603050405020304" pitchFamily="18" charset="0"/>
              </a:rPr>
              <a:t>If Node.js is installed successfully then it will display the version of the Node.js installed on your machine, as shown below.</a:t>
            </a:r>
          </a:p>
          <a:p>
            <a:pPr marL="0" indent="0" algn="l">
              <a:buNone/>
            </a:pPr>
            <a:endParaRPr lang="en-US" sz="2400" dirty="0">
              <a:solidFill>
                <a:srgbClr val="00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CB1C6598-A078-6E82-F525-691A0FCA4E51}"/>
              </a:ext>
            </a:extLst>
          </p:cNvPr>
          <p:cNvPicPr>
            <a:picLocks noChangeAspect="1"/>
          </p:cNvPicPr>
          <p:nvPr/>
        </p:nvPicPr>
        <p:blipFill>
          <a:blip r:embed="rId3"/>
          <a:stretch>
            <a:fillRect/>
          </a:stretch>
        </p:blipFill>
        <p:spPr>
          <a:xfrm>
            <a:off x="838199" y="3833090"/>
            <a:ext cx="9910618" cy="1616364"/>
          </a:xfrm>
          <a:prstGeom prst="rect">
            <a:avLst/>
          </a:prstGeom>
        </p:spPr>
      </p:pic>
    </p:spTree>
    <p:extLst>
      <p:ext uri="{BB962C8B-B14F-4D97-AF65-F5344CB8AC3E}">
        <p14:creationId xmlns:p14="http://schemas.microsoft.com/office/powerpoint/2010/main" val="2433092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EED72-CE75-0945-BB38-369D1ED09E09}"/>
              </a:ext>
            </a:extLst>
          </p:cNvPr>
          <p:cNvSpPr>
            <a:spLocks noGrp="1"/>
          </p:cNvSpPr>
          <p:nvPr>
            <p:ph type="title"/>
          </p:nvPr>
        </p:nvSpPr>
        <p:spPr>
          <a:xfrm>
            <a:off x="757382" y="365126"/>
            <a:ext cx="10596418" cy="992620"/>
          </a:xfrm>
        </p:spPr>
        <p:txBody>
          <a:bodyPr>
            <a:normAutofit fontScale="90000"/>
          </a:bodyPr>
          <a:lstStyle/>
          <a:p>
            <a:r>
              <a:rPr lang="en-US" sz="4400" b="1" i="0" u="none" strike="noStrike" baseline="0" dirty="0">
                <a:latin typeface="Times New Roman" panose="02020603050405020304" pitchFamily="18" charset="0"/>
              </a:rPr>
              <a:t>Sub-commands</a:t>
            </a:r>
            <a:br>
              <a:rPr lang="en-US" sz="4400" b="0" i="0" u="none" strike="noStrike" baseline="0" dirty="0">
                <a:latin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BADF98C-B5D1-395F-2FAB-61A594A0181E}"/>
              </a:ext>
            </a:extLst>
          </p:cNvPr>
          <p:cNvSpPr>
            <a:spLocks noGrp="1"/>
          </p:cNvSpPr>
          <p:nvPr>
            <p:ph idx="1"/>
          </p:nvPr>
        </p:nvSpPr>
        <p:spPr>
          <a:xfrm>
            <a:off x="625763" y="1468581"/>
            <a:ext cx="10596419" cy="4793673"/>
          </a:xfrm>
        </p:spPr>
        <p:txBody>
          <a:bodyPr>
            <a:normAutofit/>
          </a:bodyPr>
          <a:lstStyle/>
          <a:p>
            <a:pPr marL="0" indent="0" algn="l">
              <a:buNone/>
            </a:pPr>
            <a:r>
              <a:rPr lang="en-US" sz="2400" b="0" i="0" u="none" strike="noStrike" baseline="0" dirty="0">
                <a:latin typeface="Times New Roman" panose="02020603050405020304" pitchFamily="18" charset="0"/>
              </a:rPr>
              <a:t>Config supports the following sub-commands:</a:t>
            </a:r>
          </a:p>
          <a:p>
            <a:pPr marL="0" indent="0" algn="l">
              <a:buNone/>
            </a:pPr>
            <a:r>
              <a:rPr lang="en-US" sz="2400" b="1" i="1" u="none" strike="noStrike" baseline="0" dirty="0">
                <a:latin typeface="Times New Roman" panose="02020603050405020304" pitchFamily="18" charset="0"/>
              </a:rPr>
              <a:t>Set</a:t>
            </a:r>
          </a:p>
          <a:p>
            <a:pPr marL="0" indent="0" algn="l">
              <a:buNone/>
            </a:pPr>
            <a:endParaRPr lang="en-US" sz="2400" b="1" dirty="0"/>
          </a:p>
          <a:p>
            <a:pPr marL="0" indent="0" algn="l">
              <a:buNone/>
            </a:pPr>
            <a:endParaRPr lang="en-US" sz="2400" b="1" dirty="0"/>
          </a:p>
          <a:p>
            <a:pPr marL="0" indent="0" algn="l">
              <a:buNone/>
            </a:pPr>
            <a:endParaRPr lang="en-US" sz="2400" dirty="0">
              <a:latin typeface="Times New Roman" panose="02020603050405020304" pitchFamily="18" charset="0"/>
            </a:endParaRPr>
          </a:p>
          <a:p>
            <a:pPr marL="0" indent="0" algn="l">
              <a:buNone/>
            </a:pPr>
            <a:r>
              <a:rPr lang="en-US" sz="2400" dirty="0">
                <a:latin typeface="Times New Roman" panose="02020603050405020304" pitchFamily="18" charset="0"/>
              </a:rPr>
              <a:t>Sets each of the config keys to the value provided. If the value is omitted, then it sets it to an empty string.</a:t>
            </a:r>
          </a:p>
          <a:p>
            <a:pPr marL="0" indent="0" algn="l">
              <a:buNone/>
            </a:pPr>
            <a:r>
              <a:rPr lang="en-US" sz="2400" b="1" dirty="0">
                <a:latin typeface="Times New Roman" panose="02020603050405020304" pitchFamily="18" charset="0"/>
              </a:rPr>
              <a:t>Note: </a:t>
            </a:r>
            <a:r>
              <a:rPr lang="en-US" sz="2400" dirty="0">
                <a:latin typeface="Times New Roman" panose="02020603050405020304" pitchFamily="18" charset="0"/>
              </a:rPr>
              <a:t>for backward compatibility, the </a:t>
            </a:r>
            <a:r>
              <a:rPr lang="en-US" sz="2400" dirty="0" err="1">
                <a:latin typeface="Times New Roman" panose="02020603050405020304" pitchFamily="18" charset="0"/>
              </a:rPr>
              <a:t>npm</a:t>
            </a:r>
            <a:r>
              <a:rPr lang="en-US" sz="2400" dirty="0">
                <a:latin typeface="Times New Roman" panose="02020603050405020304" pitchFamily="18" charset="0"/>
              </a:rPr>
              <a:t> config set key value is supported as an alias for the </a:t>
            </a:r>
            <a:r>
              <a:rPr lang="en-US" sz="2400" b="1" dirty="0" err="1">
                <a:latin typeface="Times New Roman" panose="02020603050405020304" pitchFamily="18" charset="0"/>
              </a:rPr>
              <a:t>npm</a:t>
            </a:r>
            <a:r>
              <a:rPr lang="en-US" sz="2400" b="1" dirty="0">
                <a:latin typeface="Times New Roman" panose="02020603050405020304" pitchFamily="18" charset="0"/>
              </a:rPr>
              <a:t> config set key=value.</a:t>
            </a:r>
          </a:p>
          <a:p>
            <a:pPr marL="0" indent="0" algn="l">
              <a:buNone/>
            </a:pPr>
            <a:endParaRPr lang="en-US" sz="2400" b="1" dirty="0"/>
          </a:p>
        </p:txBody>
      </p:sp>
      <p:pic>
        <p:nvPicPr>
          <p:cNvPr id="5" name="Picture 4">
            <a:extLst>
              <a:ext uri="{FF2B5EF4-FFF2-40B4-BE49-F238E27FC236}">
                <a16:creationId xmlns:a16="http://schemas.microsoft.com/office/drawing/2014/main" id="{3F4674CB-51D6-A6BE-2B73-FDE49CCD9652}"/>
              </a:ext>
            </a:extLst>
          </p:cNvPr>
          <p:cNvPicPr>
            <a:picLocks noChangeAspect="1"/>
          </p:cNvPicPr>
          <p:nvPr/>
        </p:nvPicPr>
        <p:blipFill>
          <a:blip r:embed="rId2"/>
          <a:stretch>
            <a:fillRect/>
          </a:stretch>
        </p:blipFill>
        <p:spPr>
          <a:xfrm>
            <a:off x="1069108" y="2333472"/>
            <a:ext cx="5896798" cy="1095528"/>
          </a:xfrm>
          <a:prstGeom prst="rect">
            <a:avLst/>
          </a:prstGeom>
        </p:spPr>
      </p:pic>
    </p:spTree>
    <p:extLst>
      <p:ext uri="{BB962C8B-B14F-4D97-AF65-F5344CB8AC3E}">
        <p14:creationId xmlns:p14="http://schemas.microsoft.com/office/powerpoint/2010/main" val="2155461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31879-0C69-F30D-BA3A-2E02FF63F7A0}"/>
              </a:ext>
            </a:extLst>
          </p:cNvPr>
          <p:cNvSpPr>
            <a:spLocks noGrp="1"/>
          </p:cNvSpPr>
          <p:nvPr>
            <p:ph type="title"/>
          </p:nvPr>
        </p:nvSpPr>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60F7A818-BCC1-9171-66C4-527BC652DB3B}"/>
              </a:ext>
            </a:extLst>
          </p:cNvPr>
          <p:cNvSpPr>
            <a:spLocks noGrp="1"/>
          </p:cNvSpPr>
          <p:nvPr>
            <p:ph idx="1"/>
          </p:nvPr>
        </p:nvSpPr>
        <p:spPr>
          <a:xfrm>
            <a:off x="838200" y="1496291"/>
            <a:ext cx="10448636" cy="4876800"/>
          </a:xfrm>
        </p:spPr>
        <p:txBody>
          <a:bodyPr>
            <a:normAutofit/>
          </a:bodyPr>
          <a:lstStyle/>
          <a:p>
            <a:pPr marL="0" indent="0">
              <a:buNone/>
            </a:pPr>
            <a:r>
              <a:rPr lang="en-US" sz="2400" b="1" i="1" dirty="0">
                <a:latin typeface="Times New Roman" panose="02020603050405020304" pitchFamily="18" charset="0"/>
              </a:rPr>
              <a:t>g</a:t>
            </a:r>
            <a:r>
              <a:rPr lang="en-US" sz="2400" b="1" i="1" u="none" strike="noStrike" baseline="0" dirty="0">
                <a:latin typeface="Times New Roman" panose="02020603050405020304" pitchFamily="18" charset="0"/>
              </a:rPr>
              <a:t>et</a:t>
            </a:r>
          </a:p>
          <a:p>
            <a:pPr marL="0" indent="0">
              <a:buNone/>
            </a:pPr>
            <a:endParaRPr lang="en-US" sz="2400" b="1" i="1" dirty="0">
              <a:latin typeface="Times New Roman" panose="02020603050405020304" pitchFamily="18" charset="0"/>
            </a:endParaRPr>
          </a:p>
          <a:p>
            <a:pPr marL="0" indent="0">
              <a:buNone/>
            </a:pPr>
            <a:endParaRPr lang="en-US" sz="2400" b="1" i="1" u="none" strike="noStrike" baseline="0" dirty="0">
              <a:latin typeface="Times New Roman" panose="02020603050405020304" pitchFamily="18" charset="0"/>
            </a:endParaRPr>
          </a:p>
          <a:p>
            <a:pPr marL="0" indent="0">
              <a:buNone/>
            </a:pPr>
            <a:endParaRPr lang="en-US" sz="2400" b="1" i="1" u="none" strike="noStrike" baseline="0" dirty="0">
              <a:latin typeface="Times New Roman" panose="02020603050405020304" pitchFamily="18" charset="0"/>
            </a:endParaRPr>
          </a:p>
          <a:p>
            <a:pPr marL="0" indent="0" algn="l">
              <a:buNone/>
            </a:pPr>
            <a:r>
              <a:rPr lang="en-US" sz="2400" b="0" i="0" u="none" strike="noStrike" baseline="0" dirty="0">
                <a:latin typeface="Times New Roman" panose="02020603050405020304" pitchFamily="18" charset="0"/>
              </a:rPr>
              <a:t>Echo the config value(s) to </a:t>
            </a:r>
            <a:r>
              <a:rPr lang="en-US" sz="2400" b="0" i="0" u="none" strike="noStrike" baseline="0" dirty="0" err="1">
                <a:latin typeface="Times New Roman" panose="02020603050405020304" pitchFamily="18" charset="0"/>
              </a:rPr>
              <a:t>stdout</a:t>
            </a:r>
            <a:r>
              <a:rPr lang="en-US" sz="2400" b="0" i="0" u="none" strike="noStrike" baseline="0" dirty="0">
                <a:latin typeface="Times New Roman" panose="02020603050405020304" pitchFamily="18" charset="0"/>
              </a:rPr>
              <a:t>.</a:t>
            </a:r>
          </a:p>
          <a:p>
            <a:pPr marL="0" indent="0" algn="l">
              <a:buNone/>
            </a:pPr>
            <a:r>
              <a:rPr lang="en-US" sz="2400" b="0" i="0" u="none" strike="noStrike" baseline="0" dirty="0">
                <a:latin typeface="Times New Roman" panose="02020603050405020304" pitchFamily="18" charset="0"/>
              </a:rPr>
              <a:t>If multiple keys are provided, then the values will be prefixed with the key names. If no keys are provided, then this command behaves the same as the </a:t>
            </a:r>
            <a:r>
              <a:rPr lang="en-US" sz="2400" b="0" i="0" u="none" strike="noStrike" baseline="0" dirty="0" err="1">
                <a:latin typeface="Times New Roman" panose="02020603050405020304" pitchFamily="18" charset="0"/>
              </a:rPr>
              <a:t>npm</a:t>
            </a:r>
            <a:r>
              <a:rPr lang="en-US" sz="2400" b="0" i="0" u="none" strike="noStrike" baseline="0" dirty="0">
                <a:latin typeface="Times New Roman" panose="02020603050405020304" pitchFamily="18" charset="0"/>
              </a:rPr>
              <a:t> config list.</a:t>
            </a:r>
            <a:endParaRPr lang="en-US" sz="2400" b="1" i="1" u="none" strike="noStrike" baseline="0" dirty="0">
              <a:latin typeface="Times New Roman" panose="02020603050405020304" pitchFamily="18" charset="0"/>
            </a:endParaRPr>
          </a:p>
          <a:p>
            <a:pPr marL="0" indent="0">
              <a:buNone/>
            </a:pPr>
            <a:endParaRPr lang="en-US" sz="2400" b="1" dirty="0"/>
          </a:p>
        </p:txBody>
      </p:sp>
      <p:pic>
        <p:nvPicPr>
          <p:cNvPr id="5" name="Picture 4">
            <a:extLst>
              <a:ext uri="{FF2B5EF4-FFF2-40B4-BE49-F238E27FC236}">
                <a16:creationId xmlns:a16="http://schemas.microsoft.com/office/drawing/2014/main" id="{8376549C-7386-7E8F-3A02-9C8CF7435302}"/>
              </a:ext>
            </a:extLst>
          </p:cNvPr>
          <p:cNvPicPr>
            <a:picLocks noChangeAspect="1"/>
          </p:cNvPicPr>
          <p:nvPr/>
        </p:nvPicPr>
        <p:blipFill>
          <a:blip r:embed="rId2"/>
          <a:stretch>
            <a:fillRect/>
          </a:stretch>
        </p:blipFill>
        <p:spPr>
          <a:xfrm>
            <a:off x="1186306" y="2145350"/>
            <a:ext cx="3982006" cy="1200318"/>
          </a:xfrm>
          <a:prstGeom prst="rect">
            <a:avLst/>
          </a:prstGeom>
        </p:spPr>
      </p:pic>
    </p:spTree>
    <p:extLst>
      <p:ext uri="{BB962C8B-B14F-4D97-AF65-F5344CB8AC3E}">
        <p14:creationId xmlns:p14="http://schemas.microsoft.com/office/powerpoint/2010/main" val="2316808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180FD-D408-44C5-A5BD-4C54F7043AFB}"/>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495510AF-C137-B028-AEDD-D370165CEBF2}"/>
              </a:ext>
            </a:extLst>
          </p:cNvPr>
          <p:cNvSpPr>
            <a:spLocks noGrp="1"/>
          </p:cNvSpPr>
          <p:nvPr>
            <p:ph idx="1"/>
          </p:nvPr>
        </p:nvSpPr>
        <p:spPr>
          <a:xfrm>
            <a:off x="1069109" y="1626467"/>
            <a:ext cx="10515600" cy="4667250"/>
          </a:xfrm>
        </p:spPr>
        <p:txBody>
          <a:bodyPr>
            <a:normAutofit/>
          </a:bodyPr>
          <a:lstStyle/>
          <a:p>
            <a:pPr marL="0" indent="0">
              <a:buNone/>
            </a:pPr>
            <a:r>
              <a:rPr lang="en-US" sz="2400" b="1" i="1" dirty="0">
                <a:latin typeface="Times New Roman" panose="02020603050405020304" pitchFamily="18" charset="0"/>
                <a:cs typeface="Times New Roman" panose="02020603050405020304" pitchFamily="18" charset="0"/>
              </a:rPr>
              <a:t>List</a:t>
            </a:r>
          </a:p>
          <a:p>
            <a:pPr marL="0" indent="0">
              <a:buNone/>
            </a:pPr>
            <a:endParaRPr lang="en-US" sz="2400" b="1" i="1" dirty="0">
              <a:latin typeface="Times New Roman" panose="02020603050405020304" pitchFamily="18" charset="0"/>
              <a:cs typeface="Times New Roman" panose="02020603050405020304" pitchFamily="18" charset="0"/>
            </a:endParaRPr>
          </a:p>
          <a:p>
            <a:pPr marL="0" indent="0">
              <a:buNone/>
            </a:pPr>
            <a:endParaRPr lang="en-US" sz="2400" b="1" i="1" dirty="0">
              <a:latin typeface="Times New Roman" panose="02020603050405020304" pitchFamily="18" charset="0"/>
              <a:cs typeface="Times New Roman" panose="02020603050405020304" pitchFamily="18" charset="0"/>
            </a:endParaRPr>
          </a:p>
          <a:p>
            <a:pPr marL="0" indent="0" algn="l">
              <a:buNone/>
            </a:pPr>
            <a:endParaRPr lang="en-US" sz="1800" dirty="0">
              <a:latin typeface="BookmanOldStyle"/>
            </a:endParaRP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Show all the config settings. Use - l to also show defaults. Use -- </a:t>
            </a:r>
            <a:r>
              <a:rPr lang="en-US" sz="2400" b="0" i="0" u="none" strike="noStrike" baseline="0" dirty="0" err="1">
                <a:latin typeface="Times New Roman" panose="02020603050405020304" pitchFamily="18" charset="0"/>
                <a:cs typeface="Times New Roman" panose="02020603050405020304" pitchFamily="18" charset="0"/>
              </a:rPr>
              <a:t>json</a:t>
            </a:r>
            <a:r>
              <a:rPr lang="en-US" sz="2400" b="0" i="0" u="none" strike="noStrike" baseline="0" dirty="0">
                <a:latin typeface="Times New Roman" panose="02020603050405020304" pitchFamily="18" charset="0"/>
                <a:cs typeface="Times New Roman" panose="02020603050405020304" pitchFamily="18" charset="0"/>
              </a:rPr>
              <a:t> to show the settings in </a:t>
            </a:r>
            <a:r>
              <a:rPr lang="en-US" sz="2400" b="0" i="0" u="none" strike="noStrike" baseline="0" dirty="0" err="1">
                <a:latin typeface="Times New Roman" panose="02020603050405020304" pitchFamily="18" charset="0"/>
                <a:cs typeface="Times New Roman" panose="02020603050405020304" pitchFamily="18" charset="0"/>
              </a:rPr>
              <a:t>json</a:t>
            </a:r>
            <a:r>
              <a:rPr lang="en-US" sz="2400" b="0" i="0" u="none" strike="noStrike" baseline="0" dirty="0">
                <a:latin typeface="Times New Roman" panose="02020603050405020304" pitchFamily="18" charset="0"/>
                <a:cs typeface="Times New Roman" panose="02020603050405020304" pitchFamily="18" charset="0"/>
              </a:rPr>
              <a:t> format.</a:t>
            </a:r>
            <a:endParaRPr lang="en-US" sz="2400" i="1" dirty="0">
              <a:latin typeface="Times New Roman" panose="02020603050405020304" pitchFamily="18" charset="0"/>
              <a:cs typeface="Times New Roman" panose="02020603050405020304" pitchFamily="18" charset="0"/>
            </a:endParaRPr>
          </a:p>
          <a:p>
            <a:pPr marL="0" indent="0">
              <a:buNone/>
            </a:pPr>
            <a:r>
              <a:rPr lang="en-US" b="1" i="1" u="none" strike="noStrike" baseline="0" dirty="0">
                <a:latin typeface="Times New Roman" panose="02020603050405020304" pitchFamily="18" charset="0"/>
              </a:rPr>
              <a:t>Delete</a:t>
            </a:r>
          </a:p>
          <a:p>
            <a:pPr marL="0" indent="0">
              <a:buNone/>
            </a:pPr>
            <a:endParaRPr lang="en-US" b="1" i="1" dirty="0">
              <a:latin typeface="Times New Roman" panose="02020603050405020304" pitchFamily="18" charset="0"/>
            </a:endParaRPr>
          </a:p>
          <a:p>
            <a:pPr marL="0" indent="0">
              <a:buNone/>
            </a:pPr>
            <a:r>
              <a:rPr lang="en-US" sz="1800" b="0" i="0" u="none" strike="noStrike" baseline="0" dirty="0">
                <a:latin typeface="Times New Roman" panose="02020603050405020304" pitchFamily="18" charset="0"/>
              </a:rPr>
              <a:t>Deletes the specified keys from all configuration files.</a:t>
            </a:r>
            <a:endParaRPr lang="en-US" b="1" i="1" u="none" strike="noStrike" baseline="0" dirty="0">
              <a:latin typeface="Times New Roman" panose="02020603050405020304" pitchFamily="18" charset="0"/>
            </a:endParaRPr>
          </a:p>
          <a:p>
            <a:pPr marL="0" indent="0">
              <a:buNone/>
            </a:pPr>
            <a:endParaRPr lang="en-US" b="1" i="1" dirty="0">
              <a:latin typeface="Times New Roman" panose="02020603050405020304" pitchFamily="18" charset="0"/>
            </a:endParaRPr>
          </a:p>
          <a:p>
            <a:pPr marL="0" indent="0">
              <a:buNone/>
            </a:pPr>
            <a:endParaRPr lang="en-US" b="1" i="1" u="none" strike="noStrike" baseline="0" dirty="0">
              <a:latin typeface="Times New Roman" panose="02020603050405020304" pitchFamily="18" charset="0"/>
            </a:endParaRPr>
          </a:p>
          <a:p>
            <a:pPr marL="0" indent="0">
              <a:buNone/>
            </a:pPr>
            <a:endParaRPr lang="en-US" b="1" i="1" u="none" strike="noStrike" baseline="0" dirty="0">
              <a:latin typeface="Times New Roman" panose="02020603050405020304" pitchFamily="18" charset="0"/>
            </a:endParaRPr>
          </a:p>
          <a:p>
            <a:pPr marL="0" indent="0">
              <a:buNone/>
            </a:pPr>
            <a:endParaRPr lang="en-US" b="1" i="1" dirty="0">
              <a:latin typeface="Times New Roman" panose="02020603050405020304" pitchFamily="18" charset="0"/>
              <a:cs typeface="Times New Roman" panose="02020603050405020304" pitchFamily="18" charset="0"/>
            </a:endParaRPr>
          </a:p>
          <a:p>
            <a:pPr marL="0" indent="0">
              <a:buNone/>
            </a:pPr>
            <a:endParaRPr lang="en-US" sz="2400" b="1" i="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75326C6-4565-D299-70E0-35A21FF55764}"/>
              </a:ext>
            </a:extLst>
          </p:cNvPr>
          <p:cNvPicPr>
            <a:picLocks noChangeAspect="1"/>
          </p:cNvPicPr>
          <p:nvPr/>
        </p:nvPicPr>
        <p:blipFill>
          <a:blip r:embed="rId2"/>
          <a:stretch>
            <a:fillRect/>
          </a:stretch>
        </p:blipFill>
        <p:spPr>
          <a:xfrm>
            <a:off x="1625600" y="1912617"/>
            <a:ext cx="8423564" cy="1208688"/>
          </a:xfrm>
          <a:prstGeom prst="rect">
            <a:avLst/>
          </a:prstGeom>
        </p:spPr>
      </p:pic>
      <p:pic>
        <p:nvPicPr>
          <p:cNvPr id="7" name="Picture 6">
            <a:extLst>
              <a:ext uri="{FF2B5EF4-FFF2-40B4-BE49-F238E27FC236}">
                <a16:creationId xmlns:a16="http://schemas.microsoft.com/office/drawing/2014/main" id="{5BFB4FF0-917B-53E8-C9DE-C3801B44FBBD}"/>
              </a:ext>
            </a:extLst>
          </p:cNvPr>
          <p:cNvPicPr>
            <a:picLocks noChangeAspect="1"/>
          </p:cNvPicPr>
          <p:nvPr/>
        </p:nvPicPr>
        <p:blipFill>
          <a:blip r:embed="rId3"/>
          <a:stretch>
            <a:fillRect/>
          </a:stretch>
        </p:blipFill>
        <p:spPr>
          <a:xfrm>
            <a:off x="2187020" y="4231922"/>
            <a:ext cx="5896798" cy="800212"/>
          </a:xfrm>
          <a:prstGeom prst="rect">
            <a:avLst/>
          </a:prstGeom>
        </p:spPr>
      </p:pic>
    </p:spTree>
    <p:extLst>
      <p:ext uri="{BB962C8B-B14F-4D97-AF65-F5344CB8AC3E}">
        <p14:creationId xmlns:p14="http://schemas.microsoft.com/office/powerpoint/2010/main" val="90188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4835A-2D36-AFC1-0949-0D3DBC5E3319}"/>
              </a:ext>
            </a:extLst>
          </p:cNvPr>
          <p:cNvSpPr>
            <a:spLocks noGrp="1"/>
          </p:cNvSpPr>
          <p:nvPr>
            <p:ph type="title"/>
          </p:nvPr>
        </p:nvSpPr>
        <p:spPr>
          <a:xfrm>
            <a:off x="838200" y="365126"/>
            <a:ext cx="10515600" cy="1084984"/>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81C3EE76-9AC7-9341-7890-995B147A97F6}"/>
              </a:ext>
            </a:extLst>
          </p:cNvPr>
          <p:cNvSpPr>
            <a:spLocks noGrp="1"/>
          </p:cNvSpPr>
          <p:nvPr>
            <p:ph idx="1"/>
          </p:nvPr>
        </p:nvSpPr>
        <p:spPr>
          <a:xfrm>
            <a:off x="909781" y="1308388"/>
            <a:ext cx="10871200" cy="4445867"/>
          </a:xfrm>
        </p:spPr>
        <p:txBody>
          <a:bodyPr/>
          <a:lstStyle/>
          <a:p>
            <a:pPr marL="0" indent="0">
              <a:buNone/>
            </a:pPr>
            <a:r>
              <a:rPr lang="en-US" b="1" i="1" dirty="0">
                <a:latin typeface="Times New Roman" panose="02020603050405020304" pitchFamily="18" charset="0"/>
                <a:cs typeface="Times New Roman" panose="02020603050405020304" pitchFamily="18" charset="0"/>
              </a:rPr>
              <a:t>edit</a:t>
            </a:r>
          </a:p>
          <a:p>
            <a:pPr marL="0" indent="0">
              <a:buNone/>
            </a:pPr>
            <a:endParaRPr lang="en-US" b="1" i="1" dirty="0">
              <a:latin typeface="Times New Roman" panose="02020603050405020304" pitchFamily="18" charset="0"/>
              <a:cs typeface="Times New Roman" panose="02020603050405020304" pitchFamily="18" charset="0"/>
            </a:endParaRPr>
          </a:p>
          <a:p>
            <a:pPr marL="0" indent="0">
              <a:buNone/>
            </a:pPr>
            <a:endParaRPr lang="en-US" b="1" i="1" dirty="0">
              <a:latin typeface="Times New Roman" panose="02020603050405020304" pitchFamily="18" charset="0"/>
              <a:cs typeface="Times New Roman" panose="02020603050405020304" pitchFamily="18" charset="0"/>
            </a:endParaRPr>
          </a:p>
          <a:p>
            <a:pPr marL="0" indent="0">
              <a:buNone/>
            </a:pPr>
            <a:r>
              <a:rPr lang="en-US" sz="2400" b="0" i="0" u="none" strike="noStrike" baseline="0" dirty="0">
                <a:latin typeface="Times New Roman" panose="02020603050405020304" pitchFamily="18" charset="0"/>
              </a:rPr>
              <a:t>Opens the config file in an editor.</a:t>
            </a:r>
          </a:p>
          <a:p>
            <a:pPr marL="0" indent="0" algn="l">
              <a:buNone/>
            </a:pPr>
            <a:r>
              <a:rPr lang="en-US" sz="2400" b="1" i="1" u="none" strike="noStrike" baseline="0" dirty="0">
                <a:latin typeface="Times New Roman" panose="02020603050405020304" pitchFamily="18" charset="0"/>
              </a:rPr>
              <a:t>global</a:t>
            </a:r>
          </a:p>
          <a:p>
            <a:pPr marL="0" indent="0" algn="l">
              <a:buNone/>
            </a:pPr>
            <a:r>
              <a:rPr lang="en-US" sz="2400" b="0" i="0" u="none" strike="noStrike" baseline="0" dirty="0">
                <a:latin typeface="ArialMT"/>
              </a:rPr>
              <a:t>• </a:t>
            </a:r>
            <a:r>
              <a:rPr lang="en-US" sz="2400" b="0" i="0" u="none" strike="noStrike" baseline="0" dirty="0">
                <a:latin typeface="Times New Roman" panose="02020603050405020304" pitchFamily="18" charset="0"/>
              </a:rPr>
              <a:t>Default: false</a:t>
            </a:r>
          </a:p>
          <a:p>
            <a:pPr marL="0" indent="0" algn="l">
              <a:buNone/>
            </a:pPr>
            <a:r>
              <a:rPr lang="en-US" sz="2400" b="0" i="0" u="none" strike="noStrike" baseline="0" dirty="0">
                <a:latin typeface="ArialMT"/>
              </a:rPr>
              <a:t>• </a:t>
            </a:r>
            <a:r>
              <a:rPr lang="en-US" sz="2400" b="0" i="0" u="none" strike="noStrike" baseline="0" dirty="0">
                <a:latin typeface="Times New Roman" panose="02020603050405020304" pitchFamily="18" charset="0"/>
              </a:rPr>
              <a:t>Type: Boolean</a:t>
            </a:r>
          </a:p>
          <a:p>
            <a:pPr marL="0" indent="0" algn="l">
              <a:buNone/>
            </a:pPr>
            <a:r>
              <a:rPr lang="en-US" sz="2400" b="0" i="0" u="none" strike="noStrike" baseline="0" dirty="0">
                <a:latin typeface="Times New Roman" panose="02020603050405020304" pitchFamily="18" charset="0"/>
              </a:rPr>
              <a:t>Operates in "global" mode, so that packages are installed into the prefix folder instead of the current working directory.</a:t>
            </a:r>
            <a:endParaRPr lang="en-US" sz="2400" b="1" i="1" dirty="0">
              <a:latin typeface="Times New Roman" panose="02020603050405020304" pitchFamily="18" charset="0"/>
              <a:cs typeface="Times New Roman" panose="02020603050405020304" pitchFamily="18" charset="0"/>
            </a:endParaRPr>
          </a:p>
          <a:p>
            <a:pPr marL="0" indent="0">
              <a:buNone/>
            </a:pPr>
            <a:endParaRPr lang="en-US" b="1" i="1" dirty="0">
              <a:latin typeface="Times New Roman" panose="02020603050405020304" pitchFamily="18" charset="0"/>
              <a:cs typeface="Times New Roman" panose="02020603050405020304" pitchFamily="18" charset="0"/>
            </a:endParaRPr>
          </a:p>
          <a:p>
            <a:pPr marL="0" indent="0">
              <a:buNone/>
            </a:pPr>
            <a:endParaRPr lang="en-US" i="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33072D-22C8-58A4-26ED-153E8E923EEB}"/>
              </a:ext>
            </a:extLst>
          </p:cNvPr>
          <p:cNvPicPr>
            <a:picLocks noChangeAspect="1"/>
          </p:cNvPicPr>
          <p:nvPr/>
        </p:nvPicPr>
        <p:blipFill>
          <a:blip r:embed="rId2"/>
          <a:stretch>
            <a:fillRect/>
          </a:stretch>
        </p:blipFill>
        <p:spPr>
          <a:xfrm>
            <a:off x="1671781" y="1560764"/>
            <a:ext cx="9347200" cy="1295581"/>
          </a:xfrm>
          <a:prstGeom prst="rect">
            <a:avLst/>
          </a:prstGeom>
        </p:spPr>
      </p:pic>
    </p:spTree>
    <p:extLst>
      <p:ext uri="{BB962C8B-B14F-4D97-AF65-F5344CB8AC3E}">
        <p14:creationId xmlns:p14="http://schemas.microsoft.com/office/powerpoint/2010/main" val="1586730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1A42-056D-3441-9278-A5E20DF5029A}"/>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C1E3C73D-71C1-D28F-0427-D080A6FF266F}"/>
              </a:ext>
            </a:extLst>
          </p:cNvPr>
          <p:cNvSpPr>
            <a:spLocks noGrp="1"/>
          </p:cNvSpPr>
          <p:nvPr>
            <p:ph idx="1"/>
          </p:nvPr>
        </p:nvSpPr>
        <p:spPr>
          <a:xfrm>
            <a:off x="1106054" y="1465406"/>
            <a:ext cx="10746509" cy="4778376"/>
          </a:xfrm>
        </p:spPr>
        <p:txBody>
          <a:bodyPr>
            <a:normAutofit/>
          </a:bodyPr>
          <a:lstStyle/>
          <a:p>
            <a:pPr marL="0" indent="0" algn="l">
              <a:buNone/>
            </a:pPr>
            <a:r>
              <a:rPr lang="en-US" sz="2400" b="1" i="1" u="none" strike="noStrike" baseline="0" dirty="0">
                <a:latin typeface="Times New Roman" panose="02020603050405020304" pitchFamily="18" charset="0"/>
              </a:rPr>
              <a:t>long</a:t>
            </a:r>
          </a:p>
          <a:p>
            <a:pPr marL="0" indent="0" algn="l">
              <a:buNone/>
            </a:pPr>
            <a:r>
              <a:rPr lang="en-US" sz="2400" b="0" i="0" u="none" strike="noStrike" baseline="0" dirty="0">
                <a:latin typeface="ArialMT"/>
              </a:rPr>
              <a:t>• </a:t>
            </a:r>
            <a:r>
              <a:rPr lang="en-US" sz="2400" b="0" i="0" u="none" strike="noStrike" baseline="0" dirty="0">
                <a:latin typeface="Times New Roman" panose="02020603050405020304" pitchFamily="18" charset="0"/>
              </a:rPr>
              <a:t>Default: false</a:t>
            </a:r>
          </a:p>
          <a:p>
            <a:pPr marL="0" indent="0" algn="l">
              <a:buNone/>
            </a:pPr>
            <a:r>
              <a:rPr lang="en-US" sz="2400" b="0" i="0" u="none" strike="noStrike" baseline="0" dirty="0">
                <a:latin typeface="ArialMT"/>
              </a:rPr>
              <a:t>• </a:t>
            </a:r>
            <a:r>
              <a:rPr lang="en-US" sz="2400" b="0" i="0" u="none" strike="noStrike" baseline="0" dirty="0">
                <a:latin typeface="Times New Roman" panose="02020603050405020304" pitchFamily="18" charset="0"/>
              </a:rPr>
              <a:t>Type: Boolean</a:t>
            </a:r>
          </a:p>
          <a:p>
            <a:pPr marL="0" indent="0" algn="l">
              <a:buNone/>
            </a:pPr>
            <a:r>
              <a:rPr lang="en-US" sz="2400" b="0" i="0" u="none" strike="noStrike" baseline="0" dirty="0">
                <a:latin typeface="Times New Roman" panose="02020603050405020304" pitchFamily="18" charset="0"/>
              </a:rPr>
              <a:t>Show extended information in ls, search, and help-search.</a:t>
            </a:r>
          </a:p>
          <a:p>
            <a:pPr marL="0" indent="0" algn="l">
              <a:buNone/>
            </a:pPr>
            <a:r>
              <a:rPr lang="en-US" sz="2400" b="1" dirty="0">
                <a:latin typeface="Times New Roman" panose="02020603050405020304" pitchFamily="18" charset="0"/>
              </a:rPr>
              <a:t>T</a:t>
            </a:r>
            <a:r>
              <a:rPr lang="en-US" sz="2400" b="1" i="0" u="none" strike="noStrike" baseline="0" dirty="0">
                <a:latin typeface="Times New Roman" panose="02020603050405020304" pitchFamily="18" charset="0"/>
              </a:rPr>
              <a:t>esting </a:t>
            </a:r>
            <a:r>
              <a:rPr lang="en-US" sz="2400" b="1" i="0" u="none" strike="noStrike" baseline="0" dirty="0" err="1">
                <a:latin typeface="Times New Roman" panose="02020603050405020304" pitchFamily="18" charset="0"/>
              </a:rPr>
              <a:t>js</a:t>
            </a:r>
            <a:r>
              <a:rPr lang="en-US" sz="2400" b="1" i="0" u="none" strike="noStrike" baseline="0" dirty="0">
                <a:latin typeface="Times New Roman" panose="02020603050405020304" pitchFamily="18" charset="0"/>
              </a:rPr>
              <a:t> files using </a:t>
            </a:r>
            <a:r>
              <a:rPr lang="en-US" sz="2400" b="1" i="0" u="none" strike="noStrike" baseline="0" dirty="0" err="1">
                <a:latin typeface="Times New Roman" panose="02020603050405020304" pitchFamily="18" charset="0"/>
              </a:rPr>
              <a:t>nodejs</a:t>
            </a:r>
            <a:endParaRPr lang="en-US" sz="2400" b="1" i="0" u="none" strike="noStrike" baseline="0" dirty="0">
              <a:latin typeface="Times New Roman" panose="02020603050405020304" pitchFamily="18" charset="0"/>
            </a:endParaRPr>
          </a:p>
          <a:p>
            <a:pPr marL="0" indent="0" algn="l">
              <a:buNone/>
            </a:pPr>
            <a:r>
              <a:rPr lang="en-US" sz="2400" b="0" i="0" u="none" strike="noStrike" baseline="0" dirty="0">
                <a:latin typeface="Times New Roman" panose="02020603050405020304" pitchFamily="18" charset="0"/>
              </a:rPr>
              <a:t>I try to understand how to test </a:t>
            </a:r>
            <a:r>
              <a:rPr lang="en-US" sz="2400" b="0" i="0" u="none" strike="noStrike" baseline="0" dirty="0" err="1">
                <a:latin typeface="Times New Roman" panose="02020603050405020304" pitchFamily="18" charset="0"/>
              </a:rPr>
              <a:t>js</a:t>
            </a:r>
            <a:r>
              <a:rPr lang="en-US" sz="2400" b="0" i="0" u="none" strike="noStrike" baseline="0" dirty="0">
                <a:latin typeface="Times New Roman" panose="02020603050405020304" pitchFamily="18" charset="0"/>
              </a:rPr>
              <a:t> files. Look, I have a file emotify.js with the function:</a:t>
            </a:r>
          </a:p>
          <a:p>
            <a:pPr marL="0" indent="0" algn="l">
              <a:buNone/>
            </a:pPr>
            <a:r>
              <a:rPr lang="en-US" sz="2400" dirty="0">
                <a:latin typeface="Times New Roman" panose="02020603050405020304" pitchFamily="18" charset="0"/>
              </a:rPr>
              <a:t>function </a:t>
            </a:r>
            <a:r>
              <a:rPr lang="en-US" sz="2400" dirty="0" err="1">
                <a:latin typeface="Times New Roman" panose="02020603050405020304" pitchFamily="18" charset="0"/>
              </a:rPr>
              <a:t>emotify</a:t>
            </a:r>
            <a:r>
              <a:rPr lang="en-US" sz="2400" dirty="0">
                <a:latin typeface="Times New Roman" panose="02020603050405020304" pitchFamily="18" charset="0"/>
              </a:rPr>
              <a:t> (string) {</a:t>
            </a:r>
          </a:p>
          <a:p>
            <a:pPr marL="0" indent="0" algn="l">
              <a:buNone/>
            </a:pPr>
            <a:r>
              <a:rPr lang="en-US" sz="2400" dirty="0">
                <a:latin typeface="Times New Roman" panose="02020603050405020304" pitchFamily="18" charset="0"/>
              </a:rPr>
              <a:t>return string + '' + ' :)';</a:t>
            </a:r>
          </a:p>
          <a:p>
            <a:pPr marL="0" indent="0" algn="l">
              <a:buNone/>
            </a:pPr>
            <a:r>
              <a:rPr lang="en-US" sz="2400" dirty="0">
                <a:latin typeface="Times New Roman" panose="02020603050405020304" pitchFamily="18" charset="0"/>
              </a:rPr>
              <a:t>}</a:t>
            </a:r>
          </a:p>
        </p:txBody>
      </p:sp>
    </p:spTree>
    <p:extLst>
      <p:ext uri="{BB962C8B-B14F-4D97-AF65-F5344CB8AC3E}">
        <p14:creationId xmlns:p14="http://schemas.microsoft.com/office/powerpoint/2010/main" val="1229378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A2DF7-9FFF-87AA-938B-8E1AC55A763A}"/>
              </a:ext>
            </a:extLst>
          </p:cNvPr>
          <p:cNvSpPr>
            <a:spLocks noGrp="1"/>
          </p:cNvSpPr>
          <p:nvPr>
            <p:ph type="title"/>
          </p:nvPr>
        </p:nvSpPr>
        <p:spPr>
          <a:xfrm>
            <a:off x="838200" y="365125"/>
            <a:ext cx="10515600" cy="900257"/>
          </a:xfrm>
        </p:spPr>
        <p:txBody>
          <a:bodyPr>
            <a:normAutofit/>
          </a:bodyPr>
          <a:lstStyle/>
          <a:p>
            <a:r>
              <a:rPr lang="en-US" sz="2800" b="1" i="0" u="none" strike="noStrike" baseline="0" dirty="0">
                <a:latin typeface="Times New Roman" panose="02020603050405020304" pitchFamily="18" charset="0"/>
              </a:rPr>
              <a:t>Overview of VUE CLI</a:t>
            </a:r>
            <a:endParaRPr lang="en-US" sz="2800" b="1" dirty="0"/>
          </a:p>
        </p:txBody>
      </p:sp>
      <p:sp>
        <p:nvSpPr>
          <p:cNvPr id="3" name="Content Placeholder 2">
            <a:extLst>
              <a:ext uri="{FF2B5EF4-FFF2-40B4-BE49-F238E27FC236}">
                <a16:creationId xmlns:a16="http://schemas.microsoft.com/office/drawing/2014/main" id="{1E1269D0-B143-A39D-C569-A409A9EAD673}"/>
              </a:ext>
            </a:extLst>
          </p:cNvPr>
          <p:cNvSpPr>
            <a:spLocks noGrp="1"/>
          </p:cNvSpPr>
          <p:nvPr>
            <p:ph idx="1"/>
          </p:nvPr>
        </p:nvSpPr>
        <p:spPr>
          <a:xfrm>
            <a:off x="764309" y="1465406"/>
            <a:ext cx="10515600" cy="4778375"/>
          </a:xfrm>
        </p:spPr>
        <p:txBody>
          <a:bodyPr>
            <a:noAutofit/>
          </a:bodyPr>
          <a:lstStyle/>
          <a:p>
            <a:pPr marL="0" indent="0">
              <a:buNone/>
            </a:pPr>
            <a:r>
              <a:rPr lang="en-US" sz="2400" b="0" i="0" u="none" strike="noStrike" baseline="0" dirty="0">
                <a:latin typeface="Times New Roman" panose="02020603050405020304" pitchFamily="18" charset="0"/>
              </a:rPr>
              <a:t>Vue CLI is a full system for rapid Vue.js development, providing:</a:t>
            </a:r>
          </a:p>
          <a:p>
            <a:pPr algn="l">
              <a:buFont typeface="Wingdings" panose="05000000000000000000" pitchFamily="2" charset="2"/>
              <a:buChar char="v"/>
            </a:pPr>
            <a:r>
              <a:rPr lang="en-US" sz="2400" b="0" i="0" u="none" strike="noStrike" baseline="0" dirty="0">
                <a:latin typeface="Times New Roman" panose="02020603050405020304" pitchFamily="18" charset="0"/>
              </a:rPr>
              <a:t>Interactive project scaffolding via @vue/cli. </a:t>
            </a:r>
          </a:p>
          <a:p>
            <a:pPr algn="l">
              <a:buFont typeface="Wingdings" panose="05000000000000000000" pitchFamily="2" charset="2"/>
              <a:buChar char="v"/>
            </a:pPr>
            <a:r>
              <a:rPr lang="en-US" sz="2400" b="0" i="0" u="none" strike="noStrike" baseline="0" dirty="0">
                <a:latin typeface="Times New Roman" panose="02020603050405020304" pitchFamily="18" charset="0"/>
              </a:rPr>
              <a:t>A runtime dependency (@vue/cli-service) that is: </a:t>
            </a:r>
          </a:p>
          <a:p>
            <a:pPr algn="l">
              <a:buFont typeface="Wingdings" panose="05000000000000000000" pitchFamily="2" charset="2"/>
              <a:buChar char="Ø"/>
            </a:pPr>
            <a:r>
              <a:rPr lang="en-US" sz="2400" b="0" i="0" u="none" strike="noStrike" baseline="0" dirty="0">
                <a:latin typeface="Times New Roman" panose="02020603050405020304" pitchFamily="18" charset="0"/>
              </a:rPr>
              <a:t>Upgradeable;</a:t>
            </a:r>
          </a:p>
          <a:p>
            <a:pPr algn="l">
              <a:buFont typeface="Wingdings" panose="05000000000000000000" pitchFamily="2" charset="2"/>
              <a:buChar char="Ø"/>
            </a:pPr>
            <a:r>
              <a:rPr lang="en-US" sz="2400" b="0" i="0" u="none" strike="noStrike" baseline="0" dirty="0">
                <a:latin typeface="Times New Roman" panose="02020603050405020304" pitchFamily="18" charset="0"/>
              </a:rPr>
              <a:t>Built on top of webpack, with sensible defaults; </a:t>
            </a:r>
          </a:p>
          <a:p>
            <a:pPr algn="l">
              <a:buFont typeface="Wingdings" panose="05000000000000000000" pitchFamily="2" charset="2"/>
              <a:buChar char="Ø"/>
            </a:pPr>
            <a:r>
              <a:rPr lang="en-US" sz="2400" b="0" i="0" u="none" strike="noStrike" baseline="0" dirty="0">
                <a:latin typeface="Times New Roman" panose="02020603050405020304" pitchFamily="18" charset="0"/>
              </a:rPr>
              <a:t>Configurable via in-project config file;</a:t>
            </a:r>
          </a:p>
          <a:p>
            <a:pPr algn="l">
              <a:buFont typeface="Wingdings" panose="05000000000000000000" pitchFamily="2" charset="2"/>
              <a:buChar char="Ø"/>
            </a:pPr>
            <a:r>
              <a:rPr lang="en-US" sz="2400" b="0" i="0" u="none" strike="noStrike" baseline="0" dirty="0">
                <a:latin typeface="Times New Roman" panose="02020603050405020304" pitchFamily="18" charset="0"/>
              </a:rPr>
              <a:t>Extensible via plugins</a:t>
            </a:r>
          </a:p>
          <a:p>
            <a:pPr marL="0" indent="0" algn="l">
              <a:buNone/>
            </a:pPr>
            <a:r>
              <a:rPr lang="en-US" sz="2400" b="0" i="0" u="none" strike="noStrike" baseline="0" dirty="0">
                <a:latin typeface="ArialMT"/>
              </a:rPr>
              <a:t>• </a:t>
            </a:r>
            <a:r>
              <a:rPr lang="en-US" sz="2400" b="0" i="0" u="none" strike="noStrike" baseline="0" dirty="0">
                <a:latin typeface="Times New Roman" panose="02020603050405020304" pitchFamily="18" charset="0"/>
              </a:rPr>
              <a:t>A rich collection of official plugins integrating the best tools in the frontend ecosystem.</a:t>
            </a:r>
          </a:p>
          <a:p>
            <a:pPr marL="0" indent="0" algn="l">
              <a:buNone/>
            </a:pPr>
            <a:r>
              <a:rPr lang="en-US" sz="2400" b="0" i="0" u="none" strike="noStrike" baseline="0" dirty="0">
                <a:latin typeface="ArialMT"/>
              </a:rPr>
              <a:t>• </a:t>
            </a:r>
            <a:r>
              <a:rPr lang="en-US" sz="2400" b="0" i="0" u="none" strike="noStrike" baseline="0" dirty="0">
                <a:latin typeface="Times New Roman" panose="02020603050405020304" pitchFamily="18" charset="0"/>
              </a:rPr>
              <a:t>A full graphical user interface to create and manage Vue.js projects.</a:t>
            </a:r>
            <a:endParaRPr lang="en-US" sz="2400" dirty="0"/>
          </a:p>
        </p:txBody>
      </p:sp>
    </p:spTree>
    <p:extLst>
      <p:ext uri="{BB962C8B-B14F-4D97-AF65-F5344CB8AC3E}">
        <p14:creationId xmlns:p14="http://schemas.microsoft.com/office/powerpoint/2010/main" val="1799229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6C429-34E9-2BD9-2B81-493CAE2D4071}"/>
              </a:ext>
            </a:extLst>
          </p:cNvPr>
          <p:cNvSpPr>
            <a:spLocks noGrp="1"/>
          </p:cNvSpPr>
          <p:nvPr>
            <p:ph type="title"/>
          </p:nvPr>
        </p:nvSpPr>
        <p:spPr>
          <a:xfrm>
            <a:off x="838200" y="365125"/>
            <a:ext cx="9959109" cy="844839"/>
          </a:xfrm>
        </p:spPr>
        <p:txBody>
          <a:bodyPr>
            <a:normAutofit/>
          </a:bodyPr>
          <a:lstStyle/>
          <a:p>
            <a:r>
              <a:rPr lang="en-US" sz="2800" b="1" dirty="0">
                <a:latin typeface="Times New Roman" panose="02020603050405020304" pitchFamily="18" charset="0"/>
                <a:cs typeface="Times New Roman" panose="02020603050405020304" pitchFamily="18" charset="0"/>
              </a:rPr>
              <a:t>Advantages of Vue CLI</a:t>
            </a:r>
          </a:p>
        </p:txBody>
      </p:sp>
      <p:sp>
        <p:nvSpPr>
          <p:cNvPr id="3" name="Content Placeholder 2">
            <a:extLst>
              <a:ext uri="{FF2B5EF4-FFF2-40B4-BE49-F238E27FC236}">
                <a16:creationId xmlns:a16="http://schemas.microsoft.com/office/drawing/2014/main" id="{2D4428F8-37EB-5A9B-FB96-97965726F916}"/>
              </a:ext>
            </a:extLst>
          </p:cNvPr>
          <p:cNvSpPr>
            <a:spLocks noGrp="1"/>
          </p:cNvSpPr>
          <p:nvPr>
            <p:ph idx="1"/>
          </p:nvPr>
        </p:nvSpPr>
        <p:spPr>
          <a:xfrm>
            <a:off x="671945" y="1253330"/>
            <a:ext cx="10568709" cy="4593287"/>
          </a:xfrm>
        </p:spPr>
        <p:txBody>
          <a:bodyPr>
            <a:normAutofit/>
          </a:bodyPr>
          <a:lstStyle/>
          <a:p>
            <a:pPr algn="l"/>
            <a:r>
              <a:rPr lang="en-US" sz="2400" b="0" i="0" u="none" strike="noStrike" baseline="0" dirty="0">
                <a:latin typeface="Times New Roman" panose="02020603050405020304" pitchFamily="18" charset="0"/>
              </a:rPr>
              <a:t>Vue CLI aims to be the standard tooling baseline for the Vue ecosystem. </a:t>
            </a:r>
          </a:p>
          <a:p>
            <a:pPr algn="l"/>
            <a:r>
              <a:rPr lang="en-US" sz="2400" b="0" i="0" u="none" strike="noStrike" baseline="0" dirty="0">
                <a:latin typeface="Times New Roman" panose="02020603050405020304" pitchFamily="18" charset="0"/>
              </a:rPr>
              <a:t>It ensures the various build tools work smoothly together with sensible defaults so you can focus on writing your app instead of spending days wrangling with configurations. </a:t>
            </a:r>
          </a:p>
          <a:p>
            <a:pPr algn="l"/>
            <a:r>
              <a:rPr lang="en-US" sz="2400" b="0" i="0" u="none" strike="noStrike" baseline="0" dirty="0">
                <a:latin typeface="Times New Roman" panose="02020603050405020304" pitchFamily="18" charset="0"/>
              </a:rPr>
              <a:t>At the same time, it still offers the flexibility to tweak the config of each tool without the need for ejecting.</a:t>
            </a:r>
            <a:endParaRPr lang="en-US" sz="2400" dirty="0"/>
          </a:p>
        </p:txBody>
      </p:sp>
    </p:spTree>
    <p:extLst>
      <p:ext uri="{BB962C8B-B14F-4D97-AF65-F5344CB8AC3E}">
        <p14:creationId xmlns:p14="http://schemas.microsoft.com/office/powerpoint/2010/main" val="2824994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7AB3-82B4-45FA-EEB9-28A004BD9B41}"/>
              </a:ext>
            </a:extLst>
          </p:cNvPr>
          <p:cNvSpPr>
            <a:spLocks noGrp="1"/>
          </p:cNvSpPr>
          <p:nvPr>
            <p:ph type="title"/>
          </p:nvPr>
        </p:nvSpPr>
        <p:spPr>
          <a:xfrm>
            <a:off x="701964" y="365125"/>
            <a:ext cx="10651836" cy="900257"/>
          </a:xfrm>
        </p:spPr>
        <p:txBody>
          <a:bodyPr/>
          <a:lstStyle/>
          <a:p>
            <a:r>
              <a:rPr lang="en-US" sz="1800" b="1" i="0" u="none" strike="noStrike" baseline="0" dirty="0">
                <a:latin typeface="Times New Roman" panose="02020603050405020304" pitchFamily="18" charset="0"/>
              </a:rPr>
              <a:t>Installation of VUE CLI with NPM</a:t>
            </a:r>
            <a:endParaRPr lang="en-US" dirty="0"/>
          </a:p>
        </p:txBody>
      </p:sp>
      <p:sp>
        <p:nvSpPr>
          <p:cNvPr id="3" name="Content Placeholder 2">
            <a:extLst>
              <a:ext uri="{FF2B5EF4-FFF2-40B4-BE49-F238E27FC236}">
                <a16:creationId xmlns:a16="http://schemas.microsoft.com/office/drawing/2014/main" id="{112748F5-73E9-EAEE-FEF7-32998316A320}"/>
              </a:ext>
            </a:extLst>
          </p:cNvPr>
          <p:cNvSpPr>
            <a:spLocks noGrp="1"/>
          </p:cNvSpPr>
          <p:nvPr>
            <p:ph idx="1"/>
          </p:nvPr>
        </p:nvSpPr>
        <p:spPr>
          <a:xfrm>
            <a:off x="480292" y="1391515"/>
            <a:ext cx="10651836" cy="4981576"/>
          </a:xfrm>
        </p:spPr>
        <p:txBody>
          <a:bodyPr>
            <a:normAutofit/>
          </a:bodyPr>
          <a:lstStyle/>
          <a:p>
            <a:pPr marL="0" indent="0" algn="l">
              <a:buNone/>
            </a:pPr>
            <a:r>
              <a:rPr lang="en-US" sz="2400" b="1" i="0" u="none" strike="noStrike" baseline="0" dirty="0">
                <a:latin typeface="Times New Roman" panose="02020603050405020304" pitchFamily="18" charset="0"/>
              </a:rPr>
              <a:t>Node Version Requirement</a:t>
            </a:r>
          </a:p>
          <a:p>
            <a:pPr marL="0" indent="0" algn="l">
              <a:buNone/>
            </a:pPr>
            <a:r>
              <a:rPr lang="en-US" sz="2400" b="0" i="0" u="none" strike="noStrike" baseline="0" dirty="0">
                <a:latin typeface="Times New Roman" panose="02020603050405020304" pitchFamily="18" charset="0"/>
              </a:rPr>
              <a:t>Vue CLI 4.x requires Node.js version 8.9 or above (v10+ recommended). You can manage</a:t>
            </a:r>
          </a:p>
          <a:p>
            <a:pPr marL="0" indent="0" algn="l">
              <a:buNone/>
            </a:pPr>
            <a:r>
              <a:rPr lang="en-US" sz="2400" b="0" i="0" u="none" strike="noStrike" baseline="0" dirty="0">
                <a:latin typeface="Times New Roman" panose="02020603050405020304" pitchFamily="18" charset="0"/>
              </a:rPr>
              <a:t>multiple versions of Node on the same machine with n, </a:t>
            </a:r>
            <a:r>
              <a:rPr lang="en-US" sz="2400" b="0" i="0" u="none" strike="noStrike" baseline="0" dirty="0" err="1">
                <a:latin typeface="Times New Roman" panose="02020603050405020304" pitchFamily="18" charset="0"/>
              </a:rPr>
              <a:t>nvm</a:t>
            </a:r>
            <a:r>
              <a:rPr lang="en-US" sz="2400" b="0" i="0" u="none" strike="noStrike" baseline="0" dirty="0">
                <a:latin typeface="Times New Roman" panose="02020603050405020304" pitchFamily="18" charset="0"/>
              </a:rPr>
              <a:t> or </a:t>
            </a:r>
            <a:r>
              <a:rPr lang="en-US" sz="2400" b="0" i="0" u="none" strike="noStrike" baseline="0" dirty="0" err="1">
                <a:latin typeface="Times New Roman" panose="02020603050405020304" pitchFamily="18" charset="0"/>
              </a:rPr>
              <a:t>nvm</a:t>
            </a:r>
            <a:r>
              <a:rPr lang="en-US" sz="2400" b="0" i="0" u="none" strike="noStrike" baseline="0" dirty="0">
                <a:latin typeface="Times New Roman" panose="02020603050405020304" pitchFamily="18" charset="0"/>
              </a:rPr>
              <a:t>-windows.</a:t>
            </a:r>
          </a:p>
          <a:p>
            <a:pPr marL="0" indent="0" algn="l">
              <a:buNone/>
            </a:pPr>
            <a:r>
              <a:rPr lang="en-US" sz="2400" dirty="0">
                <a:latin typeface="Times New Roman" panose="02020603050405020304" pitchFamily="18" charset="0"/>
              </a:rPr>
              <a:t>To install the new package, use one of the following commands. You need administrator privileges to execute these unless </a:t>
            </a:r>
            <a:r>
              <a:rPr lang="en-US" sz="2400" dirty="0" err="1">
                <a:latin typeface="Times New Roman" panose="02020603050405020304" pitchFamily="18" charset="0"/>
              </a:rPr>
              <a:t>npm</a:t>
            </a:r>
            <a:r>
              <a:rPr lang="en-US" sz="2400" dirty="0">
                <a:latin typeface="Times New Roman" panose="02020603050405020304" pitchFamily="18" charset="0"/>
              </a:rPr>
              <a:t> was installed on your system through a Node.js version.</a:t>
            </a:r>
          </a:p>
          <a:p>
            <a:pPr marL="0" indent="0" algn="l">
              <a:buNone/>
            </a:pPr>
            <a:r>
              <a:rPr lang="en-US" sz="2400" dirty="0">
                <a:latin typeface="Times New Roman" panose="02020603050405020304" pitchFamily="18" charset="0"/>
              </a:rPr>
              <a:t>After installation, you will have access to the </a:t>
            </a:r>
            <a:r>
              <a:rPr lang="en-US" sz="2400" dirty="0" err="1">
                <a:latin typeface="Times New Roman" panose="02020603050405020304" pitchFamily="18" charset="0"/>
              </a:rPr>
              <a:t>vue</a:t>
            </a:r>
            <a:r>
              <a:rPr lang="en-US" sz="2400" dirty="0">
                <a:latin typeface="Times New Roman" panose="02020603050405020304" pitchFamily="18" charset="0"/>
              </a:rPr>
              <a:t> binary in your command line. You can verify that it is properly installed by simply running </a:t>
            </a:r>
            <a:r>
              <a:rPr lang="en-US" sz="2400" dirty="0" err="1">
                <a:latin typeface="Times New Roman" panose="02020603050405020304" pitchFamily="18" charset="0"/>
              </a:rPr>
              <a:t>vue</a:t>
            </a:r>
            <a:r>
              <a:rPr lang="en-US" sz="2400" dirty="0">
                <a:latin typeface="Times New Roman" panose="02020603050405020304" pitchFamily="18" charset="0"/>
              </a:rPr>
              <a:t>, which should present you with a help message listing all available commands.</a:t>
            </a:r>
          </a:p>
        </p:txBody>
      </p:sp>
    </p:spTree>
    <p:extLst>
      <p:ext uri="{BB962C8B-B14F-4D97-AF65-F5344CB8AC3E}">
        <p14:creationId xmlns:p14="http://schemas.microsoft.com/office/powerpoint/2010/main" val="4156344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D4B1C-26EB-4B58-B6F3-C9393DDD027F}"/>
              </a:ext>
            </a:extLst>
          </p:cNvPr>
          <p:cNvSpPr>
            <a:spLocks noGrp="1"/>
          </p:cNvSpPr>
          <p:nvPr>
            <p:ph type="title"/>
          </p:nvPr>
        </p:nvSpPr>
        <p:spPr>
          <a:xfrm>
            <a:off x="838200" y="171162"/>
            <a:ext cx="10515600" cy="1325563"/>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D2A08B7F-674E-B85C-EA6F-A6052F97ED88}"/>
              </a:ext>
            </a:extLst>
          </p:cNvPr>
          <p:cNvSpPr>
            <a:spLocks noGrp="1"/>
          </p:cNvSpPr>
          <p:nvPr>
            <p:ph idx="1"/>
          </p:nvPr>
        </p:nvSpPr>
        <p:spPr>
          <a:xfrm>
            <a:off x="720436" y="1336098"/>
            <a:ext cx="10633364" cy="5120120"/>
          </a:xfrm>
        </p:spPr>
        <p:txBody>
          <a:bodyPr>
            <a:normAutofit/>
          </a:bodyPr>
          <a:lstStyle/>
          <a:p>
            <a:pPr marL="0" indent="0" algn="l">
              <a:buNone/>
            </a:pPr>
            <a:r>
              <a:rPr lang="en-US" sz="2400" b="0" i="0" u="none" strike="noStrike" baseline="0" dirty="0">
                <a:latin typeface="Times New Roman" panose="02020603050405020304" pitchFamily="18" charset="0"/>
              </a:rPr>
              <a:t>You can check you have the right version with this command:</a:t>
            </a:r>
          </a:p>
          <a:p>
            <a:pPr marL="0" indent="0" algn="l">
              <a:buNone/>
            </a:pPr>
            <a:r>
              <a:rPr lang="en-US" sz="2400" b="0" i="0" u="none" strike="noStrike" baseline="0" dirty="0">
                <a:latin typeface="Times New Roman" panose="02020603050405020304" pitchFamily="18" charset="0"/>
              </a:rPr>
              <a:t>Vue --version Upgrading#</a:t>
            </a:r>
          </a:p>
          <a:p>
            <a:pPr marL="0" indent="0" algn="l">
              <a:buNone/>
            </a:pPr>
            <a:r>
              <a:rPr lang="en-US" sz="2400" b="0" i="0" u="none" strike="noStrike" baseline="0" dirty="0">
                <a:latin typeface="Times New Roman" panose="02020603050405020304" pitchFamily="18" charset="0"/>
              </a:rPr>
              <a:t>To upgrade the global Vue CLI package, you need to run:</a:t>
            </a:r>
          </a:p>
          <a:p>
            <a:pPr marL="0" indent="0" algn="l">
              <a:buNone/>
            </a:pPr>
            <a:r>
              <a:rPr lang="nn-NO" sz="2400" b="0" i="0" u="none" strike="noStrike" baseline="0" dirty="0">
                <a:latin typeface="Times New Roman" panose="02020603050405020304" pitchFamily="18" charset="0"/>
              </a:rPr>
              <a:t>npm update -g @vue/cli</a:t>
            </a:r>
          </a:p>
          <a:p>
            <a:pPr marL="0" indent="0" algn="l">
              <a:buNone/>
            </a:pPr>
            <a:r>
              <a:rPr lang="en-US" sz="2400" b="0" i="0" u="none" strike="noStrike" baseline="0" dirty="0">
                <a:latin typeface="Times New Roman" panose="02020603050405020304" pitchFamily="18" charset="0"/>
              </a:rPr>
              <a:t># OR</a:t>
            </a:r>
          </a:p>
          <a:p>
            <a:pPr marL="0" indent="0" algn="l">
              <a:buNone/>
            </a:pPr>
            <a:r>
              <a:rPr lang="en-US" sz="2400" b="0" i="0" u="none" strike="noStrike" baseline="0" dirty="0">
                <a:latin typeface="Times New Roman" panose="02020603050405020304" pitchFamily="18" charset="0"/>
              </a:rPr>
              <a:t>yarn global upgrade --latest @vue/cli</a:t>
            </a:r>
          </a:p>
          <a:p>
            <a:pPr marL="0" indent="0" algn="l">
              <a:buNone/>
            </a:pPr>
            <a:r>
              <a:rPr lang="en-US" sz="2400" b="0" i="1" u="none" strike="noStrike" baseline="0" dirty="0">
                <a:latin typeface="Times New Roman" panose="02020603050405020304" pitchFamily="18" charset="0"/>
              </a:rPr>
              <a:t>Project Dependencies#</a:t>
            </a:r>
          </a:p>
          <a:p>
            <a:pPr marL="0" indent="0" algn="l">
              <a:buNone/>
            </a:pPr>
            <a:r>
              <a:rPr lang="en-US" sz="2400" dirty="0">
                <a:latin typeface="Times New Roman" panose="02020603050405020304" pitchFamily="18" charset="0"/>
              </a:rPr>
              <a:t>Creating a Project </a:t>
            </a:r>
            <a:r>
              <a:rPr lang="en-US" sz="2400" dirty="0" err="1">
                <a:latin typeface="Times New Roman" panose="02020603050405020304" pitchFamily="18" charset="0"/>
              </a:rPr>
              <a:t>vue</a:t>
            </a:r>
            <a:endParaRPr lang="en-US" sz="2400" dirty="0">
              <a:latin typeface="Times New Roman" panose="02020603050405020304" pitchFamily="18" charset="0"/>
            </a:endParaRPr>
          </a:p>
          <a:p>
            <a:pPr marL="0" indent="0" algn="l">
              <a:buNone/>
            </a:pPr>
            <a:r>
              <a:rPr lang="en-US" sz="2400" dirty="0">
                <a:latin typeface="Times New Roman" panose="02020603050405020304" pitchFamily="18" charset="0"/>
              </a:rPr>
              <a:t>create#</a:t>
            </a:r>
          </a:p>
          <a:p>
            <a:pPr marL="0" indent="0" algn="l">
              <a:buNone/>
            </a:pPr>
            <a:r>
              <a:rPr lang="en-US" sz="2400" dirty="0">
                <a:latin typeface="Times New Roman" panose="02020603050405020304" pitchFamily="18" charset="0"/>
              </a:rPr>
              <a:t>To create a new project, run: </a:t>
            </a:r>
            <a:r>
              <a:rPr lang="en-US" sz="2400" dirty="0" err="1">
                <a:latin typeface="Times New Roman" panose="02020603050405020304" pitchFamily="18" charset="0"/>
              </a:rPr>
              <a:t>vue</a:t>
            </a:r>
            <a:r>
              <a:rPr lang="en-US" sz="2400" dirty="0">
                <a:latin typeface="Times New Roman" panose="02020603050405020304" pitchFamily="18" charset="0"/>
              </a:rPr>
              <a:t> create</a:t>
            </a:r>
          </a:p>
          <a:p>
            <a:pPr marL="0" indent="0" algn="l">
              <a:buNone/>
            </a:pPr>
            <a:r>
              <a:rPr lang="en-US" sz="2400" dirty="0">
                <a:latin typeface="Times New Roman" panose="02020603050405020304" pitchFamily="18" charset="0"/>
              </a:rPr>
              <a:t>hello-world</a:t>
            </a:r>
          </a:p>
        </p:txBody>
      </p:sp>
    </p:spTree>
    <p:extLst>
      <p:ext uri="{BB962C8B-B14F-4D97-AF65-F5344CB8AC3E}">
        <p14:creationId xmlns:p14="http://schemas.microsoft.com/office/powerpoint/2010/main" val="1684176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1D8D8-E88B-4C6D-3FEB-4EA73ED9EBE1}"/>
              </a:ext>
            </a:extLst>
          </p:cNvPr>
          <p:cNvSpPr>
            <a:spLocks noGrp="1"/>
          </p:cNvSpPr>
          <p:nvPr>
            <p:ph type="title"/>
          </p:nvPr>
        </p:nvSpPr>
        <p:spPr>
          <a:xfrm>
            <a:off x="838200" y="240031"/>
            <a:ext cx="10515600" cy="947995"/>
          </a:xfrm>
        </p:spPr>
        <p:txBody>
          <a:bodyPr>
            <a:normAutofit fontScale="90000"/>
          </a:bodyPr>
          <a:lstStyle/>
          <a:p>
            <a:br>
              <a:rPr lang="en-US" sz="3100" b="1" i="0" u="none" strike="noStrike" baseline="0" dirty="0">
                <a:latin typeface="Times New Roman" panose="02020603050405020304" pitchFamily="18" charset="0"/>
                <a:cs typeface="Times New Roman" panose="02020603050405020304" pitchFamily="18" charset="0"/>
              </a:rPr>
            </a:br>
            <a:r>
              <a:rPr lang="en-US" sz="3100" b="1" i="0" u="none" strike="noStrike" baseline="0" dirty="0">
                <a:solidFill>
                  <a:srgbClr val="000000"/>
                </a:solidFill>
                <a:latin typeface="Times New Roman" panose="02020603050405020304" pitchFamily="18" charset="0"/>
                <a:cs typeface="Times New Roman" panose="02020603050405020304" pitchFamily="18" charset="0"/>
              </a:rPr>
              <a:t>Description of Vue project folder &amp; files </a:t>
            </a:r>
            <a:br>
              <a:rPr lang="en-US" sz="1800" b="0" i="0" u="none" strike="noStrike" baseline="0" dirty="0">
                <a:solidFill>
                  <a:srgbClr val="000000"/>
                </a:solidFill>
              </a:rPr>
            </a:br>
            <a:r>
              <a:rPr lang="en-US" sz="1800" b="0" i="0" u="none" strike="noStrike" baseline="0" dirty="0">
                <a:solidFill>
                  <a:srgbClr val="000000"/>
                </a:solidFill>
              </a:rPr>
              <a:t>	</a:t>
            </a:r>
            <a:br>
              <a:rPr lang="en-US" sz="1800" b="0" i="0" u="none" strike="noStrike" baseline="0" dirty="0">
                <a:solidFill>
                  <a:srgbClr val="000000"/>
                </a:solidFill>
              </a:rPr>
            </a:br>
            <a:endParaRPr lang="en-US" dirty="0"/>
          </a:p>
        </p:txBody>
      </p:sp>
      <p:sp>
        <p:nvSpPr>
          <p:cNvPr id="3" name="Content Placeholder 2">
            <a:extLst>
              <a:ext uri="{FF2B5EF4-FFF2-40B4-BE49-F238E27FC236}">
                <a16:creationId xmlns:a16="http://schemas.microsoft.com/office/drawing/2014/main" id="{359ED253-9716-6C6E-390A-AD33506658CA}"/>
              </a:ext>
            </a:extLst>
          </p:cNvPr>
          <p:cNvSpPr>
            <a:spLocks noGrp="1"/>
          </p:cNvSpPr>
          <p:nvPr>
            <p:ph idx="1"/>
          </p:nvPr>
        </p:nvSpPr>
        <p:spPr>
          <a:xfrm>
            <a:off x="838200" y="1188027"/>
            <a:ext cx="11117580" cy="4698424"/>
          </a:xfrm>
        </p:spPr>
        <p:txBody>
          <a:bodyPr>
            <a:normAutofit/>
          </a:bodyPr>
          <a:lstStyle/>
          <a:p>
            <a:pPr marL="0" indent="0">
              <a:lnSpc>
                <a:spcPct val="100000"/>
              </a:lnSpc>
              <a:spcBef>
                <a:spcPts val="900"/>
              </a:spcBef>
              <a:spcAft>
                <a:spcPts val="900"/>
              </a:spcAft>
              <a:buNone/>
            </a:pPr>
            <a:r>
              <a:rPr lang="en-US" sz="2400" b="1" dirty="0">
                <a:solidFill>
                  <a:srgbClr val="1F1F1F"/>
                </a:solidFill>
                <a:latin typeface="Times New Roman" panose="02020603050405020304" pitchFamily="18" charset="0"/>
                <a:cs typeface="Times New Roman" panose="02020603050405020304" pitchFamily="18" charset="0"/>
              </a:rPr>
              <a:t>a</a:t>
            </a:r>
            <a:r>
              <a:rPr lang="en-US" sz="2400" b="1" dirty="0">
                <a:latin typeface="Times New Roman" panose="02020603050405020304" pitchFamily="18" charset="0"/>
              </a:rPr>
              <a:t>)</a:t>
            </a:r>
            <a:r>
              <a:rPr lang="en-US" sz="2400" b="0" i="0" u="none" strike="noStrike" baseline="0" dirty="0">
                <a:solidFill>
                  <a:srgbClr val="000000"/>
                </a:solidFill>
                <a:latin typeface="Times New Roman" panose="02020603050405020304" pitchFamily="18" charset="0"/>
              </a:rPr>
              <a:t> </a:t>
            </a:r>
            <a:r>
              <a:rPr lang="en-US" sz="2400" b="1" dirty="0" err="1">
                <a:latin typeface="Times New Roman" panose="02020603050405020304" pitchFamily="18" charset="0"/>
              </a:rPr>
              <a:t>node_module</a:t>
            </a:r>
            <a:r>
              <a:rPr lang="en-US" sz="2400" b="1" dirty="0">
                <a:latin typeface="Times New Roman" panose="02020603050405020304" pitchFamily="18" charset="0"/>
              </a:rPr>
              <a:t> </a:t>
            </a:r>
          </a:p>
          <a:p>
            <a:pPr marL="0" indent="0" algn="l">
              <a:lnSpc>
                <a:spcPct val="100000"/>
              </a:lnSpc>
              <a:spcAft>
                <a:spcPts val="750"/>
              </a:spcAft>
              <a:buNone/>
            </a:pPr>
            <a:r>
              <a:rPr lang="en-US" sz="2400" dirty="0">
                <a:latin typeface="Times New Roman" panose="02020603050405020304" pitchFamily="18" charset="0"/>
              </a:rPr>
              <a:t>In the context of Node. </a:t>
            </a:r>
            <a:r>
              <a:rPr lang="en-US" sz="2400" dirty="0" err="1">
                <a:latin typeface="Times New Roman" panose="02020603050405020304" pitchFamily="18" charset="0"/>
              </a:rPr>
              <a:t>js</a:t>
            </a:r>
            <a:r>
              <a:rPr lang="en-US" sz="2400" dirty="0">
                <a:latin typeface="Times New Roman" panose="02020603050405020304" pitchFamily="18" charset="0"/>
              </a:rPr>
              <a:t>, the </a:t>
            </a:r>
            <a:r>
              <a:rPr lang="en-US" sz="2400" b="1" dirty="0" err="1">
                <a:latin typeface="Times New Roman" panose="02020603050405020304" pitchFamily="18" charset="0"/>
              </a:rPr>
              <a:t>node_modules</a:t>
            </a:r>
            <a:r>
              <a:rPr lang="en-US" sz="2400" b="1" dirty="0">
                <a:latin typeface="Times New Roman" panose="02020603050405020304" pitchFamily="18" charset="0"/>
              </a:rPr>
              <a:t> folder </a:t>
            </a:r>
            <a:r>
              <a:rPr lang="en-US" sz="2400" dirty="0">
                <a:latin typeface="Times New Roman" panose="02020603050405020304" pitchFamily="18" charset="0"/>
              </a:rPr>
              <a:t>is a </a:t>
            </a:r>
            <a:r>
              <a:rPr lang="en-US" sz="2400" b="1" dirty="0">
                <a:latin typeface="Times New Roman" panose="02020603050405020304" pitchFamily="18" charset="0"/>
              </a:rPr>
              <a:t>directory</a:t>
            </a:r>
            <a:r>
              <a:rPr lang="en-US" sz="2400" dirty="0">
                <a:latin typeface="Times New Roman" panose="02020603050405020304" pitchFamily="18" charset="0"/>
              </a:rPr>
              <a:t> that typically resides in the </a:t>
            </a:r>
            <a:r>
              <a:rPr lang="en-US" sz="2400" b="1" dirty="0">
                <a:latin typeface="Times New Roman" panose="02020603050405020304" pitchFamily="18" charset="0"/>
              </a:rPr>
              <a:t>root</a:t>
            </a:r>
            <a:r>
              <a:rPr lang="en-US" sz="2400" dirty="0">
                <a:latin typeface="Times New Roman" panose="02020603050405020304" pitchFamily="18" charset="0"/>
              </a:rPr>
              <a:t> of a Node. </a:t>
            </a:r>
            <a:r>
              <a:rPr lang="en-US" sz="2400" dirty="0" err="1">
                <a:latin typeface="Times New Roman" panose="02020603050405020304" pitchFamily="18" charset="0"/>
              </a:rPr>
              <a:t>js</a:t>
            </a:r>
            <a:r>
              <a:rPr lang="en-US" sz="2400" dirty="0">
                <a:latin typeface="Times New Roman" panose="02020603050405020304" pitchFamily="18" charset="0"/>
              </a:rPr>
              <a:t> project. It is used to store the dependencies (external libraries or packages) that your Node. </a:t>
            </a:r>
            <a:r>
              <a:rPr lang="en-US" sz="2400" dirty="0" err="1">
                <a:latin typeface="Times New Roman" panose="02020603050405020304" pitchFamily="18" charset="0"/>
              </a:rPr>
              <a:t>js</a:t>
            </a:r>
            <a:r>
              <a:rPr lang="en-US" sz="2400" dirty="0">
                <a:latin typeface="Times New Roman" panose="02020603050405020304" pitchFamily="18" charset="0"/>
              </a:rPr>
              <a:t> project relies on.</a:t>
            </a:r>
          </a:p>
          <a:p>
            <a:pPr marL="0" indent="0">
              <a:lnSpc>
                <a:spcPct val="100000"/>
              </a:lnSpc>
              <a:spcAft>
                <a:spcPts val="750"/>
              </a:spcAft>
              <a:buNone/>
            </a:pPr>
            <a:r>
              <a:rPr lang="en-US" sz="2400" b="1" dirty="0">
                <a:latin typeface="Times New Roman" panose="02020603050405020304" pitchFamily="18" charset="0"/>
              </a:rPr>
              <a:t>b) The public folder</a:t>
            </a:r>
          </a:p>
          <a:p>
            <a:pPr marL="0" indent="0" algn="l">
              <a:lnSpc>
                <a:spcPct val="100000"/>
              </a:lnSpc>
              <a:spcAft>
                <a:spcPts val="750"/>
              </a:spcAft>
              <a:buNone/>
            </a:pPr>
            <a:r>
              <a:rPr lang="en-US" sz="2400" dirty="0">
                <a:latin typeface="Times New Roman" panose="02020603050405020304" pitchFamily="18" charset="0"/>
              </a:rPr>
              <a:t> This is where Vue keeps the index. html file that is being run in the browser, inside the index. HTML file is a basic HTML markup that we are all used to, this is why Vue is used to build single-page apps because there is only one HTML file which is the index.</a:t>
            </a:r>
          </a:p>
          <a:p>
            <a:pPr marL="0" indent="0">
              <a:buNone/>
            </a:pPr>
            <a:endParaRPr lang="en-US" dirty="0"/>
          </a:p>
        </p:txBody>
      </p:sp>
    </p:spTree>
    <p:extLst>
      <p:ext uri="{BB962C8B-B14F-4D97-AF65-F5344CB8AC3E}">
        <p14:creationId xmlns:p14="http://schemas.microsoft.com/office/powerpoint/2010/main" val="4151740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4EA95-03C4-19AB-AA10-4B5E47D1141B}"/>
              </a:ext>
            </a:extLst>
          </p:cNvPr>
          <p:cNvSpPr>
            <a:spLocks noGrp="1"/>
          </p:cNvSpPr>
          <p:nvPr>
            <p:ph type="title"/>
          </p:nvPr>
        </p:nvSpPr>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B649CA1F-54B7-DE73-39F8-93A1B39548F5}"/>
              </a:ext>
            </a:extLst>
          </p:cNvPr>
          <p:cNvSpPr>
            <a:spLocks noGrp="1"/>
          </p:cNvSpPr>
          <p:nvPr>
            <p:ph idx="1"/>
          </p:nvPr>
        </p:nvSpPr>
        <p:spPr>
          <a:xfrm>
            <a:off x="838200" y="1520190"/>
            <a:ext cx="11117580" cy="4743450"/>
          </a:xfrm>
        </p:spPr>
        <p:txBody>
          <a:bodyPr>
            <a:normAutofit/>
          </a:bodyPr>
          <a:lstStyle/>
          <a:p>
            <a:pPr marL="0" indent="0">
              <a:lnSpc>
                <a:spcPct val="100000"/>
              </a:lnSpc>
              <a:buNone/>
            </a:pPr>
            <a:r>
              <a:rPr lang="en-US" b="1" i="0" dirty="0">
                <a:solidFill>
                  <a:srgbClr val="1F1F1F"/>
                </a:solidFill>
                <a:effectLst/>
                <a:latin typeface="Times New Roman" panose="02020603050405020304" pitchFamily="18" charset="0"/>
                <a:cs typeface="Times New Roman" panose="02020603050405020304" pitchFamily="18" charset="0"/>
              </a:rPr>
              <a:t>c) </a:t>
            </a:r>
            <a:r>
              <a:rPr lang="en-US" b="1" i="0" dirty="0" err="1">
                <a:solidFill>
                  <a:srgbClr val="1F1F1F"/>
                </a:solidFill>
                <a:effectLst/>
                <a:latin typeface="Times New Roman" panose="02020603050405020304" pitchFamily="18" charset="0"/>
                <a:cs typeface="Times New Roman" panose="02020603050405020304" pitchFamily="18" charset="0"/>
              </a:rPr>
              <a:t>Scr</a:t>
            </a:r>
            <a:r>
              <a:rPr lang="en-US" b="1" i="0" dirty="0">
                <a:solidFill>
                  <a:srgbClr val="1F1F1F"/>
                </a:solidFill>
                <a:effectLst/>
                <a:latin typeface="Times New Roman" panose="02020603050405020304" pitchFamily="18" charset="0"/>
                <a:cs typeface="Times New Roman" panose="02020603050405020304" pitchFamily="18" charset="0"/>
              </a:rPr>
              <a:t> </a:t>
            </a:r>
          </a:p>
          <a:p>
            <a:pPr marL="0" indent="0">
              <a:lnSpc>
                <a:spcPct val="100000"/>
              </a:lnSpc>
              <a:buNone/>
            </a:pPr>
            <a:r>
              <a:rPr lang="en-US" sz="2400" b="0" i="0" dirty="0">
                <a:solidFill>
                  <a:srgbClr val="1F1F1F"/>
                </a:solidFill>
                <a:effectLst/>
                <a:latin typeface="Times New Roman" panose="02020603050405020304" pitchFamily="18" charset="0"/>
                <a:cs typeface="Times New Roman" panose="02020603050405020304" pitchFamily="18" charset="0"/>
              </a:rPr>
              <a:t>The newly created Vue project has the following folders and files</a:t>
            </a:r>
            <a:r>
              <a:rPr lang="en-US" sz="2400" b="1" i="0" dirty="0">
                <a:solidFill>
                  <a:srgbClr val="1F1F1F"/>
                </a:solidFill>
                <a:effectLst/>
                <a:latin typeface="Times New Roman" panose="02020603050405020304" pitchFamily="18" charset="0"/>
                <a:cs typeface="Times New Roman" panose="02020603050405020304" pitchFamily="18" charset="0"/>
              </a:rPr>
              <a:t>: </a:t>
            </a:r>
            <a:r>
              <a:rPr lang="en-US" sz="2400" b="1" i="0" dirty="0" err="1">
                <a:solidFill>
                  <a:srgbClr val="1F1F1F"/>
                </a:solidFill>
                <a:effectLst/>
                <a:latin typeface="Times New Roman" panose="02020603050405020304" pitchFamily="18" charset="0"/>
                <a:cs typeface="Times New Roman" panose="02020603050405020304" pitchFamily="18" charset="0"/>
              </a:rPr>
              <a:t>src</a:t>
            </a:r>
            <a:r>
              <a:rPr lang="en-US" sz="2400" b="1" i="0" dirty="0">
                <a:solidFill>
                  <a:srgbClr val="1F1F1F"/>
                </a:solidFill>
                <a:effectLst/>
                <a:latin typeface="Times New Roman" panose="02020603050405020304" pitchFamily="18" charset="0"/>
                <a:cs typeface="Times New Roman" panose="02020603050405020304" pitchFamily="18" charset="0"/>
              </a:rPr>
              <a:t>: </a:t>
            </a:r>
            <a:r>
              <a:rPr lang="en-US" sz="2400" b="1" i="0" dirty="0">
                <a:solidFill>
                  <a:srgbClr val="040C28"/>
                </a:solidFill>
                <a:effectLst/>
                <a:latin typeface="Times New Roman" panose="02020603050405020304" pitchFamily="18" charset="0"/>
                <a:cs typeface="Times New Roman" panose="02020603050405020304" pitchFamily="18" charset="0"/>
              </a:rPr>
              <a:t>the sources of your project</a:t>
            </a:r>
            <a:r>
              <a:rPr lang="en-US" sz="2400" b="1" i="0" dirty="0">
                <a:solidFill>
                  <a:srgbClr val="1F1F1F"/>
                </a:solidFill>
                <a:effectLst/>
                <a:latin typeface="Times New Roman" panose="02020603050405020304" pitchFamily="18" charset="0"/>
                <a:cs typeface="Times New Roman" panose="02020603050405020304" pitchFamily="18" charset="0"/>
              </a:rPr>
              <a:t>.</a:t>
            </a:r>
          </a:p>
          <a:p>
            <a:pPr marL="0" indent="0">
              <a:lnSpc>
                <a:spcPct val="100000"/>
              </a:lnSpc>
              <a:buNone/>
            </a:pPr>
            <a:r>
              <a:rPr lang="en-US" sz="2400" b="1" dirty="0">
                <a:solidFill>
                  <a:srgbClr val="1F1F1F"/>
                </a:solidFill>
                <a:latin typeface="Times New Roman" panose="02020603050405020304" pitchFamily="18" charset="0"/>
                <a:cs typeface="Times New Roman" panose="02020603050405020304" pitchFamily="18" charset="0"/>
              </a:rPr>
              <a:t>d</a:t>
            </a:r>
            <a:r>
              <a:rPr lang="en-US" sz="2400" dirty="0">
                <a:solidFill>
                  <a:srgbClr val="1F1F1F"/>
                </a:solidFill>
                <a:latin typeface="Times New Roman" panose="02020603050405020304" pitchFamily="18" charset="0"/>
                <a:cs typeface="Times New Roman" panose="02020603050405020304" pitchFamily="18" charset="0"/>
              </a:rPr>
              <a:t>) </a:t>
            </a:r>
            <a:r>
              <a:rPr lang="en-US" sz="2400" b="1" dirty="0">
                <a:solidFill>
                  <a:srgbClr val="1F1F1F"/>
                </a:solidFill>
                <a:latin typeface="Times New Roman" panose="02020603050405020304" pitchFamily="18" charset="0"/>
                <a:cs typeface="Times New Roman" panose="02020603050405020304" pitchFamily="18" charset="0"/>
              </a:rPr>
              <a:t>Assets </a:t>
            </a:r>
          </a:p>
          <a:p>
            <a:pPr marL="0" indent="0">
              <a:lnSpc>
                <a:spcPct val="100000"/>
              </a:lnSpc>
              <a:buNone/>
            </a:pPr>
            <a:r>
              <a:rPr lang="en-US" sz="2400" dirty="0">
                <a:solidFill>
                  <a:srgbClr val="1F1F1F"/>
                </a:solidFill>
                <a:latin typeface="Times New Roman" panose="02020603050405020304" pitchFamily="18" charset="0"/>
                <a:cs typeface="Times New Roman" panose="02020603050405020304" pitchFamily="18" charset="0"/>
              </a:rPr>
              <a:t>The assets folder is usually where you would put your images/videos/fonts/</a:t>
            </a:r>
            <a:r>
              <a:rPr lang="en-US" sz="2400" dirty="0" err="1">
                <a:solidFill>
                  <a:srgbClr val="1F1F1F"/>
                </a:solidFill>
                <a:latin typeface="Times New Roman" panose="02020603050405020304" pitchFamily="18" charset="0"/>
                <a:cs typeface="Times New Roman" panose="02020603050405020304" pitchFamily="18" charset="0"/>
              </a:rPr>
              <a:t>svgs</a:t>
            </a:r>
            <a:r>
              <a:rPr lang="en-US" sz="2400" dirty="0">
                <a:solidFill>
                  <a:srgbClr val="1F1F1F"/>
                </a:solidFill>
                <a:latin typeface="Times New Roman" panose="02020603050405020304" pitchFamily="18" charset="0"/>
                <a:cs typeface="Times New Roman" panose="02020603050405020304" pitchFamily="18" charset="0"/>
              </a:rPr>
              <a:t> </a:t>
            </a:r>
            <a:r>
              <a:rPr lang="en-US" sz="2400" dirty="0" err="1">
                <a:solidFill>
                  <a:srgbClr val="1F1F1F"/>
                </a:solidFill>
                <a:latin typeface="Times New Roman" panose="02020603050405020304" pitchFamily="18" charset="0"/>
                <a:cs typeface="Times New Roman" panose="02020603050405020304" pitchFamily="18" charset="0"/>
              </a:rPr>
              <a:t>etc</a:t>
            </a:r>
            <a:r>
              <a:rPr lang="en-US" sz="2400" dirty="0">
                <a:solidFill>
                  <a:srgbClr val="1F1F1F"/>
                </a:solidFill>
                <a:latin typeface="Times New Roman" panose="02020603050405020304" pitchFamily="18" charset="0"/>
                <a:cs typeface="Times New Roman" panose="02020603050405020304" pitchFamily="18" charset="0"/>
              </a:rPr>
              <a:t> that you will import within </a:t>
            </a:r>
            <a:r>
              <a:rPr lang="en-US" sz="2400" dirty="0" err="1">
                <a:solidFill>
                  <a:srgbClr val="1F1F1F"/>
                </a:solidFill>
                <a:latin typeface="Times New Roman" panose="02020603050405020304" pitchFamily="18" charset="0"/>
                <a:cs typeface="Times New Roman" panose="02020603050405020304" pitchFamily="18" charset="0"/>
              </a:rPr>
              <a:t>vue</a:t>
            </a:r>
            <a:r>
              <a:rPr lang="en-US" sz="2400" dirty="0">
                <a:solidFill>
                  <a:srgbClr val="1F1F1F"/>
                </a:solidFill>
                <a:latin typeface="Times New Roman" panose="02020603050405020304" pitchFamily="18" charset="0"/>
                <a:cs typeface="Times New Roman" panose="02020603050405020304" pitchFamily="18" charset="0"/>
              </a:rPr>
              <a:t> files.</a:t>
            </a:r>
          </a:p>
          <a:p>
            <a:pPr marL="0" indent="0">
              <a:lnSpc>
                <a:spcPct val="100000"/>
              </a:lnSpc>
              <a:buNone/>
            </a:pPr>
            <a:r>
              <a:rPr lang="en-US" sz="2400" b="1" dirty="0">
                <a:solidFill>
                  <a:srgbClr val="1F1F1F"/>
                </a:solidFill>
                <a:latin typeface="Times New Roman" panose="02020603050405020304" pitchFamily="18" charset="0"/>
                <a:cs typeface="Times New Roman" panose="02020603050405020304" pitchFamily="18" charset="0"/>
              </a:rPr>
              <a:t>e) Components </a:t>
            </a:r>
          </a:p>
          <a:p>
            <a:pPr marL="0" indent="0">
              <a:lnSpc>
                <a:spcPct val="100000"/>
              </a:lnSpc>
              <a:buNone/>
            </a:pPr>
            <a:r>
              <a:rPr lang="en-US" sz="2400" dirty="0">
                <a:solidFill>
                  <a:srgbClr val="1F1F1F"/>
                </a:solidFill>
                <a:latin typeface="Times New Roman" panose="02020603050405020304" pitchFamily="18" charset="0"/>
                <a:cs typeface="Times New Roman" panose="02020603050405020304" pitchFamily="18" charset="0"/>
              </a:rPr>
              <a:t>Components are reusable and self-contained pieces of code that encapsulate a specific part of the user interface so that we can make Vue applications that are scalable and easier to maintain.</a:t>
            </a:r>
          </a:p>
        </p:txBody>
      </p:sp>
    </p:spTree>
    <p:extLst>
      <p:ext uri="{BB962C8B-B14F-4D97-AF65-F5344CB8AC3E}">
        <p14:creationId xmlns:p14="http://schemas.microsoft.com/office/powerpoint/2010/main" val="3638137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0D481-F958-6E7D-8204-E8AC164252A8}"/>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LO2: </a:t>
            </a:r>
            <a:r>
              <a:rPr lang="en-US" sz="2800" b="1" i="0" u="none" strike="noStrike" baseline="0" dirty="0">
                <a:latin typeface="Times New Roman" panose="02020603050405020304" pitchFamily="18" charset="0"/>
                <a:cs typeface="Times New Roman" panose="02020603050405020304" pitchFamily="18" charset="0"/>
              </a:rPr>
              <a:t>APPLY VUE FRAMEWORK</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096931-BE66-7616-158A-F00B795BE00F}"/>
              </a:ext>
            </a:extLst>
          </p:cNvPr>
          <p:cNvSpPr>
            <a:spLocks noGrp="1"/>
          </p:cNvSpPr>
          <p:nvPr>
            <p:ph idx="1"/>
          </p:nvPr>
        </p:nvSpPr>
        <p:spPr>
          <a:xfrm>
            <a:off x="838200" y="1440181"/>
            <a:ext cx="10866120" cy="4652010"/>
          </a:xfrm>
        </p:spPr>
        <p:txBody>
          <a:bodyPr/>
          <a:lstStyle/>
          <a:p>
            <a:pPr marL="0" indent="0">
              <a:buNone/>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D</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efinition of key concepts :</a:t>
            </a:r>
          </a:p>
          <a:p>
            <a:pPr>
              <a:lnSpc>
                <a:spcPct val="150000"/>
              </a:lnSpc>
            </a:pPr>
            <a:r>
              <a:rPr lang="en-US" sz="2400" b="1" dirty="0">
                <a:solidFill>
                  <a:srgbClr val="001D35"/>
                </a:solidFill>
                <a:latin typeface="Times New Roman" panose="02020603050405020304" pitchFamily="18" charset="0"/>
                <a:cs typeface="Times New Roman" panose="02020603050405020304" pitchFamily="18" charset="0"/>
              </a:rPr>
              <a:t>R</a:t>
            </a:r>
            <a:r>
              <a:rPr lang="en-US" sz="2400" b="1" i="0" dirty="0">
                <a:solidFill>
                  <a:srgbClr val="001D35"/>
                </a:solidFill>
                <a:effectLst/>
                <a:latin typeface="Times New Roman" panose="02020603050405020304" pitchFamily="18" charset="0"/>
                <a:cs typeface="Times New Roman" panose="02020603050405020304" pitchFamily="18" charset="0"/>
              </a:rPr>
              <a:t>outes: </a:t>
            </a:r>
            <a:r>
              <a:rPr lang="en-US" sz="2400" dirty="0">
                <a:latin typeface="Times New Roman" panose="02020603050405020304" pitchFamily="18" charset="0"/>
                <a:cs typeface="Times New Roman" panose="02020603050405020304" pitchFamily="18" charset="0"/>
              </a:rPr>
              <a:t>refer to the configuration that defines how different parts of your application (components) are mapped to specific URL paths</a:t>
            </a:r>
            <a:r>
              <a:rPr lang="en-US" sz="2400" b="0" i="0" dirty="0">
                <a:solidFill>
                  <a:srgbClr val="001D35"/>
                </a:solidFill>
                <a:effectLst/>
                <a:latin typeface="Times New Roman" panose="02020603050405020304" pitchFamily="18" charset="0"/>
                <a:cs typeface="Times New Roman" panose="02020603050405020304" pitchFamily="18" charset="0"/>
              </a:rPr>
              <a:t>, allowing users to navigate between different sections of your single-page application (SPA) without full page reloads, essentially acting as a navigation system within the application, primarily managed through the "Vue Router" library</a:t>
            </a:r>
          </a:p>
          <a:p>
            <a:pPr marL="0" indent="0">
              <a:lnSpc>
                <a:spcPct val="150000"/>
              </a:lnSpc>
              <a:buNone/>
            </a:pPr>
            <a:endParaRPr lang="en-US" sz="2400" b="1"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lnSpc>
                <a:spcPct val="150000"/>
              </a:lnSpc>
              <a:buNone/>
            </a:pPr>
            <a:r>
              <a:rPr lang="en-US" sz="1800" b="0" i="0" u="none" strike="noStrike" baseline="0" dirty="0">
                <a:solidFill>
                  <a:srgbClr val="000000"/>
                </a:solidFill>
              </a:rPr>
              <a:t>	</a:t>
            </a:r>
          </a:p>
          <a:p>
            <a:pPr marL="0" indent="0">
              <a:buNone/>
            </a:pPr>
            <a:endParaRPr lang="en-US" dirty="0"/>
          </a:p>
        </p:txBody>
      </p:sp>
    </p:spTree>
    <p:extLst>
      <p:ext uri="{BB962C8B-B14F-4D97-AF65-F5344CB8AC3E}">
        <p14:creationId xmlns:p14="http://schemas.microsoft.com/office/powerpoint/2010/main" val="1286989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05440-FC11-69A5-5221-9E5E060D2454}"/>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88DAC956-0885-FA89-83CD-091F4401CCE4}"/>
              </a:ext>
            </a:extLst>
          </p:cNvPr>
          <p:cNvSpPr>
            <a:spLocks noGrp="1"/>
          </p:cNvSpPr>
          <p:nvPr>
            <p:ph idx="1"/>
          </p:nvPr>
        </p:nvSpPr>
        <p:spPr>
          <a:xfrm>
            <a:off x="746760" y="1448435"/>
            <a:ext cx="11117580" cy="5044440"/>
          </a:xfrm>
        </p:spPr>
        <p:txBody>
          <a:bodyPr/>
          <a:lstStyle/>
          <a:p>
            <a:pPr marL="0" indent="0">
              <a:lnSpc>
                <a:spcPct val="150000"/>
              </a:lnSpc>
              <a:buNone/>
            </a:pPr>
            <a:r>
              <a:rPr lang="en-US" b="0" i="0" dirty="0">
                <a:solidFill>
                  <a:srgbClr val="001D35"/>
                </a:solidFill>
                <a:effectLst/>
                <a:latin typeface="Times New Roman" panose="02020603050405020304" pitchFamily="18" charset="0"/>
                <a:cs typeface="Times New Roman" panose="02020603050405020304" pitchFamily="18" charset="0"/>
              </a:rPr>
              <a:t>In the Vue framework, a </a:t>
            </a:r>
            <a:r>
              <a:rPr lang="en-US" b="1" i="0" dirty="0">
                <a:solidFill>
                  <a:srgbClr val="001D35"/>
                </a:solidFill>
                <a:effectLst/>
                <a:latin typeface="Times New Roman" panose="02020603050405020304" pitchFamily="18" charset="0"/>
                <a:cs typeface="Times New Roman" panose="02020603050405020304" pitchFamily="18" charset="0"/>
              </a:rPr>
              <a:t>"lifecycle" refers to the series of stages a component goes through from its creation, where it sets up its data and structure, to its eventual destruction,</a:t>
            </a:r>
            <a:r>
              <a:rPr lang="en-US" b="0" i="0" dirty="0">
                <a:solidFill>
                  <a:srgbClr val="001D35"/>
                </a:solidFill>
                <a:effectLst/>
                <a:latin typeface="Times New Roman" panose="02020603050405020304" pitchFamily="18" charset="0"/>
                <a:cs typeface="Times New Roman" panose="02020603050405020304" pitchFamily="18" charset="0"/>
              </a:rPr>
              <a:t> allowing developers to execute specific code at different points during this process using "lifecycle hooks" which are predefined methods that run at each stage, like when data is initialized, when the component is mounted to the DOM, or when it is updated with new data.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1032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67EB-DC27-051D-ABF4-6EC8CD3C55DF}"/>
              </a:ext>
            </a:extLst>
          </p:cNvPr>
          <p:cNvSpPr>
            <a:spLocks noGrp="1"/>
          </p:cNvSpPr>
          <p:nvPr>
            <p:ph type="title"/>
          </p:nvPr>
        </p:nvSpPr>
        <p:spPr>
          <a:xfrm>
            <a:off x="838200" y="277906"/>
            <a:ext cx="10515600" cy="1047657"/>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5A536A95-050E-2B4F-B204-61876E7F7F30}"/>
              </a:ext>
            </a:extLst>
          </p:cNvPr>
          <p:cNvSpPr>
            <a:spLocks noGrp="1"/>
          </p:cNvSpPr>
          <p:nvPr>
            <p:ph idx="1"/>
          </p:nvPr>
        </p:nvSpPr>
        <p:spPr>
          <a:xfrm>
            <a:off x="640977" y="1367212"/>
            <a:ext cx="10515600" cy="4351338"/>
          </a:xfrm>
        </p:spPr>
        <p:txBody>
          <a:bodyPr>
            <a:normAutofit fontScale="92500" lnSpcReduction="20000"/>
          </a:bodyPr>
          <a:lstStyle/>
          <a:p>
            <a:pPr marL="0" indent="0">
              <a:buNone/>
            </a:pPr>
            <a:r>
              <a:rPr lang="en-US" b="0" i="0" dirty="0">
                <a:solidFill>
                  <a:srgbClr val="001D35"/>
                </a:solidFill>
                <a:effectLst/>
                <a:latin typeface="Google Sans"/>
              </a:rPr>
              <a:t>In the Vue framework, "</a:t>
            </a:r>
            <a:r>
              <a:rPr lang="en-US" b="1" i="0" dirty="0">
                <a:solidFill>
                  <a:srgbClr val="001D35"/>
                </a:solidFill>
                <a:effectLst/>
                <a:latin typeface="Google Sans"/>
              </a:rPr>
              <a:t>state management</a:t>
            </a:r>
            <a:r>
              <a:rPr lang="en-US" b="0" i="0" dirty="0">
                <a:solidFill>
                  <a:srgbClr val="001D35"/>
                </a:solidFill>
                <a:effectLst/>
                <a:latin typeface="Google Sans"/>
              </a:rPr>
              <a:t>" </a:t>
            </a:r>
            <a:r>
              <a:rPr lang="en-US" b="0" i="0" dirty="0">
                <a:solidFill>
                  <a:srgbClr val="001D35"/>
                </a:solidFill>
                <a:effectLst/>
                <a:highlight>
                  <a:srgbClr val="FFFF00"/>
                </a:highlight>
                <a:latin typeface="Google Sans"/>
              </a:rPr>
              <a:t>refers to </a:t>
            </a:r>
            <a:r>
              <a:rPr lang="en-US" dirty="0">
                <a:highlight>
                  <a:srgbClr val="FFFF00"/>
                </a:highlight>
              </a:rPr>
              <a:t>the process of handling and sharing data across different components within a Vue application</a:t>
            </a:r>
            <a:r>
              <a:rPr lang="en-US" b="0" i="0" dirty="0">
                <a:solidFill>
                  <a:srgbClr val="001D35"/>
                </a:solidFill>
                <a:effectLst/>
                <a:latin typeface="Google Sans"/>
              </a:rPr>
              <a:t>, typically using a centralized store to ensure a single source of truth for the application's data, with the most popular library for this purpose being </a:t>
            </a:r>
            <a:r>
              <a:rPr lang="en-US" b="0" i="0" dirty="0" err="1">
                <a:solidFill>
                  <a:srgbClr val="001D35"/>
                </a:solidFill>
                <a:effectLst/>
                <a:latin typeface="Google Sans"/>
              </a:rPr>
              <a:t>Vuex</a:t>
            </a:r>
            <a:r>
              <a:rPr lang="en-US" b="0" i="0" dirty="0">
                <a:solidFill>
                  <a:srgbClr val="001D35"/>
                </a:solidFill>
                <a:effectLst/>
                <a:latin typeface="Google Sans"/>
              </a:rPr>
              <a:t>.</a:t>
            </a:r>
          </a:p>
          <a:p>
            <a:pPr marL="0" indent="0" algn="l">
              <a:spcBef>
                <a:spcPts val="1500"/>
              </a:spcBef>
              <a:spcAft>
                <a:spcPts val="750"/>
              </a:spcAft>
              <a:buNone/>
            </a:pPr>
            <a:r>
              <a:rPr lang="en-US" b="0" i="0" dirty="0">
                <a:solidFill>
                  <a:srgbClr val="001D35"/>
                </a:solidFill>
                <a:effectLst/>
                <a:latin typeface="Google Sans"/>
              </a:rPr>
              <a:t>Benefits of using </a:t>
            </a:r>
            <a:r>
              <a:rPr lang="en-US" b="0" i="0" dirty="0" err="1">
                <a:solidFill>
                  <a:srgbClr val="001D35"/>
                </a:solidFill>
                <a:effectLst/>
                <a:latin typeface="Google Sans"/>
              </a:rPr>
              <a:t>Vuex</a:t>
            </a:r>
            <a:r>
              <a:rPr lang="en-US" b="0" i="0" dirty="0">
                <a:solidFill>
                  <a:srgbClr val="001D35"/>
                </a:solidFill>
                <a:effectLst/>
                <a:latin typeface="Google Sans"/>
              </a:rPr>
              <a:t>:</a:t>
            </a:r>
          </a:p>
          <a:p>
            <a:pPr algn="l">
              <a:spcBef>
                <a:spcPts val="750"/>
              </a:spcBef>
              <a:spcAft>
                <a:spcPts val="600"/>
              </a:spcAft>
              <a:buFont typeface="Arial" panose="020B0604020202020204" pitchFamily="34" charset="0"/>
              <a:buChar char="•"/>
            </a:pPr>
            <a:r>
              <a:rPr lang="en-US" b="1" i="0" dirty="0">
                <a:solidFill>
                  <a:srgbClr val="001D35"/>
                </a:solidFill>
                <a:effectLst/>
                <a:latin typeface="Google Sans"/>
              </a:rPr>
              <a:t>Centralized state:</a:t>
            </a:r>
            <a:endParaRPr lang="en-US" b="0" i="0" dirty="0">
              <a:solidFill>
                <a:srgbClr val="001D35"/>
              </a:solidFill>
              <a:effectLst/>
              <a:latin typeface="Google Sans"/>
            </a:endParaRPr>
          </a:p>
          <a:p>
            <a:pPr marL="0" indent="0" algn="l">
              <a:spcBef>
                <a:spcPts val="750"/>
              </a:spcBef>
              <a:spcAft>
                <a:spcPts val="600"/>
              </a:spcAft>
              <a:buNone/>
            </a:pPr>
            <a:r>
              <a:rPr lang="en-US" b="0" i="0" dirty="0">
                <a:solidFill>
                  <a:srgbClr val="001D35"/>
                </a:solidFill>
                <a:effectLst/>
                <a:latin typeface="Google Sans"/>
              </a:rPr>
              <a:t>All application data is stored in one place, making it easier to debug and understand data flow.</a:t>
            </a:r>
          </a:p>
          <a:p>
            <a:pPr algn="l">
              <a:spcBef>
                <a:spcPts val="750"/>
              </a:spcBef>
              <a:spcAft>
                <a:spcPts val="600"/>
              </a:spcAft>
              <a:buFont typeface="Arial" panose="020B0604020202020204" pitchFamily="34" charset="0"/>
              <a:buChar char="•"/>
            </a:pPr>
            <a:r>
              <a:rPr lang="en-US" b="1" i="0" dirty="0">
                <a:solidFill>
                  <a:srgbClr val="001D35"/>
                </a:solidFill>
                <a:effectLst/>
                <a:latin typeface="Google Sans"/>
              </a:rPr>
              <a:t>Predictable updates:</a:t>
            </a:r>
            <a:endParaRPr lang="en-US" b="0" i="0" dirty="0">
              <a:solidFill>
                <a:srgbClr val="001D35"/>
              </a:solidFill>
              <a:effectLst/>
              <a:latin typeface="Google Sans"/>
            </a:endParaRPr>
          </a:p>
          <a:p>
            <a:pPr marL="0" indent="0" algn="l">
              <a:spcBef>
                <a:spcPts val="750"/>
              </a:spcBef>
              <a:spcAft>
                <a:spcPts val="600"/>
              </a:spcAft>
              <a:buNone/>
            </a:pPr>
            <a:r>
              <a:rPr lang="en-US" b="0" i="0" dirty="0">
                <a:solidFill>
                  <a:srgbClr val="001D35"/>
                </a:solidFill>
                <a:effectLst/>
                <a:latin typeface="Google Sans"/>
              </a:rPr>
              <a:t>State changes are explicitly defined through mutations, ensuring a predictable data flow.</a:t>
            </a:r>
          </a:p>
          <a:p>
            <a:pPr marL="0" indent="0">
              <a:buNone/>
            </a:pPr>
            <a:endParaRPr lang="en-US" dirty="0"/>
          </a:p>
        </p:txBody>
      </p:sp>
    </p:spTree>
    <p:extLst>
      <p:ext uri="{BB962C8B-B14F-4D97-AF65-F5344CB8AC3E}">
        <p14:creationId xmlns:p14="http://schemas.microsoft.com/office/powerpoint/2010/main" val="2127806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9B3C-EEEC-501D-0EEA-573C06CC8E56}"/>
              </a:ext>
            </a:extLst>
          </p:cNvPr>
          <p:cNvSpPr>
            <a:spLocks noGrp="1"/>
          </p:cNvSpPr>
          <p:nvPr>
            <p:ph type="title"/>
          </p:nvPr>
        </p:nvSpPr>
        <p:spPr>
          <a:xfrm>
            <a:off x="838200" y="365125"/>
            <a:ext cx="7920318" cy="800287"/>
          </a:xfrm>
        </p:spPr>
        <p:txBody>
          <a:bodyPr/>
          <a:lstStyle/>
          <a:p>
            <a:r>
              <a:rPr lang="en-US" b="1" dirty="0"/>
              <a:t>Advantages of using Vue.js</a:t>
            </a:r>
          </a:p>
        </p:txBody>
      </p:sp>
      <p:sp>
        <p:nvSpPr>
          <p:cNvPr id="3" name="Content Placeholder 2">
            <a:extLst>
              <a:ext uri="{FF2B5EF4-FFF2-40B4-BE49-F238E27FC236}">
                <a16:creationId xmlns:a16="http://schemas.microsoft.com/office/drawing/2014/main" id="{07740E55-FE94-4FD2-B5D2-D6CAC91EF51F}"/>
              </a:ext>
            </a:extLst>
          </p:cNvPr>
          <p:cNvSpPr>
            <a:spLocks noGrp="1"/>
          </p:cNvSpPr>
          <p:nvPr>
            <p:ph idx="1"/>
          </p:nvPr>
        </p:nvSpPr>
        <p:spPr/>
        <p:txBody>
          <a:bodyPr>
            <a:normAutofit lnSpcReduction="10000"/>
          </a:bodyPr>
          <a:lstStyle/>
          <a:p>
            <a:pPr algn="l">
              <a:spcAft>
                <a:spcPts val="300"/>
              </a:spcAft>
              <a:buFont typeface="Arial" panose="020B0604020202020204" pitchFamily="34" charset="0"/>
              <a:buChar char="•"/>
            </a:pPr>
            <a:r>
              <a:rPr lang="en-US" b="0" i="0" dirty="0">
                <a:solidFill>
                  <a:srgbClr val="1F1F1F"/>
                </a:solidFill>
                <a:effectLst/>
                <a:latin typeface="Google Sans"/>
              </a:rPr>
              <a:t>Keeping it simple.</a:t>
            </a:r>
          </a:p>
          <a:p>
            <a:pPr algn="l">
              <a:spcAft>
                <a:spcPts val="300"/>
              </a:spcAft>
              <a:buFont typeface="Arial" panose="020B0604020202020204" pitchFamily="34" charset="0"/>
              <a:buChar char="•"/>
            </a:pPr>
            <a:r>
              <a:rPr lang="en-US" b="0" i="0" dirty="0">
                <a:solidFill>
                  <a:srgbClr val="1F1F1F"/>
                </a:solidFill>
                <a:effectLst/>
                <a:latin typeface="Google Sans"/>
              </a:rPr>
              <a:t>Lightweight. </a:t>
            </a:r>
          </a:p>
          <a:p>
            <a:pPr algn="l">
              <a:spcAft>
                <a:spcPts val="300"/>
              </a:spcAft>
              <a:buFont typeface="Arial" panose="020B0604020202020204" pitchFamily="34" charset="0"/>
              <a:buChar char="•"/>
            </a:pPr>
            <a:r>
              <a:rPr lang="en-US" b="0" i="0" dirty="0">
                <a:solidFill>
                  <a:srgbClr val="1F1F1F"/>
                </a:solidFill>
                <a:effectLst/>
                <a:latin typeface="Google Sans"/>
              </a:rPr>
              <a:t>No steep learning curve.</a:t>
            </a:r>
          </a:p>
          <a:p>
            <a:pPr algn="l">
              <a:spcAft>
                <a:spcPts val="300"/>
              </a:spcAft>
              <a:buFont typeface="Arial" panose="020B0604020202020204" pitchFamily="34" charset="0"/>
              <a:buChar char="•"/>
            </a:pPr>
            <a:r>
              <a:rPr lang="en-US" b="0" i="0" dirty="0">
                <a:solidFill>
                  <a:srgbClr val="1F1F1F"/>
                </a:solidFill>
                <a:effectLst/>
                <a:latin typeface="Google Sans"/>
              </a:rPr>
              <a:t>A useful range of tools. </a:t>
            </a:r>
          </a:p>
          <a:p>
            <a:pPr algn="l">
              <a:spcAft>
                <a:spcPts val="300"/>
              </a:spcAft>
              <a:buFont typeface="Arial" panose="020B0604020202020204" pitchFamily="34" charset="0"/>
              <a:buChar char="•"/>
            </a:pPr>
            <a:r>
              <a:rPr lang="en-US" b="0" i="0" dirty="0">
                <a:solidFill>
                  <a:srgbClr val="1F1F1F"/>
                </a:solidFill>
                <a:effectLst/>
                <a:latin typeface="Google Sans"/>
              </a:rPr>
              <a:t>Incrementally adoptable. </a:t>
            </a:r>
          </a:p>
          <a:p>
            <a:pPr algn="l">
              <a:spcAft>
                <a:spcPts val="300"/>
              </a:spcAft>
              <a:buFont typeface="Arial" panose="020B0604020202020204" pitchFamily="34" charset="0"/>
              <a:buChar char="•"/>
            </a:pPr>
            <a:r>
              <a:rPr lang="en-US" b="0" i="0" dirty="0">
                <a:solidFill>
                  <a:srgbClr val="1F1F1F"/>
                </a:solidFill>
                <a:effectLst/>
                <a:latin typeface="Google Sans"/>
              </a:rPr>
              <a:t>Integrates with other frameworks. </a:t>
            </a:r>
          </a:p>
          <a:p>
            <a:pPr algn="l">
              <a:spcAft>
                <a:spcPts val="300"/>
              </a:spcAft>
              <a:buFont typeface="Arial" panose="020B0604020202020204" pitchFamily="34" charset="0"/>
              <a:buChar char="•"/>
            </a:pPr>
            <a:r>
              <a:rPr lang="en-US" b="0" i="0" dirty="0">
                <a:solidFill>
                  <a:srgbClr val="1F1F1F"/>
                </a:solidFill>
                <a:effectLst/>
                <a:latin typeface="Google Sans"/>
              </a:rPr>
              <a:t>Virtual DOM modelling and rendering. </a:t>
            </a:r>
          </a:p>
          <a:p>
            <a:pPr algn="l">
              <a:spcAft>
                <a:spcPts val="300"/>
              </a:spcAft>
              <a:buFont typeface="Arial" panose="020B0604020202020204" pitchFamily="34" charset="0"/>
              <a:buChar char="•"/>
            </a:pPr>
            <a:r>
              <a:rPr lang="en-US" b="0" i="0" dirty="0">
                <a:solidFill>
                  <a:srgbClr val="1F1F1F"/>
                </a:solidFill>
                <a:effectLst/>
                <a:latin typeface="Google Sans"/>
              </a:rPr>
              <a:t>DOM manipulation benefit</a:t>
            </a:r>
          </a:p>
          <a:p>
            <a:pPr marL="0" indent="0">
              <a:buNone/>
            </a:pPr>
            <a:endParaRPr lang="en-US" dirty="0"/>
          </a:p>
        </p:txBody>
      </p:sp>
    </p:spTree>
    <p:extLst>
      <p:ext uri="{BB962C8B-B14F-4D97-AF65-F5344CB8AC3E}">
        <p14:creationId xmlns:p14="http://schemas.microsoft.com/office/powerpoint/2010/main" val="3157571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D7A3-593F-7457-48CC-BCE4B2947A1F}"/>
              </a:ext>
            </a:extLst>
          </p:cNvPr>
          <p:cNvSpPr>
            <a:spLocks noGrp="1"/>
          </p:cNvSpPr>
          <p:nvPr>
            <p:ph type="title"/>
          </p:nvPr>
        </p:nvSpPr>
        <p:spPr>
          <a:xfrm>
            <a:off x="914400" y="365126"/>
            <a:ext cx="10139082" cy="970616"/>
          </a:xfrm>
        </p:spPr>
        <p:txBody>
          <a:bodyPr>
            <a:normAutofit fontScale="90000"/>
          </a:bodyPr>
          <a:lstStyle/>
          <a:p>
            <a:r>
              <a:rPr lang="en-US" b="1" i="0" dirty="0">
                <a:solidFill>
                  <a:srgbClr val="1F1F1F"/>
                </a:solidFill>
                <a:effectLst/>
                <a:latin typeface="Google Sans"/>
              </a:rPr>
              <a:t>Disadvantages of Vue.</a:t>
            </a:r>
            <a:r>
              <a:rPr lang="en-US" b="0" i="0" dirty="0">
                <a:solidFill>
                  <a:srgbClr val="1F1F1F"/>
                </a:solidFill>
                <a:effectLst/>
                <a:latin typeface="Google Sans"/>
              </a:rPr>
              <a:t> </a:t>
            </a:r>
            <a:r>
              <a:rPr lang="en-US" b="1" i="0" dirty="0" err="1">
                <a:solidFill>
                  <a:srgbClr val="1F1F1F"/>
                </a:solidFill>
                <a:effectLst/>
                <a:latin typeface="Google Sans"/>
              </a:rPr>
              <a:t>js</a:t>
            </a:r>
            <a:r>
              <a:rPr lang="en-US" b="1" i="0" dirty="0">
                <a:solidFill>
                  <a:srgbClr val="1F1F1F"/>
                </a:solidFill>
                <a:effectLst/>
                <a:latin typeface="Google Sans"/>
              </a:rPr>
              <a:t> development</a:t>
            </a:r>
            <a:br>
              <a:rPr lang="en-US" b="0" i="0" dirty="0">
                <a:solidFill>
                  <a:srgbClr val="1F1F1F"/>
                </a:solidFill>
                <a:effectLst/>
                <a:latin typeface="Google Sans"/>
              </a:rPr>
            </a:br>
            <a:endParaRPr lang="en-US" dirty="0"/>
          </a:p>
        </p:txBody>
      </p:sp>
      <p:sp>
        <p:nvSpPr>
          <p:cNvPr id="3" name="Content Placeholder 2">
            <a:extLst>
              <a:ext uri="{FF2B5EF4-FFF2-40B4-BE49-F238E27FC236}">
                <a16:creationId xmlns:a16="http://schemas.microsoft.com/office/drawing/2014/main" id="{89F8741E-125C-FA1A-FBE0-47808EA4F7CA}"/>
              </a:ext>
            </a:extLst>
          </p:cNvPr>
          <p:cNvSpPr>
            <a:spLocks noGrp="1"/>
          </p:cNvSpPr>
          <p:nvPr>
            <p:ph idx="1"/>
          </p:nvPr>
        </p:nvSpPr>
        <p:spPr>
          <a:xfrm>
            <a:off x="614083" y="1335742"/>
            <a:ext cx="10515600" cy="4351338"/>
          </a:xfrm>
        </p:spPr>
        <p:txBody>
          <a:bodyPr>
            <a:normAutofit/>
          </a:bodyPr>
          <a:lstStyle/>
          <a:p>
            <a:pPr algn="l">
              <a:spcAft>
                <a:spcPts val="300"/>
              </a:spcAft>
              <a:buFont typeface="Arial" panose="020B0604020202020204" pitchFamily="34" charset="0"/>
              <a:buChar char="•"/>
            </a:pPr>
            <a:r>
              <a:rPr lang="en-US" b="0" i="0" dirty="0">
                <a:solidFill>
                  <a:srgbClr val="1F1F1F"/>
                </a:solidFill>
                <a:effectLst/>
                <a:latin typeface="Google Sans"/>
              </a:rPr>
              <a:t>Limitations in making use of the community;</a:t>
            </a:r>
          </a:p>
          <a:p>
            <a:pPr algn="l">
              <a:spcAft>
                <a:spcPts val="300"/>
              </a:spcAft>
              <a:buFont typeface="Arial" panose="020B0604020202020204" pitchFamily="34" charset="0"/>
              <a:buChar char="•"/>
            </a:pPr>
            <a:r>
              <a:rPr lang="en-US" b="0" i="0" dirty="0">
                <a:solidFill>
                  <a:srgbClr val="1F1F1F"/>
                </a:solidFill>
                <a:effectLst/>
                <a:latin typeface="Google Sans"/>
              </a:rPr>
              <a:t>Lack of scalability;</a:t>
            </a:r>
          </a:p>
          <a:p>
            <a:pPr algn="l">
              <a:spcAft>
                <a:spcPts val="300"/>
              </a:spcAft>
              <a:buFont typeface="Arial" panose="020B0604020202020204" pitchFamily="34" charset="0"/>
              <a:buChar char="•"/>
            </a:pPr>
            <a:r>
              <a:rPr lang="en-US" b="0" i="0" dirty="0">
                <a:solidFill>
                  <a:srgbClr val="1F1F1F"/>
                </a:solidFill>
                <a:effectLst/>
                <a:latin typeface="Google Sans"/>
              </a:rPr>
              <a:t>Lack of plugins;</a:t>
            </a:r>
          </a:p>
          <a:p>
            <a:pPr algn="l">
              <a:spcAft>
                <a:spcPts val="300"/>
              </a:spcAft>
              <a:buFont typeface="Arial" panose="020B0604020202020204" pitchFamily="34" charset="0"/>
              <a:buChar char="•"/>
            </a:pPr>
            <a:r>
              <a:rPr lang="en-US" b="0" i="0" dirty="0">
                <a:solidFill>
                  <a:srgbClr val="1F1F1F"/>
                </a:solidFill>
                <a:effectLst/>
                <a:latin typeface="Google Sans"/>
              </a:rPr>
              <a:t>Lack of highly experienced experts;</a:t>
            </a:r>
          </a:p>
          <a:p>
            <a:pPr algn="l">
              <a:spcAft>
                <a:spcPts val="300"/>
              </a:spcAft>
              <a:buFont typeface="Arial" panose="020B0604020202020204" pitchFamily="34" charset="0"/>
              <a:buChar char="•"/>
            </a:pPr>
            <a:r>
              <a:rPr lang="en-US" b="0" i="0" dirty="0">
                <a:solidFill>
                  <a:srgbClr val="1F1F1F"/>
                </a:solidFill>
                <a:effectLst/>
                <a:latin typeface="Google Sans"/>
              </a:rPr>
              <a:t>Difficulties with mobile support;</a:t>
            </a:r>
          </a:p>
          <a:p>
            <a:pPr algn="l">
              <a:spcAft>
                <a:spcPts val="300"/>
              </a:spcAft>
              <a:buFont typeface="Arial" panose="020B0604020202020204" pitchFamily="34" charset="0"/>
              <a:buChar char="•"/>
            </a:pPr>
            <a:r>
              <a:rPr lang="en-US" b="0" i="0" dirty="0">
                <a:solidFill>
                  <a:srgbClr val="1F1F1F"/>
                </a:solidFill>
                <a:effectLst/>
                <a:latin typeface="Google Sans"/>
              </a:rPr>
              <a:t>Difficulties with two-way binding;</a:t>
            </a:r>
          </a:p>
          <a:p>
            <a:pPr algn="l">
              <a:spcAft>
                <a:spcPts val="300"/>
              </a:spcAft>
              <a:buFont typeface="Arial" panose="020B0604020202020204" pitchFamily="34" charset="0"/>
              <a:buChar char="•"/>
            </a:pPr>
            <a:r>
              <a:rPr lang="en-US" b="0" i="0" dirty="0">
                <a:solidFill>
                  <a:srgbClr val="1F1F1F"/>
                </a:solidFill>
                <a:effectLst/>
                <a:latin typeface="Google Sans"/>
              </a:rPr>
              <a:t>Excessive code flexibility.</a:t>
            </a:r>
          </a:p>
          <a:p>
            <a:pPr marL="0" indent="0">
              <a:buNone/>
            </a:pPr>
            <a:endParaRPr lang="en-US" dirty="0"/>
          </a:p>
        </p:txBody>
      </p:sp>
    </p:spTree>
    <p:extLst>
      <p:ext uri="{BB962C8B-B14F-4D97-AF65-F5344CB8AC3E}">
        <p14:creationId xmlns:p14="http://schemas.microsoft.com/office/powerpoint/2010/main" val="2522548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180DC-C825-82BA-E6DE-11575C1A75C5}"/>
              </a:ext>
            </a:extLst>
          </p:cNvPr>
          <p:cNvSpPr>
            <a:spLocks noGrp="1"/>
          </p:cNvSpPr>
          <p:nvPr>
            <p:ph type="title"/>
          </p:nvPr>
        </p:nvSpPr>
        <p:spPr>
          <a:xfrm>
            <a:off x="766618" y="365125"/>
            <a:ext cx="10587182" cy="803799"/>
          </a:xfrm>
        </p:spPr>
        <p:txBody>
          <a:bodyPr/>
          <a:lstStyle/>
          <a:p>
            <a:r>
              <a:rPr lang="fr-FR" b="1" dirty="0"/>
              <a:t>vue </a:t>
            </a:r>
            <a:r>
              <a:rPr lang="fr-FR" b="1" dirty="0" err="1"/>
              <a:t>lifecycle</a:t>
            </a:r>
            <a:r>
              <a:rPr lang="fr-FR" b="1" dirty="0"/>
              <a:t> in vue </a:t>
            </a:r>
            <a:r>
              <a:rPr lang="fr-FR" b="1" dirty="0" err="1"/>
              <a:t>framework</a:t>
            </a:r>
            <a:endParaRPr lang="en-US" b="1" dirty="0"/>
          </a:p>
        </p:txBody>
      </p:sp>
      <p:sp>
        <p:nvSpPr>
          <p:cNvPr id="3" name="Content Placeholder 2">
            <a:extLst>
              <a:ext uri="{FF2B5EF4-FFF2-40B4-BE49-F238E27FC236}">
                <a16:creationId xmlns:a16="http://schemas.microsoft.com/office/drawing/2014/main" id="{1869DC37-4D2A-20D8-5F94-A617D34932BC}"/>
              </a:ext>
            </a:extLst>
          </p:cNvPr>
          <p:cNvSpPr>
            <a:spLocks noGrp="1"/>
          </p:cNvSpPr>
          <p:nvPr>
            <p:ph idx="1"/>
          </p:nvPr>
        </p:nvSpPr>
        <p:spPr>
          <a:xfrm>
            <a:off x="649664" y="1423447"/>
            <a:ext cx="10587182" cy="4181222"/>
          </a:xfrm>
        </p:spPr>
        <p:txBody>
          <a:bodyPr/>
          <a:lstStyle/>
          <a:p>
            <a:pPr marL="0" indent="0">
              <a:buNone/>
            </a:pPr>
            <a:r>
              <a:rPr lang="en-US" i="0" dirty="0">
                <a:solidFill>
                  <a:srgbClr val="1F1F1F"/>
                </a:solidFill>
                <a:effectLst/>
                <a:latin typeface="Google Sans"/>
              </a:rPr>
              <a:t>In Vue, each component goes through several steps: basically, </a:t>
            </a:r>
            <a:r>
              <a:rPr lang="en-US" i="0" dirty="0">
                <a:solidFill>
                  <a:srgbClr val="040C28"/>
                </a:solidFill>
                <a:effectLst/>
                <a:latin typeface="Google Sans"/>
              </a:rPr>
              <a:t>it is created, it observes data, it mounts its elements in the DOM and updates them when any data is modified until, eventually, it is destroyed</a:t>
            </a:r>
            <a:r>
              <a:rPr lang="en-US" i="0" dirty="0">
                <a:solidFill>
                  <a:srgbClr val="1F1F1F"/>
                </a:solidFill>
                <a:effectLst/>
                <a:latin typeface="Google Sans"/>
              </a:rPr>
              <a:t>. </a:t>
            </a:r>
          </a:p>
          <a:p>
            <a:pPr marL="0" indent="0">
              <a:buNone/>
            </a:pPr>
            <a:r>
              <a:rPr lang="en-US" b="0" i="0" dirty="0">
                <a:solidFill>
                  <a:srgbClr val="001D35"/>
                </a:solidFill>
                <a:effectLst/>
                <a:latin typeface="Google Sans"/>
              </a:rPr>
              <a:t>In a Vue framework, an </a:t>
            </a:r>
            <a:r>
              <a:rPr lang="en-US" b="1" i="0" dirty="0">
                <a:solidFill>
                  <a:srgbClr val="001D35"/>
                </a:solidFill>
                <a:effectLst/>
                <a:latin typeface="Google Sans"/>
              </a:rPr>
              <a:t>"API endpoint" </a:t>
            </a:r>
            <a:r>
              <a:rPr lang="en-US" b="0" i="0" dirty="0">
                <a:solidFill>
                  <a:srgbClr val="001D35"/>
                </a:solidFill>
                <a:effectLst/>
                <a:latin typeface="Google Sans"/>
              </a:rPr>
              <a:t>refers to a specific URL on a server that your Vue application can send requests to, allowing it to retrieve or manipulate data from a backend system; essentially, it's the "point of contact" where your Vue app communicates with the external server to access data or functionality</a:t>
            </a:r>
            <a:endParaRPr lang="en-US" dirty="0"/>
          </a:p>
        </p:txBody>
      </p:sp>
    </p:spTree>
    <p:extLst>
      <p:ext uri="{BB962C8B-B14F-4D97-AF65-F5344CB8AC3E}">
        <p14:creationId xmlns:p14="http://schemas.microsoft.com/office/powerpoint/2010/main" val="1786184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0F2F-CE18-C19C-E700-D0F0CAF5EFDD}"/>
              </a:ext>
            </a:extLst>
          </p:cNvPr>
          <p:cNvSpPr>
            <a:spLocks noGrp="1"/>
          </p:cNvSpPr>
          <p:nvPr>
            <p:ph type="title"/>
          </p:nvPr>
        </p:nvSpPr>
        <p:spPr>
          <a:xfrm>
            <a:off x="838200" y="261430"/>
            <a:ext cx="10515600" cy="973481"/>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A23DB909-15F0-09A2-55E2-D9F287D21BD1}"/>
              </a:ext>
            </a:extLst>
          </p:cNvPr>
          <p:cNvSpPr>
            <a:spLocks noGrp="1"/>
          </p:cNvSpPr>
          <p:nvPr>
            <p:ph idx="1"/>
          </p:nvPr>
        </p:nvSpPr>
        <p:spPr>
          <a:xfrm>
            <a:off x="838200" y="1234911"/>
            <a:ext cx="10766196" cy="3996965"/>
          </a:xfrm>
        </p:spPr>
        <p:txBody>
          <a:bodyPr/>
          <a:lstStyle/>
          <a:p>
            <a:pPr marL="0" indent="0">
              <a:buNone/>
            </a:pPr>
            <a:r>
              <a:rPr lang="en-US" b="0" i="0" dirty="0">
                <a:solidFill>
                  <a:srgbClr val="001D35"/>
                </a:solidFill>
                <a:effectLst/>
                <a:latin typeface="Google Sans"/>
              </a:rPr>
              <a:t>In a Vue framework, a </a:t>
            </a:r>
            <a:r>
              <a:rPr lang="en-US" b="1" i="0" dirty="0">
                <a:solidFill>
                  <a:srgbClr val="001D35"/>
                </a:solidFill>
                <a:effectLst/>
                <a:latin typeface="Google Sans"/>
              </a:rPr>
              <a:t>".env" file </a:t>
            </a:r>
            <a:r>
              <a:rPr lang="en-US" b="0" i="0" dirty="0">
                <a:solidFill>
                  <a:srgbClr val="001D35"/>
                </a:solidFill>
                <a:effectLst/>
                <a:latin typeface="Google Sans"/>
              </a:rPr>
              <a:t>is </a:t>
            </a:r>
            <a:r>
              <a:rPr lang="en-US" dirty="0"/>
              <a:t>a configuration file used to store environment-specific variables like API keys, base URLs, or other sensitive information that should not be hardcoded directly into the application code</a:t>
            </a:r>
            <a:r>
              <a:rPr lang="en-US" dirty="0">
                <a:solidFill>
                  <a:srgbClr val="001D35"/>
                </a:solidFill>
                <a:latin typeface="Google Sans"/>
              </a:rPr>
              <a:t>.</a:t>
            </a:r>
            <a:endParaRPr lang="en-US" dirty="0"/>
          </a:p>
        </p:txBody>
      </p:sp>
    </p:spTree>
    <p:extLst>
      <p:ext uri="{BB962C8B-B14F-4D97-AF65-F5344CB8AC3E}">
        <p14:creationId xmlns:p14="http://schemas.microsoft.com/office/powerpoint/2010/main" val="1912853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770</TotalTime>
  <Words>1762</Words>
  <Application>Microsoft Office PowerPoint</Application>
  <PresentationFormat>Widescreen</PresentationFormat>
  <Paragraphs>166</Paragraphs>
  <Slides>25</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ArialMT</vt:lpstr>
      <vt:lpstr>BookmanOldStyle</vt:lpstr>
      <vt:lpstr>Calibri</vt:lpstr>
      <vt:lpstr>Calibri Light</vt:lpstr>
      <vt:lpstr>Google Sans</vt:lpstr>
      <vt:lpstr>Times New Roman</vt:lpstr>
      <vt:lpstr>TimesNewRomanPS-BoldMT</vt:lpstr>
      <vt:lpstr>TimesNewRomanPSMT</vt:lpstr>
      <vt:lpstr>Wingdings</vt:lpstr>
      <vt:lpstr>Office Theme</vt:lpstr>
      <vt:lpstr>DEVELOP SIMPLE GAME IN VUE </vt:lpstr>
      <vt:lpstr>Example:</vt:lpstr>
      <vt:lpstr>Cont’</vt:lpstr>
      <vt:lpstr>Expected Output</vt:lpstr>
      <vt:lpstr>Explanations </vt:lpstr>
      <vt:lpstr>PowerPoint Presentation</vt:lpstr>
      <vt:lpstr>INSTALLATION OF NODEJS </vt:lpstr>
      <vt:lpstr>Sub-commands </vt:lpstr>
      <vt:lpstr>Cont’</vt:lpstr>
      <vt:lpstr>Cont’</vt:lpstr>
      <vt:lpstr>Cont’</vt:lpstr>
      <vt:lpstr>Cont’</vt:lpstr>
      <vt:lpstr>Overview of VUE CLI</vt:lpstr>
      <vt:lpstr>Advantages of Vue CLI</vt:lpstr>
      <vt:lpstr>Installation of VUE CLI with NPM</vt:lpstr>
      <vt:lpstr>Cont’</vt:lpstr>
      <vt:lpstr> Description of Vue project folder &amp; files    </vt:lpstr>
      <vt:lpstr>Cont’</vt:lpstr>
      <vt:lpstr>LO2: APPLY VUE FRAMEWORK</vt:lpstr>
      <vt:lpstr>Cont’</vt:lpstr>
      <vt:lpstr>Cont’</vt:lpstr>
      <vt:lpstr>Advantages of using Vue.js</vt:lpstr>
      <vt:lpstr>Disadvantages of Vue. js development </vt:lpstr>
      <vt:lpstr>vue lifecycle in vue framework</vt:lpstr>
      <vt:lpstr>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4</cp:revision>
  <dcterms:created xsi:type="dcterms:W3CDTF">2025-03-04T08:20:20Z</dcterms:created>
  <dcterms:modified xsi:type="dcterms:W3CDTF">2025-03-06T12:58:17Z</dcterms:modified>
</cp:coreProperties>
</file>